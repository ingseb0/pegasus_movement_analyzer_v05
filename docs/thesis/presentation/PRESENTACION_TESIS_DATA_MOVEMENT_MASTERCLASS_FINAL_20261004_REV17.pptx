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056e7f1c2833404f" /><Relationship Type="http://schemas.openxmlformats.org/officeDocument/2006/relationships/extended-properties" Target="/docProps/app.xml" Id="Rd52735955f9a4988" /><Relationship Type="http://schemas.openxmlformats.org/officeDocument/2006/relationships/officeDocument" Target="/ppt/presentation.xml" Id="Rd5ed5dff5fb5488e" /></Relationships>
</file>

<file path=ppt/presentation.xml><?xml version="1.0" encoding="utf-8"?>
<p:presentation xmlns:p="http://schemas.openxmlformats.org/presentationml/2006/main">
  <p:sldMasterIdLst>
    <p:sldMasterId xmlns:r="http://schemas.openxmlformats.org/officeDocument/2006/relationships" id="2147483648" r:id="R5cd3207adf2e4cf1"/>
  </p:sldMasterIdLst>
  <p:notesMasterIdLst>
    <p:notesMasterId xmlns:r="http://schemas.openxmlformats.org/officeDocument/2006/relationships" r:id="R2e6fda93384d4ea5"/>
  </p:notesMasterIdLst>
  <p:sldIdLst>
    <p:sldId xmlns:r="http://schemas.openxmlformats.org/officeDocument/2006/relationships" id="256" r:id="R0b4ec3e07ca946ba"/>
    <p:sldId xmlns:r="http://schemas.openxmlformats.org/officeDocument/2006/relationships" id="257" r:id="Rebc13f4ef43042cc"/>
    <p:sldId xmlns:r="http://schemas.openxmlformats.org/officeDocument/2006/relationships" id="258" r:id="R47b5e5a9a2be470d"/>
    <p:sldId xmlns:r="http://schemas.openxmlformats.org/officeDocument/2006/relationships" id="259" r:id="R59224d247d0e43cb"/>
    <p:sldId xmlns:r="http://schemas.openxmlformats.org/officeDocument/2006/relationships" id="260" r:id="Ra63d3d27e7c5450f"/>
    <p:sldId xmlns:r="http://schemas.openxmlformats.org/officeDocument/2006/relationships" id="261" r:id="Rb4b2d0f781274dc1"/>
    <p:sldId xmlns:r="http://schemas.openxmlformats.org/officeDocument/2006/relationships" id="262" r:id="R66117625ab1b4800"/>
    <p:sldId xmlns:r="http://schemas.openxmlformats.org/officeDocument/2006/relationships" id="263" r:id="R265f1c08741241ec"/>
    <p:sldId xmlns:r="http://schemas.openxmlformats.org/officeDocument/2006/relationships" id="264" r:id="R3de66ad9ba1e4a66"/>
    <p:sldId xmlns:r="http://schemas.openxmlformats.org/officeDocument/2006/relationships" id="265" r:id="R44682ade6f7b43eb"/>
    <p:sldId xmlns:r="http://schemas.openxmlformats.org/officeDocument/2006/relationships" id="266" r:id="Rf2a9cc8ec968465a"/>
    <p:sldId xmlns:r="http://schemas.openxmlformats.org/officeDocument/2006/relationships" id="267" r:id="Rcdcd0b0be69d4b4d"/>
    <p:sldId xmlns:r="http://schemas.openxmlformats.org/officeDocument/2006/relationships" id="268" r:id="Rfb810739ae884396"/>
    <p:sldId xmlns:r="http://schemas.openxmlformats.org/officeDocument/2006/relationships" id="269" r:id="R39b5d56f2636489a"/>
    <p:sldId xmlns:r="http://schemas.openxmlformats.org/officeDocument/2006/relationships" id="270" r:id="R18735417904946bb"/>
    <p:sldId xmlns:r="http://schemas.openxmlformats.org/officeDocument/2006/relationships" id="271" r:id="Ra7f5e72841234e93"/>
    <p:sldId xmlns:r="http://schemas.openxmlformats.org/officeDocument/2006/relationships" id="272" r:id="Rc31550e794c749ab"/>
    <p:sldId xmlns:r="http://schemas.openxmlformats.org/officeDocument/2006/relationships" id="273" r:id="Rb351692b09824531"/>
    <p:sldId xmlns:r="http://schemas.openxmlformats.org/officeDocument/2006/relationships" id="274" r:id="R672f867966214ea6"/>
    <p:sldId xmlns:r="http://schemas.openxmlformats.org/officeDocument/2006/relationships" id="275" r:id="R1a23d08396464654"/>
    <p:sldId xmlns:r="http://schemas.openxmlformats.org/officeDocument/2006/relationships" id="276" r:id="Rd8d5ba45e486440e"/>
    <p:sldId xmlns:r="http://schemas.openxmlformats.org/officeDocument/2006/relationships" id="277" r:id="R928ba00d0dc74408"/>
    <p:sldId xmlns:r="http://schemas.openxmlformats.org/officeDocument/2006/relationships" id="278" r:id="Rbc1ab6e0b04e42a4"/>
    <p:sldId xmlns:r="http://schemas.openxmlformats.org/officeDocument/2006/relationships" id="279" r:id="R2530b1b861204208"/>
    <p:sldId xmlns:r="http://schemas.openxmlformats.org/officeDocument/2006/relationships" id="280" r:id="R56b5164eaa704dd9"/>
    <p:sldId xmlns:r="http://schemas.openxmlformats.org/officeDocument/2006/relationships" id="281" r:id="Rd5b00304be464b89"/>
    <p:sldId xmlns:r="http://schemas.openxmlformats.org/officeDocument/2006/relationships" id="282" r:id="R64c9a4ee295442ae"/>
  </p:sldIdLst>
  <p:sldSz cx="12191695"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snapToObjects="1">
      <p:cViewPr>
        <p:scale>
          <a:sx xmlns:a="http://schemas.openxmlformats.org/drawingml/2006/main" n="1" d="1"/>
          <a:sy xmlns:a="http://schemas.openxmlformats.org/drawingml/2006/main" n="1" d="1"/>
        </p:scale>
        <p:origin x="0" y="0"/>
      </p:cViewPr>
      <p:guideLst/>
    </p:cSldViewPr>
  </p:slideViewPr>
  <p:gridSpacing cx="76200" cy="76200"/>
</p:viewPr>
</file>

<file path=ppt/_rels/presentation.xml.rels>&#65279;<?xml version="1.0" encoding="utf-8"?><Relationships xmlns="http://schemas.openxmlformats.org/package/2006/relationships"><Relationship Type="http://schemas.openxmlformats.org/officeDocument/2006/relationships/theme" Target="/ppt/theme/theme1.xml" Id="R47f40e0adf7f4469" /><Relationship Type="http://schemas.openxmlformats.org/officeDocument/2006/relationships/slideMaster" Target="/ppt/slideMasters/slideMaster1.xml" Id="R5cd3207adf2e4cf1" /><Relationship Type="http://schemas.openxmlformats.org/officeDocument/2006/relationships/notesMaster" Target="/ppt/notesMasters/notesMaster1.xml" Id="R2e6fda93384d4ea5" /><Relationship Type="http://schemas.openxmlformats.org/officeDocument/2006/relationships/presProps" Target="/ppt/presProps.xml" Id="Rcc5e527b35224cc9" /><Relationship Type="http://schemas.openxmlformats.org/officeDocument/2006/relationships/viewProps" Target="/ppt/viewProps.xml" Id="Rbf34369ed9704f9f" /><Relationship Type="http://schemas.openxmlformats.org/officeDocument/2006/relationships/tableStyles" Target="/ppt/tableStyles.xml" Id="R2bc0d84fc0a84bf9" /><Relationship Type="http://schemas.openxmlformats.org/officeDocument/2006/relationships/slide" Target="/ppt/slides/slide1.xml" Id="R0b4ec3e07ca946ba" /><Relationship Type="http://schemas.openxmlformats.org/officeDocument/2006/relationships/slide" Target="/ppt/slides/slide2.xml" Id="Rebc13f4ef43042cc" /><Relationship Type="http://schemas.openxmlformats.org/officeDocument/2006/relationships/slide" Target="/ppt/slides/slide3.xml" Id="R47b5e5a9a2be470d" /><Relationship Type="http://schemas.openxmlformats.org/officeDocument/2006/relationships/slide" Target="/ppt/slides/slide4.xml" Id="R59224d247d0e43cb" /><Relationship Type="http://schemas.openxmlformats.org/officeDocument/2006/relationships/slide" Target="/ppt/slides/slide5.xml" Id="Ra63d3d27e7c5450f" /><Relationship Type="http://schemas.openxmlformats.org/officeDocument/2006/relationships/slide" Target="/ppt/slides/slide6.xml" Id="Rb4b2d0f781274dc1" /><Relationship Type="http://schemas.openxmlformats.org/officeDocument/2006/relationships/slide" Target="/ppt/slides/slide7.xml" Id="R66117625ab1b4800" /><Relationship Type="http://schemas.openxmlformats.org/officeDocument/2006/relationships/slide" Target="/ppt/slides/slide8.xml" Id="R265f1c08741241ec" /><Relationship Type="http://schemas.openxmlformats.org/officeDocument/2006/relationships/slide" Target="/ppt/slides/slide9.xml" Id="R3de66ad9ba1e4a66" /><Relationship Type="http://schemas.openxmlformats.org/officeDocument/2006/relationships/slide" Target="/ppt/slides/slide10.xml" Id="R44682ade6f7b43eb" /><Relationship Type="http://schemas.openxmlformats.org/officeDocument/2006/relationships/slide" Target="/ppt/slides/slide11.xml" Id="Rf2a9cc8ec968465a" /><Relationship Type="http://schemas.openxmlformats.org/officeDocument/2006/relationships/slide" Target="/ppt/slides/slide12.xml" Id="Rcdcd0b0be69d4b4d" /><Relationship Type="http://schemas.openxmlformats.org/officeDocument/2006/relationships/slide" Target="/ppt/slides/slide13.xml" Id="Rfb810739ae884396" /><Relationship Type="http://schemas.openxmlformats.org/officeDocument/2006/relationships/slide" Target="/ppt/slides/slide14.xml" Id="R39b5d56f2636489a" /><Relationship Type="http://schemas.openxmlformats.org/officeDocument/2006/relationships/slide" Target="/ppt/slides/slide15.xml" Id="R18735417904946bb" /><Relationship Type="http://schemas.openxmlformats.org/officeDocument/2006/relationships/slide" Target="/ppt/slides/slide16.xml" Id="Ra7f5e72841234e93" /><Relationship Type="http://schemas.openxmlformats.org/officeDocument/2006/relationships/slide" Target="/ppt/slides/slide17.xml" Id="Rc31550e794c749ab" /><Relationship Type="http://schemas.openxmlformats.org/officeDocument/2006/relationships/slide" Target="/ppt/slides/slide18.xml" Id="Rb351692b09824531" /><Relationship Type="http://schemas.openxmlformats.org/officeDocument/2006/relationships/slide" Target="/ppt/slides/slide19.xml" Id="R672f867966214ea6" /><Relationship Type="http://schemas.openxmlformats.org/officeDocument/2006/relationships/slide" Target="/ppt/slides/slide20.xml" Id="R1a23d08396464654" /><Relationship Type="http://schemas.openxmlformats.org/officeDocument/2006/relationships/slide" Target="/ppt/slides/slide21.xml" Id="Rd8d5ba45e486440e" /><Relationship Type="http://schemas.openxmlformats.org/officeDocument/2006/relationships/slide" Target="/ppt/slides/slide22.xml" Id="R928ba00d0dc74408" /><Relationship Type="http://schemas.openxmlformats.org/officeDocument/2006/relationships/slide" Target="/ppt/slides/slide23.xml" Id="Rbc1ab6e0b04e42a4" /><Relationship Type="http://schemas.openxmlformats.org/officeDocument/2006/relationships/slide" Target="/ppt/slides/slide24.xml" Id="R2530b1b861204208" /><Relationship Type="http://schemas.openxmlformats.org/officeDocument/2006/relationships/slide" Target="/ppt/slides/slide25.xml" Id="R56b5164eaa704dd9" /><Relationship Type="http://schemas.openxmlformats.org/officeDocument/2006/relationships/slide" Target="/ppt/slides/slide26.xml" Id="Rd5b00304be464b89" /><Relationship Type="http://schemas.openxmlformats.org/officeDocument/2006/relationships/slide" Target="/ppt/slides/slide27.xml" Id="R64c9a4ee295442ae"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4acbd6eb859642d1"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eff915e8e8c848fd" /><Relationship Type="http://schemas.openxmlformats.org/officeDocument/2006/relationships/notesMaster" Target="/ppt/notesMasters/notesMaster1.xml" Id="Rfff6674056f9431e" /></Relationships>
</file>

<file path=ppt/notesSlides/_rels/notesSlide2.xml.rels>&#65279;<?xml version="1.0" encoding="utf-8"?><Relationships xmlns="http://schemas.openxmlformats.org/package/2006/relationships"><Relationship Type="http://schemas.openxmlformats.org/officeDocument/2006/relationships/slide" Target="/ppt/slides/slide2.xml" Id="R49f9f7016ddc4f00" /><Relationship Type="http://schemas.openxmlformats.org/officeDocument/2006/relationships/notesMaster" Target="/ppt/notesMasters/notesMaster1.xml" Id="Red55720b0cc74f3a" /></Relationships>
</file>

<file path=ppt/notesSlides/_rels/notesSlide3.xml.rels>&#65279;<?xml version="1.0" encoding="utf-8"?><Relationships xmlns="http://schemas.openxmlformats.org/package/2006/relationships"><Relationship Type="http://schemas.openxmlformats.org/officeDocument/2006/relationships/slide" Target="/ppt/slides/slide3.xml" Id="Re8db528f132c4ed4" /><Relationship Type="http://schemas.openxmlformats.org/officeDocument/2006/relationships/notesMaster" Target="/ppt/notesMasters/notesMaster1.xml" Id="R653e4ab9e65f419e" /></Relationships>
</file>

<file path=ppt/notesSlides/_rels/notesSlide4.xml.rels>&#65279;<?xml version="1.0" encoding="utf-8"?><Relationships xmlns="http://schemas.openxmlformats.org/package/2006/relationships"><Relationship Type="http://schemas.openxmlformats.org/officeDocument/2006/relationships/slide" Target="/ppt/slides/slide4.xml" Id="Rdd4d1aec20b742b7" /><Relationship Type="http://schemas.openxmlformats.org/officeDocument/2006/relationships/notesMaster" Target="/ppt/notesMasters/notesMaster1.xml" Id="Rfb20b97357ad47b0" /></Relationships>
</file>

<file path=ppt/notesSlides/_rels/notesSlide5.xml.rels>&#65279;<?xml version="1.0" encoding="utf-8"?><Relationships xmlns="http://schemas.openxmlformats.org/package/2006/relationships"><Relationship Type="http://schemas.openxmlformats.org/officeDocument/2006/relationships/slide" Target="/ppt/slides/slide5.xml" Id="Rec2fe44928704b0c" /><Relationship Type="http://schemas.openxmlformats.org/officeDocument/2006/relationships/notesMaster" Target="/ppt/notesMasters/notesMaster1.xml" Id="R234979dfa16f4cb0" /></Relationships>
</file>

<file path=ppt/notesSlides/_rels/notesSlide6.xml.rels>&#65279;<?xml version="1.0" encoding="utf-8"?><Relationships xmlns="http://schemas.openxmlformats.org/package/2006/relationships"><Relationship Type="http://schemas.openxmlformats.org/officeDocument/2006/relationships/slide" Target="/ppt/slides/slide6.xml" Id="Rfcc7903beec2429f" /><Relationship Type="http://schemas.openxmlformats.org/officeDocument/2006/relationships/notesMaster" Target="/ppt/notesMasters/notesMaster1.xml" Id="R9da284b8916d44d2" /></Relationships>
</file>

<file path=ppt/notesSlides/_rels/notesSlide7.xml.rels>&#65279;<?xml version="1.0" encoding="utf-8"?><Relationships xmlns="http://schemas.openxmlformats.org/package/2006/relationships"><Relationship Type="http://schemas.openxmlformats.org/officeDocument/2006/relationships/slide" Target="/ppt/slides/slide7.xml" Id="R8ae3ade10391478c" /><Relationship Type="http://schemas.openxmlformats.org/officeDocument/2006/relationships/notesMaster" Target="/ppt/notesMasters/notesMaster1.xml" Id="R2d57d713095346b0" /></Relationships>
</file>

<file path=ppt/notesSlides/_rels/notesSlide8.xml.rels>&#65279;<?xml version="1.0" encoding="utf-8"?><Relationships xmlns="http://schemas.openxmlformats.org/package/2006/relationships"><Relationship Type="http://schemas.openxmlformats.org/officeDocument/2006/relationships/slide" Target="/ppt/slides/slide8.xml" Id="Rc70d8f4f6bc2491e" /><Relationship Type="http://schemas.openxmlformats.org/officeDocument/2006/relationships/notesMaster" Target="/ppt/notesMasters/notesMaster1.xml" Id="R9147a029e5654a10" /></Relationships>
</file>

<file path=ppt/notesSlides/_rels/notesSlide9.xml.rels>&#65279;<?xml version="1.0" encoding="utf-8"?><Relationships xmlns="http://schemas.openxmlformats.org/package/2006/relationships"><Relationship Type="http://schemas.openxmlformats.org/officeDocument/2006/relationships/slide" Target="/ppt/slides/slide9.xml" Id="R7881e56d1e9141d9" /><Relationship Type="http://schemas.openxmlformats.org/officeDocument/2006/relationships/notesMaster" Target="/ppt/notesMasters/notesMaster1.xml" Id="R508e712cf49945ab"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194f30e40d94437c" /><Relationship Type="http://schemas.openxmlformats.org/officeDocument/2006/relationships/notesMaster" Target="/ppt/notesMasters/notesMaster1.xml" Id="Rc05eca64feff4dbf"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7615ccb43688417e" /><Relationship Type="http://schemas.openxmlformats.org/officeDocument/2006/relationships/notesMaster" Target="/ppt/notesMasters/notesMaster1.xml" Id="Ra8b3d52e80a547bf"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6ef637e692084fa6" /><Relationship Type="http://schemas.openxmlformats.org/officeDocument/2006/relationships/notesMaster" Target="/ppt/notesMasters/notesMaster1.xml" Id="Rf0412f3407684c25"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1e5cc063b52b498a" /><Relationship Type="http://schemas.openxmlformats.org/officeDocument/2006/relationships/notesMaster" Target="/ppt/notesMasters/notesMaster1.xml" Id="R7abd5265d1ca4381"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1461e3bbb6134bcd" /><Relationship Type="http://schemas.openxmlformats.org/officeDocument/2006/relationships/notesMaster" Target="/ppt/notesMasters/notesMaster1.xml" Id="R0cc8863abc094bd7"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937f32a033d9408f" /><Relationship Type="http://schemas.openxmlformats.org/officeDocument/2006/relationships/notesMaster" Target="/ppt/notesMasters/notesMaster1.xml" Id="R4cf398ae4af949c3"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34dba373c951436a" /><Relationship Type="http://schemas.openxmlformats.org/officeDocument/2006/relationships/notesMaster" Target="/ppt/notesMasters/notesMaster1.xml" Id="Rcac6917f03eb4c02"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67dc4b5eaafb4ce6" /><Relationship Type="http://schemas.openxmlformats.org/officeDocument/2006/relationships/notesMaster" Target="/ppt/notesMasters/notesMaster1.xml" Id="R440c718f82d94d21"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8768beba40f44e5c" /><Relationship Type="http://schemas.openxmlformats.org/officeDocument/2006/relationships/notesMaster" Target="/ppt/notesMasters/notesMaster1.xml" Id="R9a280ed3f8bf44d5"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f045ad5f2bed4461" /><Relationship Type="http://schemas.openxmlformats.org/officeDocument/2006/relationships/notesMaster" Target="/ppt/notesMasters/notesMaster1.xml" Id="Rb854277816814490"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c9d351b6739f4f17" /><Relationship Type="http://schemas.openxmlformats.org/officeDocument/2006/relationships/notesMaster" Target="/ppt/notesMasters/notesMaster1.xml" Id="R6366ad359e544592"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924835c93a6947ba" /><Relationship Type="http://schemas.openxmlformats.org/officeDocument/2006/relationships/notesMaster" Target="/ppt/notesMasters/notesMaster1.xml" Id="Rdc317b3345814a22"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ec7c4752d3ae4616" /><Relationship Type="http://schemas.openxmlformats.org/officeDocument/2006/relationships/notesMaster" Target="/ppt/notesMasters/notesMaster1.xml" Id="Re2e28174cd264e1c"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ae417eebddb2412e" /><Relationship Type="http://schemas.openxmlformats.org/officeDocument/2006/relationships/notesMaster" Target="/ppt/notesMasters/notesMaster1.xml" Id="Rb1d8f22fb3824ccc"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ac8b7e2403194695" /><Relationship Type="http://schemas.openxmlformats.org/officeDocument/2006/relationships/notesMaster" Target="/ppt/notesMasters/notesMaster1.xml" Id="R2f036cb1f06444de"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863ba6eb50d24d80" /><Relationship Type="http://schemas.openxmlformats.org/officeDocument/2006/relationships/notesMaster" Target="/ppt/notesMasters/notesMaster1.xml" Id="R7f7bed405028496c"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ab4cfddd44234626" /><Relationship Type="http://schemas.openxmlformats.org/officeDocument/2006/relationships/notesMaster" Target="/ppt/notesMasters/notesMaster1.xml" Id="Rb0f12b2d1c824c0d"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e4a20d3dda2142fa" /><Relationship Type="http://schemas.openxmlformats.org/officeDocument/2006/relationships/notesMaster" Target="/ppt/notesMasters/notesMaster1.xml" Id="R68b74d4fa4c841d4"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Presentar la tesis como un trabajo de medición: no es un scheduler, no es un nuevo WMS y no es un monitor general de red. La contribución es una métrica y un analizador que separan movimiento científico requerido, declarado y confirmado.</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Desarrollar el contexto desde la ciencia: los workflows existen porque las aplicaciones científicas requieren pipelines de múltiples etapas. El dato no es accesorio; es el vínculo entre etapas.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Esta lámina introduce la cadena completa. La tesis no mide un workflow abstracto en el vacío; mide una ejecución concreta con una ubicación real de tareas y un conjunto de evidencias.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Aquí presento el problema a partir de evidencia preservada, no como una hipótesis general. En gv1_pipeline_samew1_10m_b4_s3_r01 y gv1_pipeline_cross_10m_b4_s3_r01, los manifests declaran seis ocurrencias científicas de 10 MiB y HTCondor confirma las seis: Coverage=6/6=1 y M_obs=60 MiB en ambos. Al reconstruir DAG y placement, el lower bound es M_req=20 MiB para T1,T2,T3 en worker1 y M_req=40 MiB para T1@worker1, T2@worker2, T3@worker1. El history agregado también contiene bytes auxiliares de sandbox; por ello no leo el total bruto como si todo fuera payload científico. Lo que encontré es una brecha semántica entre fuentes: DAG/placement da el requisito lógico; el manifest describe transferencias declaradas; history aporta confirmación por job y también observa otros bytes. Ninguna de esas piezas aislada produce toda la interpretación. No llamo a M_obs−M_req desperdicio ni digo que la ruta física esté medida. La diapositiva 22 de esta revisión desarrolla el cálculo manual completo.</a:t>
            </a:r>
            <a:endParaRPr/>
          </a:p>
          <a:p xmlns:a="http://schemas.openxmlformats.org/drawingml/2006/main">
            <a:r>
              <a:t>Fuentes de datos: runs preservados de Gate V, bundle EVIDENCIA_GATE_V_REPLICAS_20261004.tar.gz; TSV de movimiento requerido y declarado; workflow snapshots y HTCondor history exportado.</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La pregunta debe ser entendida como diagnóstica. Se condiciona al placement observado para evitar transformar la tesis en un problema de optimización de scheduling.</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Presentar primero el objetivo general en una frase. Luego explicar que los objetivos específicos cubren formalización, implementación, validación y delimitación.</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Esta lámina debe defender el alcance. Es importante que la audiencia no espere un planificador ni una comparación de algoritmos de scheduling.</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Explique la literatura como trabajos relacionados con preguntas diferentes, no como una validación externa de nuestros resultados.</a:t>
            </a:r>
            <a:endParaRPr/>
          </a:p>
          <a:p xmlns:a="http://schemas.openxmlformats.org/drawingml/2006/main">
            <a:r>
              <a:t/>
            </a:r>
            <a:endParaRPr/>
          </a:p>
          <a:p xmlns:a="http://schemas.openxmlformats.org/drawingml/2006/main">
            <a:r>
              <a:t>1) Ewa Deelman, Karan Vahi, Gideon Juve y el equipo Pegasus de USC Information Sciences Institute describen cómo Pegasus transforma workflows abstractos para ejecutarlos sobre infraestructura distribuida y gestiona datos. Bharathi, Chervenak, Deelman, Mehta, Su y Vahi (USC/ISI) caracterizaron workflows de cinco aplicaciones científicas. Nos sirven para separar DAG científico, mapeo/placement y gestión de archivos, y para recordar que los DAGs varían. No afirmo que nuestros cinco patrones sean los mismos benchmarks de Bharathi: la propuesta oficial determina nuestros patrones.</a:t>
            </a:r>
            <a:endParaRPr/>
          </a:p>
          <a:p xmlns:a="http://schemas.openxmlformats.org/drawingml/2006/main">
            <a:r>
              <a:t/>
            </a:r>
            <a:endParaRPr/>
          </a:p>
          <a:p xmlns:a="http://schemas.openxmlformats.org/drawingml/2006/main">
            <a:r>
              <a:t>2) Ilia Pietri (Universidad de Atenas) y Rizos Sakellariou (Universidad de Manchester) proponen una variante de scheduling que aumenta el peso de comunicación para co-localizar tareas con transferencias grandes; evalúan el compromiso entre tiempo y volumen de datos. Daniel D. Nguyen y Karen L. Karavanic (Portland State University) definen Workflow Critical Path como métrica orientada a datos: estados y mutaciones conectan códigos y plataformas para calcular una ruta crítica temporal. Aurelio Antonio Vivas Meza es uno de los asesores de esta tesis y el autor de la disertación doctoral de la Universidad de los Andes (enero de 2026; asesor doctoral Harold Castro). Su trabajo presenta nFlows, que usa trazas y hwloc para exponer ubicación de datos y estructura del workflow, y extiende FIFO, HEFT y MIN-MIN para scheduling consciente de NUMA. En 521 escenarios sobre dos sistemas NUMA, los métodos mejoraron makespan en 71.79 %, 79.01 % y 63.58 % de escenarios para FIFO, MIN-MIN y HEFT; mejoraron localidad en 88.87 %, 82.37 % y 73.73 %. El mejor caso de FIFO alcanzó 1.8× de speedup y 53 % de mejora de localidad en la instancia de epigenómica más grande (1695 tareas). Esos resultados son de su disertación, no de Analyzer. El trabajo muestra por qué importan datos, placement y arquitectura; Analyzer responde una pregunta distinta: mide post-mortem movimiento frente a un límite lógico condicionado al placement.</a:t>
            </a:r>
            <a:endParaRPr/>
          </a:p>
          <a:p xmlns:a="http://schemas.openxmlformats.org/drawingml/2006/main">
            <a:r>
              <a:t/>
            </a:r>
            <a:endParaRPr/>
          </a:p>
          <a:p xmlns:a="http://schemas.openxmlformats.org/drawingml/2006/main">
            <a:r>
              <a:t>3) Hyungro Lee, Luanzheng Guo, Meng Tang, Jesun Firoz, Nathan Tallent, Anthony Kougkas y Xian-He Sun proponen Data Flow Lifecycles, que amplía el DAG con objetos y propiedades de datos para estudiar tareas, datos, colocación y oportunidades de reducción de movimiento. Meng Tang, Jaime Cernuda, Jie Ye, Luanzheng Guo, Nathan Tallent, Anthony Kougkas y Xian-He Sun presentan DaYu, que sigue la relación entre datasets lógicos, direcciones de archivo y operaciones de bajo nivel (en especial HDF5). Estos estudios justifican modelar identidad y ciclo de vida de los archivos; DataLife y DaYu no son el adapter Pegasus-condorio de esta tesis.</a:t>
            </a:r>
            <a:endParaRPr/>
          </a:p>
          <a:p xmlns:a="http://schemas.openxmlformats.org/drawingml/2006/main">
            <a:r>
              <a:t/>
            </a:r>
            <a:endParaRPr/>
          </a:p>
          <a:p xmlns:a="http://schemas.openxmlformats.org/drawingml/2006/main">
            <a:r>
              <a:t>4) Tu Mai Anh Do trabaja con coautores de USC/ISI, la Universidad de Tennessee, Cornell y la Universidad de Nuevo México; su métrica evalúa eficiencia de recursos para workflows in situ, no la razón entre movimiento requerido y observado. Hariharan Devarajan, Loïc Pottier y colegas de Lawrence Livermore, Argonne, Illinois Tech y Florida State desarrollan DFTracer, que captura eventos contextualizados en varias capas (incluidas APIs de aplicación y llamadas al sistema) en workflows de AI. Es una herramienta de observabilidad; su costo corresponde a sus propios experimentos y no al de Analyzer. El punto común para nuestra tesis es observar y distinguir capas, mientras el objetivo métrico sigue siendo distinto.</a:t>
            </a:r>
            <a:endParaRPr/>
          </a:p>
          <a:p xmlns:a="http://schemas.openxmlformats.org/drawingml/2006/main">
            <a:r>
              <a:t/>
            </a:r>
            <a:endParaRPr/>
          </a:p>
          <a:p xmlns:a="http://schemas.openxmlformats.org/drawingml/2006/main">
            <a:r>
              <a:t>Lecturas primarias: Pegasus: https://pegasus.isi.edu/wordpress/wp-content/papercite-data/pdf/deelman-fgcs-2015.pdf ; Bharathi et al.: https://www.isi.edu/websites/works08/4_Bharathi.pdf ; Pietri &amp; Sakellariou: https://www.cs.man.ac.uk/~rizos/papers/ssdbm2018.pdf ; Nguyen &amp; Karavanic, artículo original y DOI 10.1016/j.tbench.2021.100001: https://pdxscholar.library.pdx.edu/compsci_fac/314/ ; Vivas Meza, disertación doctoral suministrada por el usuario (enero de 2026) y descripción institucional ALCF: https://www.alcf.anl.gov/events/scheduling-strategies-efficient-data-movement-data-intensive-scientific-workflow-execution ; Lee et al.: https://cs.iit.edu/~scs/assets/files/lee2023data.pdf ; Tang et al.: https://cs.iit.edu/~scs/assets/files/tang2024dayu.pdf ; Do et al.: https://doi.org/10.1016/j.jocs.2020.101259 ; Devarajan et al.: https://doi.org/10.1109/SC41406.2024.00023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Instantánea de solo lectura consultada desde pegasus-master el 2026-10-04 a las 03:30:13 (UTC-05:00). El master reporta Ubuntu 26.04, VMware, una CPU lógica/vCPU presentada al guest, 1,671,811,072 bytes de RAM, Pegasus 5.1.2 y HTCondor 25.12.2. La propuesta oficial describe el host físico Windows 11 Home Single Language, Intel Core i5-1235U, 8 GB y x64. Las ClassAds de worker1 y worker2 publican slots X86_64/Ubuntu26 con un CPU y 1410 MiB cada uno, estado Unclaimed y actividad Idle. Cpus/Memory son recursos del slot, no capacidad física total del worker. El acceso de inventario se realiza desde el master; no se requiere SSH directo a workers. Las relaciones del diagrama son un modelo lógico de pool, no una medición de tráfico. Analyzer procesa artefactos preservados e history exportado; no consulta el collector durante el análisis.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Esta es la lámina de términos congelados. Recalcar que DeclaredMovement no es ObservedMovement, y que Coverage es una precondición de validez.</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La tesis debe ser fuerte en esto: un resultado indeterminado no es una falla del analizador; es un resultado metodológicamente correcto cuando la evidencia no alcanza.</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La metodología conecta el problema de medición con la formalización de la métrica, la operacionalización del Analyzer y la evaluación con oráculos controlados. El flujo distingue necesidad lógica, contrato de ejecución y evidencia observada.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El Analyzer opera offline sobre artefactos preservados. La primera vía reconstruye el grafo científico y las ubicaciones observadas para derivar RequiredMovement. La segunda aplica el adapter condorio al perfil efectivo y a los manifests para construir DeclaredMovement. La tercera extrae de HTCondor history la evidencia por job. DeclaredMovement y TransferEvidence convergen en MovementVerification; Coverage controla si se pueden calcular ObservedMovement y DME. MetricResult conserva valores, estados, razones y ProvenanceRef. El Analyzer no consulta el pool en vivo ni se inserta en el DAG.</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Vista de entidades de ejecución y dataflow que corresponden al modelo normalizado descrito en la tesis. RunExecution integra el análisis. TaskExecution enlaza identificadores Pegasus/DAG con job y placement HTCondor. Location representa submit host, worker, sitio o destino. ScientificFile conserva identidad lógica, referencias físicas, roles, tamaño y relación productor/consumers. ExecutionModelProfile caracteriza el modelo efectivo. ProvenanceRef enlaza fuentes e interpretaciones; un hash es opcional. Flechas y cardinalidades indican las relaciones descritas en el dominio, no el número de filas de un run particular.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La figura distingue el nodo de envío y control de los dos nodos de ejecución. pegasus-master aloja Pegasus WMS y los daemons HTCondor MASTER, COLLECTOR, NEGOTIATOR y SCHEDD. Cada worker anuncia un slot con una CPU y 1410 MiB según ClassAd; los jobs usan vanilla. Las dos líneas inferiores representan el staging lógico de archivos intermedios en el caso pipeline cross: stage1 sale de worker1 al Access Point y vuelve a worker2; stage2 retorna desde worker2 y se entrega a worker1. No afirmo que la figura mida la ruta física de paquetes. Analyzer procesa snapshots preservados y no consulta el pool en vivo. La evidencia corresponde al bundle de Gate V del 4 de octubre de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Defino los cinco patrones a partir de los DAGs realmente preservados. Process tiene una tarea entre una entrada y una salida. Pipeline encadena tres jobs mediante dos archivos intermedios. Distribution ejecuta un job split que produce cuatro chunks y cuatro consumers, cinco jobs en total. Aggregation tiene cuatro producers que generan ramas consumidas por un aggregate, también cinco jobs. Redistribution encadena cuatro producers, un aggregate, un split y cuatro consumers: diez jobs. Rectángulos representan tareas y óvalos archivos; las flechas indican dependencias del workflow, no rutas físicas. Los workflows se ejecutaron en ubicaciones controladas same-w1 o cross según la condición.</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Presento la matriz base same-w1 de 10 MiB para los cinco patrones oficiales. La columna n indica workflows Pegasus independientes: cuatro para process de 10 MiB y tres para cada otra fila. La campaña completa abarcó diez condiciones y 31 workflows; todas las métricas por condición fueron iguales entre réplicas y se validaron con el oráculo. Mobs se reconcilia con evidencia exportada de HTCondor a nivel job, no por captura de red.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Explico dos respuestas controladas distintas. Primero, mover productores/consumidores entre workers altera el lower bound esperado para ese placement mientras el contrato declarado y la evidencia reconciliada del patrón quedan constantes. Segundo, duplicar el tamaño de entrada de process duplica los movimientos calculados y mantiene DME. Cada condición tiene tres workflows independientes; process same-w1 de 10 MiB tiene cuatro réplicas métricas. Las cifras describen el pool y los factores probados, no comparan schedulers ni rendimiento.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Desgloso el tiempo de obtención en tres partes: T_gen comprende planificación y finalización del workflow mientras Pegasus y HTCondor producen logs nativos; incluye el cómputo científico, por lo que no atribuyo todo ese intervalo al logging. T_collect es la exportación y preparación de history más inventario y hash de evidencia. T_analyzer es la invocación offline primaria. El costo total se suma por réplica, y la tabla presenta medias y desviaciones estándar entre tres ejecuciones independientes por condición. Para process de 10 MiB hay cuatro réplicas métricas, pero tres con cronometraje completo. Las repeticiones del Analyzer sobre un mismo artefacto son chequeos de determinismo y no se cuentan como réplicas.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Secuencia por job/dirección/intento. JobTransferManifest describe el conjunto efectivo esperado; TransferEvidence proviene de atributos del HTCondor history. La reconciliación comprueba identidad del intento, worker, método, éxito y compatibilidad del manifest. Modos: EXACT_BYTES y SUCCESSFUL_MANIFEST. Niveles: FILE_LEVEL_CONFIRMED, JOB_LEVEL_RECONCILED e INSUFFICIENT. No implica packet tracing ni asignación proporcional de bytes. Coverage es por ocurrencias; con cobertura incompleta M_obs y DME quedan indeterminadas.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Presento primero las definiciones exactas. M_req suma, para cada archivo científico, su tamaño por las ubicaciones distintas requeridas, excluyendo el origen modelado. D_sci es el conjunto de ocurrencias de movimiento científico declaradas por el modelo efectivo; cada ocurrencia conserva archivo, job, dirección e intento cuando se puede separar. C_sci es el subconjunto confirmado mediante reconciliation con TransferEvidence. Coverage cuenta ocurrencias, no bytes, y se fija en uno si D_sci está vacío. M_obs suma el tamaño científico por ocurrencia confirmada solo cuando Coverage es uno; los auxiliares de sandbox se excluyen. DME tiene casos N/A y cero cuando no hay movimiento requerido, y usa M_req/M_obs si 0&lt;M_req≤M_obs. Coverage parcial deja M_obs y DME indeterminadas; M_obs menor que M_req es inconsistente. La diferencia no se interpreta como desperdicio ni como ahorro garantizado.</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Este cálculo sale de los runs preservados gv1_pipeline_samew1_10m_b4_s3_r01 y gv1_pipeline_cross_10m_b4_s3_r01, no de datos ilustrativos. Cada objeto científico tiene 10 MiB. En ambos runs, los tres jobs declaran input y output: seis ocurrencias, todas con confirmed=true en declared_movement.tsv; por eso |D_sci|=|C_sci|=6, Coverage=1 y M_obs=6×10=60 MiB. Para same-w1, solo se requiere mover input.dat desde master a worker1 y pipeline.stage3.dat al destino final; stage1 y stage2 permanecen en worker1, así que M_req=10+10=20 MiB y DME=20/60=1/3. Para cross, el placement T1@worker1, T2@worker2, T3@worker1 exige input 10 MiB, stage1 de worker1 a worker2, stage2 de worker2 a worker1 y salida final 10 MiB: M_req=40 MiB y DME=40/60=2/3. Los manifests declaran seis ocurrencias condorio con stage-out/stage-in a través del Access Point. M_obs suma solo los archivos científicos, no los bytes agregados de HTCondor que incluyen auxiliares de sandbox. Los TSVs requeridos, declarados y los snapshots del workflow quedan preservados dentro del bundle de evidencia Gate 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Los dos esquemas comparan el límite lógico file-centric bajo el placement observado con una ruta conceptual de staging condorio que puede pasar por el submit host. El diagrama representa una explicación del contrato, no una ruta de paquetes observada para cada job. Worker-to-worker es una referencia conceptual: si Coverage=1 y M_obs=M_req&gt;0, DME=1. El movimiento confirmado que supera el lower bound no prueba por sí solo que esos bytes sean evitables ni que el scheduler sea subóptimo.</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La métrica puede apoyar diagnóstico de staging, comparación de patrones y decisiones de arquitectura al mostrar movimiento científico confirmado frente al mínimo requerido por el placement. No es una métrica de rendimiento. No mide FLOPs, uso de CPU/GPU, runtime, bandwidth o costo; tampoco optimiza placement ni determina la optimalidad del scheduler.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Esta diapositiva anticipa las limitaciones que un jurado estricto debería distinguir de los resultados. La métrica y el Analyzer se validaron para cinco patrones y diez condiciones en un pool condorio de dos workers. Las réplicas son independientes, pero n=3 solo permite describir la variación. T_gen incluye el trabajo científico y no es una medición causal del overhead de logging. HTCondor history se reconcilia a nivel job; no equivale a packet capture. El lower bound de Mreq es lógico y condicionado al placement, no un óptimo global. Cobertura parcial se verificó con pruebas de software y no aparece en la matriz empírica válida. Las referencias añadidas de Juve et al. (2013) y Georges et al. (2007) apoyan la interpretación prudente de profiling y variación de rendimiento.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Cerrar con el mensaje central: medición, evidencia y trazabilidad.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Referencias primarias incluidas para gestión de workflows, scheduling, eficiencia in situ, dataflow y tracing. La tesis de Vivas Meza aporta contexto de scheduling y arquitectura; no define la DME de Analyzer v1. El erratum suministrado de Workflow Critical Path no se cita como sustituto del artículo original.</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3ccc45d4f18f43b4"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ca54ed0c532c4c23" /></Relationships>
</file>

<file path=ppt/slideLayouts/slideLayout1.xml><?xml version="1.0" encoding="utf-8"?>
<p:sldLayout xmlns:p="http://schemas.openxmlformats.org/presentationml/2006/main" preserve="1">
  <p:cSld name="DEFAULT">
    <p:bg>
      <p:bgRef idx="1001">
        <a:schemeClr xmlns:a="http://schemas.openxmlformats.org/drawingml/2006/main" val="bg1"/>
      </p:bgRef>
    </p:bg>
    <p:spTree>
      <p:nvGrpSpPr>
        <p:cNvPr id="1" name=""/>
        <p:cNvGrpSpPr/>
        <p:nvPr/>
      </p:nvGrpSpPr>
      <p:grpSpPr>
        <a:xfrm xmlns:a="http://schemas.openxmlformats.org/drawingml/2006/main"/>
      </p:grpSpPr>
    </p:spTree>
  </p:cSld>
</p:sldLayout>
</file>

<file path=ppt/slideLayouts/slideLayout2.xml><?xml version="1.0" encoding="utf-8"?>
<p:sldLayout xmlns:p="http://schemas.openxmlformats.org/presentationml/2006/main" preserve="1">
  <p:cSld name="MASTER">
    <p:bg>
      <p:bgPr>
        <a:solidFill xmlns:a="http://schemas.openxmlformats.org/drawingml/2006/main">
          <a:srgbClr val="F8FAFC"/>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6EDB48E1-5397-487F-BABC-1BCFF370D298}"/>
              </a:ext>
            </a:extLst>
          </p:cNvPr>
          <p:cNvSpPr>
            <a:spLocks xmlns:a="http://schemas.openxmlformats.org/drawingml/2006/main" noGrp="1"/>
          </p:cNvSpPr>
          <p:nvPr/>
        </p:nvSpPr>
        <p:spPr>
          <a:xfrm xmlns:a="http://schemas.openxmlformats.org/drawingml/2006/main">
            <a:off x="0" y="0"/>
            <a:ext cx="12191695" cy="6858000"/>
          </a:xfrm>
          <a:prstGeom xmlns:a="http://schemas.openxmlformats.org/drawingml/2006/main" prst="rect">
            <a:avLst/>
          </a:prstGeom>
          <a:solidFill xmlns:a="http://schemas.openxmlformats.org/drawingml/2006/main">
            <a:srgbClr val="F8FAFC"/>
          </a:solidFill>
          <a:ln xmlns:a="http://schemas.openxmlformats.org/drawingml/2006/main" w="12700">
            <a:solidFill>
              <a:srgbClr val="F8FAFC"/>
            </a:solidFill>
            <a:prstDash val="solid"/>
          </a:ln>
        </p:spPr>
      </p:sp>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483a80133f4b487d" /><Relationship Type="http://schemas.openxmlformats.org/officeDocument/2006/relationships/slideLayout" Target="/ppt/slideLayouts/slideLayout1.xml" Id="R1dd28e74b52f41a8" /><Relationship Type="http://schemas.openxmlformats.org/officeDocument/2006/relationships/slideLayout" Target="/ppt/slideLayouts/slideLayout2.xml" Id="R1c7eff10c6dc4ef9" /></Relationships>
</file>

<file path=ppt/slideMasters/slideMaster1.xml><?xml version="1.0" encoding="utf-8"?>
<p:sldMaster xmlns:p="http://schemas.openxmlformats.org/presentationml/2006/main">
  <p:cSld>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1dd28e74b52f41a8"/>
    <p:sldLayoutId xmlns:r="http://schemas.openxmlformats.org/officeDocument/2006/relationships" id="2147483650" r:id="R1c7eff10c6dc4ef9"/>
  </p:sldLayoutIdLst>
  <p:hf sldNum="0" hdr="0" ftr="0" dt="0"/>
  <p:txStyles>
    <p:titleStyle>
      <a:lvl1pPr xmlns:a="http://schemas.openxmlformats.org/drawingml/2006/main" algn="ctr" defTabSz="914400">
        <a:spcBef>
          <a:spcPct val="0"/>
        </a:spcBef>
        <a:buNone/>
        <a:defRPr sz="4400" kern="1200">
          <a:solidFill>
            <a:schemeClr val="tx1"/>
          </a:solidFill>
          <a:latin typeface="+mj-lt"/>
          <a:ea typeface="+mj-lt"/>
          <a:cs typeface="+mj-lt"/>
        </a:defRPr>
      </a:lvl1pPr>
    </p:titleStyle>
    <p:bodyStyle>
      <a:lvl1pPr xmlns:a="http://schemas.openxmlformats.org/drawingml/2006/main" marL="342900" indent="-342900" algn="l" defTabSz="914400">
        <a:spcBef>
          <a:spcPct val="20000"/>
        </a:spcBef>
        <a:buFont typeface="Arial"/>
        <a:buChar char="•"/>
        <a:defRPr sz="3200" kern="1200">
          <a:solidFill>
            <a:schemeClr val="tx1"/>
          </a:solidFill>
          <a:latin typeface="+mn-lt"/>
          <a:ea typeface="+mn-lt"/>
          <a:cs typeface="+mn-lt"/>
        </a:defRPr>
      </a:lvl1pPr>
      <a:lvl2pPr xmlns:a="http://schemas.openxmlformats.org/drawingml/2006/main" marL="742950" indent="-285750" algn="l" defTabSz="914400">
        <a:spcBef>
          <a:spcPct val="20000"/>
        </a:spcBef>
        <a:buFont typeface="Arial"/>
        <a:buChar char="–"/>
        <a:defRPr sz="2800" kern="1200">
          <a:solidFill>
            <a:schemeClr val="tx1"/>
          </a:solidFill>
          <a:latin typeface="+mn-lt"/>
          <a:ea typeface="+mn-lt"/>
          <a:cs typeface="+mn-lt"/>
        </a:defRPr>
      </a:lvl2pPr>
      <a:lvl3pPr xmlns:a="http://schemas.openxmlformats.org/drawingml/2006/main" marL="1143000" indent="-228600" algn="l" defTabSz="914400">
        <a:spcBef>
          <a:spcPct val="20000"/>
        </a:spcBef>
        <a:buFont typeface="Arial"/>
        <a:buChar char="•"/>
        <a:defRPr sz="2400" kern="1200">
          <a:solidFill>
            <a:schemeClr val="tx1"/>
          </a:solidFill>
          <a:latin typeface="+mn-lt"/>
          <a:ea typeface="+mn-lt"/>
          <a:cs typeface="+mn-lt"/>
        </a:defRPr>
      </a:lvl3pPr>
      <a:lvl4pPr xmlns:a="http://schemas.openxmlformats.org/drawingml/2006/main" marL="1600200" indent="-228600" algn="l" defTabSz="914400">
        <a:spcBef>
          <a:spcPct val="20000"/>
        </a:spcBef>
        <a:buFont typeface="Arial"/>
        <a:buChar char="–"/>
        <a:defRPr sz="2000" kern="1200">
          <a:solidFill>
            <a:schemeClr val="tx1"/>
          </a:solidFill>
          <a:latin typeface="+mn-lt"/>
          <a:ea typeface="+mn-lt"/>
          <a:cs typeface="+mn-lt"/>
        </a:defRPr>
      </a:lvl4pPr>
      <a:lvl5pPr xmlns:a="http://schemas.openxmlformats.org/drawingml/2006/main" marL="2057400" indent="-228600" algn="l" defTabSz="914400">
        <a:spcBef>
          <a:spcPct val="20000"/>
        </a:spcBef>
        <a:buFont typeface="Arial"/>
        <a:buChar char="»"/>
        <a:defRPr sz="2000" kern="1200">
          <a:solidFill>
            <a:schemeClr val="tx1"/>
          </a:solidFill>
          <a:latin typeface="+mn-lt"/>
          <a:ea typeface="+mn-lt"/>
          <a:cs typeface="+mn-lt"/>
        </a:defRPr>
      </a:lvl5pPr>
      <a:lvl6pPr xmlns:a="http://schemas.openxmlformats.org/drawingml/2006/main" marL="2514600" indent="-228600" algn="l" defTabSz="914400">
        <a:spcBef>
          <a:spcPct val="20000"/>
        </a:spcBef>
        <a:buFont typeface="Arial"/>
        <a:buChar char="•"/>
        <a:defRPr sz="2000" kern="1200">
          <a:solidFill>
            <a:schemeClr val="tx1"/>
          </a:solidFill>
          <a:latin typeface="+mn-lt"/>
          <a:ea typeface="+mn-lt"/>
          <a:cs typeface="+mn-lt"/>
        </a:defRPr>
      </a:lvl6pPr>
      <a:lvl7pPr xmlns:a="http://schemas.openxmlformats.org/drawingml/2006/main" marL="2971800" indent="-228600" algn="l" defTabSz="914400">
        <a:spcBef>
          <a:spcPct val="20000"/>
        </a:spcBef>
        <a:buFont typeface="Arial"/>
        <a:buChar char="•"/>
        <a:defRPr sz="2000" kern="1200">
          <a:solidFill>
            <a:schemeClr val="tx1"/>
          </a:solidFill>
          <a:latin typeface="+mn-lt"/>
          <a:ea typeface="+mn-lt"/>
          <a:cs typeface="+mn-lt"/>
        </a:defRPr>
      </a:lvl7pPr>
      <a:lvl8pPr xmlns:a="http://schemas.openxmlformats.org/drawingml/2006/main" marL="3429000" indent="-228600" algn="l" defTabSz="914400">
        <a:spcBef>
          <a:spcPct val="20000"/>
        </a:spcBef>
        <a:buFont typeface="Arial"/>
        <a:buChar char="•"/>
        <a:defRPr sz="2000" kern="1200">
          <a:solidFill>
            <a:schemeClr val="tx1"/>
          </a:solidFill>
          <a:latin typeface="+mn-lt"/>
          <a:ea typeface="+mn-lt"/>
          <a:cs typeface="+mn-lt"/>
        </a:defRPr>
      </a:lvl8pPr>
      <a:lvl9pPr xmlns:a="http://schemas.openxmlformats.org/drawingml/2006/main" marL="3886200" indent="-228600" algn="l" defTabSz="914400">
        <a:spcBef>
          <a:spcPct val="20000"/>
        </a:spcBef>
        <a:buFont typeface="Arial"/>
        <a:buChar char="•"/>
        <a:defRPr sz="2000" kern="1200">
          <a:solidFill>
            <a:schemeClr val="tx1"/>
          </a:solidFill>
          <a:latin typeface="+mn-lt"/>
          <a:ea typeface="+mn-lt"/>
          <a:cs typeface="+mn-lt"/>
        </a:defRPr>
      </a:lvl9pPr>
    </p:bodyStyle>
    <p:otherStyle>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2.xml" Id="R92591714533f40a4" /><Relationship Type="http://schemas.openxmlformats.org/officeDocument/2006/relationships/notesSlide" Target="/ppt/notesSlides/notesSlide1.xml" Id="R955644d241e34509" /></Relationships>
</file>

<file path=ppt/slides/_rels/slide2.xml.rels>&#65279;<?xml version="1.0" encoding="utf-8"?><Relationships xmlns="http://schemas.openxmlformats.org/package/2006/relationships"><Relationship Type="http://schemas.openxmlformats.org/officeDocument/2006/relationships/slideLayout" Target="/ppt/slideLayouts/slideLayout2.xml" Id="R8f60364b7d4a454a" /><Relationship Type="http://schemas.openxmlformats.org/officeDocument/2006/relationships/notesSlide" Target="/ppt/notesSlides/notesSlide2.xml" Id="Rb2fd3260da964812" /></Relationships>
</file>

<file path=ppt/slides/_rels/slide3.xml.rels>&#65279;<?xml version="1.0" encoding="utf-8"?><Relationships xmlns="http://schemas.openxmlformats.org/package/2006/relationships"><Relationship Type="http://schemas.openxmlformats.org/officeDocument/2006/relationships/slideLayout" Target="/ppt/slideLayouts/slideLayout2.xml" Id="Rac9536f3b76548af" /><Relationship Type="http://schemas.openxmlformats.org/officeDocument/2006/relationships/notesSlide" Target="/ppt/notesSlides/notesSlide3.xml" Id="R095b29bc8c3144f4" /></Relationships>
</file>

<file path=ppt/slides/_rels/slide4.xml.rels>&#65279;<?xml version="1.0" encoding="utf-8"?><Relationships xmlns="http://schemas.openxmlformats.org/package/2006/relationships"><Relationship Type="http://schemas.openxmlformats.org/officeDocument/2006/relationships/slideLayout" Target="/ppt/slideLayouts/slideLayout2.xml" Id="R26005b25797d4cd1" /><Relationship Type="http://schemas.openxmlformats.org/officeDocument/2006/relationships/notesSlide" Target="/ppt/notesSlides/notesSlide4.xml" Id="R9fd2bd5092ea496a" /></Relationships>
</file>

<file path=ppt/slides/_rels/slide5.xml.rels>&#65279;<?xml version="1.0" encoding="utf-8"?><Relationships xmlns="http://schemas.openxmlformats.org/package/2006/relationships"><Relationship Type="http://schemas.openxmlformats.org/officeDocument/2006/relationships/slideLayout" Target="/ppt/slideLayouts/slideLayout2.xml" Id="Ra6153dc7925646f9" /><Relationship Type="http://schemas.openxmlformats.org/officeDocument/2006/relationships/notesSlide" Target="/ppt/notesSlides/notesSlide5.xml" Id="R3f0ce774c3724b0d" /></Relationships>
</file>

<file path=ppt/slides/_rels/slide6.xml.rels>&#65279;<?xml version="1.0" encoding="utf-8"?><Relationships xmlns="http://schemas.openxmlformats.org/package/2006/relationships"><Relationship Type="http://schemas.openxmlformats.org/officeDocument/2006/relationships/slideLayout" Target="/ppt/slideLayouts/slideLayout2.xml" Id="R4bd5bc56d9e442c1" /><Relationship Type="http://schemas.openxmlformats.org/officeDocument/2006/relationships/notesSlide" Target="/ppt/notesSlides/notesSlide6.xml" Id="R4527aef1aa8c4462" /></Relationships>
</file>

<file path=ppt/slides/_rels/slide7.xml.rels>&#65279;<?xml version="1.0" encoding="utf-8"?><Relationships xmlns="http://schemas.openxmlformats.org/package/2006/relationships"><Relationship Type="http://schemas.openxmlformats.org/officeDocument/2006/relationships/slideLayout" Target="/ppt/slideLayouts/slideLayout2.xml" Id="R3c9dc732e7c646a8" /><Relationship Type="http://schemas.openxmlformats.org/officeDocument/2006/relationships/notesSlide" Target="/ppt/notesSlides/notesSlide7.xml" Id="R7e940491f7fd4006" /></Relationships>
</file>

<file path=ppt/slides/_rels/slide8.xml.rels>&#65279;<?xml version="1.0" encoding="utf-8"?><Relationships xmlns="http://schemas.openxmlformats.org/package/2006/relationships"><Relationship Type="http://schemas.openxmlformats.org/officeDocument/2006/relationships/slideLayout" Target="/ppt/slideLayouts/slideLayout2.xml" Id="R3d0be43aeeca424e" /><Relationship Type="http://schemas.openxmlformats.org/officeDocument/2006/relationships/notesSlide" Target="/ppt/notesSlides/notesSlide8.xml" Id="Rbcb02bc552864eea" /></Relationships>
</file>

<file path=ppt/slides/_rels/slide9.xml.rels>&#65279;<?xml version="1.0" encoding="utf-8"?><Relationships xmlns="http://schemas.openxmlformats.org/package/2006/relationships"><Relationship Type="http://schemas.openxmlformats.org/officeDocument/2006/relationships/slideLayout" Target="/ppt/slideLayouts/slideLayout2.xml" Id="R233d536536d44156" /><Relationship Type="http://schemas.openxmlformats.org/officeDocument/2006/relationships/notesSlide" Target="/ppt/notesSlides/notesSlide9.xml" Id="R64efdc3d85ee46b0" /></Relationships>
</file>

<file path=ppt/slides/_rels/slide10.xml.rels>&#65279;<?xml version="1.0" encoding="utf-8"?><Relationships xmlns="http://schemas.openxmlformats.org/package/2006/relationships"><Relationship Type="http://schemas.openxmlformats.org/officeDocument/2006/relationships/slideLayout" Target="/ppt/slideLayouts/slideLayout2.xml" Id="R8961e02cee894ce6" /><Relationship Type="http://schemas.openxmlformats.org/officeDocument/2006/relationships/notesSlide" Target="/ppt/notesSlides/notesSlide10.xml" Id="R79610c735287443f" /></Relationships>
</file>

<file path=ppt/slides/_rels/slide11.xml.rels>&#65279;<?xml version="1.0" encoding="utf-8"?><Relationships xmlns="http://schemas.openxmlformats.org/package/2006/relationships"><Relationship Type="http://schemas.openxmlformats.org/officeDocument/2006/relationships/slideLayout" Target="/ppt/slideLayouts/slideLayout2.xml" Id="R14e57e9529564dc2" /><Relationship Type="http://schemas.openxmlformats.org/officeDocument/2006/relationships/notesSlide" Target="/ppt/notesSlides/notesSlide11.xml" Id="R46f1006cb076438f" /></Relationships>
</file>

<file path=ppt/slides/_rels/slide12.xml.rels>&#65279;<?xml version="1.0" encoding="utf-8"?><Relationships xmlns="http://schemas.openxmlformats.org/package/2006/relationships"><Relationship Type="http://schemas.openxmlformats.org/officeDocument/2006/relationships/slideLayout" Target="/ppt/slideLayouts/slideLayout2.xml" Id="R6868e01256184f51" /><Relationship Type="http://schemas.openxmlformats.org/officeDocument/2006/relationships/notesSlide" Target="/ppt/notesSlides/notesSlide12.xml" Id="Rb71454f9391c4d47" /></Relationships>
</file>

<file path=ppt/slides/_rels/slide13.xml.rels>&#65279;<?xml version="1.0" encoding="utf-8"?><Relationships xmlns="http://schemas.openxmlformats.org/package/2006/relationships"><Relationship Type="http://schemas.openxmlformats.org/officeDocument/2006/relationships/slideLayout" Target="/ppt/slideLayouts/slideLayout2.xml" Id="Rf350205aadfc4d3e" /><Relationship Type="http://schemas.openxmlformats.org/officeDocument/2006/relationships/notesSlide" Target="/ppt/notesSlides/notesSlide13.xml" Id="R196b6bac9c79453a"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b923bcb379154e15" /><Relationship Type="http://schemas.openxmlformats.org/officeDocument/2006/relationships/notesSlide" Target="/ppt/notesSlides/notesSlide14.xml" Id="R29d0a87738c644f4"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a34ebcc5a7fe4c36" /><Relationship Type="http://schemas.openxmlformats.org/officeDocument/2006/relationships/notesSlide" Target="/ppt/notesSlides/notesSlide15.xml" Id="R8ae5388de45d4e31" /></Relationships>
</file>

<file path=ppt/slides/_rels/slide16.xml.rels>&#65279;<?xml version="1.0" encoding="utf-8"?><Relationships xmlns="http://schemas.openxmlformats.org/package/2006/relationships"><Relationship Type="http://schemas.openxmlformats.org/officeDocument/2006/relationships/slideLayout" Target="/ppt/slideLayouts/slideLayout2.xml" Id="R5fdf814615984782" /><Relationship Type="http://schemas.openxmlformats.org/officeDocument/2006/relationships/notesSlide" Target="/ppt/notesSlides/notesSlide16.xml" Id="R789f2a1d02c34de1"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ef21463a53a04a8e" /><Relationship Type="http://schemas.openxmlformats.org/officeDocument/2006/relationships/notesSlide" Target="/ppt/notesSlides/notesSlide17.xml" Id="R324bd67ccef64f3d"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b03a6e09d9564df3" /><Relationship Type="http://schemas.openxmlformats.org/officeDocument/2006/relationships/notesSlide" Target="/ppt/notesSlides/notesSlide18.xml" Id="R754250998212436d"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ac5c6ded20be4504" /><Relationship Type="http://schemas.openxmlformats.org/officeDocument/2006/relationships/notesSlide" Target="/ppt/notesSlides/notesSlide19.xml" Id="Rbe25ec198f1a4aab" /></Relationships>
</file>

<file path=ppt/slides/_rels/slide20.xml.rels>&#65279;<?xml version="1.0" encoding="utf-8"?><Relationships xmlns="http://schemas.openxmlformats.org/package/2006/relationships"><Relationship Type="http://schemas.openxmlformats.org/officeDocument/2006/relationships/slideLayout" Target="/ppt/slideLayouts/slideLayout2.xml" Id="Rd40c0144e66c4135" /><Relationship Type="http://schemas.openxmlformats.org/officeDocument/2006/relationships/notesSlide" Target="/ppt/notesSlides/notesSlide20.xml" Id="Rfc62975e1dd8462d" /></Relationships>
</file>

<file path=ppt/slides/_rels/slide21.xml.rels>&#65279;<?xml version="1.0" encoding="utf-8"?><Relationships xmlns="http://schemas.openxmlformats.org/package/2006/relationships"><Relationship Type="http://schemas.openxmlformats.org/officeDocument/2006/relationships/slideLayout" Target="/ppt/slideLayouts/slideLayout2.xml" Id="R058a41f09927436f" /><Relationship Type="http://schemas.openxmlformats.org/officeDocument/2006/relationships/image" Target="/ppt/media/image.png" Id="R3414ae18bfb241ab" /><Relationship Type="http://schemas.openxmlformats.org/officeDocument/2006/relationships/image" Target="/ppt/media/image2.png" Id="R2ee3319690bc4271" /><Relationship Type="http://schemas.openxmlformats.org/officeDocument/2006/relationships/image" Target="/ppt/media/image3.png" Id="R34dcdd21f2cf4188" /><Relationship Type="http://schemas.openxmlformats.org/officeDocument/2006/relationships/image" Target="/ppt/media/image4.png" Id="Ra9f6ec18e84f41db" /><Relationship Type="http://schemas.openxmlformats.org/officeDocument/2006/relationships/image" Target="/ppt/media/image5.png" Id="R02b6b01364b641ef" /><Relationship Type="http://schemas.openxmlformats.org/officeDocument/2006/relationships/image" Target="/ppt/media/image6.png" Id="R2f2bff1f0905400a" /><Relationship Type="http://schemas.openxmlformats.org/officeDocument/2006/relationships/notesSlide" Target="/ppt/notesSlides/notesSlide21.xml" Id="Rb326192675e442d7"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bee9ed34cb274230" /><Relationship Type="http://schemas.openxmlformats.org/officeDocument/2006/relationships/notesSlide" Target="/ppt/notesSlides/notesSlide22.xml" Id="R8f4728625f634934" /></Relationships>
</file>

<file path=ppt/slides/_rels/slide23.xml.rels>&#65279;<?xml version="1.0" encoding="utf-8"?><Relationships xmlns="http://schemas.openxmlformats.org/package/2006/relationships"><Relationship Type="http://schemas.openxmlformats.org/officeDocument/2006/relationships/slideLayout" Target="/ppt/slideLayouts/slideLayout2.xml" Id="Rd05c80445877445b" /><Relationship Type="http://schemas.openxmlformats.org/officeDocument/2006/relationships/notesSlide" Target="/ppt/notesSlides/notesSlide23.xml" Id="R7df62309b13d4048" /></Relationships>
</file>

<file path=ppt/slides/_rels/slide24.xml.rels>&#65279;<?xml version="1.0" encoding="utf-8"?><Relationships xmlns="http://schemas.openxmlformats.org/package/2006/relationships"><Relationship Type="http://schemas.openxmlformats.org/officeDocument/2006/relationships/slideLayout" Target="/ppt/slideLayouts/slideLayout2.xml" Id="Rdfc9851a13de482f" /><Relationship Type="http://schemas.openxmlformats.org/officeDocument/2006/relationships/notesSlide" Target="/ppt/notesSlides/notesSlide24.xml" Id="R8d3f3084c5954915" /></Relationships>
</file>

<file path=ppt/slides/_rels/slide25.xml.rels>&#65279;<?xml version="1.0" encoding="utf-8"?><Relationships xmlns="http://schemas.openxmlformats.org/package/2006/relationships"><Relationship Type="http://schemas.openxmlformats.org/officeDocument/2006/relationships/slideLayout" Target="/ppt/slideLayouts/slideLayout1.xml" Id="Rb8241310380c4b84" /><Relationship Type="http://schemas.openxmlformats.org/officeDocument/2006/relationships/notesSlide" Target="/ppt/notesSlides/notesSlide25.xml" Id="R05e421a7b384445f" /></Relationships>
</file>

<file path=ppt/slides/_rels/slide26.xml.rels>&#65279;<?xml version="1.0" encoding="utf-8"?><Relationships xmlns="http://schemas.openxmlformats.org/package/2006/relationships"><Relationship Type="http://schemas.openxmlformats.org/officeDocument/2006/relationships/slideLayout" Target="/ppt/slideLayouts/slideLayout2.xml" Id="R2ab4f441bb4947a0" /><Relationship Type="http://schemas.openxmlformats.org/officeDocument/2006/relationships/notesSlide" Target="/ppt/notesSlides/notesSlide26.xml" Id="R5840331c4a7941e2" /></Relationships>
</file>

<file path=ppt/slides/_rels/slide27.xml.rels>&#65279;<?xml version="1.0" encoding="utf-8"?><Relationships xmlns="http://schemas.openxmlformats.org/package/2006/relationships"><Relationship Type="http://schemas.openxmlformats.org/officeDocument/2006/relationships/slideLayout" Target="/ppt/slideLayouts/slideLayout2.xml" Id="Rfc693da4521246d2" /><Relationship Type="http://schemas.openxmlformats.org/officeDocument/2006/relationships/notesSlide" Target="/ppt/notesSlides/notesSlide27.xml" Id="Rf15dd74033574163" /></Relationships>
</file>

<file path=ppt/slides/slide1.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A241560B-2885-4236-A9F9-727E3A516B1A}"/>
              </a:ext>
            </a:extLst>
          </p:cNvPr>
          <p:cNvSpPr>
            <a:spLocks xmlns:a="http://schemas.openxmlformats.org/drawingml/2006/main" noGrp="1"/>
          </p:cNvSpPr>
          <p:nvPr/>
        </p:nvSpPr>
        <p:spPr>
          <a:xfrm xmlns:a="http://schemas.openxmlformats.org/drawingml/2006/main">
            <a:off x="0" y="0"/>
            <a:ext cx="12191695" cy="6858000"/>
          </a:xfrm>
          <a:prstGeom xmlns:a="http://schemas.openxmlformats.org/drawingml/2006/main" prst="rect">
            <a:avLst/>
          </a:prstGeom>
          <a:solidFill xmlns:a="http://schemas.openxmlformats.org/drawingml/2006/main">
            <a:srgbClr val="F8FAFC"/>
          </a:solidFill>
          <a:ln xmlns:a="http://schemas.openxmlformats.org/drawingml/2006/main" w="12700">
            <a:solidFill>
              <a:srgbClr val="F8FAFC"/>
            </a:solidFill>
            <a:prstDash val="solid"/>
          </a:ln>
        </p:spPr>
      </p:sp>
      <p:sp>
        <p:nvSpPr>
          <p:cNvPr id="3" name="Shape 1">
            <a:extLst xmlns:a="http://schemas.openxmlformats.org/drawingml/2006/main">
              <a:ext uri="{FF2B5EF4-FFF2-40B4-BE49-F238E27FC236}">
                <a16:creationId xmlns:a16="http://schemas.microsoft.com/office/drawing/2014/main" id="{9B3CC33B-9C17-4024-9443-6BB98A778090}"/>
              </a:ext>
            </a:extLst>
          </p:cNvPr>
          <p:cNvSpPr>
            <a:spLocks xmlns:a="http://schemas.openxmlformats.org/drawingml/2006/main" noGrp="1"/>
          </p:cNvSpPr>
          <p:nvPr/>
        </p:nvSpPr>
        <p:spPr>
          <a:xfrm xmlns:a="http://schemas.openxmlformats.org/drawingml/2006/main">
            <a:off x="0" y="0"/>
            <a:ext cx="12191695" cy="914400"/>
          </a:xfrm>
          <a:prstGeom xmlns:a="http://schemas.openxmlformats.org/drawingml/2006/main" prst="rect">
            <a:avLst/>
          </a:prstGeom>
          <a:solidFill xmlns:a="http://schemas.openxmlformats.org/drawingml/2006/main">
            <a:srgbClr val="102A43"/>
          </a:solidFill>
          <a:ln xmlns:a="http://schemas.openxmlformats.org/drawingml/2006/main" w="12700">
            <a:solidFill>
              <a:srgbClr val="102A43"/>
            </a:solidFill>
            <a:prstDash val="solid"/>
          </a:ln>
        </p:spPr>
      </p:sp>
      <p:sp>
        <p:nvSpPr>
          <p:cNvPr id="4" name="Shape 2">
            <a:extLst xmlns:a="http://schemas.openxmlformats.org/drawingml/2006/main">
              <a:ext uri="{FF2B5EF4-FFF2-40B4-BE49-F238E27FC236}">
                <a16:creationId xmlns:a16="http://schemas.microsoft.com/office/drawing/2014/main" id="{1E880202-01EB-4936-923B-2948F99FC291}"/>
              </a:ext>
            </a:extLst>
          </p:cNvPr>
          <p:cNvSpPr>
            <a:spLocks xmlns:a="http://schemas.openxmlformats.org/drawingml/2006/main" noGrp="1"/>
          </p:cNvSpPr>
          <p:nvPr/>
        </p:nvSpPr>
        <p:spPr>
          <a:xfrm xmlns:a="http://schemas.openxmlformats.org/drawingml/2006/main">
            <a:off x="0" y="914400"/>
            <a:ext cx="12191695" cy="73152"/>
          </a:xfrm>
          <a:prstGeom xmlns:a="http://schemas.openxmlformats.org/drawingml/2006/main" prst="rect">
            <a:avLst/>
          </a:prstGeom>
          <a:solidFill xmlns:a="http://schemas.openxmlformats.org/drawingml/2006/main">
            <a:srgbClr val="F59E0B"/>
          </a:solidFill>
          <a:ln xmlns:a="http://schemas.openxmlformats.org/drawingml/2006/main" w="12700">
            <a:solidFill>
              <a:srgbClr val="F59E0B"/>
            </a:solidFill>
            <a:prstDash val="solid"/>
          </a:ln>
        </p:spPr>
      </p:sp>
      <p:sp>
        <p:nvSpPr>
          <p:cNvPr id="5" name="Text 3">
            <a:extLst xmlns:a="http://schemas.openxmlformats.org/drawingml/2006/main">
              <a:ext uri="{FF2B5EF4-FFF2-40B4-BE49-F238E27FC236}">
                <a16:creationId xmlns:a16="http://schemas.microsoft.com/office/drawing/2014/main" id="{80B1307E-7C6F-4A13-99C2-409C07B67255}"/>
              </a:ext>
            </a:extLst>
          </p:cNvPr>
          <p:cNvSpPr>
            <a:spLocks xmlns:a="http://schemas.openxmlformats.org/drawingml/2006/main" noGrp="1"/>
          </p:cNvSpPr>
          <p:nvPr/>
        </p:nvSpPr>
        <p:spPr>
          <a:xfrm xmlns:a="http://schemas.openxmlformats.org/drawingml/2006/main">
            <a:off x="713232" y="1508760"/>
            <a:ext cx="6858000" cy="1325880"/>
          </a:xfrm>
          <a:prstGeom xmlns:a="http://schemas.openxmlformats.org/drawingml/2006/main" prst="rect">
            <a:avLst/>
          </a:prstGeom>
          <a:noFill xmlns:a="http://schemas.openxmlformats.org/drawingml/2006/main"/>
        </p:spPr>
        <p:txBody>
          <a:bodyPr xmlns:a="http://schemas.openxmlformats.org/drawingml/2006/main" wrap="square" lIns="254" tIns="254" rIns="254" bIns="254" anchor="ctr">
            <a:normAutofit/>
          </a:bodyPr>
          <a:lstStyle xmlns:a="http://schemas.openxmlformats.org/drawingml/2006/main"/>
          <a:p xmlns:a="http://schemas.openxmlformats.org/drawingml/2006/main">
            <a:pPr marL="0" indent="0">
              <a:buNone/>
            </a:pPr>
            <a:r>
              <a:rPr sz="3400" b="1">
                <a:solidFill>
                  <a:srgbClr val="102A43"/>
                </a:solidFill>
                <a:latin typeface="Aptos Display"/>
                <a:ea typeface="Aptos Display"/>
                <a:cs typeface="Aptos Display"/>
              </a:rPr>
              <a:t>Data Movement Assessment</a:t>
            </a:r>
            <a:endParaRPr sz="3400"/>
          </a:p>
          <a:p xmlns:a="http://schemas.openxmlformats.org/drawingml/2006/main">
            <a:pPr marL="0" indent="0">
              <a:buNone/>
            </a:pPr>
            <a:r>
              <a:rPr sz="3400" b="1">
                <a:solidFill>
                  <a:srgbClr val="102A43"/>
                </a:solidFill>
                <a:latin typeface="Aptos Display"/>
                <a:ea typeface="Aptos Display"/>
                <a:cs typeface="Aptos Display"/>
              </a:rPr>
              <a:t>in Scientific Workflows</a:t>
            </a:r>
            <a:endParaRPr sz="3400"/>
          </a:p>
        </p:txBody>
      </p:sp>
      <p:sp>
        <p:nvSpPr>
          <p:cNvPr id="6" name="Text 4">
            <a:extLst xmlns:a="http://schemas.openxmlformats.org/drawingml/2006/main">
              <a:ext uri="{FF2B5EF4-FFF2-40B4-BE49-F238E27FC236}">
                <a16:creationId xmlns:a16="http://schemas.microsoft.com/office/drawing/2014/main" id="{E0ED780A-721B-4878-A69B-C97225DC45CA}"/>
              </a:ext>
            </a:extLst>
          </p:cNvPr>
          <p:cNvSpPr>
            <a:spLocks xmlns:a="http://schemas.openxmlformats.org/drawingml/2006/main" noGrp="1"/>
          </p:cNvSpPr>
          <p:nvPr/>
        </p:nvSpPr>
        <p:spPr>
          <a:xfrm xmlns:a="http://schemas.openxmlformats.org/drawingml/2006/main">
            <a:off x="749808" y="2907792"/>
            <a:ext cx="6858000" cy="658368"/>
          </a:xfrm>
          <a:prstGeom xmlns:a="http://schemas.openxmlformats.org/drawingml/2006/main" prst="rect">
            <a:avLst/>
          </a:prstGeom>
          <a:noFill xmlns:a="http://schemas.openxmlformats.org/drawingml/2006/main"/>
        </p:spPr>
        <p:txBody>
          <a:bodyPr xmlns:a="http://schemas.openxmlformats.org/drawingml/2006/main" wrap="square" lIns="254" tIns="254" rIns="254" bIns="254" anchor="ctr">
            <a:normAutofit/>
          </a:bodyPr>
          <a:lstStyle xmlns:a="http://schemas.openxmlformats.org/drawingml/2006/main"/>
          <a:p xmlns:a="http://schemas.openxmlformats.org/drawingml/2006/main">
            <a:pPr marL="0" indent="0">
              <a:buNone/>
            </a:pPr>
            <a:r>
              <a:rPr sz="1600">
                <a:solidFill>
                  <a:srgbClr val="334155"/>
                </a:solidFill>
              </a:rPr>
              <a:t>Diseño y validación de una métrica para evaluar movimiento de datos científico en ejecuciones Pegasus/HTCondor</a:t>
            </a:r>
            <a:endParaRPr sz="1600"/>
          </a:p>
        </p:txBody>
      </p:sp>
      <p:sp>
        <p:nvSpPr>
          <p:cNvPr id="7" name="Shape 5">
            <a:extLst xmlns:a="http://schemas.openxmlformats.org/drawingml/2006/main">
              <a:ext uri="{FF2B5EF4-FFF2-40B4-BE49-F238E27FC236}">
                <a16:creationId xmlns:a16="http://schemas.microsoft.com/office/drawing/2014/main" id="{CD729276-75C3-46FB-BDDF-3837851E9877}"/>
              </a:ext>
            </a:extLst>
          </p:cNvPr>
          <p:cNvSpPr>
            <a:spLocks xmlns:a="http://schemas.openxmlformats.org/drawingml/2006/main" noGrp="1"/>
          </p:cNvSpPr>
          <p:nvPr/>
        </p:nvSpPr>
        <p:spPr>
          <a:xfrm xmlns:a="http://schemas.openxmlformats.org/drawingml/2006/main">
            <a:off x="8458200" y="1417320"/>
            <a:ext cx="2377440" cy="566928"/>
          </a:xfrm>
          <a:prstGeom xmlns:a="http://schemas.openxmlformats.org/drawingml/2006/main" prst="roundRect">
            <a:avLst>
              <a:gd name="adj" fmla="val 12903"/>
            </a:avLst>
          </a:prstGeom>
          <a:solidFill xmlns:a="http://schemas.openxmlformats.org/drawingml/2006/main">
            <a:srgbClr val="DBEAFE"/>
          </a:solidFill>
          <a:ln xmlns:a="http://schemas.openxmlformats.org/drawingml/2006/main" w="10160">
            <a:solidFill>
              <a:srgbClr val="BFDBFE"/>
            </a:solidFill>
            <a:prstDash val="solid"/>
          </a:ln>
        </p:spPr>
      </p:sp>
      <p:sp>
        <p:nvSpPr>
          <p:cNvPr id="8" name="Text 6">
            <a:extLst xmlns:a="http://schemas.openxmlformats.org/drawingml/2006/main">
              <a:ext uri="{FF2B5EF4-FFF2-40B4-BE49-F238E27FC236}">
                <a16:creationId xmlns:a16="http://schemas.microsoft.com/office/drawing/2014/main" id="{6F3EF5B1-8B6A-429C-9190-36900F89A850}"/>
              </a:ext>
            </a:extLst>
          </p:cNvPr>
          <p:cNvSpPr>
            <a:spLocks xmlns:a="http://schemas.openxmlformats.org/drawingml/2006/main" noGrp="1"/>
          </p:cNvSpPr>
          <p:nvPr/>
        </p:nvSpPr>
        <p:spPr>
          <a:xfrm xmlns:a="http://schemas.openxmlformats.org/drawingml/2006/main">
            <a:off x="8567928" y="1508760"/>
            <a:ext cx="2157984" cy="384048"/>
          </a:xfrm>
          <a:prstGeom xmlns:a="http://schemas.openxmlformats.org/drawingml/2006/main" prst="rect">
            <a:avLst/>
          </a:prstGeom>
          <a:noFill xmlns:a="http://schemas.openxmlformats.org/drawingml/2006/main"/>
        </p:spPr>
        <p:txBody>
          <a:bodyPr xmlns:a="http://schemas.openxmlformats.org/drawingml/2006/main" wrap="square" lIns="381" tIns="381" rIns="381" bIns="381" anchor="ctr">
            <a:normAutofit/>
          </a:bodyPr>
          <a:lstStyle xmlns:a="http://schemas.openxmlformats.org/drawingml/2006/main"/>
          <a:p xmlns:a="http://schemas.openxmlformats.org/drawingml/2006/main">
            <a:pPr marL="0" indent="0" algn="ctr">
              <a:buNone/>
            </a:pPr>
            <a:r>
              <a:rPr sz="1300" b="1">
                <a:solidFill>
                  <a:srgbClr val="1D4ED8"/>
                </a:solidFill>
                <a:latin typeface="Aptos"/>
                <a:ea typeface="Aptos"/>
                <a:cs typeface="Aptos"/>
              </a:rPr>
              <a:t>Workflow científico</a:t>
            </a:r>
            <a:endParaRPr sz="1300"/>
          </a:p>
        </p:txBody>
      </p:sp>
      <p:sp>
        <p:nvSpPr>
          <p:cNvPr id="9" name="Shape 7">
            <a:extLst xmlns:a="http://schemas.openxmlformats.org/drawingml/2006/main">
              <a:ext uri="{FF2B5EF4-FFF2-40B4-BE49-F238E27FC236}">
                <a16:creationId xmlns:a16="http://schemas.microsoft.com/office/drawing/2014/main" id="{3414B0B5-520E-4ED0-81FC-88242ED352A8}"/>
              </a:ext>
            </a:extLst>
          </p:cNvPr>
          <p:cNvSpPr>
            <a:spLocks xmlns:a="http://schemas.openxmlformats.org/drawingml/2006/main" noGrp="1"/>
          </p:cNvSpPr>
          <p:nvPr/>
        </p:nvSpPr>
        <p:spPr>
          <a:xfrm xmlns:a="http://schemas.openxmlformats.org/drawingml/2006/main">
            <a:off x="9646920" y="1993392"/>
            <a:ext cx="0" cy="493776"/>
          </a:xfrm>
          <a:prstGeom xmlns:a="http://schemas.openxmlformats.org/drawingml/2006/main" prst="line">
            <a:avLst/>
          </a:prstGeom>
          <a:noFill xmlns:a="http://schemas.openxmlformats.org/drawingml/2006/main"/>
          <a:ln xmlns:a="http://schemas.openxmlformats.org/drawingml/2006/main" w="16510">
            <a:solidFill>
              <a:srgbClr val="2563EB"/>
            </a:solidFill>
            <a:prstDash val="solid"/>
            <a:headEnd type="none"/>
            <a:tailEnd type="triangle"/>
          </a:ln>
        </p:spPr>
      </p:sp>
      <p:sp>
        <p:nvSpPr>
          <p:cNvPr id="10" name="Shape 8">
            <a:extLst xmlns:a="http://schemas.openxmlformats.org/drawingml/2006/main">
              <a:ext uri="{FF2B5EF4-FFF2-40B4-BE49-F238E27FC236}">
                <a16:creationId xmlns:a16="http://schemas.microsoft.com/office/drawing/2014/main" id="{35CD4DD9-1F2B-49DE-BC19-B85E00600542}"/>
              </a:ext>
            </a:extLst>
          </p:cNvPr>
          <p:cNvSpPr>
            <a:spLocks xmlns:a="http://schemas.openxmlformats.org/drawingml/2006/main" noGrp="1"/>
          </p:cNvSpPr>
          <p:nvPr/>
        </p:nvSpPr>
        <p:spPr>
          <a:xfrm xmlns:a="http://schemas.openxmlformats.org/drawingml/2006/main">
            <a:off x="8458200" y="2578608"/>
            <a:ext cx="2377440" cy="566928"/>
          </a:xfrm>
          <a:prstGeom xmlns:a="http://schemas.openxmlformats.org/drawingml/2006/main" prst="roundRect">
            <a:avLst>
              <a:gd name="adj" fmla="val 12903"/>
            </a:avLst>
          </a:prstGeom>
          <a:solidFill xmlns:a="http://schemas.openxmlformats.org/drawingml/2006/main">
            <a:srgbClr val="CCFBF1"/>
          </a:solidFill>
          <a:ln xmlns:a="http://schemas.openxmlformats.org/drawingml/2006/main" w="10160">
            <a:solidFill>
              <a:srgbClr val="99F6E4"/>
            </a:solidFill>
            <a:prstDash val="solid"/>
          </a:ln>
        </p:spPr>
      </p:sp>
      <p:sp>
        <p:nvSpPr>
          <p:cNvPr id="11" name="Text 9">
            <a:extLst xmlns:a="http://schemas.openxmlformats.org/drawingml/2006/main">
              <a:ext uri="{FF2B5EF4-FFF2-40B4-BE49-F238E27FC236}">
                <a16:creationId xmlns:a16="http://schemas.microsoft.com/office/drawing/2014/main" id="{C3A65818-8414-490F-AC98-68C5722732FD}"/>
              </a:ext>
            </a:extLst>
          </p:cNvPr>
          <p:cNvSpPr>
            <a:spLocks xmlns:a="http://schemas.openxmlformats.org/drawingml/2006/main" noGrp="1"/>
          </p:cNvSpPr>
          <p:nvPr/>
        </p:nvSpPr>
        <p:spPr>
          <a:xfrm xmlns:a="http://schemas.openxmlformats.org/drawingml/2006/main">
            <a:off x="8567928" y="2670048"/>
            <a:ext cx="2157984" cy="384048"/>
          </a:xfrm>
          <a:prstGeom xmlns:a="http://schemas.openxmlformats.org/drawingml/2006/main" prst="rect">
            <a:avLst/>
          </a:prstGeom>
          <a:noFill xmlns:a="http://schemas.openxmlformats.org/drawingml/2006/main"/>
        </p:spPr>
        <p:txBody>
          <a:bodyPr xmlns:a="http://schemas.openxmlformats.org/drawingml/2006/main" wrap="square" lIns="381" tIns="381" rIns="381" bIns="381" anchor="ctr">
            <a:normAutofit/>
          </a:bodyPr>
          <a:lstStyle xmlns:a="http://schemas.openxmlformats.org/drawingml/2006/main"/>
          <a:p xmlns:a="http://schemas.openxmlformats.org/drawingml/2006/main">
            <a:pPr marL="0" indent="0" algn="ctr">
              <a:buNone/>
            </a:pPr>
            <a:r>
              <a:rPr sz="1300" b="1">
                <a:solidFill>
                  <a:srgbClr val="0F766E"/>
                </a:solidFill>
                <a:latin typeface="Aptos"/>
                <a:ea typeface="Aptos"/>
                <a:cs typeface="Aptos"/>
              </a:rPr>
              <a:t>Placement observado</a:t>
            </a:r>
            <a:endParaRPr sz="1300"/>
          </a:p>
        </p:txBody>
      </p:sp>
      <p:sp>
        <p:nvSpPr>
          <p:cNvPr id="12" name="Shape 10">
            <a:extLst xmlns:a="http://schemas.openxmlformats.org/drawingml/2006/main">
              <a:ext uri="{FF2B5EF4-FFF2-40B4-BE49-F238E27FC236}">
                <a16:creationId xmlns:a16="http://schemas.microsoft.com/office/drawing/2014/main" id="{E0AA07EA-5BAD-44AB-BB04-4CBF0AC86565}"/>
              </a:ext>
            </a:extLst>
          </p:cNvPr>
          <p:cNvSpPr>
            <a:spLocks xmlns:a="http://schemas.openxmlformats.org/drawingml/2006/main" noGrp="1"/>
          </p:cNvSpPr>
          <p:nvPr/>
        </p:nvSpPr>
        <p:spPr>
          <a:xfrm xmlns:a="http://schemas.openxmlformats.org/drawingml/2006/main">
            <a:off x="9646920" y="3154680"/>
            <a:ext cx="0" cy="475488"/>
          </a:xfrm>
          <a:prstGeom xmlns:a="http://schemas.openxmlformats.org/drawingml/2006/main" prst="line">
            <a:avLst/>
          </a:prstGeom>
          <a:noFill xmlns:a="http://schemas.openxmlformats.org/drawingml/2006/main"/>
          <a:ln xmlns:a="http://schemas.openxmlformats.org/drawingml/2006/main" w="16510">
            <a:solidFill>
              <a:srgbClr val="0F766E"/>
            </a:solidFill>
            <a:prstDash val="solid"/>
            <a:headEnd type="none"/>
            <a:tailEnd type="triangle"/>
          </a:ln>
        </p:spPr>
      </p:sp>
      <p:sp>
        <p:nvSpPr>
          <p:cNvPr id="13" name="Shape 11">
            <a:extLst xmlns:a="http://schemas.openxmlformats.org/drawingml/2006/main">
              <a:ext uri="{FF2B5EF4-FFF2-40B4-BE49-F238E27FC236}">
                <a16:creationId xmlns:a16="http://schemas.microsoft.com/office/drawing/2014/main" id="{30B8C4FF-E6FC-48B3-9EAA-A85E4F96CB32}"/>
              </a:ext>
            </a:extLst>
          </p:cNvPr>
          <p:cNvSpPr>
            <a:spLocks xmlns:a="http://schemas.openxmlformats.org/drawingml/2006/main" noGrp="1"/>
          </p:cNvSpPr>
          <p:nvPr/>
        </p:nvSpPr>
        <p:spPr>
          <a:xfrm xmlns:a="http://schemas.openxmlformats.org/drawingml/2006/main">
            <a:off x="8458200" y="3730752"/>
            <a:ext cx="2377440" cy="566928"/>
          </a:xfrm>
          <a:prstGeom xmlns:a="http://schemas.openxmlformats.org/drawingml/2006/main" prst="roundRect">
            <a:avLst>
              <a:gd name="adj" fmla="val 12903"/>
            </a:avLst>
          </a:prstGeom>
          <a:solidFill xmlns:a="http://schemas.openxmlformats.org/drawingml/2006/main">
            <a:srgbClr val="FEF3C7"/>
          </a:solidFill>
          <a:ln xmlns:a="http://schemas.openxmlformats.org/drawingml/2006/main" w="10160">
            <a:solidFill>
              <a:srgbClr val="FCD34D"/>
            </a:solidFill>
            <a:prstDash val="solid"/>
          </a:ln>
        </p:spPr>
      </p:sp>
      <p:sp>
        <p:nvSpPr>
          <p:cNvPr id="14" name="Text 12">
            <a:extLst xmlns:a="http://schemas.openxmlformats.org/drawingml/2006/main">
              <a:ext uri="{FF2B5EF4-FFF2-40B4-BE49-F238E27FC236}">
                <a16:creationId xmlns:a16="http://schemas.microsoft.com/office/drawing/2014/main" id="{BF90C942-809D-4F70-AE69-DDD9E37B0D78}"/>
              </a:ext>
            </a:extLst>
          </p:cNvPr>
          <p:cNvSpPr>
            <a:spLocks xmlns:a="http://schemas.openxmlformats.org/drawingml/2006/main" noGrp="1"/>
          </p:cNvSpPr>
          <p:nvPr/>
        </p:nvSpPr>
        <p:spPr>
          <a:xfrm xmlns:a="http://schemas.openxmlformats.org/drawingml/2006/main">
            <a:off x="8567928" y="3822192"/>
            <a:ext cx="2157984" cy="384048"/>
          </a:xfrm>
          <a:prstGeom xmlns:a="http://schemas.openxmlformats.org/drawingml/2006/main" prst="rect">
            <a:avLst/>
          </a:prstGeom>
          <a:noFill xmlns:a="http://schemas.openxmlformats.org/drawingml/2006/main"/>
        </p:spPr>
        <p:txBody>
          <a:bodyPr xmlns:a="http://schemas.openxmlformats.org/drawingml/2006/main" wrap="square" lIns="381" tIns="381" rIns="381" bIns="381" anchor="ctr">
            <a:normAutofit/>
          </a:bodyPr>
          <a:lstStyle xmlns:a="http://schemas.openxmlformats.org/drawingml/2006/main"/>
          <a:p xmlns:a="http://schemas.openxmlformats.org/drawingml/2006/main">
            <a:pPr marL="0" indent="0" algn="ctr">
              <a:buNone/>
            </a:pPr>
            <a:r>
              <a:rPr sz="1300" b="1">
                <a:solidFill>
                  <a:srgbClr val="92400E"/>
                </a:solidFill>
                <a:latin typeface="Aptos"/>
                <a:ea typeface="Aptos"/>
                <a:cs typeface="Aptos"/>
              </a:rPr>
              <a:t>Evidencia de ejecución</a:t>
            </a:r>
            <a:endParaRPr sz="1300"/>
          </a:p>
        </p:txBody>
      </p:sp>
      <p:sp>
        <p:nvSpPr>
          <p:cNvPr id="15" name="Shape 13">
            <a:extLst xmlns:a="http://schemas.openxmlformats.org/drawingml/2006/main">
              <a:ext uri="{FF2B5EF4-FFF2-40B4-BE49-F238E27FC236}">
                <a16:creationId xmlns:a16="http://schemas.microsoft.com/office/drawing/2014/main" id="{A48CF823-3687-42F1-957E-918F51ABDC3C}"/>
              </a:ext>
            </a:extLst>
          </p:cNvPr>
          <p:cNvSpPr>
            <a:spLocks xmlns:a="http://schemas.openxmlformats.org/drawingml/2006/main" noGrp="1"/>
          </p:cNvSpPr>
          <p:nvPr/>
        </p:nvSpPr>
        <p:spPr>
          <a:xfrm xmlns:a="http://schemas.openxmlformats.org/drawingml/2006/main">
            <a:off x="9646920" y="4297680"/>
            <a:ext cx="0" cy="493776"/>
          </a:xfrm>
          <a:prstGeom xmlns:a="http://schemas.openxmlformats.org/drawingml/2006/main" prst="line">
            <a:avLst/>
          </a:prstGeom>
          <a:noFill xmlns:a="http://schemas.openxmlformats.org/drawingml/2006/main"/>
          <a:ln xmlns:a="http://schemas.openxmlformats.org/drawingml/2006/main" w="16510">
            <a:solidFill>
              <a:srgbClr val="F59E0B"/>
            </a:solidFill>
            <a:prstDash val="solid"/>
            <a:headEnd type="none"/>
            <a:tailEnd type="triangle"/>
          </a:ln>
        </p:spPr>
      </p:sp>
      <p:sp>
        <p:nvSpPr>
          <p:cNvPr id="16" name="Shape 14">
            <a:extLst xmlns:a="http://schemas.openxmlformats.org/drawingml/2006/main">
              <a:ext uri="{FF2B5EF4-FFF2-40B4-BE49-F238E27FC236}">
                <a16:creationId xmlns:a16="http://schemas.microsoft.com/office/drawing/2014/main" id="{56ADBD30-41ED-4131-9A38-EA399BB04F32}"/>
              </a:ext>
            </a:extLst>
          </p:cNvPr>
          <p:cNvSpPr>
            <a:spLocks xmlns:a="http://schemas.openxmlformats.org/drawingml/2006/main" noGrp="1"/>
          </p:cNvSpPr>
          <p:nvPr/>
        </p:nvSpPr>
        <p:spPr>
          <a:xfrm xmlns:a="http://schemas.openxmlformats.org/drawingml/2006/main">
            <a:off x="8458200" y="4882896"/>
            <a:ext cx="2377440" cy="566928"/>
          </a:xfrm>
          <a:prstGeom xmlns:a="http://schemas.openxmlformats.org/drawingml/2006/main" prst="roundRect">
            <a:avLst>
              <a:gd name="adj" fmla="val 12903"/>
            </a:avLst>
          </a:prstGeom>
          <a:solidFill xmlns:a="http://schemas.openxmlformats.org/drawingml/2006/main">
            <a:srgbClr val="FFFFFF"/>
          </a:solidFill>
          <a:ln xmlns:a="http://schemas.openxmlformats.org/drawingml/2006/main" w="10160">
            <a:solidFill>
              <a:srgbClr val="2563EB"/>
            </a:solidFill>
            <a:prstDash val="solid"/>
          </a:ln>
        </p:spPr>
      </p:sp>
      <p:sp>
        <p:nvSpPr>
          <p:cNvPr id="17" name="Text 15">
            <a:extLst xmlns:a="http://schemas.openxmlformats.org/drawingml/2006/main">
              <a:ext uri="{FF2B5EF4-FFF2-40B4-BE49-F238E27FC236}">
                <a16:creationId xmlns:a16="http://schemas.microsoft.com/office/drawing/2014/main" id="{157E2C8F-775E-4E5D-9F30-A38F22564654}"/>
              </a:ext>
            </a:extLst>
          </p:cNvPr>
          <p:cNvSpPr>
            <a:spLocks xmlns:a="http://schemas.openxmlformats.org/drawingml/2006/main" noGrp="1"/>
          </p:cNvSpPr>
          <p:nvPr/>
        </p:nvSpPr>
        <p:spPr>
          <a:xfrm xmlns:a="http://schemas.openxmlformats.org/drawingml/2006/main">
            <a:off x="8567928" y="4974336"/>
            <a:ext cx="2157984" cy="384048"/>
          </a:xfrm>
          <a:prstGeom xmlns:a="http://schemas.openxmlformats.org/drawingml/2006/main" prst="rect">
            <a:avLst/>
          </a:prstGeom>
          <a:noFill xmlns:a="http://schemas.openxmlformats.org/drawingml/2006/main"/>
        </p:spPr>
        <p:txBody>
          <a:bodyPr xmlns:a="http://schemas.openxmlformats.org/drawingml/2006/main" wrap="square" lIns="381" tIns="381" rIns="381" bIns="381" anchor="ctr">
            <a:normAutofit/>
          </a:bodyPr>
          <a:lstStyle xmlns:a="http://schemas.openxmlformats.org/drawingml/2006/main"/>
          <a:p xmlns:a="http://schemas.openxmlformats.org/drawingml/2006/main">
            <a:pPr marL="0" indent="0" algn="ctr">
              <a:buNone/>
            </a:pPr>
            <a:r>
              <a:rPr sz="1800" b="1">
                <a:solidFill>
                  <a:srgbClr val="102A43"/>
                </a:solidFill>
                <a:latin typeface="Aptos"/>
                <a:ea typeface="Aptos"/>
                <a:cs typeface="Aptos"/>
              </a:rPr>
              <a:t>DME</a:t>
            </a:r>
            <a:endParaRPr sz="1800"/>
          </a:p>
        </p:txBody>
      </p:sp>
      <p:sp>
        <p:nvSpPr>
          <p:cNvPr id="18" name="Text 16">
            <a:extLst xmlns:a="http://schemas.openxmlformats.org/drawingml/2006/main">
              <a:ext uri="{FF2B5EF4-FFF2-40B4-BE49-F238E27FC236}">
                <a16:creationId xmlns:a16="http://schemas.microsoft.com/office/drawing/2014/main" id="{F9E015DD-F9BC-48D1-8EBB-DEBEA97C6CC5}"/>
              </a:ext>
            </a:extLst>
          </p:cNvPr>
          <p:cNvSpPr>
            <a:spLocks xmlns:a="http://schemas.openxmlformats.org/drawingml/2006/main" noGrp="1"/>
          </p:cNvSpPr>
          <p:nvPr/>
        </p:nvSpPr>
        <p:spPr>
          <a:xfrm xmlns:a="http://schemas.openxmlformats.org/drawingml/2006/main">
            <a:off x="777240" y="5166360"/>
            <a:ext cx="7132320" cy="621792"/>
          </a:xfrm>
          <a:prstGeom xmlns:a="http://schemas.openxmlformats.org/drawingml/2006/main" prst="rect">
            <a:avLst/>
          </a:prstGeom>
          <a:noFill xmlns:a="http://schemas.openxmlformats.org/drawingml/2006/main"/>
        </p:spPr>
        <p:txBody>
          <a:bodyPr xmlns:a="http://schemas.openxmlformats.org/drawingml/2006/main" wrap="square" lIns="254" tIns="254" rIns="254" bIns="254" anchor="ctr">
            <a:normAutofit/>
          </a:bodyPr>
          <a:lstStyle xmlns:a="http://schemas.openxmlformats.org/drawingml/2006/main"/>
          <a:p xmlns:a="http://schemas.openxmlformats.org/drawingml/2006/main">
            <a:pPr marL="0" indent="0">
              <a:buNone/>
            </a:pPr>
            <a:r>
              <a:rPr sz="1050">
                <a:solidFill>
                  <a:srgbClr val="64748B"/>
                </a:solidFill>
              </a:rPr>
              <a:t>Luis Sebastián Contreras Díaz</a:t>
            </a:r>
            <a:endParaRPr sz="1050"/>
          </a:p>
          <a:p xmlns:a="http://schemas.openxmlformats.org/drawingml/2006/main">
            <a:pPr marL="0" indent="0">
              <a:buNone/>
            </a:pPr>
            <a:r>
              <a:rPr sz="1050">
                <a:solidFill>
                  <a:srgbClr val="64748B"/>
                </a:solidFill>
              </a:rPr>
              <a:t>Asesores: Aurelio Antonio Vivas Meza · Harold Enrique Castro Barrera</a:t>
            </a:r>
            <a:endParaRPr sz="1050"/>
          </a:p>
          <a:p xmlns:a="http://schemas.openxmlformats.org/drawingml/2006/main">
            <a:pPr marL="0" indent="0">
              <a:buNone/>
            </a:pPr>
            <a:r>
              <a:rPr sz="1050">
                <a:solidFill>
                  <a:srgbClr val="64748B"/>
                </a:solidFill>
              </a:rPr>
              <a:t>Universidad de los Andes · Trabajo de grado · 2026</a:t>
            </a:r>
            <a:endParaRPr sz="1050"/>
          </a:p>
        </p:txBody>
      </p:sp>
      <p:sp>
        <p:nvSpPr>
          <p:cNvPr id="19" name="Shape 17">
            <a:extLst xmlns:a="http://schemas.openxmlformats.org/drawingml/2006/main">
              <a:ext uri="{FF2B5EF4-FFF2-40B4-BE49-F238E27FC236}">
                <a16:creationId xmlns:a16="http://schemas.microsoft.com/office/drawing/2014/main" id="{7330981E-478F-42C3-9186-1DCC9103B2EC}"/>
              </a:ext>
            </a:extLst>
          </p:cNvPr>
          <p:cNvSpPr>
            <a:spLocks xmlns:a="http://schemas.openxmlformats.org/drawingml/2006/main" noGrp="1"/>
          </p:cNvSpPr>
          <p:nvPr/>
        </p:nvSpPr>
        <p:spPr>
          <a:xfrm xmlns:a="http://schemas.openxmlformats.org/drawingml/2006/main">
            <a:off x="502920" y="6446520"/>
            <a:ext cx="11201400" cy="0"/>
          </a:xfrm>
          <a:prstGeom xmlns:a="http://schemas.openxmlformats.org/drawingml/2006/main" prst="line">
            <a:avLst/>
          </a:prstGeom>
          <a:noFill xmlns:a="http://schemas.openxmlformats.org/drawingml/2006/main"/>
          <a:ln xmlns:a="http://schemas.openxmlformats.org/drawingml/2006/main" w="8890">
            <a:solidFill>
              <a:srgbClr val="CBD5E1"/>
            </a:solidFill>
            <a:prstDash val="solid"/>
          </a:ln>
        </p:spPr>
      </p:sp>
      <p:sp>
        <p:nvSpPr>
          <p:cNvPr id="20" name="Text 18">
            <a:extLst xmlns:a="http://schemas.openxmlformats.org/drawingml/2006/main">
              <a:ext uri="{FF2B5EF4-FFF2-40B4-BE49-F238E27FC236}">
                <a16:creationId xmlns:a16="http://schemas.microsoft.com/office/drawing/2014/main" id="{8695CA5E-E161-45A0-A758-C9251682F291}"/>
              </a:ext>
            </a:extLst>
          </p:cNvPr>
          <p:cNvSpPr>
            <a:spLocks xmlns:a="http://schemas.openxmlformats.org/drawingml/2006/main" noGrp="1"/>
          </p:cNvSpPr>
          <p:nvPr/>
        </p:nvSpPr>
        <p:spPr>
          <a:xfrm xmlns:a="http://schemas.openxmlformats.org/drawingml/2006/main">
            <a:off x="594360" y="6510528"/>
            <a:ext cx="7223760" cy="2011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750">
                <a:solidFill>
                  <a:srgbClr val="64748B"/>
                </a:solidFill>
                <a:latin typeface="Aptos"/>
                <a:ea typeface="Aptos"/>
                <a:cs typeface="Aptos"/>
              </a:rPr>
              <a:t>Portada</a:t>
            </a:r>
            <a:endParaRPr sz="750"/>
          </a:p>
        </p:txBody>
      </p:sp>
      <p:sp>
        <p:nvSpPr>
          <p:cNvPr id="21" name="Text 19">
            <a:extLst xmlns:a="http://schemas.openxmlformats.org/drawingml/2006/main">
              <a:ext uri="{FF2B5EF4-FFF2-40B4-BE49-F238E27FC236}">
                <a16:creationId xmlns:a16="http://schemas.microsoft.com/office/drawing/2014/main" id="{AF2EE3BA-DC8B-4C2F-867E-F864EF83A593}"/>
              </a:ext>
            </a:extLst>
          </p:cNvPr>
          <p:cNvSpPr>
            <a:spLocks xmlns:a="http://schemas.openxmlformats.org/drawingml/2006/main" noGrp="1"/>
          </p:cNvSpPr>
          <p:nvPr/>
        </p:nvSpPr>
        <p:spPr>
          <a:xfrm xmlns:a="http://schemas.openxmlformats.org/drawingml/2006/main">
            <a:off x="11228832" y="6492240"/>
            <a:ext cx="411480" cy="2286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800">
                <a:solidFill>
                  <a:srgbClr val="64748B"/>
                </a:solidFill>
                <a:latin typeface="Aptos"/>
                <a:ea typeface="Aptos"/>
                <a:cs typeface="Aptos"/>
              </a:rPr>
              <a:t>1</a:t>
            </a:r>
            <a:endParaRPr sz="800"/>
          </a:p>
        </p:txBody>
      </p:sp>
    </p:spTree>
    <p:extLst>
      <p:ext uri="{BB962C8B-B14F-4D97-AF65-F5344CB8AC3E}">
        <p14:creationId xmlns:p14="http://schemas.microsoft.com/office/powerpoint/2010/main" val="1796377595"/>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3274B74E-97AF-4DA0-93D1-F7FDD71C9DDA}"/>
              </a:ext>
            </a:extLst>
          </p:cNvPr>
          <p:cNvSpPr>
            <a:spLocks xmlns:a="http://schemas.openxmlformats.org/drawingml/2006/main" noGrp="1"/>
          </p:cNvSpPr>
          <p:nvPr/>
        </p:nvSpPr>
        <p:spPr>
          <a:xfrm xmlns:a="http://schemas.openxmlformats.org/drawingml/2006/main">
            <a:off x="0" y="0"/>
            <a:ext cx="12191695" cy="109728"/>
          </a:xfrm>
          <a:prstGeom xmlns:a="http://schemas.openxmlformats.org/drawingml/2006/main" prst="rect">
            <a:avLst/>
          </a:prstGeom>
          <a:solidFill xmlns:a="http://schemas.openxmlformats.org/drawingml/2006/main">
            <a:srgbClr val="2563EB"/>
          </a:solidFill>
          <a:ln xmlns:a="http://schemas.openxmlformats.org/drawingml/2006/main" w="12700">
            <a:solidFill>
              <a:srgbClr val="2563EB"/>
            </a:solidFill>
            <a:prstDash val="solid"/>
          </a:ln>
        </p:spPr>
      </p:sp>
      <p:sp>
        <p:nvSpPr>
          <p:cNvPr id="3" name="Text 1">
            <a:extLst xmlns:a="http://schemas.openxmlformats.org/drawingml/2006/main">
              <a:ext uri="{FF2B5EF4-FFF2-40B4-BE49-F238E27FC236}">
                <a16:creationId xmlns:a16="http://schemas.microsoft.com/office/drawing/2014/main" id="{95129B04-1467-4EE5-ABE0-87818263CB86}"/>
              </a:ext>
            </a:extLst>
          </p:cNvPr>
          <p:cNvSpPr>
            <a:spLocks xmlns:a="http://schemas.openxmlformats.org/drawingml/2006/main" noGrp="1"/>
          </p:cNvSpPr>
          <p:nvPr/>
        </p:nvSpPr>
        <p:spPr>
          <a:xfrm xmlns:a="http://schemas.openxmlformats.org/drawingml/2006/main">
            <a:off x="658368" y="384048"/>
            <a:ext cx="292608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850" b="1">
                <a:solidFill>
                  <a:srgbClr val="2563EB"/>
                </a:solidFill>
                <a:latin typeface="Aptos"/>
                <a:ea typeface="Aptos"/>
                <a:cs typeface="Aptos"/>
              </a:rPr>
              <a:t>CONTEXTO</a:t>
            </a:r>
            <a:endParaRPr sz="850"/>
          </a:p>
        </p:txBody>
      </p:sp>
      <p:sp>
        <p:nvSpPr>
          <p:cNvPr id="4" name="Text 2">
            <a:extLst xmlns:a="http://schemas.openxmlformats.org/drawingml/2006/main">
              <a:ext uri="{FF2B5EF4-FFF2-40B4-BE49-F238E27FC236}">
                <a16:creationId xmlns:a16="http://schemas.microsoft.com/office/drawing/2014/main" id="{3793AAE3-3D23-4D75-A311-51A96E256B63}"/>
              </a:ext>
            </a:extLst>
          </p:cNvPr>
          <p:cNvSpPr>
            <a:spLocks xmlns:a="http://schemas.openxmlformats.org/drawingml/2006/main" noGrp="1"/>
          </p:cNvSpPr>
          <p:nvPr/>
        </p:nvSpPr>
        <p:spPr>
          <a:xfrm xmlns:a="http://schemas.openxmlformats.org/drawingml/2006/main">
            <a:off x="621792" y="621792"/>
            <a:ext cx="10881360" cy="530352"/>
          </a:xfrm>
          <a:prstGeom xmlns:a="http://schemas.openxmlformats.org/drawingml/2006/main" prst="rect">
            <a:avLst/>
          </a:prstGeom>
          <a:noFill xmlns:a="http://schemas.openxmlformats.org/drawingml/2006/main"/>
        </p:spPr>
        <p:txBody>
          <a:bodyPr xmlns:a="http://schemas.openxmlformats.org/drawingml/2006/main" wrap="square" lIns="254" tIns="254" rIns="254" bIns="254" anchor="ctr">
            <a:normAutofit/>
          </a:bodyPr>
          <a:lstStyle xmlns:a="http://schemas.openxmlformats.org/drawingml/2006/main"/>
          <a:p xmlns:a="http://schemas.openxmlformats.org/drawingml/2006/main">
            <a:pPr marL="0" indent="0">
              <a:buNone/>
            </a:pPr>
            <a:r>
              <a:rPr sz="2500" b="1">
                <a:solidFill>
                  <a:srgbClr val="102A43"/>
                </a:solidFill>
                <a:latin typeface="Aptos Display"/>
                <a:ea typeface="Aptos Display"/>
                <a:cs typeface="Aptos Display"/>
              </a:rPr>
              <a:t>1. Por qué hablar de movimiento de datos</a:t>
            </a:r>
            <a:endParaRPr sz="2500"/>
          </a:p>
        </p:txBody>
      </p:sp>
      <p:sp>
        <p:nvSpPr>
          <p:cNvPr id="5" name="Text 3">
            <a:extLst xmlns:a="http://schemas.openxmlformats.org/drawingml/2006/main">
              <a:ext uri="{FF2B5EF4-FFF2-40B4-BE49-F238E27FC236}">
                <a16:creationId xmlns:a16="http://schemas.microsoft.com/office/drawing/2014/main" id="{A3E1D79F-E527-46F8-BAF6-5F277857FB54}"/>
              </a:ext>
            </a:extLst>
          </p:cNvPr>
          <p:cNvSpPr>
            <a:spLocks xmlns:a="http://schemas.openxmlformats.org/drawingml/2006/main" noGrp="1"/>
          </p:cNvSpPr>
          <p:nvPr/>
        </p:nvSpPr>
        <p:spPr>
          <a:xfrm xmlns:a="http://schemas.openxmlformats.org/drawingml/2006/main">
            <a:off x="658368" y="1298448"/>
            <a:ext cx="10789920" cy="475488"/>
          </a:xfrm>
          <a:prstGeom xmlns:a="http://schemas.openxmlformats.org/drawingml/2006/main" prst="rect">
            <a:avLst/>
          </a:prstGeom>
          <a:noFill xmlns:a="http://schemas.openxmlformats.org/drawingml/2006/main"/>
        </p:spPr>
        <p:txBody>
          <a:bodyPr xmlns:a="http://schemas.openxmlformats.org/drawingml/2006/main" wrap="square" lIns="254" tIns="254" rIns="254" bIns="254" anchor="ctr">
            <a:normAutofit/>
          </a:bodyPr>
          <a:lstStyle xmlns:a="http://schemas.openxmlformats.org/drawingml/2006/main"/>
          <a:p xmlns:a="http://schemas.openxmlformats.org/drawingml/2006/main">
            <a:pPr marL="0" indent="0">
              <a:buNone/>
            </a:pPr>
            <a:r>
              <a:rPr sz="1450">
                <a:solidFill>
                  <a:srgbClr val="334155"/>
                </a:solidFill>
                <a:latin typeface="Aptos"/>
                <a:ea typeface="Aptos"/>
                <a:cs typeface="Aptos"/>
              </a:rPr>
              <a:t>Los workflows científicos no solo ejecutan tareas: también materializan archivos en lugares específicos para que esas tareas puedan producir ciencia.</a:t>
            </a:r>
            <a:endParaRPr sz="1450"/>
          </a:p>
        </p:txBody>
      </p:sp>
      <p:sp>
        <p:nvSpPr>
          <p:cNvPr id="6" name="Shape 4">
            <a:extLst xmlns:a="http://schemas.openxmlformats.org/drawingml/2006/main">
              <a:ext uri="{FF2B5EF4-FFF2-40B4-BE49-F238E27FC236}">
                <a16:creationId xmlns:a16="http://schemas.microsoft.com/office/drawing/2014/main" id="{150F7C82-BF02-4F76-B035-62A7FEE0E095}"/>
              </a:ext>
            </a:extLst>
          </p:cNvPr>
          <p:cNvSpPr>
            <a:spLocks xmlns:a="http://schemas.openxmlformats.org/drawingml/2006/main" noGrp="1"/>
          </p:cNvSpPr>
          <p:nvPr/>
        </p:nvSpPr>
        <p:spPr>
          <a:xfrm xmlns:a="http://schemas.openxmlformats.org/drawingml/2006/main">
            <a:off x="822960" y="1874520"/>
            <a:ext cx="1234440" cy="530352"/>
          </a:xfrm>
          <a:prstGeom xmlns:a="http://schemas.openxmlformats.org/drawingml/2006/main" prst="roundRect">
            <a:avLst>
              <a:gd name="adj" fmla="val 13793"/>
            </a:avLst>
          </a:prstGeom>
          <a:solidFill xmlns:a="http://schemas.openxmlformats.org/drawingml/2006/main">
            <a:srgbClr val="DBEAFE"/>
          </a:solidFill>
          <a:ln xmlns:a="http://schemas.openxmlformats.org/drawingml/2006/main" w="10160">
            <a:solidFill>
              <a:srgbClr val="BFDBFE"/>
            </a:solidFill>
            <a:prstDash val="solid"/>
          </a:ln>
        </p:spPr>
      </p:sp>
      <p:sp>
        <p:nvSpPr>
          <p:cNvPr id="7" name="Text 5">
            <a:extLst xmlns:a="http://schemas.openxmlformats.org/drawingml/2006/main">
              <a:ext uri="{FF2B5EF4-FFF2-40B4-BE49-F238E27FC236}">
                <a16:creationId xmlns:a16="http://schemas.microsoft.com/office/drawing/2014/main" id="{A9A1696B-D07D-4D13-8C6E-479FCF26F678}"/>
              </a:ext>
            </a:extLst>
          </p:cNvPr>
          <p:cNvSpPr>
            <a:spLocks xmlns:a="http://schemas.openxmlformats.org/drawingml/2006/main" noGrp="1"/>
          </p:cNvSpPr>
          <p:nvPr/>
        </p:nvSpPr>
        <p:spPr>
          <a:xfrm xmlns:a="http://schemas.openxmlformats.org/drawingml/2006/main">
            <a:off x="932688" y="1965960"/>
            <a:ext cx="1014984" cy="347472"/>
          </a:xfrm>
          <a:prstGeom xmlns:a="http://schemas.openxmlformats.org/drawingml/2006/main" prst="rect">
            <a:avLst/>
          </a:prstGeom>
          <a:noFill xmlns:a="http://schemas.openxmlformats.org/drawingml/2006/main"/>
        </p:spPr>
        <p:txBody>
          <a:bodyPr xmlns:a="http://schemas.openxmlformats.org/drawingml/2006/main" wrap="square" lIns="381" tIns="381" rIns="381" bIns="381" anchor="ctr">
            <a:normAutofit/>
          </a:bodyPr>
          <a:lstStyle xmlns:a="http://schemas.openxmlformats.org/drawingml/2006/main"/>
          <a:p xmlns:a="http://schemas.openxmlformats.org/drawingml/2006/main">
            <a:pPr marL="0" indent="0" algn="ctr">
              <a:buNone/>
            </a:pPr>
            <a:r>
              <a:rPr sz="1100" b="1">
                <a:solidFill>
                  <a:srgbClr val="1D4ED8"/>
                </a:solidFill>
                <a:latin typeface="Aptos"/>
                <a:ea typeface="Aptos"/>
                <a:cs typeface="Aptos"/>
              </a:rPr>
              <a:t>Tarea A</a:t>
            </a:r>
            <a:endParaRPr sz="1100"/>
          </a:p>
        </p:txBody>
      </p:sp>
      <p:sp>
        <p:nvSpPr>
          <p:cNvPr id="8" name="Shape 6">
            <a:extLst xmlns:a="http://schemas.openxmlformats.org/drawingml/2006/main">
              <a:ext uri="{FF2B5EF4-FFF2-40B4-BE49-F238E27FC236}">
                <a16:creationId xmlns:a16="http://schemas.microsoft.com/office/drawing/2014/main" id="{D0759A6B-41B5-47B2-BB79-1022B18A68E8}"/>
              </a:ext>
            </a:extLst>
          </p:cNvPr>
          <p:cNvSpPr>
            <a:spLocks xmlns:a="http://schemas.openxmlformats.org/drawingml/2006/main" noGrp="1"/>
          </p:cNvSpPr>
          <p:nvPr/>
        </p:nvSpPr>
        <p:spPr>
          <a:xfrm xmlns:a="http://schemas.openxmlformats.org/drawingml/2006/main">
            <a:off x="2167128" y="2139696"/>
            <a:ext cx="649224" cy="0"/>
          </a:xfrm>
          <a:prstGeom xmlns:a="http://schemas.openxmlformats.org/drawingml/2006/main" prst="line">
            <a:avLst/>
          </a:prstGeom>
          <a:noFill xmlns:a="http://schemas.openxmlformats.org/drawingml/2006/main"/>
          <a:ln xmlns:a="http://schemas.openxmlformats.org/drawingml/2006/main" w="13970">
            <a:solidFill>
              <a:srgbClr val="334155"/>
            </a:solidFill>
            <a:prstDash val="solid"/>
            <a:headEnd type="none"/>
            <a:tailEnd type="triangle"/>
          </a:ln>
        </p:spPr>
      </p:sp>
      <p:sp>
        <p:nvSpPr>
          <p:cNvPr id="9" name="Shape 7">
            <a:extLst xmlns:a="http://schemas.openxmlformats.org/drawingml/2006/main">
              <a:ext uri="{FF2B5EF4-FFF2-40B4-BE49-F238E27FC236}">
                <a16:creationId xmlns:a16="http://schemas.microsoft.com/office/drawing/2014/main" id="{2A27179E-2DBD-42BD-B923-F2F0FA73F309}"/>
              </a:ext>
            </a:extLst>
          </p:cNvPr>
          <p:cNvSpPr>
            <a:spLocks xmlns:a="http://schemas.openxmlformats.org/drawingml/2006/main" noGrp="1"/>
          </p:cNvSpPr>
          <p:nvPr/>
        </p:nvSpPr>
        <p:spPr>
          <a:xfrm xmlns:a="http://schemas.openxmlformats.org/drawingml/2006/main">
            <a:off x="2926080" y="1874520"/>
            <a:ext cx="1234440" cy="530352"/>
          </a:xfrm>
          <a:prstGeom xmlns:a="http://schemas.openxmlformats.org/drawingml/2006/main" prst="roundRect">
            <a:avLst>
              <a:gd name="adj" fmla="val 13793"/>
            </a:avLst>
          </a:prstGeom>
          <a:solidFill xmlns:a="http://schemas.openxmlformats.org/drawingml/2006/main">
            <a:srgbClr val="DBEAFE"/>
          </a:solidFill>
          <a:ln xmlns:a="http://schemas.openxmlformats.org/drawingml/2006/main" w="10160">
            <a:solidFill>
              <a:srgbClr val="BFDBFE"/>
            </a:solidFill>
            <a:prstDash val="solid"/>
          </a:ln>
        </p:spPr>
      </p:sp>
      <p:sp>
        <p:nvSpPr>
          <p:cNvPr id="10" name="Text 8">
            <a:extLst xmlns:a="http://schemas.openxmlformats.org/drawingml/2006/main">
              <a:ext uri="{FF2B5EF4-FFF2-40B4-BE49-F238E27FC236}">
                <a16:creationId xmlns:a16="http://schemas.microsoft.com/office/drawing/2014/main" id="{73FB60AD-F207-43FE-97B9-CEFB85A1B13A}"/>
              </a:ext>
            </a:extLst>
          </p:cNvPr>
          <p:cNvSpPr>
            <a:spLocks xmlns:a="http://schemas.openxmlformats.org/drawingml/2006/main" noGrp="1"/>
          </p:cNvSpPr>
          <p:nvPr/>
        </p:nvSpPr>
        <p:spPr>
          <a:xfrm xmlns:a="http://schemas.openxmlformats.org/drawingml/2006/main">
            <a:off x="3035808" y="1965960"/>
            <a:ext cx="1014984" cy="347472"/>
          </a:xfrm>
          <a:prstGeom xmlns:a="http://schemas.openxmlformats.org/drawingml/2006/main" prst="rect">
            <a:avLst/>
          </a:prstGeom>
          <a:noFill xmlns:a="http://schemas.openxmlformats.org/drawingml/2006/main"/>
        </p:spPr>
        <p:txBody>
          <a:bodyPr xmlns:a="http://schemas.openxmlformats.org/drawingml/2006/main" wrap="square" lIns="381" tIns="381" rIns="381" bIns="381" anchor="ctr">
            <a:normAutofit/>
          </a:bodyPr>
          <a:lstStyle xmlns:a="http://schemas.openxmlformats.org/drawingml/2006/main"/>
          <a:p xmlns:a="http://schemas.openxmlformats.org/drawingml/2006/main">
            <a:pPr marL="0" indent="0" algn="ctr">
              <a:buNone/>
            </a:pPr>
            <a:r>
              <a:rPr sz="1100" b="1">
                <a:solidFill>
                  <a:srgbClr val="1D4ED8"/>
                </a:solidFill>
                <a:latin typeface="Aptos"/>
                <a:ea typeface="Aptos"/>
                <a:cs typeface="Aptos"/>
              </a:rPr>
              <a:t>Tarea B</a:t>
            </a:r>
            <a:endParaRPr sz="1100"/>
          </a:p>
        </p:txBody>
      </p:sp>
      <p:sp>
        <p:nvSpPr>
          <p:cNvPr id="11" name="Shape 9">
            <a:extLst xmlns:a="http://schemas.openxmlformats.org/drawingml/2006/main">
              <a:ext uri="{FF2B5EF4-FFF2-40B4-BE49-F238E27FC236}">
                <a16:creationId xmlns:a16="http://schemas.microsoft.com/office/drawing/2014/main" id="{CDBEA8E3-1C7C-4563-A25A-0E376151B655}"/>
              </a:ext>
            </a:extLst>
          </p:cNvPr>
          <p:cNvSpPr>
            <a:spLocks xmlns:a="http://schemas.openxmlformats.org/drawingml/2006/main" noGrp="1"/>
          </p:cNvSpPr>
          <p:nvPr/>
        </p:nvSpPr>
        <p:spPr>
          <a:xfrm xmlns:a="http://schemas.openxmlformats.org/drawingml/2006/main">
            <a:off x="4270248" y="2139696"/>
            <a:ext cx="649224" cy="0"/>
          </a:xfrm>
          <a:prstGeom xmlns:a="http://schemas.openxmlformats.org/drawingml/2006/main" prst="line">
            <a:avLst/>
          </a:prstGeom>
          <a:noFill xmlns:a="http://schemas.openxmlformats.org/drawingml/2006/main"/>
          <a:ln xmlns:a="http://schemas.openxmlformats.org/drawingml/2006/main" w="13970">
            <a:solidFill>
              <a:srgbClr val="334155"/>
            </a:solidFill>
            <a:prstDash val="solid"/>
            <a:headEnd type="none"/>
            <a:tailEnd type="triangle"/>
          </a:ln>
        </p:spPr>
      </p:sp>
      <p:sp>
        <p:nvSpPr>
          <p:cNvPr id="12" name="Shape 10">
            <a:extLst xmlns:a="http://schemas.openxmlformats.org/drawingml/2006/main">
              <a:ext uri="{FF2B5EF4-FFF2-40B4-BE49-F238E27FC236}">
                <a16:creationId xmlns:a16="http://schemas.microsoft.com/office/drawing/2014/main" id="{ECF09B14-EE10-4A09-8FBB-700E79624021}"/>
              </a:ext>
            </a:extLst>
          </p:cNvPr>
          <p:cNvSpPr>
            <a:spLocks xmlns:a="http://schemas.openxmlformats.org/drawingml/2006/main" noGrp="1"/>
          </p:cNvSpPr>
          <p:nvPr/>
        </p:nvSpPr>
        <p:spPr>
          <a:xfrm xmlns:a="http://schemas.openxmlformats.org/drawingml/2006/main">
            <a:off x="5029200" y="1874520"/>
            <a:ext cx="1234440" cy="530352"/>
          </a:xfrm>
          <a:prstGeom xmlns:a="http://schemas.openxmlformats.org/drawingml/2006/main" prst="roundRect">
            <a:avLst>
              <a:gd name="adj" fmla="val 13793"/>
            </a:avLst>
          </a:prstGeom>
          <a:solidFill xmlns:a="http://schemas.openxmlformats.org/drawingml/2006/main">
            <a:srgbClr val="DBEAFE"/>
          </a:solidFill>
          <a:ln xmlns:a="http://schemas.openxmlformats.org/drawingml/2006/main" w="10160">
            <a:solidFill>
              <a:srgbClr val="BFDBFE"/>
            </a:solidFill>
            <a:prstDash val="solid"/>
          </a:ln>
        </p:spPr>
      </p:sp>
      <p:sp>
        <p:nvSpPr>
          <p:cNvPr id="13" name="Text 11">
            <a:extLst xmlns:a="http://schemas.openxmlformats.org/drawingml/2006/main">
              <a:ext uri="{FF2B5EF4-FFF2-40B4-BE49-F238E27FC236}">
                <a16:creationId xmlns:a16="http://schemas.microsoft.com/office/drawing/2014/main" id="{370FB574-54A9-48F9-B7E7-FD225ECD3AD0}"/>
              </a:ext>
            </a:extLst>
          </p:cNvPr>
          <p:cNvSpPr>
            <a:spLocks xmlns:a="http://schemas.openxmlformats.org/drawingml/2006/main" noGrp="1"/>
          </p:cNvSpPr>
          <p:nvPr/>
        </p:nvSpPr>
        <p:spPr>
          <a:xfrm xmlns:a="http://schemas.openxmlformats.org/drawingml/2006/main">
            <a:off x="5138928" y="1965960"/>
            <a:ext cx="1014984" cy="347472"/>
          </a:xfrm>
          <a:prstGeom xmlns:a="http://schemas.openxmlformats.org/drawingml/2006/main" prst="rect">
            <a:avLst/>
          </a:prstGeom>
          <a:noFill xmlns:a="http://schemas.openxmlformats.org/drawingml/2006/main"/>
        </p:spPr>
        <p:txBody>
          <a:bodyPr xmlns:a="http://schemas.openxmlformats.org/drawingml/2006/main" wrap="square" lIns="381" tIns="381" rIns="381" bIns="381" anchor="ctr">
            <a:normAutofit/>
          </a:bodyPr>
          <a:lstStyle xmlns:a="http://schemas.openxmlformats.org/drawingml/2006/main"/>
          <a:p xmlns:a="http://schemas.openxmlformats.org/drawingml/2006/main">
            <a:pPr marL="0" indent="0" algn="ctr">
              <a:buNone/>
            </a:pPr>
            <a:r>
              <a:rPr sz="1100" b="1">
                <a:solidFill>
                  <a:srgbClr val="1D4ED8"/>
                </a:solidFill>
                <a:latin typeface="Aptos"/>
                <a:ea typeface="Aptos"/>
                <a:cs typeface="Aptos"/>
              </a:rPr>
              <a:t>Tarea C</a:t>
            </a:r>
            <a:endParaRPr sz="1100"/>
          </a:p>
        </p:txBody>
      </p:sp>
      <p:sp>
        <p:nvSpPr>
          <p:cNvPr id="14" name="Shape 12">
            <a:extLst xmlns:a="http://schemas.openxmlformats.org/drawingml/2006/main">
              <a:ext uri="{FF2B5EF4-FFF2-40B4-BE49-F238E27FC236}">
                <a16:creationId xmlns:a16="http://schemas.microsoft.com/office/drawing/2014/main" id="{27D43E79-A16D-4DB1-8D53-2C5F7B79BF93}"/>
              </a:ext>
            </a:extLst>
          </p:cNvPr>
          <p:cNvSpPr>
            <a:spLocks xmlns:a="http://schemas.openxmlformats.org/drawingml/2006/main" noGrp="1"/>
          </p:cNvSpPr>
          <p:nvPr/>
        </p:nvSpPr>
        <p:spPr>
          <a:xfrm xmlns:a="http://schemas.openxmlformats.org/drawingml/2006/main">
            <a:off x="6373368" y="2139696"/>
            <a:ext cx="649224" cy="0"/>
          </a:xfrm>
          <a:prstGeom xmlns:a="http://schemas.openxmlformats.org/drawingml/2006/main" prst="line">
            <a:avLst/>
          </a:prstGeom>
          <a:noFill xmlns:a="http://schemas.openxmlformats.org/drawingml/2006/main"/>
          <a:ln xmlns:a="http://schemas.openxmlformats.org/drawingml/2006/main" w="13970">
            <a:solidFill>
              <a:srgbClr val="334155"/>
            </a:solidFill>
            <a:prstDash val="solid"/>
            <a:headEnd type="none"/>
            <a:tailEnd type="triangle"/>
          </a:ln>
        </p:spPr>
      </p:sp>
      <p:sp>
        <p:nvSpPr>
          <p:cNvPr id="15" name="Shape 13">
            <a:extLst xmlns:a="http://schemas.openxmlformats.org/drawingml/2006/main">
              <a:ext uri="{FF2B5EF4-FFF2-40B4-BE49-F238E27FC236}">
                <a16:creationId xmlns:a16="http://schemas.microsoft.com/office/drawing/2014/main" id="{1936FEFC-D592-49F3-9DD4-1EBE75D997DA}"/>
              </a:ext>
            </a:extLst>
          </p:cNvPr>
          <p:cNvSpPr>
            <a:spLocks xmlns:a="http://schemas.openxmlformats.org/drawingml/2006/main" noGrp="1"/>
          </p:cNvSpPr>
          <p:nvPr/>
        </p:nvSpPr>
        <p:spPr>
          <a:xfrm xmlns:a="http://schemas.openxmlformats.org/drawingml/2006/main">
            <a:off x="7132320" y="1874520"/>
            <a:ext cx="1234440" cy="530352"/>
          </a:xfrm>
          <a:prstGeom xmlns:a="http://schemas.openxmlformats.org/drawingml/2006/main" prst="roundRect">
            <a:avLst>
              <a:gd name="adj" fmla="val 13793"/>
            </a:avLst>
          </a:prstGeom>
          <a:solidFill xmlns:a="http://schemas.openxmlformats.org/drawingml/2006/main">
            <a:srgbClr val="DCFCE7"/>
          </a:solidFill>
          <a:ln xmlns:a="http://schemas.openxmlformats.org/drawingml/2006/main" w="10160">
            <a:solidFill>
              <a:srgbClr val="BBF7D0"/>
            </a:solidFill>
            <a:prstDash val="solid"/>
          </a:ln>
        </p:spPr>
      </p:sp>
      <p:sp>
        <p:nvSpPr>
          <p:cNvPr id="16" name="Text 14">
            <a:extLst xmlns:a="http://schemas.openxmlformats.org/drawingml/2006/main">
              <a:ext uri="{FF2B5EF4-FFF2-40B4-BE49-F238E27FC236}">
                <a16:creationId xmlns:a16="http://schemas.microsoft.com/office/drawing/2014/main" id="{ACE8CD8E-87DE-4B04-95BD-533A578E8D56}"/>
              </a:ext>
            </a:extLst>
          </p:cNvPr>
          <p:cNvSpPr>
            <a:spLocks xmlns:a="http://schemas.openxmlformats.org/drawingml/2006/main" noGrp="1"/>
          </p:cNvSpPr>
          <p:nvPr/>
        </p:nvSpPr>
        <p:spPr>
          <a:xfrm xmlns:a="http://schemas.openxmlformats.org/drawingml/2006/main">
            <a:off x="7242048" y="1965960"/>
            <a:ext cx="1014984" cy="347472"/>
          </a:xfrm>
          <a:prstGeom xmlns:a="http://schemas.openxmlformats.org/drawingml/2006/main" prst="rect">
            <a:avLst/>
          </a:prstGeom>
          <a:noFill xmlns:a="http://schemas.openxmlformats.org/drawingml/2006/main"/>
        </p:spPr>
        <p:txBody>
          <a:bodyPr xmlns:a="http://schemas.openxmlformats.org/drawingml/2006/main" wrap="square" lIns="381" tIns="381" rIns="381" bIns="381" anchor="ctr">
            <a:normAutofit/>
          </a:bodyPr>
          <a:lstStyle xmlns:a="http://schemas.openxmlformats.org/drawingml/2006/main"/>
          <a:p xmlns:a="http://schemas.openxmlformats.org/drawingml/2006/main">
            <a:pPr marL="0" indent="0" algn="ctr">
              <a:buNone/>
            </a:pPr>
            <a:r>
              <a:rPr sz="1100" b="1">
                <a:solidFill>
                  <a:srgbClr val="16A34A"/>
                </a:solidFill>
                <a:latin typeface="Aptos"/>
                <a:ea typeface="Aptos"/>
                <a:cs typeface="Aptos"/>
              </a:rPr>
              <a:t>Resultado</a:t>
            </a:r>
            <a:endParaRPr sz="1100"/>
          </a:p>
        </p:txBody>
      </p:sp>
      <p:sp>
        <p:nvSpPr>
          <p:cNvPr id="17" name="Shape 15">
            <a:extLst xmlns:a="http://schemas.openxmlformats.org/drawingml/2006/main">
              <a:ext uri="{FF2B5EF4-FFF2-40B4-BE49-F238E27FC236}">
                <a16:creationId xmlns:a16="http://schemas.microsoft.com/office/drawing/2014/main" id="{4FF4455F-ACC6-4720-A557-07BFF8D151AC}"/>
              </a:ext>
            </a:extLst>
          </p:cNvPr>
          <p:cNvSpPr>
            <a:spLocks xmlns:a="http://schemas.openxmlformats.org/drawingml/2006/main" noGrp="1"/>
          </p:cNvSpPr>
          <p:nvPr/>
        </p:nvSpPr>
        <p:spPr>
          <a:xfrm xmlns:a="http://schemas.openxmlformats.org/drawingml/2006/main">
            <a:off x="1463040" y="2834640"/>
            <a:ext cx="713232" cy="713232"/>
          </a:xfrm>
          <a:prstGeom xmlns:a="http://schemas.openxmlformats.org/drawingml/2006/main" prst="ellipse">
            <a:avLst/>
          </a:prstGeom>
          <a:solidFill xmlns:a="http://schemas.openxmlformats.org/drawingml/2006/main">
            <a:srgbClr val="FFFFFF"/>
          </a:solidFill>
          <a:ln xmlns:a="http://schemas.openxmlformats.org/drawingml/2006/main" w="12700">
            <a:solidFill>
              <a:srgbClr val="E2E8F0"/>
            </a:solidFill>
            <a:prstDash val="solid"/>
          </a:ln>
        </p:spPr>
      </p:sp>
      <p:sp>
        <p:nvSpPr>
          <p:cNvPr id="18" name="Text 16">
            <a:extLst xmlns:a="http://schemas.openxmlformats.org/drawingml/2006/main">
              <a:ext uri="{FF2B5EF4-FFF2-40B4-BE49-F238E27FC236}">
                <a16:creationId xmlns:a16="http://schemas.microsoft.com/office/drawing/2014/main" id="{8D4EF2F5-848F-4577-B1F0-0D298B093867}"/>
              </a:ext>
            </a:extLst>
          </p:cNvPr>
          <p:cNvSpPr>
            <a:spLocks xmlns:a="http://schemas.openxmlformats.org/drawingml/2006/main" noGrp="1"/>
          </p:cNvSpPr>
          <p:nvPr/>
        </p:nvSpPr>
        <p:spPr>
          <a:xfrm xmlns:a="http://schemas.openxmlformats.org/drawingml/2006/main">
            <a:off x="1225296" y="3593592"/>
            <a:ext cx="118872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30">
                <a:solidFill>
                  <a:srgbClr val="64748B"/>
                </a:solidFill>
              </a:rPr>
              <a:t>input.dat</a:t>
            </a:r>
            <a:endParaRPr sz="830"/>
          </a:p>
        </p:txBody>
      </p:sp>
      <p:sp>
        <p:nvSpPr>
          <p:cNvPr id="19" name="Shape 17">
            <a:extLst xmlns:a="http://schemas.openxmlformats.org/drawingml/2006/main">
              <a:ext uri="{FF2B5EF4-FFF2-40B4-BE49-F238E27FC236}">
                <a16:creationId xmlns:a16="http://schemas.microsoft.com/office/drawing/2014/main" id="{B4137BDD-3815-458F-9ABB-625E5F16D1C6}"/>
              </a:ext>
            </a:extLst>
          </p:cNvPr>
          <p:cNvSpPr>
            <a:spLocks xmlns:a="http://schemas.openxmlformats.org/drawingml/2006/main" noGrp="1"/>
          </p:cNvSpPr>
          <p:nvPr/>
        </p:nvSpPr>
        <p:spPr>
          <a:xfrm xmlns:a="http://schemas.openxmlformats.org/drawingml/2006/main">
            <a:off x="1819656" y="2587752"/>
            <a:ext cx="0" cy="219456"/>
          </a:xfrm>
          <a:prstGeom xmlns:a="http://schemas.openxmlformats.org/drawingml/2006/main" prst="line">
            <a:avLst/>
          </a:prstGeom>
          <a:noFill xmlns:a="http://schemas.openxmlformats.org/drawingml/2006/main"/>
          <a:ln xmlns:a="http://schemas.openxmlformats.org/drawingml/2006/main" w="11430">
            <a:solidFill>
              <a:srgbClr val="64748B"/>
            </a:solidFill>
            <a:prstDash val="solid"/>
            <a:headEnd type="none"/>
            <a:tailEnd type="triangle"/>
          </a:ln>
        </p:spPr>
      </p:sp>
      <p:sp>
        <p:nvSpPr>
          <p:cNvPr id="20" name="Shape 18">
            <a:extLst xmlns:a="http://schemas.openxmlformats.org/drawingml/2006/main">
              <a:ext uri="{FF2B5EF4-FFF2-40B4-BE49-F238E27FC236}">
                <a16:creationId xmlns:a16="http://schemas.microsoft.com/office/drawing/2014/main" id="{D8AE89DF-E74D-423E-A2E6-973281976670}"/>
              </a:ext>
            </a:extLst>
          </p:cNvPr>
          <p:cNvSpPr>
            <a:spLocks xmlns:a="http://schemas.openxmlformats.org/drawingml/2006/main" noGrp="1"/>
          </p:cNvSpPr>
          <p:nvPr/>
        </p:nvSpPr>
        <p:spPr>
          <a:xfrm xmlns:a="http://schemas.openxmlformats.org/drawingml/2006/main">
            <a:off x="3566160" y="2834640"/>
            <a:ext cx="713232" cy="713232"/>
          </a:xfrm>
          <a:prstGeom xmlns:a="http://schemas.openxmlformats.org/drawingml/2006/main" prst="ellipse">
            <a:avLst/>
          </a:prstGeom>
          <a:solidFill xmlns:a="http://schemas.openxmlformats.org/drawingml/2006/main">
            <a:srgbClr val="FFFFFF"/>
          </a:solidFill>
          <a:ln xmlns:a="http://schemas.openxmlformats.org/drawingml/2006/main" w="12700">
            <a:solidFill>
              <a:srgbClr val="E2E8F0"/>
            </a:solidFill>
            <a:prstDash val="solid"/>
          </a:ln>
        </p:spPr>
      </p:sp>
      <p:sp>
        <p:nvSpPr>
          <p:cNvPr id="21" name="Text 19">
            <a:extLst xmlns:a="http://schemas.openxmlformats.org/drawingml/2006/main">
              <a:ext uri="{FF2B5EF4-FFF2-40B4-BE49-F238E27FC236}">
                <a16:creationId xmlns:a16="http://schemas.microsoft.com/office/drawing/2014/main" id="{84006B7D-90EE-43E8-861F-24D42121D69F}"/>
              </a:ext>
            </a:extLst>
          </p:cNvPr>
          <p:cNvSpPr>
            <a:spLocks xmlns:a="http://schemas.openxmlformats.org/drawingml/2006/main" noGrp="1"/>
          </p:cNvSpPr>
          <p:nvPr/>
        </p:nvSpPr>
        <p:spPr>
          <a:xfrm xmlns:a="http://schemas.openxmlformats.org/drawingml/2006/main">
            <a:off x="3328416" y="3593592"/>
            <a:ext cx="118872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30">
                <a:solidFill>
                  <a:srgbClr val="64748B"/>
                </a:solidFill>
              </a:rPr>
              <a:t>stage1.dat</a:t>
            </a:r>
            <a:endParaRPr sz="830"/>
          </a:p>
        </p:txBody>
      </p:sp>
      <p:sp>
        <p:nvSpPr>
          <p:cNvPr id="22" name="Shape 20">
            <a:extLst xmlns:a="http://schemas.openxmlformats.org/drawingml/2006/main">
              <a:ext uri="{FF2B5EF4-FFF2-40B4-BE49-F238E27FC236}">
                <a16:creationId xmlns:a16="http://schemas.microsoft.com/office/drawing/2014/main" id="{C87B62DA-E0E9-4C85-88B6-96DBEE8F6A95}"/>
              </a:ext>
            </a:extLst>
          </p:cNvPr>
          <p:cNvSpPr>
            <a:spLocks xmlns:a="http://schemas.openxmlformats.org/drawingml/2006/main" noGrp="1"/>
          </p:cNvSpPr>
          <p:nvPr/>
        </p:nvSpPr>
        <p:spPr>
          <a:xfrm xmlns:a="http://schemas.openxmlformats.org/drawingml/2006/main">
            <a:off x="3922776" y="2587752"/>
            <a:ext cx="0" cy="219456"/>
          </a:xfrm>
          <a:prstGeom xmlns:a="http://schemas.openxmlformats.org/drawingml/2006/main" prst="line">
            <a:avLst/>
          </a:prstGeom>
          <a:noFill xmlns:a="http://schemas.openxmlformats.org/drawingml/2006/main"/>
          <a:ln xmlns:a="http://schemas.openxmlformats.org/drawingml/2006/main" w="11430">
            <a:solidFill>
              <a:srgbClr val="64748B"/>
            </a:solidFill>
            <a:prstDash val="solid"/>
            <a:headEnd type="none"/>
            <a:tailEnd type="triangle"/>
          </a:ln>
        </p:spPr>
      </p:sp>
      <p:sp>
        <p:nvSpPr>
          <p:cNvPr id="23" name="Shape 21">
            <a:extLst xmlns:a="http://schemas.openxmlformats.org/drawingml/2006/main">
              <a:ext uri="{FF2B5EF4-FFF2-40B4-BE49-F238E27FC236}">
                <a16:creationId xmlns:a16="http://schemas.microsoft.com/office/drawing/2014/main" id="{2E522F9A-5049-486B-8460-4F70C2410718}"/>
              </a:ext>
            </a:extLst>
          </p:cNvPr>
          <p:cNvSpPr>
            <a:spLocks xmlns:a="http://schemas.openxmlformats.org/drawingml/2006/main" noGrp="1"/>
          </p:cNvSpPr>
          <p:nvPr/>
        </p:nvSpPr>
        <p:spPr>
          <a:xfrm xmlns:a="http://schemas.openxmlformats.org/drawingml/2006/main">
            <a:off x="5669280" y="2834640"/>
            <a:ext cx="713232" cy="713232"/>
          </a:xfrm>
          <a:prstGeom xmlns:a="http://schemas.openxmlformats.org/drawingml/2006/main" prst="ellipse">
            <a:avLst/>
          </a:prstGeom>
          <a:solidFill xmlns:a="http://schemas.openxmlformats.org/drawingml/2006/main">
            <a:srgbClr val="FFFFFF"/>
          </a:solidFill>
          <a:ln xmlns:a="http://schemas.openxmlformats.org/drawingml/2006/main" w="12700">
            <a:solidFill>
              <a:srgbClr val="E2E8F0"/>
            </a:solidFill>
            <a:prstDash val="solid"/>
          </a:ln>
        </p:spPr>
      </p:sp>
      <p:sp>
        <p:nvSpPr>
          <p:cNvPr id="24" name="Text 22">
            <a:extLst xmlns:a="http://schemas.openxmlformats.org/drawingml/2006/main">
              <a:ext uri="{FF2B5EF4-FFF2-40B4-BE49-F238E27FC236}">
                <a16:creationId xmlns:a16="http://schemas.microsoft.com/office/drawing/2014/main" id="{EEB6BEB9-1C4F-442E-B5AC-B150BF267AFB}"/>
              </a:ext>
            </a:extLst>
          </p:cNvPr>
          <p:cNvSpPr>
            <a:spLocks xmlns:a="http://schemas.openxmlformats.org/drawingml/2006/main" noGrp="1"/>
          </p:cNvSpPr>
          <p:nvPr/>
        </p:nvSpPr>
        <p:spPr>
          <a:xfrm xmlns:a="http://schemas.openxmlformats.org/drawingml/2006/main">
            <a:off x="5431536" y="3593592"/>
            <a:ext cx="118872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30">
                <a:solidFill>
                  <a:srgbClr val="64748B"/>
                </a:solidFill>
              </a:rPr>
              <a:t>stage2.dat</a:t>
            </a:r>
            <a:endParaRPr sz="830"/>
          </a:p>
        </p:txBody>
      </p:sp>
      <p:sp>
        <p:nvSpPr>
          <p:cNvPr id="25" name="Shape 23">
            <a:extLst xmlns:a="http://schemas.openxmlformats.org/drawingml/2006/main">
              <a:ext uri="{FF2B5EF4-FFF2-40B4-BE49-F238E27FC236}">
                <a16:creationId xmlns:a16="http://schemas.microsoft.com/office/drawing/2014/main" id="{5649B07F-1F0E-4CEE-B22B-B6F71F800E05}"/>
              </a:ext>
            </a:extLst>
          </p:cNvPr>
          <p:cNvSpPr>
            <a:spLocks xmlns:a="http://schemas.openxmlformats.org/drawingml/2006/main" noGrp="1"/>
          </p:cNvSpPr>
          <p:nvPr/>
        </p:nvSpPr>
        <p:spPr>
          <a:xfrm xmlns:a="http://schemas.openxmlformats.org/drawingml/2006/main">
            <a:off x="6025896" y="2587752"/>
            <a:ext cx="0" cy="219456"/>
          </a:xfrm>
          <a:prstGeom xmlns:a="http://schemas.openxmlformats.org/drawingml/2006/main" prst="line">
            <a:avLst/>
          </a:prstGeom>
          <a:noFill xmlns:a="http://schemas.openxmlformats.org/drawingml/2006/main"/>
          <a:ln xmlns:a="http://schemas.openxmlformats.org/drawingml/2006/main" w="11430">
            <a:solidFill>
              <a:srgbClr val="64748B"/>
            </a:solidFill>
            <a:prstDash val="solid"/>
            <a:headEnd type="none"/>
            <a:tailEnd type="triangle"/>
          </a:ln>
        </p:spPr>
      </p:sp>
      <p:sp>
        <p:nvSpPr>
          <p:cNvPr id="26" name="Shape 24">
            <a:extLst xmlns:a="http://schemas.openxmlformats.org/drawingml/2006/main">
              <a:ext uri="{FF2B5EF4-FFF2-40B4-BE49-F238E27FC236}">
                <a16:creationId xmlns:a16="http://schemas.microsoft.com/office/drawing/2014/main" id="{F16FDE0E-2E1A-4225-BC21-B1A78E810940}"/>
              </a:ext>
            </a:extLst>
          </p:cNvPr>
          <p:cNvSpPr>
            <a:spLocks xmlns:a="http://schemas.openxmlformats.org/drawingml/2006/main" noGrp="1"/>
          </p:cNvSpPr>
          <p:nvPr/>
        </p:nvSpPr>
        <p:spPr>
          <a:xfrm xmlns:a="http://schemas.openxmlformats.org/drawingml/2006/main">
            <a:off x="868680" y="4279392"/>
            <a:ext cx="73152" cy="868680"/>
          </a:xfrm>
          <a:prstGeom xmlns:a="http://schemas.openxmlformats.org/drawingml/2006/main" prst="rect">
            <a:avLst/>
          </a:prstGeom>
          <a:solidFill xmlns:a="http://schemas.openxmlformats.org/drawingml/2006/main">
            <a:srgbClr val="2563EB"/>
          </a:solidFill>
          <a:ln xmlns:a="http://schemas.openxmlformats.org/drawingml/2006/main" w="12700">
            <a:solidFill>
              <a:srgbClr val="2563EB"/>
            </a:solidFill>
            <a:prstDash val="solid"/>
          </a:ln>
        </p:spPr>
      </p:sp>
      <p:sp>
        <p:nvSpPr>
          <p:cNvPr id="27" name="Text 25">
            <a:extLst xmlns:a="http://schemas.openxmlformats.org/drawingml/2006/main">
              <a:ext uri="{FF2B5EF4-FFF2-40B4-BE49-F238E27FC236}">
                <a16:creationId xmlns:a16="http://schemas.microsoft.com/office/drawing/2014/main" id="{B63A2933-F826-40AA-B8FB-E583D25A150D}"/>
              </a:ext>
            </a:extLst>
          </p:cNvPr>
          <p:cNvSpPr>
            <a:spLocks xmlns:a="http://schemas.openxmlformats.org/drawingml/2006/main" noGrp="1"/>
          </p:cNvSpPr>
          <p:nvPr/>
        </p:nvSpPr>
        <p:spPr>
          <a:xfrm xmlns:a="http://schemas.openxmlformats.org/drawingml/2006/main">
            <a:off x="1097280" y="4315968"/>
            <a:ext cx="7086600" cy="868680"/>
          </a:xfrm>
          <a:prstGeom xmlns:a="http://schemas.openxmlformats.org/drawingml/2006/main" prst="rect">
            <a:avLst/>
          </a:prstGeom>
          <a:noFill xmlns:a="http://schemas.openxmlformats.org/drawingml/2006/main"/>
        </p:spPr>
        <p:txBody>
          <a:bodyPr xmlns:a="http://schemas.openxmlformats.org/drawingml/2006/main" wrap="square" lIns="254" tIns="254" rIns="254" bIns="254" anchor="ctr">
            <a:normAutofit/>
          </a:bodyPr>
          <a:lstStyle xmlns:a="http://schemas.openxmlformats.org/drawingml/2006/main"/>
          <a:p xmlns:a="http://schemas.openxmlformats.org/drawingml/2006/main">
            <a:pPr marL="0" indent="0">
              <a:buNone/>
            </a:pPr>
            <a:r>
              <a:rPr sz="2000" b="1">
                <a:solidFill>
                  <a:srgbClr val="102A43"/>
                </a:solidFill>
                <a:latin typeface="Aptos Display"/>
                <a:ea typeface="Aptos Display"/>
                <a:cs typeface="Aptos Display"/>
              </a:rPr>
              <a:t>En una ejecución distribuida, una dependencia lógica se convierte en una pregunta física: ¿dónde está el archivo y dónde debe estar para ser consumido?</a:t>
            </a:r>
            <a:endParaRPr sz="2000"/>
          </a:p>
        </p:txBody>
      </p:sp>
      <p:sp>
        <p:nvSpPr>
          <p:cNvPr id="28" name="Shape 26">
            <a:extLst xmlns:a="http://schemas.openxmlformats.org/drawingml/2006/main">
              <a:ext uri="{FF2B5EF4-FFF2-40B4-BE49-F238E27FC236}">
                <a16:creationId xmlns:a16="http://schemas.microsoft.com/office/drawing/2014/main" id="{68E67CB2-F47F-4899-B89A-C5C7D1B88B0D}"/>
              </a:ext>
            </a:extLst>
          </p:cNvPr>
          <p:cNvSpPr>
            <a:spLocks xmlns:a="http://schemas.openxmlformats.org/drawingml/2006/main" noGrp="1"/>
          </p:cNvSpPr>
          <p:nvPr/>
        </p:nvSpPr>
        <p:spPr>
          <a:xfrm xmlns:a="http://schemas.openxmlformats.org/drawingml/2006/main">
            <a:off x="8458200" y="2057400"/>
            <a:ext cx="2926080" cy="3246120"/>
          </a:xfrm>
          <a:prstGeom xmlns:a="http://schemas.openxmlformats.org/drawingml/2006/main" prst="roundRect">
            <a:avLst>
              <a:gd name="adj" fmla="val 2500"/>
            </a:avLst>
          </a:prstGeom>
          <a:solidFill xmlns:a="http://schemas.openxmlformats.org/drawingml/2006/main">
            <a:srgbClr val="FFFFFF"/>
          </a:solidFill>
          <a:ln xmlns:a="http://schemas.openxmlformats.org/drawingml/2006/main" w="10160">
            <a:solidFill>
              <a:srgbClr val="CBD5E1"/>
            </a:solidFill>
            <a:prstDash val="solid"/>
          </a:ln>
        </p:spPr>
      </p:sp>
      <p:sp>
        <p:nvSpPr>
          <p:cNvPr id="29" name="Text 27">
            <a:extLst xmlns:a="http://schemas.openxmlformats.org/drawingml/2006/main">
              <a:ext uri="{FF2B5EF4-FFF2-40B4-BE49-F238E27FC236}">
                <a16:creationId xmlns:a16="http://schemas.microsoft.com/office/drawing/2014/main" id="{02BAF591-DDA1-41F6-AAE3-D6C30B6007C5}"/>
              </a:ext>
            </a:extLst>
          </p:cNvPr>
          <p:cNvSpPr>
            <a:spLocks xmlns:a="http://schemas.openxmlformats.org/drawingml/2006/main" noGrp="1"/>
          </p:cNvSpPr>
          <p:nvPr/>
        </p:nvSpPr>
        <p:spPr>
          <a:xfrm xmlns:a="http://schemas.openxmlformats.org/drawingml/2006/main">
            <a:off x="8622792" y="2185416"/>
            <a:ext cx="2596896" cy="2990088"/>
          </a:xfrm>
          <a:prstGeom xmlns:a="http://schemas.openxmlformats.org/drawingml/2006/main" prst="rect">
            <a:avLst/>
          </a:prstGeom>
          <a:noFill xmlns:a="http://schemas.openxmlformats.org/drawingml/2006/main"/>
        </p:spPr>
        <p:txBody>
          <a:bodyPr xmlns:a="http://schemas.openxmlformats.org/drawingml/2006/main" wrap="square" lIns="381" tIns="381" rIns="381" bIns="381" anchor="ctr">
            <a:normAutofit/>
          </a:bodyPr>
          <a:lstStyle xmlns:a="http://schemas.openxmlformats.org/drawingml/2006/main"/>
          <a:p xmlns:a="http://schemas.openxmlformats.org/drawingml/2006/main">
            <a:pPr marL="0" indent="0">
              <a:buNone/>
            </a:pPr>
            <a:r>
              <a:rPr sz="1120">
                <a:solidFill>
                  <a:srgbClr val="334155"/>
                </a:solidFill>
                <a:latin typeface="Aptos"/>
                <a:ea typeface="Aptos"/>
                <a:cs typeface="Aptos"/>
              </a:rPr>
              <a:t>La literatura de workflows científicos resalta la coordinación conjunta de tareas, datos e infraestructura distribuida. Esta tesis toma esa coordinación como punto de partida, pero se enfoca en la medición del movimiento de payload científico.</a:t>
            </a:r>
            <a:endParaRPr sz="1120"/>
          </a:p>
        </p:txBody>
      </p:sp>
      <p:sp>
        <p:nvSpPr>
          <p:cNvPr id="30" name="Text 28">
            <a:extLst xmlns:a="http://schemas.openxmlformats.org/drawingml/2006/main">
              <a:ext uri="{FF2B5EF4-FFF2-40B4-BE49-F238E27FC236}">
                <a16:creationId xmlns:a16="http://schemas.microsoft.com/office/drawing/2014/main" id="{F2A9C4DC-370C-4942-AF34-B4E15F1584C1}"/>
              </a:ext>
            </a:extLst>
          </p:cNvPr>
          <p:cNvSpPr>
            <a:spLocks xmlns:a="http://schemas.openxmlformats.org/drawingml/2006/main" noGrp="1"/>
          </p:cNvSpPr>
          <p:nvPr/>
        </p:nvSpPr>
        <p:spPr>
          <a:xfrm xmlns:a="http://schemas.openxmlformats.org/drawingml/2006/main">
            <a:off x="658368" y="6144768"/>
            <a:ext cx="10698480" cy="22860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buNone/>
            </a:pPr>
            <a:r>
              <a:rPr sz="680">
                <a:solidFill>
                  <a:srgbClr val="64748B"/>
                </a:solidFill>
              </a:rPr>
              <a:t>Base: Deelman et al. (2015) describen Pegasus como WMS para automatizar tareas y movimiento de datos en infraestructuras distribuidas.</a:t>
            </a:r>
            <a:endParaRPr sz="680"/>
          </a:p>
        </p:txBody>
      </p:sp>
      <p:sp>
        <p:nvSpPr>
          <p:cNvPr id="31" name="Shape 29">
            <a:extLst xmlns:a="http://schemas.openxmlformats.org/drawingml/2006/main">
              <a:ext uri="{FF2B5EF4-FFF2-40B4-BE49-F238E27FC236}">
                <a16:creationId xmlns:a16="http://schemas.microsoft.com/office/drawing/2014/main" id="{8E28E27A-FB92-4D34-937D-F2403A08D962}"/>
              </a:ext>
            </a:extLst>
          </p:cNvPr>
          <p:cNvSpPr>
            <a:spLocks xmlns:a="http://schemas.openxmlformats.org/drawingml/2006/main" noGrp="1"/>
          </p:cNvSpPr>
          <p:nvPr/>
        </p:nvSpPr>
        <p:spPr>
          <a:xfrm xmlns:a="http://schemas.openxmlformats.org/drawingml/2006/main">
            <a:off x="502920" y="6446520"/>
            <a:ext cx="11201400" cy="0"/>
          </a:xfrm>
          <a:prstGeom xmlns:a="http://schemas.openxmlformats.org/drawingml/2006/main" prst="line">
            <a:avLst/>
          </a:prstGeom>
          <a:noFill xmlns:a="http://schemas.openxmlformats.org/drawingml/2006/main"/>
          <a:ln xmlns:a="http://schemas.openxmlformats.org/drawingml/2006/main" w="8890">
            <a:solidFill>
              <a:srgbClr val="CBD5E1"/>
            </a:solidFill>
            <a:prstDash val="solid"/>
          </a:ln>
        </p:spPr>
      </p:sp>
      <p:sp>
        <p:nvSpPr>
          <p:cNvPr id="32" name="Text 30">
            <a:extLst xmlns:a="http://schemas.openxmlformats.org/drawingml/2006/main">
              <a:ext uri="{FF2B5EF4-FFF2-40B4-BE49-F238E27FC236}">
                <a16:creationId xmlns:a16="http://schemas.microsoft.com/office/drawing/2014/main" id="{89720221-E80A-416E-91A5-436DA8DB0CEA}"/>
              </a:ext>
            </a:extLst>
          </p:cNvPr>
          <p:cNvSpPr>
            <a:spLocks xmlns:a="http://schemas.openxmlformats.org/drawingml/2006/main" noGrp="1"/>
          </p:cNvSpPr>
          <p:nvPr/>
        </p:nvSpPr>
        <p:spPr>
          <a:xfrm xmlns:a="http://schemas.openxmlformats.org/drawingml/2006/main">
            <a:off x="594360" y="6510528"/>
            <a:ext cx="7223760" cy="2011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750">
                <a:solidFill>
                  <a:srgbClr val="64748B"/>
                </a:solidFill>
                <a:latin typeface="Aptos"/>
                <a:ea typeface="Aptos"/>
                <a:cs typeface="Aptos"/>
              </a:rPr>
              <a:t>Contexto · workflows científicos</a:t>
            </a:r>
            <a:endParaRPr sz="750"/>
          </a:p>
        </p:txBody>
      </p:sp>
      <p:sp>
        <p:nvSpPr>
          <p:cNvPr id="33" name="Text 31">
            <a:extLst xmlns:a="http://schemas.openxmlformats.org/drawingml/2006/main">
              <a:ext uri="{FF2B5EF4-FFF2-40B4-BE49-F238E27FC236}">
                <a16:creationId xmlns:a16="http://schemas.microsoft.com/office/drawing/2014/main" id="{1E5C5D71-0479-4A76-8A96-89ADB0AB900F}"/>
              </a:ext>
            </a:extLst>
          </p:cNvPr>
          <p:cNvSpPr>
            <a:spLocks xmlns:a="http://schemas.openxmlformats.org/drawingml/2006/main" noGrp="1"/>
          </p:cNvSpPr>
          <p:nvPr/>
        </p:nvSpPr>
        <p:spPr>
          <a:xfrm xmlns:a="http://schemas.openxmlformats.org/drawingml/2006/main">
            <a:off x="11228832" y="6492240"/>
            <a:ext cx="411480" cy="2286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800">
                <a:solidFill>
                  <a:srgbClr val="64748B"/>
                </a:solidFill>
                <a:latin typeface="Aptos"/>
                <a:ea typeface="Aptos"/>
                <a:cs typeface="Aptos"/>
              </a:rPr>
              <a:t>2</a:t>
            </a:r>
            <a:endParaRPr sz="800"/>
          </a:p>
        </p:txBody>
      </p:sp>
    </p:spTree>
    <p:extLst>
      <p:ext uri="{BB962C8B-B14F-4D97-AF65-F5344CB8AC3E}">
        <p14:creationId xmlns:p14="http://schemas.microsoft.com/office/powerpoint/2010/main" val="1958725338"/>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38C17026-CA57-4661-A7D6-8510BE6F6931}"/>
              </a:ext>
            </a:extLst>
          </p:cNvPr>
          <p:cNvSpPr>
            <a:spLocks xmlns:a="http://schemas.openxmlformats.org/drawingml/2006/main" noGrp="1"/>
          </p:cNvSpPr>
          <p:nvPr/>
        </p:nvSpPr>
        <p:spPr>
          <a:xfrm xmlns:a="http://schemas.openxmlformats.org/drawingml/2006/main">
            <a:off x="0" y="0"/>
            <a:ext cx="12191695" cy="109728"/>
          </a:xfrm>
          <a:prstGeom xmlns:a="http://schemas.openxmlformats.org/drawingml/2006/main" prst="rect">
            <a:avLst/>
          </a:prstGeom>
          <a:solidFill xmlns:a="http://schemas.openxmlformats.org/drawingml/2006/main">
            <a:srgbClr val="2563EB"/>
          </a:solidFill>
          <a:ln xmlns:a="http://schemas.openxmlformats.org/drawingml/2006/main" w="12700">
            <a:solidFill>
              <a:srgbClr val="2563EB"/>
            </a:solidFill>
            <a:prstDash val="solid"/>
          </a:ln>
        </p:spPr>
      </p:sp>
      <p:sp>
        <p:nvSpPr>
          <p:cNvPr id="3" name="Text 1">
            <a:extLst xmlns:a="http://schemas.openxmlformats.org/drawingml/2006/main">
              <a:ext uri="{FF2B5EF4-FFF2-40B4-BE49-F238E27FC236}">
                <a16:creationId xmlns:a16="http://schemas.microsoft.com/office/drawing/2014/main" id="{2918625D-ECB3-4545-9D71-1EE00D51E182}"/>
              </a:ext>
            </a:extLst>
          </p:cNvPr>
          <p:cNvSpPr>
            <a:spLocks xmlns:a="http://schemas.openxmlformats.org/drawingml/2006/main" noGrp="1"/>
          </p:cNvSpPr>
          <p:nvPr/>
        </p:nvSpPr>
        <p:spPr>
          <a:xfrm xmlns:a="http://schemas.openxmlformats.org/drawingml/2006/main">
            <a:off x="658368" y="384048"/>
            <a:ext cx="292608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850" b="1">
                <a:solidFill>
                  <a:srgbClr val="2563EB"/>
                </a:solidFill>
                <a:latin typeface="Aptos"/>
                <a:ea typeface="Aptos"/>
                <a:cs typeface="Aptos"/>
              </a:rPr>
              <a:t>CONTEXTO</a:t>
            </a:r>
            <a:endParaRPr sz="850"/>
          </a:p>
        </p:txBody>
      </p:sp>
      <p:sp>
        <p:nvSpPr>
          <p:cNvPr id="4" name="Text 2">
            <a:extLst xmlns:a="http://schemas.openxmlformats.org/drawingml/2006/main">
              <a:ext uri="{FF2B5EF4-FFF2-40B4-BE49-F238E27FC236}">
                <a16:creationId xmlns:a16="http://schemas.microsoft.com/office/drawing/2014/main" id="{D7CCDA0F-D662-4AF2-8B45-026F24091034}"/>
              </a:ext>
            </a:extLst>
          </p:cNvPr>
          <p:cNvSpPr>
            <a:spLocks xmlns:a="http://schemas.openxmlformats.org/drawingml/2006/main" noGrp="1"/>
          </p:cNvSpPr>
          <p:nvPr/>
        </p:nvSpPr>
        <p:spPr>
          <a:xfrm xmlns:a="http://schemas.openxmlformats.org/drawingml/2006/main">
            <a:off x="621792" y="621792"/>
            <a:ext cx="10881360" cy="530352"/>
          </a:xfrm>
          <a:prstGeom xmlns:a="http://schemas.openxmlformats.org/drawingml/2006/main" prst="rect">
            <a:avLst/>
          </a:prstGeom>
          <a:noFill xmlns:a="http://schemas.openxmlformats.org/drawingml/2006/main"/>
        </p:spPr>
        <p:txBody>
          <a:bodyPr xmlns:a="http://schemas.openxmlformats.org/drawingml/2006/main" wrap="square" lIns="254" tIns="254" rIns="254" bIns="254" anchor="ctr">
            <a:normAutofit/>
          </a:bodyPr>
          <a:lstStyle xmlns:a="http://schemas.openxmlformats.org/drawingml/2006/main"/>
          <a:p xmlns:a="http://schemas.openxmlformats.org/drawingml/2006/main">
            <a:pPr marL="0" indent="0">
              <a:buNone/>
            </a:pPr>
            <a:r>
              <a:rPr sz="2500" b="1">
                <a:solidFill>
                  <a:srgbClr val="102A43"/>
                </a:solidFill>
                <a:latin typeface="Aptos Display"/>
                <a:ea typeface="Aptos Display"/>
                <a:cs typeface="Aptos Display"/>
              </a:rPr>
              <a:t>2. Del workflow lógico a una ejecución observada</a:t>
            </a:r>
            <a:endParaRPr sz="2500"/>
          </a:p>
        </p:txBody>
      </p:sp>
      <p:sp>
        <p:nvSpPr>
          <p:cNvPr id="5" name="Text 3">
            <a:extLst xmlns:a="http://schemas.openxmlformats.org/drawingml/2006/main">
              <a:ext uri="{FF2B5EF4-FFF2-40B4-BE49-F238E27FC236}">
                <a16:creationId xmlns:a16="http://schemas.microsoft.com/office/drawing/2014/main" id="{AF0E1646-F806-4E21-96C6-33140EA889E6}"/>
              </a:ext>
            </a:extLst>
          </p:cNvPr>
          <p:cNvSpPr>
            <a:spLocks xmlns:a="http://schemas.openxmlformats.org/drawingml/2006/main" noGrp="1"/>
          </p:cNvSpPr>
          <p:nvPr/>
        </p:nvSpPr>
        <p:spPr>
          <a:xfrm xmlns:a="http://schemas.openxmlformats.org/drawingml/2006/main">
            <a:off x="658368" y="1298448"/>
            <a:ext cx="10789920" cy="475488"/>
          </a:xfrm>
          <a:prstGeom xmlns:a="http://schemas.openxmlformats.org/drawingml/2006/main" prst="rect">
            <a:avLst/>
          </a:prstGeom>
          <a:noFill xmlns:a="http://schemas.openxmlformats.org/drawingml/2006/main"/>
        </p:spPr>
        <p:txBody>
          <a:bodyPr xmlns:a="http://schemas.openxmlformats.org/drawingml/2006/main" wrap="square" lIns="254" tIns="254" rIns="254" bIns="254" anchor="ctr">
            <a:normAutofit/>
          </a:bodyPr>
          <a:lstStyle xmlns:a="http://schemas.openxmlformats.org/drawingml/2006/main"/>
          <a:p xmlns:a="http://schemas.openxmlformats.org/drawingml/2006/main">
            <a:pPr marL="0" indent="0">
              <a:buNone/>
            </a:pPr>
            <a:r>
              <a:rPr sz="1450">
                <a:solidFill>
                  <a:srgbClr val="334155"/>
                </a:solidFill>
                <a:latin typeface="Aptos"/>
                <a:ea typeface="Aptos"/>
                <a:cs typeface="Aptos"/>
              </a:rPr>
              <a:t>El movimiento que realmente importa para esta tesis no depende solo del grafo: depende del placement, del modelo de ejecución y de la evidencia disponible.</a:t>
            </a:r>
            <a:endParaRPr sz="1450"/>
          </a:p>
        </p:txBody>
      </p:sp>
      <p:sp>
        <p:nvSpPr>
          <p:cNvPr id="6" name="Shape 4">
            <a:extLst xmlns:a="http://schemas.openxmlformats.org/drawingml/2006/main">
              <a:ext uri="{FF2B5EF4-FFF2-40B4-BE49-F238E27FC236}">
                <a16:creationId xmlns:a16="http://schemas.microsoft.com/office/drawing/2014/main" id="{A8DD0144-0073-4BC5-9CDB-4B5B4BB40A03}"/>
              </a:ext>
            </a:extLst>
          </p:cNvPr>
          <p:cNvSpPr>
            <a:spLocks xmlns:a="http://schemas.openxmlformats.org/drawingml/2006/main" noGrp="1"/>
          </p:cNvSpPr>
          <p:nvPr/>
        </p:nvSpPr>
        <p:spPr>
          <a:xfrm xmlns:a="http://schemas.openxmlformats.org/drawingml/2006/main">
            <a:off x="777240" y="2148840"/>
            <a:ext cx="1554480" cy="822960"/>
          </a:xfrm>
          <a:prstGeom xmlns:a="http://schemas.openxmlformats.org/drawingml/2006/main" prst="roundRect">
            <a:avLst>
              <a:gd name="adj" fmla="val 8889"/>
            </a:avLst>
          </a:prstGeom>
          <a:solidFill xmlns:a="http://schemas.openxmlformats.org/drawingml/2006/main">
            <a:srgbClr val="DBEAFE"/>
          </a:solidFill>
          <a:ln xmlns:a="http://schemas.openxmlformats.org/drawingml/2006/main" w="10160">
            <a:solidFill>
              <a:srgbClr val="FFFFFF"/>
            </a:solidFill>
            <a:prstDash val="solid"/>
          </a:ln>
        </p:spPr>
      </p:sp>
      <p:sp>
        <p:nvSpPr>
          <p:cNvPr id="7" name="Text 5">
            <a:extLst xmlns:a="http://schemas.openxmlformats.org/drawingml/2006/main">
              <a:ext uri="{FF2B5EF4-FFF2-40B4-BE49-F238E27FC236}">
                <a16:creationId xmlns:a16="http://schemas.microsoft.com/office/drawing/2014/main" id="{5756395C-0314-4DF2-B8C4-885F399BAA8C}"/>
              </a:ext>
            </a:extLst>
          </p:cNvPr>
          <p:cNvSpPr>
            <a:spLocks xmlns:a="http://schemas.openxmlformats.org/drawingml/2006/main" noGrp="1"/>
          </p:cNvSpPr>
          <p:nvPr/>
        </p:nvSpPr>
        <p:spPr>
          <a:xfrm xmlns:a="http://schemas.openxmlformats.org/drawingml/2006/main">
            <a:off x="886968" y="2240280"/>
            <a:ext cx="1335024" cy="640080"/>
          </a:xfrm>
          <a:prstGeom xmlns:a="http://schemas.openxmlformats.org/drawingml/2006/main" prst="rect">
            <a:avLst/>
          </a:prstGeom>
          <a:noFill xmlns:a="http://schemas.openxmlformats.org/drawingml/2006/main"/>
        </p:spPr>
        <p:txBody>
          <a:bodyPr xmlns:a="http://schemas.openxmlformats.org/drawingml/2006/main" wrap="square" lIns="381" tIns="381" rIns="381" bIns="381" anchor="ctr">
            <a:normAutofit/>
          </a:bodyPr>
          <a:lstStyle xmlns:a="http://schemas.openxmlformats.org/drawingml/2006/main"/>
          <a:p xmlns:a="http://schemas.openxmlformats.org/drawingml/2006/main">
            <a:pPr marL="0" indent="0" algn="ctr">
              <a:buNone/>
            </a:pPr>
            <a:r>
              <a:rPr sz="1300" b="1">
                <a:solidFill>
                  <a:srgbClr val="1D4ED8"/>
                </a:solidFill>
                <a:latin typeface="Aptos"/>
                <a:ea typeface="Aptos"/>
                <a:cs typeface="Aptos"/>
              </a:rPr>
              <a:t>Workflow</a:t>
            </a:r>
            <a:endParaRPr sz="1300"/>
          </a:p>
          <a:p xmlns:a="http://schemas.openxmlformats.org/drawingml/2006/main">
            <a:pPr marL="0" indent="0" algn="ctr">
              <a:buNone/>
            </a:pPr>
            <a:r>
              <a:rPr sz="1300" b="1">
                <a:solidFill>
                  <a:srgbClr val="1D4ED8"/>
                </a:solidFill>
                <a:latin typeface="Aptos"/>
                <a:ea typeface="Aptos"/>
                <a:cs typeface="Aptos"/>
              </a:rPr>
              <a:t>lógico</a:t>
            </a:r>
            <a:endParaRPr sz="1300"/>
          </a:p>
        </p:txBody>
      </p:sp>
      <p:sp>
        <p:nvSpPr>
          <p:cNvPr id="8" name="Shape 6">
            <a:extLst xmlns:a="http://schemas.openxmlformats.org/drawingml/2006/main">
              <a:ext uri="{FF2B5EF4-FFF2-40B4-BE49-F238E27FC236}">
                <a16:creationId xmlns:a16="http://schemas.microsoft.com/office/drawing/2014/main" id="{F9DE6B11-885B-43C7-9ABF-A39BAC624450}"/>
              </a:ext>
            </a:extLst>
          </p:cNvPr>
          <p:cNvSpPr>
            <a:spLocks xmlns:a="http://schemas.openxmlformats.org/drawingml/2006/main" noGrp="1"/>
          </p:cNvSpPr>
          <p:nvPr/>
        </p:nvSpPr>
        <p:spPr>
          <a:xfrm xmlns:a="http://schemas.openxmlformats.org/drawingml/2006/main">
            <a:off x="2404872" y="2560320"/>
            <a:ext cx="475488" cy="0"/>
          </a:xfrm>
          <a:prstGeom xmlns:a="http://schemas.openxmlformats.org/drawingml/2006/main" prst="line">
            <a:avLst/>
          </a:prstGeom>
          <a:noFill xmlns:a="http://schemas.openxmlformats.org/drawingml/2006/main"/>
          <a:ln xmlns:a="http://schemas.openxmlformats.org/drawingml/2006/main" w="13970">
            <a:solidFill>
              <a:srgbClr val="64748B"/>
            </a:solidFill>
            <a:prstDash val="solid"/>
            <a:headEnd type="none"/>
            <a:tailEnd type="triangle"/>
          </a:ln>
        </p:spPr>
      </p:sp>
      <p:sp>
        <p:nvSpPr>
          <p:cNvPr id="9" name="Shape 7">
            <a:extLst xmlns:a="http://schemas.openxmlformats.org/drawingml/2006/main">
              <a:ext uri="{FF2B5EF4-FFF2-40B4-BE49-F238E27FC236}">
                <a16:creationId xmlns:a16="http://schemas.microsoft.com/office/drawing/2014/main" id="{0CB3836F-63ED-4663-83E3-11EEA2AFD35B}"/>
              </a:ext>
            </a:extLst>
          </p:cNvPr>
          <p:cNvSpPr>
            <a:spLocks xmlns:a="http://schemas.openxmlformats.org/drawingml/2006/main" noGrp="1"/>
          </p:cNvSpPr>
          <p:nvPr/>
        </p:nvSpPr>
        <p:spPr>
          <a:xfrm xmlns:a="http://schemas.openxmlformats.org/drawingml/2006/main">
            <a:off x="2999232" y="2148840"/>
            <a:ext cx="1554480" cy="822960"/>
          </a:xfrm>
          <a:prstGeom xmlns:a="http://schemas.openxmlformats.org/drawingml/2006/main" prst="roundRect">
            <a:avLst>
              <a:gd name="adj" fmla="val 8889"/>
            </a:avLst>
          </a:prstGeom>
          <a:solidFill xmlns:a="http://schemas.openxmlformats.org/drawingml/2006/main">
            <a:srgbClr val="CCFBF1"/>
          </a:solidFill>
          <a:ln xmlns:a="http://schemas.openxmlformats.org/drawingml/2006/main" w="10160">
            <a:solidFill>
              <a:srgbClr val="FFFFFF"/>
            </a:solidFill>
            <a:prstDash val="solid"/>
          </a:ln>
        </p:spPr>
      </p:sp>
      <p:sp>
        <p:nvSpPr>
          <p:cNvPr id="10" name="Text 8">
            <a:extLst xmlns:a="http://schemas.openxmlformats.org/drawingml/2006/main">
              <a:ext uri="{FF2B5EF4-FFF2-40B4-BE49-F238E27FC236}">
                <a16:creationId xmlns:a16="http://schemas.microsoft.com/office/drawing/2014/main" id="{73798E5C-5E08-458E-888D-3DCAD0F05F0A}"/>
              </a:ext>
            </a:extLst>
          </p:cNvPr>
          <p:cNvSpPr>
            <a:spLocks xmlns:a="http://schemas.openxmlformats.org/drawingml/2006/main" noGrp="1"/>
          </p:cNvSpPr>
          <p:nvPr/>
        </p:nvSpPr>
        <p:spPr>
          <a:xfrm xmlns:a="http://schemas.openxmlformats.org/drawingml/2006/main">
            <a:off x="3108960" y="2240280"/>
            <a:ext cx="1335024" cy="640080"/>
          </a:xfrm>
          <a:prstGeom xmlns:a="http://schemas.openxmlformats.org/drawingml/2006/main" prst="rect">
            <a:avLst/>
          </a:prstGeom>
          <a:noFill xmlns:a="http://schemas.openxmlformats.org/drawingml/2006/main"/>
        </p:spPr>
        <p:txBody>
          <a:bodyPr xmlns:a="http://schemas.openxmlformats.org/drawingml/2006/main" wrap="square" lIns="381" tIns="381" rIns="381" bIns="381" anchor="ctr">
            <a:normAutofit/>
          </a:bodyPr>
          <a:lstStyle xmlns:a="http://schemas.openxmlformats.org/drawingml/2006/main"/>
          <a:p xmlns:a="http://schemas.openxmlformats.org/drawingml/2006/main">
            <a:pPr marL="0" indent="0" algn="ctr">
              <a:buNone/>
            </a:pPr>
            <a:r>
              <a:rPr sz="1300" b="1">
                <a:solidFill>
                  <a:srgbClr val="0F766E"/>
                </a:solidFill>
                <a:latin typeface="Aptos"/>
                <a:ea typeface="Aptos"/>
                <a:cs typeface="Aptos"/>
              </a:rPr>
              <a:t>Placement</a:t>
            </a:r>
            <a:endParaRPr sz="1300"/>
          </a:p>
          <a:p xmlns:a="http://schemas.openxmlformats.org/drawingml/2006/main">
            <a:pPr marL="0" indent="0" algn="ctr">
              <a:buNone/>
            </a:pPr>
            <a:r>
              <a:rPr sz="1300" b="1">
                <a:solidFill>
                  <a:srgbClr val="0F766E"/>
                </a:solidFill>
                <a:latin typeface="Aptos"/>
                <a:ea typeface="Aptos"/>
                <a:cs typeface="Aptos"/>
              </a:rPr>
              <a:t>observado</a:t>
            </a:r>
            <a:endParaRPr sz="1300"/>
          </a:p>
        </p:txBody>
      </p:sp>
      <p:sp>
        <p:nvSpPr>
          <p:cNvPr id="11" name="Shape 9">
            <a:extLst xmlns:a="http://schemas.openxmlformats.org/drawingml/2006/main">
              <a:ext uri="{FF2B5EF4-FFF2-40B4-BE49-F238E27FC236}">
                <a16:creationId xmlns:a16="http://schemas.microsoft.com/office/drawing/2014/main" id="{A1FC6813-21B8-47DD-B151-28618AC43B64}"/>
              </a:ext>
            </a:extLst>
          </p:cNvPr>
          <p:cNvSpPr>
            <a:spLocks xmlns:a="http://schemas.openxmlformats.org/drawingml/2006/main" noGrp="1"/>
          </p:cNvSpPr>
          <p:nvPr/>
        </p:nvSpPr>
        <p:spPr>
          <a:xfrm xmlns:a="http://schemas.openxmlformats.org/drawingml/2006/main">
            <a:off x="4626864" y="2560320"/>
            <a:ext cx="475488" cy="0"/>
          </a:xfrm>
          <a:prstGeom xmlns:a="http://schemas.openxmlformats.org/drawingml/2006/main" prst="line">
            <a:avLst/>
          </a:prstGeom>
          <a:noFill xmlns:a="http://schemas.openxmlformats.org/drawingml/2006/main"/>
          <a:ln xmlns:a="http://schemas.openxmlformats.org/drawingml/2006/main" w="13970">
            <a:solidFill>
              <a:srgbClr val="64748B"/>
            </a:solidFill>
            <a:prstDash val="solid"/>
            <a:headEnd type="none"/>
            <a:tailEnd type="triangle"/>
          </a:ln>
        </p:spPr>
      </p:sp>
      <p:sp>
        <p:nvSpPr>
          <p:cNvPr id="12" name="Shape 10">
            <a:extLst xmlns:a="http://schemas.openxmlformats.org/drawingml/2006/main">
              <a:ext uri="{FF2B5EF4-FFF2-40B4-BE49-F238E27FC236}">
                <a16:creationId xmlns:a16="http://schemas.microsoft.com/office/drawing/2014/main" id="{8C56F83D-A71E-4337-9935-3AF07D5558DD}"/>
              </a:ext>
            </a:extLst>
          </p:cNvPr>
          <p:cNvSpPr>
            <a:spLocks xmlns:a="http://schemas.openxmlformats.org/drawingml/2006/main" noGrp="1"/>
          </p:cNvSpPr>
          <p:nvPr/>
        </p:nvSpPr>
        <p:spPr>
          <a:xfrm xmlns:a="http://schemas.openxmlformats.org/drawingml/2006/main">
            <a:off x="5221224" y="2148840"/>
            <a:ext cx="1554480" cy="822960"/>
          </a:xfrm>
          <a:prstGeom xmlns:a="http://schemas.openxmlformats.org/drawingml/2006/main" prst="roundRect">
            <a:avLst>
              <a:gd name="adj" fmla="val 8889"/>
            </a:avLst>
          </a:prstGeom>
          <a:solidFill xmlns:a="http://schemas.openxmlformats.org/drawingml/2006/main">
            <a:srgbClr val="FEF3C7"/>
          </a:solidFill>
          <a:ln xmlns:a="http://schemas.openxmlformats.org/drawingml/2006/main" w="10160">
            <a:solidFill>
              <a:srgbClr val="FFFFFF"/>
            </a:solidFill>
            <a:prstDash val="solid"/>
          </a:ln>
        </p:spPr>
      </p:sp>
      <p:sp>
        <p:nvSpPr>
          <p:cNvPr id="13" name="Text 11">
            <a:extLst xmlns:a="http://schemas.openxmlformats.org/drawingml/2006/main">
              <a:ext uri="{FF2B5EF4-FFF2-40B4-BE49-F238E27FC236}">
                <a16:creationId xmlns:a16="http://schemas.microsoft.com/office/drawing/2014/main" id="{52188F2F-5D60-433B-A4CB-C55E4FBE3F77}"/>
              </a:ext>
            </a:extLst>
          </p:cNvPr>
          <p:cNvSpPr>
            <a:spLocks xmlns:a="http://schemas.openxmlformats.org/drawingml/2006/main" noGrp="1"/>
          </p:cNvSpPr>
          <p:nvPr/>
        </p:nvSpPr>
        <p:spPr>
          <a:xfrm xmlns:a="http://schemas.openxmlformats.org/drawingml/2006/main">
            <a:off x="5330952" y="2240280"/>
            <a:ext cx="1335024" cy="640080"/>
          </a:xfrm>
          <a:prstGeom xmlns:a="http://schemas.openxmlformats.org/drawingml/2006/main" prst="rect">
            <a:avLst/>
          </a:prstGeom>
          <a:noFill xmlns:a="http://schemas.openxmlformats.org/drawingml/2006/main"/>
        </p:spPr>
        <p:txBody>
          <a:bodyPr xmlns:a="http://schemas.openxmlformats.org/drawingml/2006/main" wrap="square" lIns="381" tIns="381" rIns="381" bIns="381" anchor="ctr">
            <a:normAutofit/>
          </a:bodyPr>
          <a:lstStyle xmlns:a="http://schemas.openxmlformats.org/drawingml/2006/main"/>
          <a:p xmlns:a="http://schemas.openxmlformats.org/drawingml/2006/main">
            <a:pPr marL="0" indent="0" algn="ctr">
              <a:buNone/>
            </a:pPr>
            <a:r>
              <a:rPr sz="1300" b="1">
                <a:solidFill>
                  <a:srgbClr val="92400E"/>
                </a:solidFill>
                <a:latin typeface="Aptos"/>
                <a:ea typeface="Aptos"/>
                <a:cs typeface="Aptos"/>
              </a:rPr>
              <a:t>Execution</a:t>
            </a:r>
            <a:endParaRPr sz="1300"/>
          </a:p>
          <a:p xmlns:a="http://schemas.openxmlformats.org/drawingml/2006/main">
            <a:pPr marL="0" indent="0" algn="ctr">
              <a:buNone/>
            </a:pPr>
            <a:r>
              <a:rPr sz="1300" b="1">
                <a:solidFill>
                  <a:srgbClr val="92400E"/>
                </a:solidFill>
                <a:latin typeface="Aptos"/>
                <a:ea typeface="Aptos"/>
                <a:cs typeface="Aptos"/>
              </a:rPr>
              <a:t>model</a:t>
            </a:r>
            <a:endParaRPr sz="1300"/>
          </a:p>
        </p:txBody>
      </p:sp>
      <p:sp>
        <p:nvSpPr>
          <p:cNvPr id="14" name="Shape 12">
            <a:extLst xmlns:a="http://schemas.openxmlformats.org/drawingml/2006/main">
              <a:ext uri="{FF2B5EF4-FFF2-40B4-BE49-F238E27FC236}">
                <a16:creationId xmlns:a16="http://schemas.microsoft.com/office/drawing/2014/main" id="{3B8164E1-2C5D-4C2F-A9B1-85270B263F16}"/>
              </a:ext>
            </a:extLst>
          </p:cNvPr>
          <p:cNvSpPr>
            <a:spLocks xmlns:a="http://schemas.openxmlformats.org/drawingml/2006/main" noGrp="1"/>
          </p:cNvSpPr>
          <p:nvPr/>
        </p:nvSpPr>
        <p:spPr>
          <a:xfrm xmlns:a="http://schemas.openxmlformats.org/drawingml/2006/main">
            <a:off x="6848856" y="2560320"/>
            <a:ext cx="475488" cy="0"/>
          </a:xfrm>
          <a:prstGeom xmlns:a="http://schemas.openxmlformats.org/drawingml/2006/main" prst="line">
            <a:avLst/>
          </a:prstGeom>
          <a:noFill xmlns:a="http://schemas.openxmlformats.org/drawingml/2006/main"/>
          <a:ln xmlns:a="http://schemas.openxmlformats.org/drawingml/2006/main" w="13970">
            <a:solidFill>
              <a:srgbClr val="64748B"/>
            </a:solidFill>
            <a:prstDash val="solid"/>
            <a:headEnd type="none"/>
            <a:tailEnd type="triangle"/>
          </a:ln>
        </p:spPr>
      </p:sp>
      <p:sp>
        <p:nvSpPr>
          <p:cNvPr id="15" name="Shape 13">
            <a:extLst xmlns:a="http://schemas.openxmlformats.org/drawingml/2006/main">
              <a:ext uri="{FF2B5EF4-FFF2-40B4-BE49-F238E27FC236}">
                <a16:creationId xmlns:a16="http://schemas.microsoft.com/office/drawing/2014/main" id="{51592EF8-9216-454D-92EC-5450F7DB434A}"/>
              </a:ext>
            </a:extLst>
          </p:cNvPr>
          <p:cNvSpPr>
            <a:spLocks xmlns:a="http://schemas.openxmlformats.org/drawingml/2006/main" noGrp="1"/>
          </p:cNvSpPr>
          <p:nvPr/>
        </p:nvSpPr>
        <p:spPr>
          <a:xfrm xmlns:a="http://schemas.openxmlformats.org/drawingml/2006/main">
            <a:off x="7443216" y="2148840"/>
            <a:ext cx="1554480" cy="822960"/>
          </a:xfrm>
          <a:prstGeom xmlns:a="http://schemas.openxmlformats.org/drawingml/2006/main" prst="roundRect">
            <a:avLst>
              <a:gd name="adj" fmla="val 8889"/>
            </a:avLst>
          </a:prstGeom>
          <a:solidFill xmlns:a="http://schemas.openxmlformats.org/drawingml/2006/main">
            <a:srgbClr val="EDE9FE"/>
          </a:solidFill>
          <a:ln xmlns:a="http://schemas.openxmlformats.org/drawingml/2006/main" w="10160">
            <a:solidFill>
              <a:srgbClr val="FFFFFF"/>
            </a:solidFill>
            <a:prstDash val="solid"/>
          </a:ln>
        </p:spPr>
      </p:sp>
      <p:sp>
        <p:nvSpPr>
          <p:cNvPr id="16" name="Text 14">
            <a:extLst xmlns:a="http://schemas.openxmlformats.org/drawingml/2006/main">
              <a:ext uri="{FF2B5EF4-FFF2-40B4-BE49-F238E27FC236}">
                <a16:creationId xmlns:a16="http://schemas.microsoft.com/office/drawing/2014/main" id="{C56E6263-4962-41D2-9B70-83F89E218E57}"/>
              </a:ext>
            </a:extLst>
          </p:cNvPr>
          <p:cNvSpPr>
            <a:spLocks xmlns:a="http://schemas.openxmlformats.org/drawingml/2006/main" noGrp="1"/>
          </p:cNvSpPr>
          <p:nvPr/>
        </p:nvSpPr>
        <p:spPr>
          <a:xfrm xmlns:a="http://schemas.openxmlformats.org/drawingml/2006/main">
            <a:off x="7552944" y="2240280"/>
            <a:ext cx="1335024" cy="640080"/>
          </a:xfrm>
          <a:prstGeom xmlns:a="http://schemas.openxmlformats.org/drawingml/2006/main" prst="rect">
            <a:avLst/>
          </a:prstGeom>
          <a:noFill xmlns:a="http://schemas.openxmlformats.org/drawingml/2006/main"/>
        </p:spPr>
        <p:txBody>
          <a:bodyPr xmlns:a="http://schemas.openxmlformats.org/drawingml/2006/main" wrap="square" lIns="381" tIns="381" rIns="381" bIns="381" anchor="ctr">
            <a:normAutofit/>
          </a:bodyPr>
          <a:lstStyle xmlns:a="http://schemas.openxmlformats.org/drawingml/2006/main"/>
          <a:p xmlns:a="http://schemas.openxmlformats.org/drawingml/2006/main">
            <a:pPr marL="0" indent="0" algn="ctr">
              <a:buNone/>
            </a:pPr>
            <a:r>
              <a:rPr sz="1300" b="1">
                <a:solidFill>
                  <a:srgbClr val="6D28D9"/>
                </a:solidFill>
                <a:latin typeface="Aptos"/>
                <a:ea typeface="Aptos"/>
                <a:cs typeface="Aptos"/>
              </a:rPr>
              <a:t>Trace /</a:t>
            </a:r>
            <a:endParaRPr sz="1300"/>
          </a:p>
          <a:p xmlns:a="http://schemas.openxmlformats.org/drawingml/2006/main">
            <a:pPr marL="0" indent="0" algn="ctr">
              <a:buNone/>
            </a:pPr>
            <a:r>
              <a:rPr sz="1300" b="1">
                <a:solidFill>
                  <a:srgbClr val="6D28D9"/>
                </a:solidFill>
                <a:latin typeface="Aptos"/>
                <a:ea typeface="Aptos"/>
                <a:cs typeface="Aptos"/>
              </a:rPr>
              <a:t>evidencia</a:t>
            </a:r>
            <a:endParaRPr sz="1300"/>
          </a:p>
        </p:txBody>
      </p:sp>
      <p:sp>
        <p:nvSpPr>
          <p:cNvPr id="17" name="Shape 15">
            <a:extLst xmlns:a="http://schemas.openxmlformats.org/drawingml/2006/main">
              <a:ext uri="{FF2B5EF4-FFF2-40B4-BE49-F238E27FC236}">
                <a16:creationId xmlns:a16="http://schemas.microsoft.com/office/drawing/2014/main" id="{76E16478-091F-4E62-BBCE-5F643B3F9A26}"/>
              </a:ext>
            </a:extLst>
          </p:cNvPr>
          <p:cNvSpPr>
            <a:spLocks xmlns:a="http://schemas.openxmlformats.org/drawingml/2006/main" noGrp="1"/>
          </p:cNvSpPr>
          <p:nvPr/>
        </p:nvSpPr>
        <p:spPr>
          <a:xfrm xmlns:a="http://schemas.openxmlformats.org/drawingml/2006/main">
            <a:off x="9070848" y="2560320"/>
            <a:ext cx="475488" cy="0"/>
          </a:xfrm>
          <a:prstGeom xmlns:a="http://schemas.openxmlformats.org/drawingml/2006/main" prst="line">
            <a:avLst/>
          </a:prstGeom>
          <a:noFill xmlns:a="http://schemas.openxmlformats.org/drawingml/2006/main"/>
          <a:ln xmlns:a="http://schemas.openxmlformats.org/drawingml/2006/main" w="13970">
            <a:solidFill>
              <a:srgbClr val="64748B"/>
            </a:solidFill>
            <a:prstDash val="solid"/>
            <a:headEnd type="none"/>
            <a:tailEnd type="triangle"/>
          </a:ln>
        </p:spPr>
      </p:sp>
      <p:sp>
        <p:nvSpPr>
          <p:cNvPr id="18" name="Shape 16">
            <a:extLst xmlns:a="http://schemas.openxmlformats.org/drawingml/2006/main">
              <a:ext uri="{FF2B5EF4-FFF2-40B4-BE49-F238E27FC236}">
                <a16:creationId xmlns:a16="http://schemas.microsoft.com/office/drawing/2014/main" id="{603BBF96-0446-467C-A13D-4E43632D1513}"/>
              </a:ext>
            </a:extLst>
          </p:cNvPr>
          <p:cNvSpPr>
            <a:spLocks xmlns:a="http://schemas.openxmlformats.org/drawingml/2006/main" noGrp="1"/>
          </p:cNvSpPr>
          <p:nvPr/>
        </p:nvSpPr>
        <p:spPr>
          <a:xfrm xmlns:a="http://schemas.openxmlformats.org/drawingml/2006/main">
            <a:off x="9665208" y="2148840"/>
            <a:ext cx="1554480" cy="822960"/>
          </a:xfrm>
          <a:prstGeom xmlns:a="http://schemas.openxmlformats.org/drawingml/2006/main" prst="roundRect">
            <a:avLst>
              <a:gd name="adj" fmla="val 8889"/>
            </a:avLst>
          </a:prstGeom>
          <a:solidFill xmlns:a="http://schemas.openxmlformats.org/drawingml/2006/main">
            <a:srgbClr val="FFFFFF"/>
          </a:solidFill>
          <a:ln xmlns:a="http://schemas.openxmlformats.org/drawingml/2006/main" w="10160">
            <a:solidFill>
              <a:srgbClr val="2563EB"/>
            </a:solidFill>
            <a:prstDash val="solid"/>
          </a:ln>
        </p:spPr>
      </p:sp>
      <p:sp>
        <p:nvSpPr>
          <p:cNvPr id="19" name="Text 17">
            <a:extLst xmlns:a="http://schemas.openxmlformats.org/drawingml/2006/main">
              <a:ext uri="{FF2B5EF4-FFF2-40B4-BE49-F238E27FC236}">
                <a16:creationId xmlns:a16="http://schemas.microsoft.com/office/drawing/2014/main" id="{631E6D66-2ED4-4DFA-BA7F-9D0911E757E9}"/>
              </a:ext>
            </a:extLst>
          </p:cNvPr>
          <p:cNvSpPr>
            <a:spLocks xmlns:a="http://schemas.openxmlformats.org/drawingml/2006/main" noGrp="1"/>
          </p:cNvSpPr>
          <p:nvPr/>
        </p:nvSpPr>
        <p:spPr>
          <a:xfrm xmlns:a="http://schemas.openxmlformats.org/drawingml/2006/main">
            <a:off x="9774936" y="2240280"/>
            <a:ext cx="1335024" cy="640080"/>
          </a:xfrm>
          <a:prstGeom xmlns:a="http://schemas.openxmlformats.org/drawingml/2006/main" prst="rect">
            <a:avLst/>
          </a:prstGeom>
          <a:noFill xmlns:a="http://schemas.openxmlformats.org/drawingml/2006/main"/>
        </p:spPr>
        <p:txBody>
          <a:bodyPr xmlns:a="http://schemas.openxmlformats.org/drawingml/2006/main" wrap="square" lIns="381" tIns="381" rIns="381" bIns="381" anchor="ctr">
            <a:normAutofit/>
          </a:bodyPr>
          <a:lstStyle xmlns:a="http://schemas.openxmlformats.org/drawingml/2006/main"/>
          <a:p xmlns:a="http://schemas.openxmlformats.org/drawingml/2006/main">
            <a:pPr marL="0" indent="0" algn="ctr">
              <a:buNone/>
            </a:pPr>
            <a:r>
              <a:rPr sz="1300" b="1">
                <a:solidFill>
                  <a:srgbClr val="102A43"/>
                </a:solidFill>
                <a:latin typeface="Aptos"/>
                <a:ea typeface="Aptos"/>
                <a:cs typeface="Aptos"/>
              </a:rPr>
              <a:t>Movimiento</a:t>
            </a:r>
            <a:endParaRPr sz="1300"/>
          </a:p>
          <a:p xmlns:a="http://schemas.openxmlformats.org/drawingml/2006/main">
            <a:pPr marL="0" indent="0" algn="ctr">
              <a:buNone/>
            </a:pPr>
            <a:r>
              <a:rPr sz="1300" b="1">
                <a:solidFill>
                  <a:srgbClr val="102A43"/>
                </a:solidFill>
                <a:latin typeface="Aptos"/>
                <a:ea typeface="Aptos"/>
                <a:cs typeface="Aptos"/>
              </a:rPr>
              <a:t>científico</a:t>
            </a:r>
            <a:endParaRPr sz="1300"/>
          </a:p>
        </p:txBody>
      </p:sp>
      <p:sp>
        <p:nvSpPr>
          <p:cNvPr id="20" name="Shape 18">
            <a:extLst xmlns:a="http://schemas.openxmlformats.org/drawingml/2006/main">
              <a:ext uri="{FF2B5EF4-FFF2-40B4-BE49-F238E27FC236}">
                <a16:creationId xmlns:a16="http://schemas.microsoft.com/office/drawing/2014/main" id="{414775B6-7C9E-4646-8C45-80459B16B03F}"/>
              </a:ext>
            </a:extLst>
          </p:cNvPr>
          <p:cNvSpPr>
            <a:spLocks xmlns:a="http://schemas.openxmlformats.org/drawingml/2006/main" noGrp="1"/>
          </p:cNvSpPr>
          <p:nvPr/>
        </p:nvSpPr>
        <p:spPr>
          <a:xfrm xmlns:a="http://schemas.openxmlformats.org/drawingml/2006/main">
            <a:off x="868680" y="4114800"/>
            <a:ext cx="5029200" cy="1417320"/>
          </a:xfrm>
          <a:prstGeom xmlns:a="http://schemas.openxmlformats.org/drawingml/2006/main" prst="roundRect">
            <a:avLst>
              <a:gd name="adj" fmla="val 5161"/>
            </a:avLst>
          </a:prstGeom>
          <a:solidFill xmlns:a="http://schemas.openxmlformats.org/drawingml/2006/main">
            <a:srgbClr val="FFFFFF"/>
          </a:solidFill>
          <a:ln xmlns:a="http://schemas.openxmlformats.org/drawingml/2006/main" w="10160">
            <a:solidFill>
              <a:srgbClr val="CBD5E1"/>
            </a:solidFill>
            <a:prstDash val="solid"/>
          </a:ln>
        </p:spPr>
      </p:sp>
      <p:sp>
        <p:nvSpPr>
          <p:cNvPr id="21" name="Text 19">
            <a:extLst xmlns:a="http://schemas.openxmlformats.org/drawingml/2006/main">
              <a:ext uri="{FF2B5EF4-FFF2-40B4-BE49-F238E27FC236}">
                <a16:creationId xmlns:a16="http://schemas.microsoft.com/office/drawing/2014/main" id="{41DEB9EF-F5EF-476C-95AA-B0393C9AEBC0}"/>
              </a:ext>
            </a:extLst>
          </p:cNvPr>
          <p:cNvSpPr>
            <a:spLocks xmlns:a="http://schemas.openxmlformats.org/drawingml/2006/main" noGrp="1"/>
          </p:cNvSpPr>
          <p:nvPr/>
        </p:nvSpPr>
        <p:spPr>
          <a:xfrm xmlns:a="http://schemas.openxmlformats.org/drawingml/2006/main">
            <a:off x="1033272" y="4242816"/>
            <a:ext cx="4700016" cy="1161288"/>
          </a:xfrm>
          <a:prstGeom xmlns:a="http://schemas.openxmlformats.org/drawingml/2006/main" prst="rect">
            <a:avLst/>
          </a:prstGeom>
          <a:noFill xmlns:a="http://schemas.openxmlformats.org/drawingml/2006/main"/>
        </p:spPr>
        <p:txBody>
          <a:bodyPr xmlns:a="http://schemas.openxmlformats.org/drawingml/2006/main" wrap="square" lIns="381" tIns="381" rIns="381" bIns="381" anchor="ctr">
            <a:normAutofit/>
          </a:bodyPr>
          <a:lstStyle xmlns:a="http://schemas.openxmlformats.org/drawingml/2006/main"/>
          <a:p xmlns:a="http://schemas.openxmlformats.org/drawingml/2006/main">
            <a:pPr marL="0" indent="0">
              <a:buNone/>
            </a:pPr>
            <a:r>
              <a:rPr sz="1120">
                <a:solidFill>
                  <a:srgbClr val="334155"/>
                </a:solidFill>
                <a:latin typeface="Aptos"/>
                <a:ea typeface="Aptos"/>
                <a:cs typeface="Aptos"/>
              </a:rPr>
              <a:t>Workflow lógico: tareas y dependencias de archivos.</a:t>
            </a:r>
            <a:endParaRPr sz="1120"/>
          </a:p>
          <a:p xmlns:a="http://schemas.openxmlformats.org/drawingml/2006/main">
            <a:pPr marL="0" indent="0">
              <a:buNone/>
            </a:pPr>
            <a:endParaRPr sz="1120"/>
          </a:p>
          <a:p xmlns:a="http://schemas.openxmlformats.org/drawingml/2006/main">
            <a:pPr marL="0" indent="0">
              <a:buNone/>
            </a:pPr>
            <a:r>
              <a:rPr sz="1120">
                <a:solidFill>
                  <a:srgbClr val="334155"/>
                </a:solidFill>
                <a:latin typeface="Aptos"/>
                <a:ea typeface="Aptos"/>
                <a:cs typeface="Aptos"/>
              </a:rPr>
              <a:t>Placement observado: worker donde terminó cada tarea.</a:t>
            </a:r>
            <a:endParaRPr sz="1120"/>
          </a:p>
          <a:p xmlns:a="http://schemas.openxmlformats.org/drawingml/2006/main">
            <a:pPr marL="0" indent="0">
              <a:buNone/>
            </a:pPr>
            <a:endParaRPr sz="1120"/>
          </a:p>
          <a:p xmlns:a="http://schemas.openxmlformats.org/drawingml/2006/main">
            <a:pPr marL="0" indent="0">
              <a:buNone/>
            </a:pPr>
            <a:r>
              <a:rPr sz="1120">
                <a:solidFill>
                  <a:srgbClr val="334155"/>
                </a:solidFill>
                <a:latin typeface="Aptos"/>
                <a:ea typeface="Aptos"/>
                <a:cs typeface="Aptos"/>
              </a:rPr>
              <a:t>Execution model: cómo Pegasus/HTCondor declara transferencias.</a:t>
            </a:r>
            <a:endParaRPr sz="1120"/>
          </a:p>
          <a:p xmlns:a="http://schemas.openxmlformats.org/drawingml/2006/main">
            <a:pPr marL="0" indent="0">
              <a:buNone/>
            </a:pPr>
            <a:endParaRPr sz="1120"/>
          </a:p>
          <a:p xmlns:a="http://schemas.openxmlformats.org/drawingml/2006/main">
            <a:pPr marL="0" indent="0">
              <a:buNone/>
            </a:pPr>
            <a:r>
              <a:rPr sz="1120">
                <a:solidFill>
                  <a:srgbClr val="334155"/>
                </a:solidFill>
                <a:latin typeface="Aptos"/>
                <a:ea typeface="Aptos"/>
                <a:cs typeface="Aptos"/>
              </a:rPr>
              <a:t>Trace: evidencia que permite confirmar o no cada movimiento.</a:t>
            </a:r>
            <a:endParaRPr sz="1120"/>
          </a:p>
        </p:txBody>
      </p:sp>
      <p:sp>
        <p:nvSpPr>
          <p:cNvPr id="22" name="Shape 20">
            <a:extLst xmlns:a="http://schemas.openxmlformats.org/drawingml/2006/main">
              <a:ext uri="{FF2B5EF4-FFF2-40B4-BE49-F238E27FC236}">
                <a16:creationId xmlns:a16="http://schemas.microsoft.com/office/drawing/2014/main" id="{AA5852F6-2C60-49E4-A4FE-F9E04C043215}"/>
              </a:ext>
            </a:extLst>
          </p:cNvPr>
          <p:cNvSpPr>
            <a:spLocks xmlns:a="http://schemas.openxmlformats.org/drawingml/2006/main" noGrp="1"/>
          </p:cNvSpPr>
          <p:nvPr/>
        </p:nvSpPr>
        <p:spPr>
          <a:xfrm xmlns:a="http://schemas.openxmlformats.org/drawingml/2006/main">
            <a:off x="6583680" y="4114800"/>
            <a:ext cx="4251960" cy="1417320"/>
          </a:xfrm>
          <a:prstGeom xmlns:a="http://schemas.openxmlformats.org/drawingml/2006/main" prst="roundRect">
            <a:avLst>
              <a:gd name="adj" fmla="val 5161"/>
            </a:avLst>
          </a:prstGeom>
          <a:solidFill xmlns:a="http://schemas.openxmlformats.org/drawingml/2006/main">
            <a:srgbClr val="FEE2E2"/>
          </a:solidFill>
          <a:ln xmlns:a="http://schemas.openxmlformats.org/drawingml/2006/main" w="10160">
            <a:solidFill>
              <a:srgbClr val="FCA5A5"/>
            </a:solidFill>
            <a:prstDash val="solid"/>
          </a:ln>
        </p:spPr>
      </p:sp>
      <p:sp>
        <p:nvSpPr>
          <p:cNvPr id="23" name="Text 21">
            <a:extLst xmlns:a="http://schemas.openxmlformats.org/drawingml/2006/main">
              <a:ext uri="{FF2B5EF4-FFF2-40B4-BE49-F238E27FC236}">
                <a16:creationId xmlns:a16="http://schemas.microsoft.com/office/drawing/2014/main" id="{C40551A0-DBC8-464C-8BF2-894DD3A0C4C6}"/>
              </a:ext>
            </a:extLst>
          </p:cNvPr>
          <p:cNvSpPr>
            <a:spLocks xmlns:a="http://schemas.openxmlformats.org/drawingml/2006/main" noGrp="1"/>
          </p:cNvSpPr>
          <p:nvPr/>
        </p:nvSpPr>
        <p:spPr>
          <a:xfrm xmlns:a="http://schemas.openxmlformats.org/drawingml/2006/main">
            <a:off x="6748272" y="4242816"/>
            <a:ext cx="3922776" cy="1161288"/>
          </a:xfrm>
          <a:prstGeom xmlns:a="http://schemas.openxmlformats.org/drawingml/2006/main" prst="rect">
            <a:avLst/>
          </a:prstGeom>
          <a:noFill xmlns:a="http://schemas.openxmlformats.org/drawingml/2006/main"/>
        </p:spPr>
        <p:txBody>
          <a:bodyPr xmlns:a="http://schemas.openxmlformats.org/drawingml/2006/main" wrap="square" lIns="381" tIns="381" rIns="381" bIns="381" anchor="ctr">
            <a:normAutofit/>
          </a:bodyPr>
          <a:lstStyle xmlns:a="http://schemas.openxmlformats.org/drawingml/2006/main"/>
          <a:p xmlns:a="http://schemas.openxmlformats.org/drawingml/2006/main">
            <a:pPr marL="0" indent="0">
              <a:buNone/>
            </a:pPr>
            <a:r>
              <a:rPr sz="1120">
                <a:solidFill>
                  <a:srgbClr val="334155"/>
                </a:solidFill>
                <a:latin typeface="Aptos"/>
                <a:ea typeface="Aptos"/>
                <a:cs typeface="Aptos"/>
              </a:rPr>
              <a:t>Consecuencia metodológica: si una capa no está bien definida, el número final puede parecer preciso pero no ser interpretable.</a:t>
            </a:r>
            <a:endParaRPr sz="1120"/>
          </a:p>
        </p:txBody>
      </p:sp>
      <p:sp>
        <p:nvSpPr>
          <p:cNvPr id="24" name="Shape 22">
            <a:extLst xmlns:a="http://schemas.openxmlformats.org/drawingml/2006/main">
              <a:ext uri="{FF2B5EF4-FFF2-40B4-BE49-F238E27FC236}">
                <a16:creationId xmlns:a16="http://schemas.microsoft.com/office/drawing/2014/main" id="{075E2052-DC93-4952-B0DE-753D820A29CC}"/>
              </a:ext>
            </a:extLst>
          </p:cNvPr>
          <p:cNvSpPr>
            <a:spLocks xmlns:a="http://schemas.openxmlformats.org/drawingml/2006/main" noGrp="1"/>
          </p:cNvSpPr>
          <p:nvPr/>
        </p:nvSpPr>
        <p:spPr>
          <a:xfrm xmlns:a="http://schemas.openxmlformats.org/drawingml/2006/main">
            <a:off x="502920" y="6446520"/>
            <a:ext cx="11201400" cy="0"/>
          </a:xfrm>
          <a:prstGeom xmlns:a="http://schemas.openxmlformats.org/drawingml/2006/main" prst="line">
            <a:avLst/>
          </a:prstGeom>
          <a:noFill xmlns:a="http://schemas.openxmlformats.org/drawingml/2006/main"/>
          <a:ln xmlns:a="http://schemas.openxmlformats.org/drawingml/2006/main" w="8890">
            <a:solidFill>
              <a:srgbClr val="CBD5E1"/>
            </a:solidFill>
            <a:prstDash val="solid"/>
          </a:ln>
        </p:spPr>
      </p:sp>
      <p:sp>
        <p:nvSpPr>
          <p:cNvPr id="25" name="Text 23">
            <a:extLst xmlns:a="http://schemas.openxmlformats.org/drawingml/2006/main">
              <a:ext uri="{FF2B5EF4-FFF2-40B4-BE49-F238E27FC236}">
                <a16:creationId xmlns:a16="http://schemas.microsoft.com/office/drawing/2014/main" id="{69EAABCC-D883-485A-869A-23FEA0152293}"/>
              </a:ext>
            </a:extLst>
          </p:cNvPr>
          <p:cNvSpPr>
            <a:spLocks xmlns:a="http://schemas.openxmlformats.org/drawingml/2006/main" noGrp="1"/>
          </p:cNvSpPr>
          <p:nvPr/>
        </p:nvSpPr>
        <p:spPr>
          <a:xfrm xmlns:a="http://schemas.openxmlformats.org/drawingml/2006/main">
            <a:off x="594360" y="6510528"/>
            <a:ext cx="7223760" cy="2011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750">
                <a:solidFill>
                  <a:srgbClr val="64748B"/>
                </a:solidFill>
                <a:latin typeface="Aptos"/>
                <a:ea typeface="Aptos"/>
                <a:cs typeface="Aptos"/>
              </a:rPr>
              <a:t>Contexto · ejecución observada</a:t>
            </a:r>
            <a:endParaRPr sz="750"/>
          </a:p>
        </p:txBody>
      </p:sp>
      <p:sp>
        <p:nvSpPr>
          <p:cNvPr id="26" name="Text 24">
            <a:extLst xmlns:a="http://schemas.openxmlformats.org/drawingml/2006/main">
              <a:ext uri="{FF2B5EF4-FFF2-40B4-BE49-F238E27FC236}">
                <a16:creationId xmlns:a16="http://schemas.microsoft.com/office/drawing/2014/main" id="{1667DF39-4D24-4552-9A13-0E4DCEC8BB47}"/>
              </a:ext>
            </a:extLst>
          </p:cNvPr>
          <p:cNvSpPr>
            <a:spLocks xmlns:a="http://schemas.openxmlformats.org/drawingml/2006/main" noGrp="1"/>
          </p:cNvSpPr>
          <p:nvPr/>
        </p:nvSpPr>
        <p:spPr>
          <a:xfrm xmlns:a="http://schemas.openxmlformats.org/drawingml/2006/main">
            <a:off x="11228832" y="6492240"/>
            <a:ext cx="411480" cy="2286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800">
                <a:solidFill>
                  <a:srgbClr val="64748B"/>
                </a:solidFill>
                <a:latin typeface="Aptos"/>
                <a:ea typeface="Aptos"/>
                <a:cs typeface="Aptos"/>
              </a:rPr>
              <a:t>3</a:t>
            </a:r>
            <a:endParaRPr sz="800"/>
          </a:p>
        </p:txBody>
      </p:sp>
    </p:spTree>
    <p:extLst>
      <p:ext uri="{BB962C8B-B14F-4D97-AF65-F5344CB8AC3E}">
        <p14:creationId xmlns:p14="http://schemas.microsoft.com/office/powerpoint/2010/main" val="1619626237"/>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sp>
        <p:nvSpPr>
          <p:cNvPr id="11" name="section-accent">
            <a:extLst xmlns:a="http://schemas.openxmlformats.org/drawingml/2006/main">
              <a:ext uri="{FF2B5EF4-FFF2-40B4-BE49-F238E27FC236}">
                <a16:creationId xmlns:a16="http://schemas.microsoft.com/office/drawing/2014/main" id="{21EBF5A1-AA9E-437A-9DE9-DBD5D6F2866F}"/>
              </a:ext>
            </a:extLst>
          </p:cNvPr>
          <p:cNvSpPr>
            <a:spLocks xmlns:a="http://schemas.openxmlformats.org/drawingml/2006/main" noGrp="1"/>
          </p:cNvSpPr>
          <p:nvPr/>
        </p:nvSpPr>
        <p:spPr>
          <a:xfrm xmlns:a="http://schemas.openxmlformats.org/drawingml/2006/main">
            <a:off x="0" y="0"/>
            <a:ext cx="12192000" cy="114300"/>
          </a:xfrm>
          <a:prstGeom xmlns:a="http://schemas.openxmlformats.org/drawingml/2006/main" prst="rect">
            <a:avLst/>
          </a:prstGeom>
          <a:solidFill xmlns:a="http://schemas.openxmlformats.org/drawingml/2006/main">
            <a:srgbClr val="B91C1C"/>
          </a:solidFill>
          <a:ln xmlns:a="http://schemas.openxmlformats.org/drawingml/2006/main" w="0">
            <a:solidFill>
              <a:srgbClr val="B91C1C"/>
            </a:solidFill>
            <a:prstDash val="solid"/>
          </a:ln>
        </p:spPr>
      </p:sp>
      <p:sp>
        <p:nvSpPr>
          <p:cNvPr id="2" name="section-label">
            <a:extLst xmlns:a="http://schemas.openxmlformats.org/drawingml/2006/main">
              <a:ext uri="{FF2B5EF4-FFF2-40B4-BE49-F238E27FC236}">
                <a16:creationId xmlns:a16="http://schemas.microsoft.com/office/drawing/2014/main" id="{0B23E51E-0709-47F2-8D3C-2E9C559FC4CF}"/>
              </a:ext>
            </a:extLst>
          </p:cNvPr>
          <p:cNvSpPr>
            <a:spLocks xmlns:a="http://schemas.openxmlformats.org/drawingml/2006/main" noGrp="1"/>
          </p:cNvSpPr>
          <p:nvPr/>
        </p:nvSpPr>
        <p:spPr>
          <a:xfrm xmlns:a="http://schemas.openxmlformats.org/drawingml/2006/main">
            <a:off x="647700" y="352425"/>
            <a:ext cx="10668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buNone/>
              <a:defRPr sz="825" b="1">
                <a:solidFill>
                  <a:srgbClr val="B91C1C"/>
                </a:solidFill>
                <a:latin typeface="Aptos"/>
                <a:ea typeface="Aptos"/>
                <a:cs typeface="Aptos"/>
              </a:defRPr>
            </a:pPr>
            <a:r>
              <a:rPr sz="825" b="1">
                <a:solidFill>
                  <a:srgbClr val="B91C1C"/>
                </a:solidFill>
                <a:latin typeface="Aptos"/>
                <a:ea typeface="Aptos"/>
                <a:cs typeface="Aptos"/>
              </a:rPr>
              <a:t>PROBLEMA OBSERVADO</a:t>
            </a:r>
          </a:p>
        </p:txBody>
      </p:sp>
      <p:sp>
        <p:nvSpPr>
          <p:cNvPr id="3" name="slide-heading">
            <a:extLst xmlns:a="http://schemas.openxmlformats.org/drawingml/2006/main">
              <a:ext uri="{FF2B5EF4-FFF2-40B4-BE49-F238E27FC236}">
                <a16:creationId xmlns:a16="http://schemas.microsoft.com/office/drawing/2014/main" id="{C6075ABE-E713-4F84-8C78-1DE80033334F}"/>
              </a:ext>
            </a:extLst>
          </p:cNvPr>
          <p:cNvSpPr>
            <a:spLocks xmlns:a="http://schemas.openxmlformats.org/drawingml/2006/main" noGrp="1"/>
          </p:cNvSpPr>
          <p:nvPr/>
        </p:nvSpPr>
        <p:spPr>
          <a:xfrm xmlns:a="http://schemas.openxmlformats.org/drawingml/2006/main">
            <a:off x="609600" y="619125"/>
            <a:ext cx="109537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buNone/>
              <a:defRPr sz="2250" b="1">
                <a:solidFill>
                  <a:srgbClr val="142D45"/>
                </a:solidFill>
                <a:latin typeface="Aptos"/>
                <a:ea typeface="Aptos"/>
                <a:cs typeface="Aptos"/>
              </a:defRPr>
            </a:pPr>
            <a:r>
              <a:rPr sz="2250" b="1">
                <a:solidFill>
                  <a:srgbClr val="142D45"/>
                </a:solidFill>
                <a:latin typeface="Aptos"/>
                <a:ea typeface="Aptos"/>
                <a:cs typeface="Aptos"/>
              </a:rPr>
              <a:t>3. Los registros disponibles no responden la misma pregunta</a:t>
            </a:r>
          </a:p>
        </p:txBody>
      </p:sp>
      <p:sp>
        <p:nvSpPr>
          <p:cNvPr id="4" name="slide-subtitle">
            <a:extLst xmlns:a="http://schemas.openxmlformats.org/drawingml/2006/main">
              <a:ext uri="{FF2B5EF4-FFF2-40B4-BE49-F238E27FC236}">
                <a16:creationId xmlns:a16="http://schemas.microsoft.com/office/drawing/2014/main" id="{9628E74A-2974-46D9-9EEA-0D0FA1BFABB1}"/>
              </a:ext>
            </a:extLst>
          </p:cNvPr>
          <p:cNvSpPr>
            <a:spLocks xmlns:a="http://schemas.openxmlformats.org/drawingml/2006/main" noGrp="1"/>
          </p:cNvSpPr>
          <p:nvPr/>
        </p:nvSpPr>
        <p:spPr>
          <a:xfrm xmlns:a="http://schemas.openxmlformats.org/drawingml/2006/main">
            <a:off x="647700" y="1219200"/>
            <a:ext cx="10858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buNone/>
              <a:defRPr sz="1163">
                <a:solidFill>
                  <a:srgbClr val="34485D"/>
                </a:solidFill>
                <a:latin typeface="Aptos"/>
                <a:ea typeface="Aptos"/>
                <a:cs typeface="Aptos"/>
              </a:defRPr>
            </a:pPr>
            <a:r>
              <a:rPr sz="1163">
                <a:solidFill>
                  <a:srgbClr val="34485D"/>
                </a:solidFill>
                <a:latin typeface="Aptos"/>
                <a:ea typeface="Aptos"/>
                <a:cs typeface="Aptos"/>
              </a:rPr>
              <a:t>En dos runs preservados del mismo pipeline, la ubicación cambió el mínimo requerido; el payload científico confirmado se mantuvo igual.</a:t>
            </a:r>
          </a:p>
        </p:txBody>
      </p:sp>
      <p:sp>
        <p:nvSpPr>
          <p:cNvPr id="5" name="rule-677-52">
            <a:extLst xmlns:a="http://schemas.openxmlformats.org/drawingml/2006/main">
              <a:ext uri="{FF2B5EF4-FFF2-40B4-BE49-F238E27FC236}">
                <a16:creationId xmlns:a16="http://schemas.microsoft.com/office/drawing/2014/main" id="{4070E53A-6B0E-44A3-A7E1-7ED0C1F9D01F}"/>
              </a:ext>
            </a:extLst>
          </p:cNvPr>
          <p:cNvSpPr>
            <a:spLocks xmlns:a="http://schemas.openxmlformats.org/drawingml/2006/main" noGrp="1"/>
          </p:cNvSpPr>
          <p:nvPr/>
        </p:nvSpPr>
        <p:spPr>
          <a:xfrm xmlns:a="http://schemas.openxmlformats.org/drawingml/2006/main">
            <a:off x="495300" y="6448425"/>
            <a:ext cx="11201400" cy="9525"/>
          </a:xfrm>
          <a:prstGeom xmlns:a="http://schemas.openxmlformats.org/drawingml/2006/main" prst="rect">
            <a:avLst/>
          </a:prstGeom>
          <a:solidFill xmlns:a="http://schemas.openxmlformats.org/drawingml/2006/main">
            <a:srgbClr val="CBD5E1"/>
          </a:solidFill>
          <a:ln xmlns:a="http://schemas.openxmlformats.org/drawingml/2006/main" w="0">
            <a:solidFill>
              <a:srgbClr val="CBD5E1"/>
            </a:solidFill>
            <a:prstDash val="solid"/>
          </a:ln>
        </p:spPr>
      </p:sp>
      <p:sp>
        <p:nvSpPr>
          <p:cNvPr id="6" name="footer-label">
            <a:extLst xmlns:a="http://schemas.openxmlformats.org/drawingml/2006/main">
              <a:ext uri="{FF2B5EF4-FFF2-40B4-BE49-F238E27FC236}">
                <a16:creationId xmlns:a16="http://schemas.microsoft.com/office/drawing/2014/main" id="{9FB41468-67A4-4858-90A2-659E0A73C96B}"/>
              </a:ext>
            </a:extLst>
          </p:cNvPr>
          <p:cNvSpPr>
            <a:spLocks xmlns:a="http://schemas.openxmlformats.org/drawingml/2006/main" noGrp="1"/>
          </p:cNvSpPr>
          <p:nvPr/>
        </p:nvSpPr>
        <p:spPr>
          <a:xfrm xmlns:a="http://schemas.openxmlformats.org/drawingml/2006/main">
            <a:off x="590550" y="6496050"/>
            <a:ext cx="9620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buNone/>
              <a:defRPr sz="750">
                <a:solidFill>
                  <a:srgbClr val="64748B"/>
                </a:solidFill>
                <a:latin typeface="Aptos"/>
                <a:ea typeface="Aptos"/>
                <a:cs typeface="Aptos"/>
              </a:defRPr>
            </a:pPr>
            <a:r>
              <a:rPr sz="750">
                <a:solidFill>
                  <a:srgbClr val="64748B"/>
                </a:solidFill>
                <a:latin typeface="Aptos"/>
                <a:ea typeface="Aptos"/>
                <a:cs typeface="Aptos"/>
              </a:rPr>
              <a:t>Problema · evidencia Gate V</a:t>
            </a:r>
          </a:p>
        </p:txBody>
      </p:sp>
      <p:sp>
        <p:nvSpPr>
          <p:cNvPr id="7" name="folio">
            <a:extLst xmlns:a="http://schemas.openxmlformats.org/drawingml/2006/main">
              <a:ext uri="{FF2B5EF4-FFF2-40B4-BE49-F238E27FC236}">
                <a16:creationId xmlns:a16="http://schemas.microsoft.com/office/drawing/2014/main" id="{E333D3C1-8C0B-4172-9CF5-D2AB001C9AA9}"/>
              </a:ext>
            </a:extLst>
          </p:cNvPr>
          <p:cNvSpPr>
            <a:spLocks xmlns:a="http://schemas.openxmlformats.org/drawingml/2006/main" noGrp="1"/>
          </p:cNvSpPr>
          <p:nvPr/>
        </p:nvSpPr>
        <p:spPr>
          <a:xfrm xmlns:a="http://schemas.openxmlformats.org/drawingml/2006/main">
            <a:off x="11201400" y="6496050"/>
            <a:ext cx="4572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r">
              <a:buNone/>
              <a:defRPr sz="750">
                <a:solidFill>
                  <a:srgbClr val="64748B"/>
                </a:solidFill>
                <a:latin typeface="Aptos"/>
                <a:ea typeface="Aptos"/>
                <a:cs typeface="Aptos"/>
              </a:defRPr>
            </a:pPr>
            <a:r>
              <a:rPr sz="750">
                <a:solidFill>
                  <a:srgbClr val="64748B"/>
                </a:solidFill>
                <a:latin typeface="Aptos"/>
                <a:ea typeface="Aptos"/>
                <a:cs typeface="Aptos"/>
              </a:rPr>
              <a:t>4</a:t>
            </a:r>
          </a:p>
        </p:txBody>
      </p:sp>
      <p:graphicFrame>
        <p:nvGraphicFramePr>
          <p:cNvPr id="20" name=""/>
          <p:cNvGraphicFramePr/>
          <p:nvPr/>
        </p:nvGraphicFramePr>
        <p:xfrm>
          <a:off xmlns:a="http://schemas.openxmlformats.org/drawingml/2006/main" x="666750" y="1695450"/>
          <a:ext xmlns:a="http://schemas.openxmlformats.org/drawingml/2006/main" cx="10858500" cy="3448050"/>
        </p:xfrm>
        <a:graphic xmlns:a="http://schemas.openxmlformats.org/drawingml/2006/main">
          <a:graphicData uri="http://schemas.openxmlformats.org/drawingml/2006/table">
            <a:tbl>
              <a:tblPr firstRow="0" bandRow="0"/>
              <a:tblGrid>
                <a:gridCol w="2381250"/>
                <a:gridCol w="4857750"/>
                <a:gridCol w="3619500"/>
              </a:tblGrid>
              <a:tr h="862013">
                <a:tc>
                  <a:txBody>
                    <a:bodyPr wrap="square" lIns="85725" tIns="47625" rIns="85725" bIns="47625">
                      <a:normAutofit/>
                    </a:bodyPr>
                    <a:lstStyle/>
                    <a:p>
                      <a:pPr algn="l">
                        <a:buNone/>
                      </a:pPr>
                      <a:r>
                        <a:rPr sz="1125" b="1">
                          <a:solidFill>
                            <a:srgbClr val="142D45"/>
                          </a:solidFill>
                          <a:latin typeface="Aptos"/>
                          <a:ea typeface="Aptos"/>
                          <a:cs typeface="Aptos"/>
                        </a:rPr>
                        <a:t>Fuente que se combina</a:t>
                      </a:r>
                    </a:p>
                  </a:txBody>
                  <a:tcPr marL="91440" marR="91440" marT="45720" marB="45720" anchor="ctr">
                    <a:solidFill>
                      <a:srgbClr val="E8EEF5"/>
                    </a:solidFill>
                  </a:tcPr>
                </a:tc>
                <a:tc>
                  <a:txBody>
                    <a:bodyPr wrap="square" lIns="85725" tIns="47625" rIns="85725" bIns="47625">
                      <a:normAutofit/>
                    </a:bodyPr>
                    <a:lstStyle/>
                    <a:p>
                      <a:pPr algn="l">
                        <a:buNone/>
                      </a:pPr>
                      <a:r>
                        <a:rPr sz="1125" b="1">
                          <a:solidFill>
                            <a:srgbClr val="142D45"/>
                          </a:solidFill>
                          <a:latin typeface="Aptos"/>
                          <a:ea typeface="Aptos"/>
                          <a:cs typeface="Aptos"/>
                        </a:rPr>
                        <a:t>Qué muestran los runs preservados</a:t>
                      </a:r>
                    </a:p>
                  </a:txBody>
                  <a:tcPr marL="91440" marR="91440" marT="45720" marB="45720" anchor="ctr">
                    <a:solidFill>
                      <a:srgbClr val="E8EEF5"/>
                    </a:solidFill>
                  </a:tcPr>
                </a:tc>
                <a:tc>
                  <a:txBody>
                    <a:bodyPr wrap="square" lIns="85725" tIns="47625" rIns="85725" bIns="47625">
                      <a:normAutofit/>
                    </a:bodyPr>
                    <a:lstStyle/>
                    <a:p>
                      <a:pPr algn="l">
                        <a:buNone/>
                      </a:pPr>
                      <a:r>
                        <a:rPr sz="1125" b="1">
                          <a:solidFill>
                            <a:srgbClr val="142D45"/>
                          </a:solidFill>
                          <a:latin typeface="Aptos"/>
                          <a:ea typeface="Aptos"/>
                          <a:cs typeface="Aptos"/>
                        </a:rPr>
                        <a:t>Lectura correcta</a:t>
                      </a:r>
                    </a:p>
                  </a:txBody>
                  <a:tcPr marL="91440" marR="91440" marT="45720" marB="45720" anchor="ctr">
                    <a:solidFill>
                      <a:srgbClr val="E8EEF5"/>
                    </a:solidFill>
                  </a:tcPr>
                </a:tc>
              </a:tr>
              <a:tr h="862013">
                <a:tc>
                  <a:txBody>
                    <a:bodyPr wrap="square" lIns="85725" tIns="47625" rIns="85725" bIns="47625">
                      <a:normAutofit/>
                    </a:bodyPr>
                    <a:lstStyle/>
                    <a:p>
                      <a:pPr algn="l">
                        <a:buNone/>
                      </a:pPr>
                      <a:r>
                        <a:rPr sz="1163" b="1">
                          <a:solidFill>
                            <a:srgbClr val="34485D"/>
                          </a:solidFill>
                          <a:latin typeface="Aptos"/>
                          <a:ea typeface="Aptos"/>
                          <a:cs typeface="Aptos"/>
                        </a:rPr>
                        <a:t>DAG científico + placement</a:t>
                      </a:r>
                    </a:p>
                  </a:txBody>
                  <a:tcPr marL="91440" marR="91440" marT="45720" marB="45720" anchor="ctr">
                    <a:solidFill>
                      <a:srgbClr val="FFFFFF"/>
                    </a:solidFill>
                  </a:tcPr>
                </a:tc>
                <a:tc>
                  <a:txBody>
                    <a:bodyPr wrap="square" lIns="85725" tIns="47625" rIns="85725" bIns="47625">
                      <a:normAutofit/>
                    </a:bodyPr>
                    <a:lstStyle/>
                    <a:p>
                      <a:pPr algn="l">
                        <a:buNone/>
                      </a:pPr>
                      <a:r>
                        <a:rPr sz="1163" b="0">
                          <a:solidFill>
                            <a:srgbClr val="34485D"/>
                          </a:solidFill>
                          <a:latin typeface="Aptos"/>
                          <a:ea typeface="Aptos"/>
                          <a:cs typeface="Aptos"/>
                        </a:rPr>
                        <a:t>T1, T2 y T3 en worker1 (same-w1): M_req = 20 MiB.</a:t>
                      </a:r>
                    </a:p>
                    <a:p>
                      <a:pPr algn="l">
                        <a:buNone/>
                      </a:pPr>
                      <a:r>
                        <a:rPr sz="1163" b="0">
                          <a:solidFill>
                            <a:srgbClr val="34485D"/>
                          </a:solidFill>
                          <a:latin typeface="Aptos"/>
                          <a:ea typeface="Aptos"/>
                          <a:cs typeface="Aptos"/>
                        </a:rPr>
                        <a:t>T1@W1, T2@W2, T3@W1 (cross): M_req = 40 MiB.</a:t>
                      </a:r>
                    </a:p>
                  </a:txBody>
                  <a:tcPr marL="91440" marR="91440" marT="45720" marB="45720" anchor="ctr">
                    <a:solidFill>
                      <a:srgbClr val="FFFFFF"/>
                    </a:solidFill>
                  </a:tcPr>
                </a:tc>
                <a:tc>
                  <a:txBody>
                    <a:bodyPr wrap="square" lIns="85725" tIns="47625" rIns="85725" bIns="47625">
                      <a:normAutofit/>
                    </a:bodyPr>
                    <a:lstStyle/>
                    <a:p>
                      <a:pPr algn="l">
                        <a:buNone/>
                      </a:pPr>
                      <a:r>
                        <a:rPr sz="1163" b="0">
                          <a:solidFill>
                            <a:srgbClr val="34485D"/>
                          </a:solidFill>
                          <a:latin typeface="Aptos"/>
                          <a:ea typeface="Aptos"/>
                          <a:cs typeface="Aptos"/>
                        </a:rPr>
                        <a:t>El lower bound depende de qué archivos deben cambiar de ubicación en el placement observado.</a:t>
                      </a:r>
                    </a:p>
                  </a:txBody>
                  <a:tcPr marL="91440" marR="91440" marT="45720" marB="45720" anchor="ctr">
                    <a:solidFill>
                      <a:srgbClr val="FFFFFF"/>
                    </a:solidFill>
                  </a:tcPr>
                </a:tc>
              </a:tr>
              <a:tr h="862013">
                <a:tc>
                  <a:txBody>
                    <a:bodyPr wrap="square" lIns="85725" tIns="47625" rIns="85725" bIns="47625">
                      <a:normAutofit/>
                    </a:bodyPr>
                    <a:lstStyle/>
                    <a:p>
                      <a:pPr algn="l">
                        <a:buNone/>
                      </a:pPr>
                      <a:r>
                        <a:rPr sz="1163" b="1">
                          <a:solidFill>
                            <a:srgbClr val="34485D"/>
                          </a:solidFill>
                          <a:latin typeface="Aptos"/>
                          <a:ea typeface="Aptos"/>
                          <a:cs typeface="Aptos"/>
                        </a:rPr>
                        <a:t>Manifests + HTCondor history</a:t>
                      </a:r>
                    </a:p>
                  </a:txBody>
                  <a:tcPr marL="91440" marR="91440" marT="45720" marB="45720" anchor="ctr">
                    <a:solidFill>
                      <a:srgbClr val="F8FAFC"/>
                    </a:solidFill>
                  </a:tcPr>
                </a:tc>
                <a:tc>
                  <a:txBody>
                    <a:bodyPr wrap="square" lIns="85725" tIns="47625" rIns="85725" bIns="47625">
                      <a:normAutofit/>
                    </a:bodyPr>
                    <a:lstStyle/>
                    <a:p>
                      <a:pPr algn="l">
                        <a:buNone/>
                      </a:pPr>
                      <a:r>
                        <a:rPr sz="1163" b="0">
                          <a:solidFill>
                            <a:srgbClr val="34485D"/>
                          </a:solidFill>
                          <a:latin typeface="Aptos"/>
                          <a:ea typeface="Aptos"/>
                          <a:cs typeface="Aptos"/>
                        </a:rPr>
                        <a:t>Seis ocurrencias científicas de 10 MiB declaradas y 6/6 confirmadas en ambos runs; M_obs = 60 MiB.</a:t>
                      </a:r>
                    </a:p>
                  </a:txBody>
                  <a:tcPr marL="91440" marR="91440" marT="45720" marB="45720" anchor="ctr">
                    <a:solidFill>
                      <a:srgbClr val="F8FAFC"/>
                    </a:solidFill>
                  </a:tcPr>
                </a:tc>
                <a:tc>
                  <a:txBody>
                    <a:bodyPr wrap="square" lIns="85725" tIns="47625" rIns="85725" bIns="47625">
                      <a:normAutofit/>
                    </a:bodyPr>
                    <a:lstStyle/>
                    <a:p>
                      <a:pPr algn="l">
                        <a:buNone/>
                      </a:pPr>
                      <a:r>
                        <a:rPr sz="1163" b="0">
                          <a:solidFill>
                            <a:srgbClr val="34485D"/>
                          </a:solidFill>
                          <a:latin typeface="Aptos"/>
                          <a:ea typeface="Aptos"/>
                          <a:cs typeface="Aptos"/>
                        </a:rPr>
                        <a:t>M_obs suma payload científico confirmado; Coverage = 1 en estos dos ejemplos.</a:t>
                      </a:r>
                    </a:p>
                  </a:txBody>
                  <a:tcPr marL="91440" marR="91440" marT="45720" marB="45720" anchor="ctr">
                    <a:solidFill>
                      <a:srgbClr val="F8FAFC"/>
                    </a:solidFill>
                  </a:tcPr>
                </a:tc>
              </a:tr>
              <a:tr h="862013">
                <a:tc>
                  <a:txBody>
                    <a:bodyPr wrap="square" lIns="85725" tIns="47625" rIns="85725" bIns="47625">
                      <a:normAutofit/>
                    </a:bodyPr>
                    <a:lstStyle/>
                    <a:p>
                      <a:pPr algn="l">
                        <a:buNone/>
                      </a:pPr>
                      <a:r>
                        <a:rPr sz="1163" b="1">
                          <a:solidFill>
                            <a:srgbClr val="34485D"/>
                          </a:solidFill>
                          <a:latin typeface="Aptos"/>
                          <a:ea typeface="Aptos"/>
                          <a:cs typeface="Aptos"/>
                        </a:rPr>
                        <a:t>Totales brutos de transferencia</a:t>
                      </a:r>
                    </a:p>
                  </a:txBody>
                  <a:tcPr marL="91440" marR="91440" marT="45720" marB="45720" anchor="ctr">
                    <a:solidFill>
                      <a:srgbClr val="FFFFFF"/>
                    </a:solidFill>
                  </a:tcPr>
                </a:tc>
                <a:tc>
                  <a:txBody>
                    <a:bodyPr wrap="square" lIns="85725" tIns="47625" rIns="85725" bIns="47625">
                      <a:normAutofit/>
                    </a:bodyPr>
                    <a:lstStyle/>
                    <a:p>
                      <a:pPr algn="l">
                        <a:buNone/>
                      </a:pPr>
                      <a:r>
                        <a:rPr sz="1163" b="0">
                          <a:solidFill>
                            <a:srgbClr val="34485D"/>
                          </a:solidFill>
                          <a:latin typeface="Aptos"/>
                          <a:ea typeface="Aptos"/>
                          <a:cs typeface="Aptos"/>
                        </a:rPr>
                        <a:t>HTCondor también registra bytes auxiliares de sandbox, además de los archivos científicos.</a:t>
                      </a:r>
                    </a:p>
                  </a:txBody>
                  <a:tcPr marL="91440" marR="91440" marT="45720" marB="45720" anchor="ctr">
                    <a:solidFill>
                      <a:srgbClr val="FFFFFF"/>
                    </a:solidFill>
                  </a:tcPr>
                </a:tc>
                <a:tc>
                  <a:txBody>
                    <a:bodyPr wrap="square" lIns="85725" tIns="47625" rIns="85725" bIns="47625">
                      <a:normAutofit/>
                    </a:bodyPr>
                    <a:lstStyle/>
                    <a:p>
                      <a:pPr algn="l">
                        <a:buNone/>
                      </a:pPr>
                      <a:r>
                        <a:rPr sz="1163" b="0">
                          <a:solidFill>
                            <a:srgbClr val="34485D"/>
                          </a:solidFill>
                          <a:latin typeface="Aptos"/>
                          <a:ea typeface="Aptos"/>
                          <a:cs typeface="Aptos"/>
                        </a:rPr>
                        <a:t>El total agregado no puede sustituir directamente a M_obs ni explicar por sí solo M_req.</a:t>
                      </a:r>
                    </a:p>
                  </a:txBody>
                  <a:tcPr marL="91440" marR="91440" marT="45720" marB="45720" anchor="ctr">
                    <a:solidFill>
                      <a:srgbClr val="FFFFFF"/>
                    </a:solidFill>
                  </a:tcPr>
                </a:tc>
              </a:tr>
            </a:tbl>
          </a:graphicData>
        </a:graphic>
      </p:graphicFrame>
      <p:sp>
        <p:nvSpPr>
          <p:cNvPr id="9" name="problem-finding">
            <a:extLst xmlns:a="http://schemas.openxmlformats.org/drawingml/2006/main">
              <a:ext uri="{FF2B5EF4-FFF2-40B4-BE49-F238E27FC236}">
                <a16:creationId xmlns:a16="http://schemas.microsoft.com/office/drawing/2014/main" id="{422F6F8B-77A6-4B67-AD1E-6B96AD4AC166}"/>
              </a:ext>
            </a:extLst>
          </p:cNvPr>
          <p:cNvSpPr>
            <a:spLocks xmlns:a="http://schemas.openxmlformats.org/drawingml/2006/main" noGrp="1"/>
          </p:cNvSpPr>
          <p:nvPr/>
        </p:nvSpPr>
        <p:spPr>
          <a:xfrm xmlns:a="http://schemas.openxmlformats.org/drawingml/2006/main">
            <a:off x="838200" y="5381625"/>
            <a:ext cx="105156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buNone/>
              <a:defRPr sz="1575" b="1">
                <a:solidFill>
                  <a:srgbClr val="142D45"/>
                </a:solidFill>
                <a:latin typeface="Aptos"/>
                <a:ea typeface="Aptos"/>
                <a:cs typeface="Aptos"/>
              </a:defRPr>
            </a:pPr>
            <a:r>
              <a:rPr sz="1575" b="1">
                <a:solidFill>
                  <a:srgbClr val="142D45"/>
                </a:solidFill>
                <a:latin typeface="Aptos"/>
                <a:ea typeface="Aptos"/>
                <a:cs typeface="Aptos"/>
              </a:rPr>
              <a:t>Hallazgo: para interpretar el movimiento hay que relacionar identidad del archivo, tarea, worker, declaración y confirmación.</a:t>
            </a:r>
          </a:p>
        </p:txBody>
      </p:sp>
      <p:sp>
        <p:nvSpPr>
          <p:cNvPr id="10" name="problem-follow">
            <a:extLst xmlns:a="http://schemas.openxmlformats.org/drawingml/2006/main">
              <a:ext uri="{FF2B5EF4-FFF2-40B4-BE49-F238E27FC236}">
                <a16:creationId xmlns:a16="http://schemas.microsoft.com/office/drawing/2014/main" id="{513F5D59-097E-4225-BFDE-ABB59B466904}"/>
              </a:ext>
            </a:extLst>
          </p:cNvPr>
          <p:cNvSpPr>
            <a:spLocks xmlns:a="http://schemas.openxmlformats.org/drawingml/2006/main" noGrp="1"/>
          </p:cNvSpPr>
          <p:nvPr/>
        </p:nvSpPr>
        <p:spPr>
          <a:xfrm xmlns:a="http://schemas.openxmlformats.org/drawingml/2006/main">
            <a:off x="838200" y="5962650"/>
            <a:ext cx="105156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buNone/>
              <a:defRPr sz="1088">
                <a:solidFill>
                  <a:srgbClr val="64748B"/>
                </a:solidFill>
                <a:latin typeface="Aptos"/>
                <a:ea typeface="Aptos"/>
                <a:cs typeface="Aptos"/>
              </a:defRPr>
            </a:pPr>
            <a:r>
              <a:rPr sz="1088">
                <a:solidFill>
                  <a:srgbClr val="64748B"/>
                </a:solidFill>
                <a:latin typeface="Aptos"/>
                <a:ea typeface="Aptos"/>
                <a:cs typeface="Aptos"/>
              </a:rPr>
              <a:t>El cálculo completo de M_req, M_obs y DME aparece más adelante con los dos placements.</a:t>
            </a:r>
          </a:p>
        </p:txBody>
      </p:sp>
    </p:spTree>
    <p:extLst>
      <p:ext uri="{BB962C8B-B14F-4D97-AF65-F5344CB8AC3E}">
        <p14:creationId xmlns:p14="http://schemas.microsoft.com/office/powerpoint/2010/main" val="1148084128"/>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7B5A5D2A-D3FC-44FE-9D47-DF24A78CDA5C}"/>
              </a:ext>
            </a:extLst>
          </p:cNvPr>
          <p:cNvSpPr>
            <a:spLocks xmlns:a="http://schemas.openxmlformats.org/drawingml/2006/main" noGrp="1"/>
          </p:cNvSpPr>
          <p:nvPr/>
        </p:nvSpPr>
        <p:spPr>
          <a:xfrm xmlns:a="http://schemas.openxmlformats.org/drawingml/2006/main">
            <a:off x="0" y="0"/>
            <a:ext cx="12191695" cy="109728"/>
          </a:xfrm>
          <a:prstGeom xmlns:a="http://schemas.openxmlformats.org/drawingml/2006/main" prst="rect">
            <a:avLst/>
          </a:prstGeom>
          <a:solidFill xmlns:a="http://schemas.openxmlformats.org/drawingml/2006/main">
            <a:srgbClr val="B91C1C"/>
          </a:solidFill>
          <a:ln xmlns:a="http://schemas.openxmlformats.org/drawingml/2006/main" w="12700">
            <a:solidFill>
              <a:srgbClr val="B91C1C"/>
            </a:solidFill>
            <a:prstDash val="solid"/>
          </a:ln>
        </p:spPr>
      </p:sp>
      <p:sp>
        <p:nvSpPr>
          <p:cNvPr id="3" name="Text 1">
            <a:extLst xmlns:a="http://schemas.openxmlformats.org/drawingml/2006/main">
              <a:ext uri="{FF2B5EF4-FFF2-40B4-BE49-F238E27FC236}">
                <a16:creationId xmlns:a16="http://schemas.microsoft.com/office/drawing/2014/main" id="{9813BBBD-580C-4DB4-BF82-16D14EE0A069}"/>
              </a:ext>
            </a:extLst>
          </p:cNvPr>
          <p:cNvSpPr>
            <a:spLocks xmlns:a="http://schemas.openxmlformats.org/drawingml/2006/main" noGrp="1"/>
          </p:cNvSpPr>
          <p:nvPr/>
        </p:nvSpPr>
        <p:spPr>
          <a:xfrm xmlns:a="http://schemas.openxmlformats.org/drawingml/2006/main">
            <a:off x="658368" y="384048"/>
            <a:ext cx="292608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850" b="1">
                <a:solidFill>
                  <a:srgbClr val="2563EB"/>
                </a:solidFill>
                <a:latin typeface="Aptos"/>
                <a:ea typeface="Aptos"/>
                <a:cs typeface="Aptos"/>
              </a:rPr>
              <a:t>PROBLEMA</a:t>
            </a:r>
            <a:endParaRPr sz="850"/>
          </a:p>
        </p:txBody>
      </p:sp>
      <p:sp>
        <p:nvSpPr>
          <p:cNvPr id="4" name="Text 2">
            <a:extLst xmlns:a="http://schemas.openxmlformats.org/drawingml/2006/main">
              <a:ext uri="{FF2B5EF4-FFF2-40B4-BE49-F238E27FC236}">
                <a16:creationId xmlns:a16="http://schemas.microsoft.com/office/drawing/2014/main" id="{2DC5189D-3B44-4BA4-B72E-294B4A7CCE14}"/>
              </a:ext>
            </a:extLst>
          </p:cNvPr>
          <p:cNvSpPr>
            <a:spLocks xmlns:a="http://schemas.openxmlformats.org/drawingml/2006/main" noGrp="1"/>
          </p:cNvSpPr>
          <p:nvPr/>
        </p:nvSpPr>
        <p:spPr>
          <a:xfrm xmlns:a="http://schemas.openxmlformats.org/drawingml/2006/main">
            <a:off x="621792" y="621792"/>
            <a:ext cx="10881360" cy="530352"/>
          </a:xfrm>
          <a:prstGeom xmlns:a="http://schemas.openxmlformats.org/drawingml/2006/main" prst="rect">
            <a:avLst/>
          </a:prstGeom>
          <a:noFill xmlns:a="http://schemas.openxmlformats.org/drawingml/2006/main"/>
        </p:spPr>
        <p:txBody>
          <a:bodyPr xmlns:a="http://schemas.openxmlformats.org/drawingml/2006/main" wrap="square" lIns="254" tIns="254" rIns="254" bIns="254" anchor="ctr">
            <a:normAutofit/>
          </a:bodyPr>
          <a:lstStyle xmlns:a="http://schemas.openxmlformats.org/drawingml/2006/main"/>
          <a:p xmlns:a="http://schemas.openxmlformats.org/drawingml/2006/main">
            <a:pPr marL="0" indent="0">
              <a:buNone/>
            </a:pPr>
            <a:r>
              <a:rPr sz="2500" b="1">
                <a:solidFill>
                  <a:srgbClr val="102A43"/>
                </a:solidFill>
                <a:latin typeface="Aptos Display"/>
                <a:ea typeface="Aptos Display"/>
                <a:cs typeface="Aptos Display"/>
              </a:rPr>
              <a:t>4. Pregunta de investigación</a:t>
            </a:r>
            <a:endParaRPr sz="2500"/>
          </a:p>
        </p:txBody>
      </p:sp>
      <p:sp>
        <p:nvSpPr>
          <p:cNvPr id="5" name="Shape 3">
            <a:extLst xmlns:a="http://schemas.openxmlformats.org/drawingml/2006/main">
              <a:ext uri="{FF2B5EF4-FFF2-40B4-BE49-F238E27FC236}">
                <a16:creationId xmlns:a16="http://schemas.microsoft.com/office/drawing/2014/main" id="{7338BA4C-3548-4FC3-B283-E61B4DDDDEC0}"/>
              </a:ext>
            </a:extLst>
          </p:cNvPr>
          <p:cNvSpPr>
            <a:spLocks xmlns:a="http://schemas.openxmlformats.org/drawingml/2006/main" noGrp="1"/>
          </p:cNvSpPr>
          <p:nvPr/>
        </p:nvSpPr>
        <p:spPr>
          <a:xfrm xmlns:a="http://schemas.openxmlformats.org/drawingml/2006/main">
            <a:off x="868680" y="1417320"/>
            <a:ext cx="73152" cy="1051560"/>
          </a:xfrm>
          <a:prstGeom xmlns:a="http://schemas.openxmlformats.org/drawingml/2006/main" prst="rect">
            <a:avLst/>
          </a:prstGeom>
          <a:solidFill xmlns:a="http://schemas.openxmlformats.org/drawingml/2006/main">
            <a:srgbClr val="2563EB"/>
          </a:solidFill>
          <a:ln xmlns:a="http://schemas.openxmlformats.org/drawingml/2006/main" w="12700">
            <a:solidFill>
              <a:srgbClr val="2563EB"/>
            </a:solidFill>
            <a:prstDash val="solid"/>
          </a:ln>
        </p:spPr>
      </p:sp>
      <p:sp>
        <p:nvSpPr>
          <p:cNvPr id="6" name="Text 4">
            <a:extLst xmlns:a="http://schemas.openxmlformats.org/drawingml/2006/main">
              <a:ext uri="{FF2B5EF4-FFF2-40B4-BE49-F238E27FC236}">
                <a16:creationId xmlns:a16="http://schemas.microsoft.com/office/drawing/2014/main" id="{38AE7872-2479-4FB8-8468-7732D0F902CF}"/>
              </a:ext>
            </a:extLst>
          </p:cNvPr>
          <p:cNvSpPr>
            <a:spLocks xmlns:a="http://schemas.openxmlformats.org/drawingml/2006/main" noGrp="1"/>
          </p:cNvSpPr>
          <p:nvPr/>
        </p:nvSpPr>
        <p:spPr>
          <a:xfrm xmlns:a="http://schemas.openxmlformats.org/drawingml/2006/main">
            <a:off x="1097280" y="1453896"/>
            <a:ext cx="10012680" cy="1051560"/>
          </a:xfrm>
          <a:prstGeom xmlns:a="http://schemas.openxmlformats.org/drawingml/2006/main" prst="rect">
            <a:avLst/>
          </a:prstGeom>
          <a:noFill xmlns:a="http://schemas.openxmlformats.org/drawingml/2006/main"/>
        </p:spPr>
        <p:txBody>
          <a:bodyPr xmlns:a="http://schemas.openxmlformats.org/drawingml/2006/main" wrap="square" lIns="254" tIns="254" rIns="254" bIns="254" anchor="ctr">
            <a:normAutofit/>
          </a:bodyPr>
          <a:lstStyle xmlns:a="http://schemas.openxmlformats.org/drawingml/2006/main"/>
          <a:p xmlns:a="http://schemas.openxmlformats.org/drawingml/2006/main">
            <a:pPr marL="0" indent="0">
              <a:buNone/>
            </a:pPr>
            <a:r>
              <a:rPr sz="2000" b="1">
                <a:solidFill>
                  <a:srgbClr val="102A43"/>
                </a:solidFill>
                <a:latin typeface="Aptos Display"/>
                <a:ea typeface="Aptos Display"/>
                <a:cs typeface="Aptos Display"/>
              </a:rPr>
              <a:t>¿Cuánto del movimiento de datos científico confirmado en una ejecución era realmente necesario para ejecutar el workflow con el placement que ocurrió?</a:t>
            </a:r>
            <a:endParaRPr sz="2000"/>
          </a:p>
        </p:txBody>
      </p:sp>
      <p:sp>
        <p:nvSpPr>
          <p:cNvPr id="7" name="Shape 5">
            <a:extLst xmlns:a="http://schemas.openxmlformats.org/drawingml/2006/main">
              <a:ext uri="{FF2B5EF4-FFF2-40B4-BE49-F238E27FC236}">
                <a16:creationId xmlns:a16="http://schemas.microsoft.com/office/drawing/2014/main" id="{5C0A0443-A195-4383-B00B-29C3F88DB385}"/>
              </a:ext>
            </a:extLst>
          </p:cNvPr>
          <p:cNvSpPr>
            <a:spLocks xmlns:a="http://schemas.openxmlformats.org/drawingml/2006/main" noGrp="1"/>
          </p:cNvSpPr>
          <p:nvPr/>
        </p:nvSpPr>
        <p:spPr>
          <a:xfrm xmlns:a="http://schemas.openxmlformats.org/drawingml/2006/main">
            <a:off x="914400" y="3063240"/>
            <a:ext cx="1508760" cy="685800"/>
          </a:xfrm>
          <a:prstGeom xmlns:a="http://schemas.openxmlformats.org/drawingml/2006/main" prst="roundRect">
            <a:avLst>
              <a:gd name="adj" fmla="val 10667"/>
            </a:avLst>
          </a:prstGeom>
          <a:solidFill xmlns:a="http://schemas.openxmlformats.org/drawingml/2006/main">
            <a:srgbClr val="DBEAFE"/>
          </a:solidFill>
          <a:ln xmlns:a="http://schemas.openxmlformats.org/drawingml/2006/main" w="10160">
            <a:solidFill>
              <a:srgbClr val="BFDBFE"/>
            </a:solidFill>
            <a:prstDash val="solid"/>
          </a:ln>
        </p:spPr>
      </p:sp>
      <p:sp>
        <p:nvSpPr>
          <p:cNvPr id="8" name="Text 6">
            <a:extLst xmlns:a="http://schemas.openxmlformats.org/drawingml/2006/main">
              <a:ext uri="{FF2B5EF4-FFF2-40B4-BE49-F238E27FC236}">
                <a16:creationId xmlns:a16="http://schemas.microsoft.com/office/drawing/2014/main" id="{C2CB6369-BFB4-419D-930D-7945969EA351}"/>
              </a:ext>
            </a:extLst>
          </p:cNvPr>
          <p:cNvSpPr>
            <a:spLocks xmlns:a="http://schemas.openxmlformats.org/drawingml/2006/main" noGrp="1"/>
          </p:cNvSpPr>
          <p:nvPr/>
        </p:nvSpPr>
        <p:spPr>
          <a:xfrm xmlns:a="http://schemas.openxmlformats.org/drawingml/2006/main">
            <a:off x="1024128" y="3154680"/>
            <a:ext cx="1289304" cy="502920"/>
          </a:xfrm>
          <a:prstGeom xmlns:a="http://schemas.openxmlformats.org/drawingml/2006/main" prst="rect">
            <a:avLst/>
          </a:prstGeom>
          <a:noFill xmlns:a="http://schemas.openxmlformats.org/drawingml/2006/main"/>
        </p:spPr>
        <p:txBody>
          <a:bodyPr xmlns:a="http://schemas.openxmlformats.org/drawingml/2006/main" wrap="square" lIns="381" tIns="381" rIns="381" bIns="381" anchor="ctr">
            <a:normAutofit/>
          </a:bodyPr>
          <a:lstStyle xmlns:a="http://schemas.openxmlformats.org/drawingml/2006/main"/>
          <a:p xmlns:a="http://schemas.openxmlformats.org/drawingml/2006/main">
            <a:pPr marL="0" indent="0" algn="ctr">
              <a:buNone/>
            </a:pPr>
            <a:r>
              <a:rPr sz="1200" b="1">
                <a:solidFill>
                  <a:srgbClr val="1D4ED8"/>
                </a:solidFill>
                <a:latin typeface="Aptos"/>
                <a:ea typeface="Aptos"/>
                <a:cs typeface="Aptos"/>
              </a:rPr>
              <a:t>Workflow</a:t>
            </a:r>
            <a:endParaRPr sz="1200"/>
          </a:p>
          <a:p xmlns:a="http://schemas.openxmlformats.org/drawingml/2006/main">
            <a:pPr marL="0" indent="0" algn="ctr">
              <a:buNone/>
            </a:pPr>
            <a:r>
              <a:rPr sz="1200" b="1">
                <a:solidFill>
                  <a:srgbClr val="1D4ED8"/>
                </a:solidFill>
                <a:latin typeface="Aptos"/>
                <a:ea typeface="Aptos"/>
                <a:cs typeface="Aptos"/>
              </a:rPr>
              <a:t>+ archivos</a:t>
            </a:r>
            <a:endParaRPr sz="1200"/>
          </a:p>
        </p:txBody>
      </p:sp>
      <p:sp>
        <p:nvSpPr>
          <p:cNvPr id="9" name="Shape 7">
            <a:extLst xmlns:a="http://schemas.openxmlformats.org/drawingml/2006/main">
              <a:ext uri="{FF2B5EF4-FFF2-40B4-BE49-F238E27FC236}">
                <a16:creationId xmlns:a16="http://schemas.microsoft.com/office/drawing/2014/main" id="{180EB46E-17B8-4CFE-BDE9-85261BEE298D}"/>
              </a:ext>
            </a:extLst>
          </p:cNvPr>
          <p:cNvSpPr>
            <a:spLocks xmlns:a="http://schemas.openxmlformats.org/drawingml/2006/main" noGrp="1"/>
          </p:cNvSpPr>
          <p:nvPr/>
        </p:nvSpPr>
        <p:spPr>
          <a:xfrm xmlns:a="http://schemas.openxmlformats.org/drawingml/2006/main">
            <a:off x="2926080" y="3063240"/>
            <a:ext cx="1508760" cy="685800"/>
          </a:xfrm>
          <a:prstGeom xmlns:a="http://schemas.openxmlformats.org/drawingml/2006/main" prst="roundRect">
            <a:avLst>
              <a:gd name="adj" fmla="val 10667"/>
            </a:avLst>
          </a:prstGeom>
          <a:solidFill xmlns:a="http://schemas.openxmlformats.org/drawingml/2006/main">
            <a:srgbClr val="CCFBF1"/>
          </a:solidFill>
          <a:ln xmlns:a="http://schemas.openxmlformats.org/drawingml/2006/main" w="10160">
            <a:solidFill>
              <a:srgbClr val="99F6E4"/>
            </a:solidFill>
            <a:prstDash val="solid"/>
          </a:ln>
        </p:spPr>
      </p:sp>
      <p:sp>
        <p:nvSpPr>
          <p:cNvPr id="10" name="Text 8">
            <a:extLst xmlns:a="http://schemas.openxmlformats.org/drawingml/2006/main">
              <a:ext uri="{FF2B5EF4-FFF2-40B4-BE49-F238E27FC236}">
                <a16:creationId xmlns:a16="http://schemas.microsoft.com/office/drawing/2014/main" id="{25553EEB-790C-4763-83AB-25AF4D50DFFB}"/>
              </a:ext>
            </a:extLst>
          </p:cNvPr>
          <p:cNvSpPr>
            <a:spLocks xmlns:a="http://schemas.openxmlformats.org/drawingml/2006/main" noGrp="1"/>
          </p:cNvSpPr>
          <p:nvPr/>
        </p:nvSpPr>
        <p:spPr>
          <a:xfrm xmlns:a="http://schemas.openxmlformats.org/drawingml/2006/main">
            <a:off x="3035808" y="3154680"/>
            <a:ext cx="1289304" cy="502920"/>
          </a:xfrm>
          <a:prstGeom xmlns:a="http://schemas.openxmlformats.org/drawingml/2006/main" prst="rect">
            <a:avLst/>
          </a:prstGeom>
          <a:noFill xmlns:a="http://schemas.openxmlformats.org/drawingml/2006/main"/>
        </p:spPr>
        <p:txBody>
          <a:bodyPr xmlns:a="http://schemas.openxmlformats.org/drawingml/2006/main" wrap="square" lIns="381" tIns="381" rIns="381" bIns="381" anchor="ctr">
            <a:normAutofit/>
          </a:bodyPr>
          <a:lstStyle xmlns:a="http://schemas.openxmlformats.org/drawingml/2006/main"/>
          <a:p xmlns:a="http://schemas.openxmlformats.org/drawingml/2006/main">
            <a:pPr marL="0" indent="0" algn="ctr">
              <a:buNone/>
            </a:pPr>
            <a:r>
              <a:rPr sz="1200" b="1">
                <a:solidFill>
                  <a:srgbClr val="0F766E"/>
                </a:solidFill>
                <a:latin typeface="Aptos"/>
                <a:ea typeface="Aptos"/>
                <a:cs typeface="Aptos"/>
              </a:rPr>
              <a:t>Placement</a:t>
            </a:r>
            <a:endParaRPr sz="1200"/>
          </a:p>
          <a:p xmlns:a="http://schemas.openxmlformats.org/drawingml/2006/main">
            <a:pPr marL="0" indent="0" algn="ctr">
              <a:buNone/>
            </a:pPr>
            <a:r>
              <a:rPr sz="1200" b="1">
                <a:solidFill>
                  <a:srgbClr val="0F766E"/>
                </a:solidFill>
                <a:latin typeface="Aptos"/>
                <a:ea typeface="Aptos"/>
                <a:cs typeface="Aptos"/>
              </a:rPr>
              <a:t>observado</a:t>
            </a:r>
            <a:endParaRPr sz="1200"/>
          </a:p>
        </p:txBody>
      </p:sp>
      <p:sp>
        <p:nvSpPr>
          <p:cNvPr id="11" name="Shape 9">
            <a:extLst xmlns:a="http://schemas.openxmlformats.org/drawingml/2006/main">
              <a:ext uri="{FF2B5EF4-FFF2-40B4-BE49-F238E27FC236}">
                <a16:creationId xmlns:a16="http://schemas.microsoft.com/office/drawing/2014/main" id="{20AD5C82-68E4-4C04-A3C8-13B398D2BA92}"/>
              </a:ext>
            </a:extLst>
          </p:cNvPr>
          <p:cNvSpPr>
            <a:spLocks xmlns:a="http://schemas.openxmlformats.org/drawingml/2006/main" noGrp="1"/>
          </p:cNvSpPr>
          <p:nvPr/>
        </p:nvSpPr>
        <p:spPr>
          <a:xfrm xmlns:a="http://schemas.openxmlformats.org/drawingml/2006/main">
            <a:off x="4937760" y="3063240"/>
            <a:ext cx="1508760" cy="685800"/>
          </a:xfrm>
          <a:prstGeom xmlns:a="http://schemas.openxmlformats.org/drawingml/2006/main" prst="roundRect">
            <a:avLst>
              <a:gd name="adj" fmla="val 10667"/>
            </a:avLst>
          </a:prstGeom>
          <a:solidFill xmlns:a="http://schemas.openxmlformats.org/drawingml/2006/main">
            <a:srgbClr val="FEF3C7"/>
          </a:solidFill>
          <a:ln xmlns:a="http://schemas.openxmlformats.org/drawingml/2006/main" w="10160">
            <a:solidFill>
              <a:srgbClr val="FCD34D"/>
            </a:solidFill>
            <a:prstDash val="solid"/>
          </a:ln>
        </p:spPr>
      </p:sp>
      <p:sp>
        <p:nvSpPr>
          <p:cNvPr id="12" name="Text 10">
            <a:extLst xmlns:a="http://schemas.openxmlformats.org/drawingml/2006/main">
              <a:ext uri="{FF2B5EF4-FFF2-40B4-BE49-F238E27FC236}">
                <a16:creationId xmlns:a16="http://schemas.microsoft.com/office/drawing/2014/main" id="{521E0D64-42D2-4682-AA05-0F73427EA635}"/>
              </a:ext>
            </a:extLst>
          </p:cNvPr>
          <p:cNvSpPr>
            <a:spLocks xmlns:a="http://schemas.openxmlformats.org/drawingml/2006/main" noGrp="1"/>
          </p:cNvSpPr>
          <p:nvPr/>
        </p:nvSpPr>
        <p:spPr>
          <a:xfrm xmlns:a="http://schemas.openxmlformats.org/drawingml/2006/main">
            <a:off x="5047488" y="3154680"/>
            <a:ext cx="1289304" cy="502920"/>
          </a:xfrm>
          <a:prstGeom xmlns:a="http://schemas.openxmlformats.org/drawingml/2006/main" prst="rect">
            <a:avLst/>
          </a:prstGeom>
          <a:noFill xmlns:a="http://schemas.openxmlformats.org/drawingml/2006/main"/>
        </p:spPr>
        <p:txBody>
          <a:bodyPr xmlns:a="http://schemas.openxmlformats.org/drawingml/2006/main" wrap="square" lIns="381" tIns="381" rIns="381" bIns="381" anchor="ctr">
            <a:normAutofit/>
          </a:bodyPr>
          <a:lstStyle xmlns:a="http://schemas.openxmlformats.org/drawingml/2006/main"/>
          <a:p xmlns:a="http://schemas.openxmlformats.org/drawingml/2006/main">
            <a:pPr marL="0" indent="0" algn="ctr">
              <a:buNone/>
            </a:pPr>
            <a:r>
              <a:rPr sz="1200" b="1">
                <a:solidFill>
                  <a:srgbClr val="92400E"/>
                </a:solidFill>
                <a:latin typeface="Aptos"/>
                <a:ea typeface="Aptos"/>
                <a:cs typeface="Aptos"/>
              </a:rPr>
              <a:t>Execution</a:t>
            </a:r>
            <a:endParaRPr sz="1200"/>
          </a:p>
          <a:p xmlns:a="http://schemas.openxmlformats.org/drawingml/2006/main">
            <a:pPr marL="0" indent="0" algn="ctr">
              <a:buNone/>
            </a:pPr>
            <a:r>
              <a:rPr sz="1200" b="1">
                <a:solidFill>
                  <a:srgbClr val="92400E"/>
                </a:solidFill>
                <a:latin typeface="Aptos"/>
                <a:ea typeface="Aptos"/>
                <a:cs typeface="Aptos"/>
              </a:rPr>
              <a:t>model</a:t>
            </a:r>
            <a:endParaRPr sz="1200"/>
          </a:p>
        </p:txBody>
      </p:sp>
      <p:sp>
        <p:nvSpPr>
          <p:cNvPr id="13" name="Shape 11">
            <a:extLst xmlns:a="http://schemas.openxmlformats.org/drawingml/2006/main">
              <a:ext uri="{FF2B5EF4-FFF2-40B4-BE49-F238E27FC236}">
                <a16:creationId xmlns:a16="http://schemas.microsoft.com/office/drawing/2014/main" id="{65B509C9-FB2F-42CA-8C38-291E96E25B44}"/>
              </a:ext>
            </a:extLst>
          </p:cNvPr>
          <p:cNvSpPr>
            <a:spLocks xmlns:a="http://schemas.openxmlformats.org/drawingml/2006/main" noGrp="1"/>
          </p:cNvSpPr>
          <p:nvPr/>
        </p:nvSpPr>
        <p:spPr>
          <a:xfrm xmlns:a="http://schemas.openxmlformats.org/drawingml/2006/main">
            <a:off x="6949440" y="3063240"/>
            <a:ext cx="1508760" cy="685800"/>
          </a:xfrm>
          <a:prstGeom xmlns:a="http://schemas.openxmlformats.org/drawingml/2006/main" prst="roundRect">
            <a:avLst>
              <a:gd name="adj" fmla="val 10667"/>
            </a:avLst>
          </a:prstGeom>
          <a:solidFill xmlns:a="http://schemas.openxmlformats.org/drawingml/2006/main">
            <a:srgbClr val="EDE9FE"/>
          </a:solidFill>
          <a:ln xmlns:a="http://schemas.openxmlformats.org/drawingml/2006/main" w="10160">
            <a:solidFill>
              <a:srgbClr val="DDD6FE"/>
            </a:solidFill>
            <a:prstDash val="solid"/>
          </a:ln>
        </p:spPr>
      </p:sp>
      <p:sp>
        <p:nvSpPr>
          <p:cNvPr id="14" name="Text 12">
            <a:extLst xmlns:a="http://schemas.openxmlformats.org/drawingml/2006/main">
              <a:ext uri="{FF2B5EF4-FFF2-40B4-BE49-F238E27FC236}">
                <a16:creationId xmlns:a16="http://schemas.microsoft.com/office/drawing/2014/main" id="{589DC3F6-B817-4816-83CA-63E6D3D657D0}"/>
              </a:ext>
            </a:extLst>
          </p:cNvPr>
          <p:cNvSpPr>
            <a:spLocks xmlns:a="http://schemas.openxmlformats.org/drawingml/2006/main" noGrp="1"/>
          </p:cNvSpPr>
          <p:nvPr/>
        </p:nvSpPr>
        <p:spPr>
          <a:xfrm xmlns:a="http://schemas.openxmlformats.org/drawingml/2006/main">
            <a:off x="7059168" y="3154680"/>
            <a:ext cx="1289304" cy="502920"/>
          </a:xfrm>
          <a:prstGeom xmlns:a="http://schemas.openxmlformats.org/drawingml/2006/main" prst="rect">
            <a:avLst/>
          </a:prstGeom>
          <a:noFill xmlns:a="http://schemas.openxmlformats.org/drawingml/2006/main"/>
        </p:spPr>
        <p:txBody>
          <a:bodyPr xmlns:a="http://schemas.openxmlformats.org/drawingml/2006/main" wrap="square" lIns="381" tIns="381" rIns="381" bIns="381" anchor="ctr">
            <a:normAutofit/>
          </a:bodyPr>
          <a:lstStyle xmlns:a="http://schemas.openxmlformats.org/drawingml/2006/main"/>
          <a:p xmlns:a="http://schemas.openxmlformats.org/drawingml/2006/main">
            <a:pPr marL="0" indent="0" algn="ctr">
              <a:buNone/>
            </a:pPr>
            <a:r>
              <a:rPr sz="1200" b="1">
                <a:solidFill>
                  <a:srgbClr val="6D28D9"/>
                </a:solidFill>
                <a:latin typeface="Aptos"/>
                <a:ea typeface="Aptos"/>
                <a:cs typeface="Aptos"/>
              </a:rPr>
              <a:t>Evidencia</a:t>
            </a:r>
            <a:endParaRPr sz="1200"/>
          </a:p>
          <a:p xmlns:a="http://schemas.openxmlformats.org/drawingml/2006/main">
            <a:pPr marL="0" indent="0" algn="ctr">
              <a:buNone/>
            </a:pPr>
            <a:r>
              <a:rPr sz="1200" b="1">
                <a:solidFill>
                  <a:srgbClr val="6D28D9"/>
                </a:solidFill>
                <a:latin typeface="Aptos"/>
                <a:ea typeface="Aptos"/>
                <a:cs typeface="Aptos"/>
              </a:rPr>
              <a:t>HTCondor</a:t>
            </a:r>
            <a:endParaRPr sz="1200"/>
          </a:p>
        </p:txBody>
      </p:sp>
      <p:sp>
        <p:nvSpPr>
          <p:cNvPr id="15" name="Shape 13">
            <a:extLst xmlns:a="http://schemas.openxmlformats.org/drawingml/2006/main">
              <a:ext uri="{FF2B5EF4-FFF2-40B4-BE49-F238E27FC236}">
                <a16:creationId xmlns:a16="http://schemas.microsoft.com/office/drawing/2014/main" id="{ED88C6B9-DA99-49A0-AD92-62D7C83574F3}"/>
              </a:ext>
            </a:extLst>
          </p:cNvPr>
          <p:cNvSpPr>
            <a:spLocks xmlns:a="http://schemas.openxmlformats.org/drawingml/2006/main" noGrp="1"/>
          </p:cNvSpPr>
          <p:nvPr/>
        </p:nvSpPr>
        <p:spPr>
          <a:xfrm xmlns:a="http://schemas.openxmlformats.org/drawingml/2006/main">
            <a:off x="8961120" y="3063240"/>
            <a:ext cx="1508760" cy="685800"/>
          </a:xfrm>
          <a:prstGeom xmlns:a="http://schemas.openxmlformats.org/drawingml/2006/main" prst="roundRect">
            <a:avLst>
              <a:gd name="adj" fmla="val 10667"/>
            </a:avLst>
          </a:prstGeom>
          <a:solidFill xmlns:a="http://schemas.openxmlformats.org/drawingml/2006/main">
            <a:srgbClr val="FFFFFF"/>
          </a:solidFill>
          <a:ln xmlns:a="http://schemas.openxmlformats.org/drawingml/2006/main" w="10160">
            <a:solidFill>
              <a:srgbClr val="2563EB"/>
            </a:solidFill>
            <a:prstDash val="solid"/>
          </a:ln>
        </p:spPr>
      </p:sp>
      <p:sp>
        <p:nvSpPr>
          <p:cNvPr id="16" name="Text 14">
            <a:extLst xmlns:a="http://schemas.openxmlformats.org/drawingml/2006/main">
              <a:ext uri="{FF2B5EF4-FFF2-40B4-BE49-F238E27FC236}">
                <a16:creationId xmlns:a16="http://schemas.microsoft.com/office/drawing/2014/main" id="{19933AB5-9AFE-4472-AE64-0E4868CC6B7F}"/>
              </a:ext>
            </a:extLst>
          </p:cNvPr>
          <p:cNvSpPr>
            <a:spLocks xmlns:a="http://schemas.openxmlformats.org/drawingml/2006/main" noGrp="1"/>
          </p:cNvSpPr>
          <p:nvPr/>
        </p:nvSpPr>
        <p:spPr>
          <a:xfrm xmlns:a="http://schemas.openxmlformats.org/drawingml/2006/main">
            <a:off x="9070848" y="3154680"/>
            <a:ext cx="1289304" cy="502920"/>
          </a:xfrm>
          <a:prstGeom xmlns:a="http://schemas.openxmlformats.org/drawingml/2006/main" prst="rect">
            <a:avLst/>
          </a:prstGeom>
          <a:noFill xmlns:a="http://schemas.openxmlformats.org/drawingml/2006/main"/>
        </p:spPr>
        <p:txBody>
          <a:bodyPr xmlns:a="http://schemas.openxmlformats.org/drawingml/2006/main" wrap="square" lIns="381" tIns="381" rIns="381" bIns="381" anchor="ctr">
            <a:normAutofit/>
          </a:bodyPr>
          <a:lstStyle xmlns:a="http://schemas.openxmlformats.org/drawingml/2006/main"/>
          <a:p xmlns:a="http://schemas.openxmlformats.org/drawingml/2006/main">
            <a:pPr marL="0" indent="0" algn="ctr">
              <a:buNone/>
            </a:pPr>
            <a:r>
              <a:rPr sz="1600" b="1">
                <a:solidFill>
                  <a:srgbClr val="102A43"/>
                </a:solidFill>
                <a:latin typeface="Aptos"/>
                <a:ea typeface="Aptos"/>
                <a:cs typeface="Aptos"/>
              </a:rPr>
              <a:t>DME</a:t>
            </a:r>
            <a:endParaRPr sz="1600"/>
          </a:p>
        </p:txBody>
      </p:sp>
      <p:sp>
        <p:nvSpPr>
          <p:cNvPr id="17" name="Shape 15">
            <a:extLst xmlns:a="http://schemas.openxmlformats.org/drawingml/2006/main">
              <a:ext uri="{FF2B5EF4-FFF2-40B4-BE49-F238E27FC236}">
                <a16:creationId xmlns:a16="http://schemas.microsoft.com/office/drawing/2014/main" id="{B7084F18-8EF6-4CF6-83F5-625B643FAFB8}"/>
              </a:ext>
            </a:extLst>
          </p:cNvPr>
          <p:cNvSpPr>
            <a:spLocks xmlns:a="http://schemas.openxmlformats.org/drawingml/2006/main" noGrp="1"/>
          </p:cNvSpPr>
          <p:nvPr/>
        </p:nvSpPr>
        <p:spPr>
          <a:xfrm xmlns:a="http://schemas.openxmlformats.org/drawingml/2006/main">
            <a:off x="2487168" y="3410712"/>
            <a:ext cx="329184" cy="0"/>
          </a:xfrm>
          <a:prstGeom xmlns:a="http://schemas.openxmlformats.org/drawingml/2006/main" prst="line">
            <a:avLst/>
          </a:prstGeom>
          <a:noFill xmlns:a="http://schemas.openxmlformats.org/drawingml/2006/main"/>
          <a:ln xmlns:a="http://schemas.openxmlformats.org/drawingml/2006/main" w="13970">
            <a:solidFill>
              <a:srgbClr val="64748B"/>
            </a:solidFill>
            <a:prstDash val="solid"/>
            <a:headEnd type="none"/>
            <a:tailEnd type="triangle"/>
          </a:ln>
        </p:spPr>
      </p:sp>
      <p:sp>
        <p:nvSpPr>
          <p:cNvPr id="18" name="Shape 16">
            <a:extLst xmlns:a="http://schemas.openxmlformats.org/drawingml/2006/main">
              <a:ext uri="{FF2B5EF4-FFF2-40B4-BE49-F238E27FC236}">
                <a16:creationId xmlns:a16="http://schemas.microsoft.com/office/drawing/2014/main" id="{7A4E9540-54F9-471E-8652-B5719F6C5628}"/>
              </a:ext>
            </a:extLst>
          </p:cNvPr>
          <p:cNvSpPr>
            <a:spLocks xmlns:a="http://schemas.openxmlformats.org/drawingml/2006/main" noGrp="1"/>
          </p:cNvSpPr>
          <p:nvPr/>
        </p:nvSpPr>
        <p:spPr>
          <a:xfrm xmlns:a="http://schemas.openxmlformats.org/drawingml/2006/main">
            <a:off x="4498848" y="3410712"/>
            <a:ext cx="329184" cy="0"/>
          </a:xfrm>
          <a:prstGeom xmlns:a="http://schemas.openxmlformats.org/drawingml/2006/main" prst="line">
            <a:avLst/>
          </a:prstGeom>
          <a:noFill xmlns:a="http://schemas.openxmlformats.org/drawingml/2006/main"/>
          <a:ln xmlns:a="http://schemas.openxmlformats.org/drawingml/2006/main" w="13970">
            <a:solidFill>
              <a:srgbClr val="64748B"/>
            </a:solidFill>
            <a:prstDash val="solid"/>
            <a:headEnd type="none"/>
            <a:tailEnd type="triangle"/>
          </a:ln>
        </p:spPr>
      </p:sp>
      <p:sp>
        <p:nvSpPr>
          <p:cNvPr id="19" name="Shape 17">
            <a:extLst xmlns:a="http://schemas.openxmlformats.org/drawingml/2006/main">
              <a:ext uri="{FF2B5EF4-FFF2-40B4-BE49-F238E27FC236}">
                <a16:creationId xmlns:a16="http://schemas.microsoft.com/office/drawing/2014/main" id="{09056483-69B5-4210-9590-F24C704932A4}"/>
              </a:ext>
            </a:extLst>
          </p:cNvPr>
          <p:cNvSpPr>
            <a:spLocks xmlns:a="http://schemas.openxmlformats.org/drawingml/2006/main" noGrp="1"/>
          </p:cNvSpPr>
          <p:nvPr/>
        </p:nvSpPr>
        <p:spPr>
          <a:xfrm xmlns:a="http://schemas.openxmlformats.org/drawingml/2006/main">
            <a:off x="6510528" y="3410712"/>
            <a:ext cx="329184" cy="0"/>
          </a:xfrm>
          <a:prstGeom xmlns:a="http://schemas.openxmlformats.org/drawingml/2006/main" prst="line">
            <a:avLst/>
          </a:prstGeom>
          <a:noFill xmlns:a="http://schemas.openxmlformats.org/drawingml/2006/main"/>
          <a:ln xmlns:a="http://schemas.openxmlformats.org/drawingml/2006/main" w="13970">
            <a:solidFill>
              <a:srgbClr val="64748B"/>
            </a:solidFill>
            <a:prstDash val="solid"/>
            <a:headEnd type="none"/>
            <a:tailEnd type="triangle"/>
          </a:ln>
        </p:spPr>
      </p:sp>
      <p:sp>
        <p:nvSpPr>
          <p:cNvPr id="20" name="Shape 18">
            <a:extLst xmlns:a="http://schemas.openxmlformats.org/drawingml/2006/main">
              <a:ext uri="{FF2B5EF4-FFF2-40B4-BE49-F238E27FC236}">
                <a16:creationId xmlns:a16="http://schemas.microsoft.com/office/drawing/2014/main" id="{C6ED1A7B-5366-4C63-B46D-2D3D322BB0E4}"/>
              </a:ext>
            </a:extLst>
          </p:cNvPr>
          <p:cNvSpPr>
            <a:spLocks xmlns:a="http://schemas.openxmlformats.org/drawingml/2006/main" noGrp="1"/>
          </p:cNvSpPr>
          <p:nvPr/>
        </p:nvSpPr>
        <p:spPr>
          <a:xfrm xmlns:a="http://schemas.openxmlformats.org/drawingml/2006/main">
            <a:off x="8522208" y="3410712"/>
            <a:ext cx="329184" cy="0"/>
          </a:xfrm>
          <a:prstGeom xmlns:a="http://schemas.openxmlformats.org/drawingml/2006/main" prst="line">
            <a:avLst/>
          </a:prstGeom>
          <a:noFill xmlns:a="http://schemas.openxmlformats.org/drawingml/2006/main"/>
          <a:ln xmlns:a="http://schemas.openxmlformats.org/drawingml/2006/main" w="13970">
            <a:solidFill>
              <a:srgbClr val="64748B"/>
            </a:solidFill>
            <a:prstDash val="solid"/>
            <a:headEnd type="none"/>
            <a:tailEnd type="triangle"/>
          </a:ln>
        </p:spPr>
      </p:sp>
      <p:sp>
        <p:nvSpPr>
          <p:cNvPr id="21" name="Shape 19">
            <a:extLst xmlns:a="http://schemas.openxmlformats.org/drawingml/2006/main">
              <a:ext uri="{FF2B5EF4-FFF2-40B4-BE49-F238E27FC236}">
                <a16:creationId xmlns:a16="http://schemas.microsoft.com/office/drawing/2014/main" id="{D43E4D13-86AC-4068-83AF-3BA7AD4D531A}"/>
              </a:ext>
            </a:extLst>
          </p:cNvPr>
          <p:cNvSpPr>
            <a:spLocks xmlns:a="http://schemas.openxmlformats.org/drawingml/2006/main" noGrp="1"/>
          </p:cNvSpPr>
          <p:nvPr/>
        </p:nvSpPr>
        <p:spPr>
          <a:xfrm xmlns:a="http://schemas.openxmlformats.org/drawingml/2006/main">
            <a:off x="1143000" y="4663440"/>
            <a:ext cx="9509760" cy="685800"/>
          </a:xfrm>
          <a:prstGeom xmlns:a="http://schemas.openxmlformats.org/drawingml/2006/main" prst="roundRect">
            <a:avLst>
              <a:gd name="adj" fmla="val 10667"/>
            </a:avLst>
          </a:prstGeom>
          <a:solidFill xmlns:a="http://schemas.openxmlformats.org/drawingml/2006/main">
            <a:srgbClr val="FFFFFF"/>
          </a:solidFill>
          <a:ln xmlns:a="http://schemas.openxmlformats.org/drawingml/2006/main" w="10160">
            <a:solidFill>
              <a:srgbClr val="CBD5E1"/>
            </a:solidFill>
            <a:prstDash val="solid"/>
          </a:ln>
        </p:spPr>
      </p:sp>
      <p:sp>
        <p:nvSpPr>
          <p:cNvPr id="22" name="Text 20">
            <a:extLst xmlns:a="http://schemas.openxmlformats.org/drawingml/2006/main">
              <a:ext uri="{FF2B5EF4-FFF2-40B4-BE49-F238E27FC236}">
                <a16:creationId xmlns:a16="http://schemas.microsoft.com/office/drawing/2014/main" id="{38822705-B949-4640-9953-EFFC2FCA07E9}"/>
              </a:ext>
            </a:extLst>
          </p:cNvPr>
          <p:cNvSpPr>
            <a:spLocks xmlns:a="http://schemas.openxmlformats.org/drawingml/2006/main" noGrp="1"/>
          </p:cNvSpPr>
          <p:nvPr/>
        </p:nvSpPr>
        <p:spPr>
          <a:xfrm xmlns:a="http://schemas.openxmlformats.org/drawingml/2006/main">
            <a:off x="1307592" y="4791456"/>
            <a:ext cx="9180576" cy="429768"/>
          </a:xfrm>
          <a:prstGeom xmlns:a="http://schemas.openxmlformats.org/drawingml/2006/main" prst="rect">
            <a:avLst/>
          </a:prstGeom>
          <a:noFill xmlns:a="http://schemas.openxmlformats.org/drawingml/2006/main"/>
        </p:spPr>
        <p:txBody>
          <a:bodyPr xmlns:a="http://schemas.openxmlformats.org/drawingml/2006/main" wrap="square" lIns="381" tIns="381" rIns="381" bIns="381" anchor="ctr">
            <a:normAutofit/>
          </a:bodyPr>
          <a:lstStyle xmlns:a="http://schemas.openxmlformats.org/drawingml/2006/main"/>
          <a:p xmlns:a="http://schemas.openxmlformats.org/drawingml/2006/main">
            <a:pPr marL="0" indent="0">
              <a:buNone/>
            </a:pPr>
            <a:r>
              <a:rPr sz="1120">
                <a:solidFill>
                  <a:srgbClr val="334155"/>
                </a:solidFill>
                <a:latin typeface="Aptos"/>
                <a:ea typeface="Aptos"/>
                <a:cs typeface="Aptos"/>
              </a:rPr>
              <a:t>Esta pregunta no busca encontrar el “mejor placement”. Evalúa una ejecución que ya ocurrió y pregunta qué parte del movimiento confirmado fue necesario bajo ese placement.</a:t>
            </a:r>
            <a:endParaRPr sz="1120"/>
          </a:p>
        </p:txBody>
      </p:sp>
      <p:sp>
        <p:nvSpPr>
          <p:cNvPr id="23" name="Shape 21">
            <a:extLst xmlns:a="http://schemas.openxmlformats.org/drawingml/2006/main">
              <a:ext uri="{FF2B5EF4-FFF2-40B4-BE49-F238E27FC236}">
                <a16:creationId xmlns:a16="http://schemas.microsoft.com/office/drawing/2014/main" id="{74ACA8EC-E6C6-4184-97F5-E1675F0ECA1A}"/>
              </a:ext>
            </a:extLst>
          </p:cNvPr>
          <p:cNvSpPr>
            <a:spLocks xmlns:a="http://schemas.openxmlformats.org/drawingml/2006/main" noGrp="1"/>
          </p:cNvSpPr>
          <p:nvPr/>
        </p:nvSpPr>
        <p:spPr>
          <a:xfrm xmlns:a="http://schemas.openxmlformats.org/drawingml/2006/main">
            <a:off x="502920" y="6446520"/>
            <a:ext cx="11201400" cy="0"/>
          </a:xfrm>
          <a:prstGeom xmlns:a="http://schemas.openxmlformats.org/drawingml/2006/main" prst="line">
            <a:avLst/>
          </a:prstGeom>
          <a:noFill xmlns:a="http://schemas.openxmlformats.org/drawingml/2006/main"/>
          <a:ln xmlns:a="http://schemas.openxmlformats.org/drawingml/2006/main" w="8890">
            <a:solidFill>
              <a:srgbClr val="CBD5E1"/>
            </a:solidFill>
            <a:prstDash val="solid"/>
          </a:ln>
        </p:spPr>
      </p:sp>
      <p:sp>
        <p:nvSpPr>
          <p:cNvPr id="24" name="Text 22">
            <a:extLst xmlns:a="http://schemas.openxmlformats.org/drawingml/2006/main">
              <a:ext uri="{FF2B5EF4-FFF2-40B4-BE49-F238E27FC236}">
                <a16:creationId xmlns:a16="http://schemas.microsoft.com/office/drawing/2014/main" id="{16B8C20A-66D2-447C-8492-23F2B8E9C273}"/>
              </a:ext>
            </a:extLst>
          </p:cNvPr>
          <p:cNvSpPr>
            <a:spLocks xmlns:a="http://schemas.openxmlformats.org/drawingml/2006/main" noGrp="1"/>
          </p:cNvSpPr>
          <p:nvPr/>
        </p:nvSpPr>
        <p:spPr>
          <a:xfrm xmlns:a="http://schemas.openxmlformats.org/drawingml/2006/main">
            <a:off x="594360" y="6510528"/>
            <a:ext cx="7223760" cy="2011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750">
                <a:solidFill>
                  <a:srgbClr val="64748B"/>
                </a:solidFill>
                <a:latin typeface="Aptos"/>
                <a:ea typeface="Aptos"/>
                <a:cs typeface="Aptos"/>
              </a:rPr>
              <a:t>Problema · pregunta central</a:t>
            </a:r>
            <a:endParaRPr sz="750"/>
          </a:p>
        </p:txBody>
      </p:sp>
      <p:sp>
        <p:nvSpPr>
          <p:cNvPr id="25" name="Text 23">
            <a:extLst xmlns:a="http://schemas.openxmlformats.org/drawingml/2006/main">
              <a:ext uri="{FF2B5EF4-FFF2-40B4-BE49-F238E27FC236}">
                <a16:creationId xmlns:a16="http://schemas.microsoft.com/office/drawing/2014/main" id="{66675BAC-ECAB-40E4-90C4-EBD177018693}"/>
              </a:ext>
            </a:extLst>
          </p:cNvPr>
          <p:cNvSpPr>
            <a:spLocks xmlns:a="http://schemas.openxmlformats.org/drawingml/2006/main" noGrp="1"/>
          </p:cNvSpPr>
          <p:nvPr/>
        </p:nvSpPr>
        <p:spPr>
          <a:xfrm xmlns:a="http://schemas.openxmlformats.org/drawingml/2006/main">
            <a:off x="11228832" y="6492240"/>
            <a:ext cx="411480" cy="2286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800">
                <a:solidFill>
                  <a:srgbClr val="64748B"/>
                </a:solidFill>
                <a:latin typeface="Aptos"/>
                <a:ea typeface="Aptos"/>
                <a:cs typeface="Aptos"/>
              </a:rPr>
              <a:t>5</a:t>
            </a:r>
            <a:endParaRPr sz="800"/>
          </a:p>
        </p:txBody>
      </p:sp>
    </p:spTree>
    <p:extLst>
      <p:ext uri="{BB962C8B-B14F-4D97-AF65-F5344CB8AC3E}">
        <p14:creationId xmlns:p14="http://schemas.microsoft.com/office/powerpoint/2010/main" val="151613531"/>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65D22CE0-BA21-47B9-99FE-B1E9948F0E97}"/>
              </a:ext>
            </a:extLst>
          </p:cNvPr>
          <p:cNvSpPr>
            <a:spLocks xmlns:a="http://schemas.openxmlformats.org/drawingml/2006/main" noGrp="1"/>
          </p:cNvSpPr>
          <p:nvPr/>
        </p:nvSpPr>
        <p:spPr>
          <a:xfrm xmlns:a="http://schemas.openxmlformats.org/drawingml/2006/main">
            <a:off x="0" y="0"/>
            <a:ext cx="12191695" cy="109728"/>
          </a:xfrm>
          <a:prstGeom xmlns:a="http://schemas.openxmlformats.org/drawingml/2006/main" prst="rect">
            <a:avLst/>
          </a:prstGeom>
          <a:solidFill xmlns:a="http://schemas.openxmlformats.org/drawingml/2006/main">
            <a:srgbClr val="0F766E"/>
          </a:solidFill>
          <a:ln xmlns:a="http://schemas.openxmlformats.org/drawingml/2006/main" w="12700">
            <a:solidFill>
              <a:srgbClr val="0F766E"/>
            </a:solidFill>
            <a:prstDash val="solid"/>
          </a:ln>
        </p:spPr>
      </p:sp>
      <p:sp>
        <p:nvSpPr>
          <p:cNvPr id="3" name="Text 1">
            <a:extLst xmlns:a="http://schemas.openxmlformats.org/drawingml/2006/main">
              <a:ext uri="{FF2B5EF4-FFF2-40B4-BE49-F238E27FC236}">
                <a16:creationId xmlns:a16="http://schemas.microsoft.com/office/drawing/2014/main" id="{2375B42E-4049-4B43-BA8C-5CD27A8BFEF4}"/>
              </a:ext>
            </a:extLst>
          </p:cNvPr>
          <p:cNvSpPr>
            <a:spLocks xmlns:a="http://schemas.openxmlformats.org/drawingml/2006/main" noGrp="1"/>
          </p:cNvSpPr>
          <p:nvPr/>
        </p:nvSpPr>
        <p:spPr>
          <a:xfrm xmlns:a="http://schemas.openxmlformats.org/drawingml/2006/main">
            <a:off x="658368" y="384048"/>
            <a:ext cx="292608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850" b="1">
                <a:solidFill>
                  <a:srgbClr val="2563EB"/>
                </a:solidFill>
                <a:latin typeface="Aptos"/>
                <a:ea typeface="Aptos"/>
                <a:cs typeface="Aptos"/>
              </a:rPr>
              <a:t>OBJETIVOS</a:t>
            </a:r>
            <a:endParaRPr sz="850"/>
          </a:p>
        </p:txBody>
      </p:sp>
      <p:sp>
        <p:nvSpPr>
          <p:cNvPr id="4" name="Text 2">
            <a:extLst xmlns:a="http://schemas.openxmlformats.org/drawingml/2006/main">
              <a:ext uri="{FF2B5EF4-FFF2-40B4-BE49-F238E27FC236}">
                <a16:creationId xmlns:a16="http://schemas.microsoft.com/office/drawing/2014/main" id="{3B318B67-C5CA-4145-B5EE-2BCAE3E987C1}"/>
              </a:ext>
            </a:extLst>
          </p:cNvPr>
          <p:cNvSpPr>
            <a:spLocks xmlns:a="http://schemas.openxmlformats.org/drawingml/2006/main" noGrp="1"/>
          </p:cNvSpPr>
          <p:nvPr/>
        </p:nvSpPr>
        <p:spPr>
          <a:xfrm xmlns:a="http://schemas.openxmlformats.org/drawingml/2006/main">
            <a:off x="621792" y="621792"/>
            <a:ext cx="10881360" cy="530352"/>
          </a:xfrm>
          <a:prstGeom xmlns:a="http://schemas.openxmlformats.org/drawingml/2006/main" prst="rect">
            <a:avLst/>
          </a:prstGeom>
          <a:noFill xmlns:a="http://schemas.openxmlformats.org/drawingml/2006/main"/>
        </p:spPr>
        <p:txBody>
          <a:bodyPr xmlns:a="http://schemas.openxmlformats.org/drawingml/2006/main" wrap="square" lIns="254" tIns="254" rIns="254" bIns="254" anchor="ctr">
            <a:normAutofit/>
          </a:bodyPr>
          <a:lstStyle xmlns:a="http://schemas.openxmlformats.org/drawingml/2006/main"/>
          <a:p xmlns:a="http://schemas.openxmlformats.org/drawingml/2006/main">
            <a:pPr marL="0" indent="0">
              <a:buNone/>
            </a:pPr>
            <a:r>
              <a:rPr sz="2500" b="1">
                <a:solidFill>
                  <a:srgbClr val="102A43"/>
                </a:solidFill>
                <a:latin typeface="Aptos Display"/>
                <a:ea typeface="Aptos Display"/>
                <a:cs typeface="Aptos Display"/>
              </a:rPr>
              <a:t>5. Objetivo general y objetivos específicos</a:t>
            </a:r>
            <a:endParaRPr sz="2500"/>
          </a:p>
        </p:txBody>
      </p:sp>
      <p:sp>
        <p:nvSpPr>
          <p:cNvPr id="5" name="Shape 3">
            <a:extLst xmlns:a="http://schemas.openxmlformats.org/drawingml/2006/main">
              <a:ext uri="{FF2B5EF4-FFF2-40B4-BE49-F238E27FC236}">
                <a16:creationId xmlns:a16="http://schemas.microsoft.com/office/drawing/2014/main" id="{DA6D454F-6FE7-4B50-A2E9-F458D8F30F36}"/>
              </a:ext>
            </a:extLst>
          </p:cNvPr>
          <p:cNvSpPr>
            <a:spLocks xmlns:a="http://schemas.openxmlformats.org/drawingml/2006/main" noGrp="1"/>
          </p:cNvSpPr>
          <p:nvPr/>
        </p:nvSpPr>
        <p:spPr>
          <a:xfrm xmlns:a="http://schemas.openxmlformats.org/drawingml/2006/main">
            <a:off x="822960" y="1417320"/>
            <a:ext cx="10607040" cy="987552"/>
          </a:xfrm>
          <a:prstGeom xmlns:a="http://schemas.openxmlformats.org/drawingml/2006/main" prst="roundRect">
            <a:avLst>
              <a:gd name="adj" fmla="val 7407"/>
            </a:avLst>
          </a:prstGeom>
          <a:solidFill xmlns:a="http://schemas.openxmlformats.org/drawingml/2006/main">
            <a:srgbClr val="FFFFFF"/>
          </a:solidFill>
          <a:ln xmlns:a="http://schemas.openxmlformats.org/drawingml/2006/main" w="10160">
            <a:solidFill>
              <a:srgbClr val="99F6E4"/>
            </a:solidFill>
            <a:prstDash val="solid"/>
          </a:ln>
        </p:spPr>
      </p:sp>
      <p:sp>
        <p:nvSpPr>
          <p:cNvPr id="6" name="Text 4">
            <a:extLst xmlns:a="http://schemas.openxmlformats.org/drawingml/2006/main">
              <a:ext uri="{FF2B5EF4-FFF2-40B4-BE49-F238E27FC236}">
                <a16:creationId xmlns:a16="http://schemas.microsoft.com/office/drawing/2014/main" id="{6CF8088E-943C-4A6C-9A85-0EAE2263DF27}"/>
              </a:ext>
            </a:extLst>
          </p:cNvPr>
          <p:cNvSpPr>
            <a:spLocks xmlns:a="http://schemas.openxmlformats.org/drawingml/2006/main" noGrp="1"/>
          </p:cNvSpPr>
          <p:nvPr/>
        </p:nvSpPr>
        <p:spPr>
          <a:xfrm xmlns:a="http://schemas.openxmlformats.org/drawingml/2006/main">
            <a:off x="987552" y="1545336"/>
            <a:ext cx="10277856" cy="731520"/>
          </a:xfrm>
          <a:prstGeom xmlns:a="http://schemas.openxmlformats.org/drawingml/2006/main" prst="rect">
            <a:avLst/>
          </a:prstGeom>
          <a:noFill xmlns:a="http://schemas.openxmlformats.org/drawingml/2006/main"/>
        </p:spPr>
        <p:txBody>
          <a:bodyPr xmlns:a="http://schemas.openxmlformats.org/drawingml/2006/main" wrap="square" lIns="381" tIns="381" rIns="381" bIns="381" anchor="ctr">
            <a:normAutofit/>
          </a:bodyPr>
          <a:lstStyle xmlns:a="http://schemas.openxmlformats.org/drawingml/2006/main"/>
          <a:p xmlns:a="http://schemas.openxmlformats.org/drawingml/2006/main">
            <a:pPr marL="0" indent="0">
              <a:buNone/>
            </a:pPr>
            <a:r>
              <a:rPr sz="1120">
                <a:solidFill>
                  <a:srgbClr val="334155"/>
                </a:solidFill>
                <a:latin typeface="Aptos"/>
                <a:ea typeface="Aptos"/>
                <a:cs typeface="Aptos"/>
              </a:rPr>
              <a:t>Objetivo general</a:t>
            </a:r>
            <a:endParaRPr sz="1120"/>
          </a:p>
          <a:p xmlns:a="http://schemas.openxmlformats.org/drawingml/2006/main">
            <a:pPr marL="0" indent="0">
              <a:buNone/>
            </a:pPr>
            <a:r>
              <a:rPr sz="1120">
                <a:solidFill>
                  <a:srgbClr val="334155"/>
                </a:solidFill>
                <a:latin typeface="Aptos"/>
                <a:ea typeface="Aptos"/>
                <a:cs typeface="Aptos"/>
              </a:rPr>
              <a:t>Diseñar y validar una métrica para evaluar la eficiencia del movimiento de datos científico en ejecuciones Pegasus/HTCondor, comparando el movimiento requerido por el dataflow y el placement observado con el movimiento científico confirmado por evidencia.</a:t>
            </a:r>
            <a:endParaRPr sz="1120"/>
          </a:p>
        </p:txBody>
      </p:sp>
      <p:sp>
        <p:nvSpPr>
          <p:cNvPr id="7" name="Shape 5">
            <a:extLst xmlns:a="http://schemas.openxmlformats.org/drawingml/2006/main">
              <a:ext uri="{FF2B5EF4-FFF2-40B4-BE49-F238E27FC236}">
                <a16:creationId xmlns:a16="http://schemas.microsoft.com/office/drawing/2014/main" id="{A1ABA86F-426D-4BBB-9200-D9AF7ABE4133}"/>
              </a:ext>
            </a:extLst>
          </p:cNvPr>
          <p:cNvSpPr>
            <a:spLocks xmlns:a="http://schemas.openxmlformats.org/drawingml/2006/main" noGrp="1"/>
          </p:cNvSpPr>
          <p:nvPr/>
        </p:nvSpPr>
        <p:spPr>
          <a:xfrm xmlns:a="http://schemas.openxmlformats.org/drawingml/2006/main">
            <a:off x="822960" y="2907792"/>
            <a:ext cx="475488" cy="475488"/>
          </a:xfrm>
          <a:prstGeom xmlns:a="http://schemas.openxmlformats.org/drawingml/2006/main" prst="ellipse">
            <a:avLst/>
          </a:prstGeom>
          <a:solidFill xmlns:a="http://schemas.openxmlformats.org/drawingml/2006/main">
            <a:srgbClr val="0F766E"/>
          </a:solidFill>
          <a:ln xmlns:a="http://schemas.openxmlformats.org/drawingml/2006/main" w="12700">
            <a:solidFill>
              <a:srgbClr val="0F766E"/>
            </a:solidFill>
            <a:prstDash val="solid"/>
          </a:ln>
        </p:spPr>
      </p:sp>
      <p:sp>
        <p:nvSpPr>
          <p:cNvPr id="8" name="Text 6">
            <a:extLst xmlns:a="http://schemas.openxmlformats.org/drawingml/2006/main">
              <a:ext uri="{FF2B5EF4-FFF2-40B4-BE49-F238E27FC236}">
                <a16:creationId xmlns:a16="http://schemas.microsoft.com/office/drawing/2014/main" id="{3E48FB9B-E11D-40F5-8891-A767E22E68BF}"/>
              </a:ext>
            </a:extLst>
          </p:cNvPr>
          <p:cNvSpPr>
            <a:spLocks xmlns:a="http://schemas.openxmlformats.org/drawingml/2006/main" noGrp="1"/>
          </p:cNvSpPr>
          <p:nvPr/>
        </p:nvSpPr>
        <p:spPr>
          <a:xfrm xmlns:a="http://schemas.openxmlformats.org/drawingml/2006/main">
            <a:off x="822960" y="2999232"/>
            <a:ext cx="475488" cy="1828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00" b="1">
                <a:solidFill>
                  <a:srgbClr val="FFFFFF"/>
                </a:solidFill>
              </a:rPr>
              <a:t>1</a:t>
            </a:r>
            <a:endParaRPr sz="1000"/>
          </a:p>
        </p:txBody>
      </p:sp>
      <p:sp>
        <p:nvSpPr>
          <p:cNvPr id="9" name="Text 7">
            <a:extLst xmlns:a="http://schemas.openxmlformats.org/drawingml/2006/main">
              <a:ext uri="{FF2B5EF4-FFF2-40B4-BE49-F238E27FC236}">
                <a16:creationId xmlns:a16="http://schemas.microsoft.com/office/drawing/2014/main" id="{DB106B49-B2ED-4CEA-B486-E43E9A05F1AB}"/>
              </a:ext>
            </a:extLst>
          </p:cNvPr>
          <p:cNvSpPr>
            <a:spLocks xmlns:a="http://schemas.openxmlformats.org/drawingml/2006/main" noGrp="1"/>
          </p:cNvSpPr>
          <p:nvPr/>
        </p:nvSpPr>
        <p:spPr>
          <a:xfrm xmlns:a="http://schemas.openxmlformats.org/drawingml/2006/main">
            <a:off x="1444752" y="2862072"/>
            <a:ext cx="196596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400" b="1">
                <a:solidFill>
                  <a:srgbClr val="102A43"/>
                </a:solidFill>
              </a:rPr>
              <a:t>Formalizar</a:t>
            </a:r>
            <a:endParaRPr sz="1400"/>
          </a:p>
        </p:txBody>
      </p:sp>
      <p:sp>
        <p:nvSpPr>
          <p:cNvPr id="10" name="Text 8">
            <a:extLst xmlns:a="http://schemas.openxmlformats.org/drawingml/2006/main">
              <a:ext uri="{FF2B5EF4-FFF2-40B4-BE49-F238E27FC236}">
                <a16:creationId xmlns:a16="http://schemas.microsoft.com/office/drawing/2014/main" id="{EC430603-2DB2-4859-8430-D33F9C2DBC50}"/>
              </a:ext>
            </a:extLst>
          </p:cNvPr>
          <p:cNvSpPr>
            <a:spLocks xmlns:a="http://schemas.openxmlformats.org/drawingml/2006/main" noGrp="1"/>
          </p:cNvSpPr>
          <p:nvPr/>
        </p:nvSpPr>
        <p:spPr>
          <a:xfrm xmlns:a="http://schemas.openxmlformats.org/drawingml/2006/main">
            <a:off x="1444752" y="3200400"/>
            <a:ext cx="2057400" cy="1143000"/>
          </a:xfrm>
          <a:prstGeom xmlns:a="http://schemas.openxmlformats.org/drawingml/2006/main" prst="rect">
            <a:avLst/>
          </a:prstGeom>
          <a:noFill xmlns:a="http://schemas.openxmlformats.org/drawingml/2006/main"/>
        </p:spPr>
        <p:txBody>
          <a:bodyPr xmlns:a="http://schemas.openxmlformats.org/drawingml/2006/main" wrap="square" lIns="254" tIns="254" rIns="254" bIns="254" anchor="ctr">
            <a:normAutofit/>
          </a:bodyPr>
          <a:lstStyle xmlns:a="http://schemas.openxmlformats.org/drawingml/2006/main"/>
          <a:p xmlns:a="http://schemas.openxmlformats.org/drawingml/2006/main">
            <a:pPr marL="0" indent="0">
              <a:buNone/>
            </a:pPr>
            <a:r>
              <a:rPr sz="1060">
                <a:solidFill>
                  <a:srgbClr val="334155"/>
                </a:solidFill>
              </a:rPr>
              <a:t>Definir archivos científicos, ubicaciones, placement, fronteras y precondiciones de validez.</a:t>
            </a:r>
            <a:endParaRPr sz="1060"/>
          </a:p>
        </p:txBody>
      </p:sp>
      <p:sp>
        <p:nvSpPr>
          <p:cNvPr id="11" name="Shape 9">
            <a:extLst xmlns:a="http://schemas.openxmlformats.org/drawingml/2006/main">
              <a:ext uri="{FF2B5EF4-FFF2-40B4-BE49-F238E27FC236}">
                <a16:creationId xmlns:a16="http://schemas.microsoft.com/office/drawing/2014/main" id="{A3177498-5120-4BCD-9E12-8805AE860023}"/>
              </a:ext>
            </a:extLst>
          </p:cNvPr>
          <p:cNvSpPr>
            <a:spLocks xmlns:a="http://schemas.openxmlformats.org/drawingml/2006/main" noGrp="1"/>
          </p:cNvSpPr>
          <p:nvPr/>
        </p:nvSpPr>
        <p:spPr>
          <a:xfrm xmlns:a="http://schemas.openxmlformats.org/drawingml/2006/main">
            <a:off x="3657600" y="2907792"/>
            <a:ext cx="475488" cy="475488"/>
          </a:xfrm>
          <a:prstGeom xmlns:a="http://schemas.openxmlformats.org/drawingml/2006/main" prst="ellipse">
            <a:avLst/>
          </a:prstGeom>
          <a:solidFill xmlns:a="http://schemas.openxmlformats.org/drawingml/2006/main">
            <a:srgbClr val="0F766E"/>
          </a:solidFill>
          <a:ln xmlns:a="http://schemas.openxmlformats.org/drawingml/2006/main" w="12700">
            <a:solidFill>
              <a:srgbClr val="0F766E"/>
            </a:solidFill>
            <a:prstDash val="solid"/>
          </a:ln>
        </p:spPr>
      </p:sp>
      <p:sp>
        <p:nvSpPr>
          <p:cNvPr id="12" name="Text 10">
            <a:extLst xmlns:a="http://schemas.openxmlformats.org/drawingml/2006/main">
              <a:ext uri="{FF2B5EF4-FFF2-40B4-BE49-F238E27FC236}">
                <a16:creationId xmlns:a16="http://schemas.microsoft.com/office/drawing/2014/main" id="{6E03EC05-E72B-4357-9BED-7AD1370446FB}"/>
              </a:ext>
            </a:extLst>
          </p:cNvPr>
          <p:cNvSpPr>
            <a:spLocks xmlns:a="http://schemas.openxmlformats.org/drawingml/2006/main" noGrp="1"/>
          </p:cNvSpPr>
          <p:nvPr/>
        </p:nvSpPr>
        <p:spPr>
          <a:xfrm xmlns:a="http://schemas.openxmlformats.org/drawingml/2006/main">
            <a:off x="3657600" y="2999232"/>
            <a:ext cx="475488" cy="1828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00" b="1">
                <a:solidFill>
                  <a:srgbClr val="FFFFFF"/>
                </a:solidFill>
              </a:rPr>
              <a:t>2</a:t>
            </a:r>
            <a:endParaRPr sz="1000"/>
          </a:p>
        </p:txBody>
      </p:sp>
      <p:sp>
        <p:nvSpPr>
          <p:cNvPr id="13" name="Text 11">
            <a:extLst xmlns:a="http://schemas.openxmlformats.org/drawingml/2006/main">
              <a:ext uri="{FF2B5EF4-FFF2-40B4-BE49-F238E27FC236}">
                <a16:creationId xmlns:a16="http://schemas.microsoft.com/office/drawing/2014/main" id="{458A6E65-CB42-4125-8606-02E9E9714CCB}"/>
              </a:ext>
            </a:extLst>
          </p:cNvPr>
          <p:cNvSpPr>
            <a:spLocks xmlns:a="http://schemas.openxmlformats.org/drawingml/2006/main" noGrp="1"/>
          </p:cNvSpPr>
          <p:nvPr/>
        </p:nvSpPr>
        <p:spPr>
          <a:xfrm xmlns:a="http://schemas.openxmlformats.org/drawingml/2006/main">
            <a:off x="4279392" y="2862072"/>
            <a:ext cx="196596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400" b="1">
                <a:solidFill>
                  <a:srgbClr val="102A43"/>
                </a:solidFill>
              </a:rPr>
              <a:t>Implementar</a:t>
            </a:r>
            <a:endParaRPr sz="1400"/>
          </a:p>
        </p:txBody>
      </p:sp>
      <p:sp>
        <p:nvSpPr>
          <p:cNvPr id="14" name="Text 12">
            <a:extLst xmlns:a="http://schemas.openxmlformats.org/drawingml/2006/main">
              <a:ext uri="{FF2B5EF4-FFF2-40B4-BE49-F238E27FC236}">
                <a16:creationId xmlns:a16="http://schemas.microsoft.com/office/drawing/2014/main" id="{D4AD6591-C43B-4768-AED1-33C50C2C102C}"/>
              </a:ext>
            </a:extLst>
          </p:cNvPr>
          <p:cNvSpPr>
            <a:spLocks xmlns:a="http://schemas.openxmlformats.org/drawingml/2006/main" noGrp="1"/>
          </p:cNvSpPr>
          <p:nvPr/>
        </p:nvSpPr>
        <p:spPr>
          <a:xfrm xmlns:a="http://schemas.openxmlformats.org/drawingml/2006/main">
            <a:off x="4279392" y="3200400"/>
            <a:ext cx="2057400" cy="1143000"/>
          </a:xfrm>
          <a:prstGeom xmlns:a="http://schemas.openxmlformats.org/drawingml/2006/main" prst="rect">
            <a:avLst/>
          </a:prstGeom>
          <a:noFill xmlns:a="http://schemas.openxmlformats.org/drawingml/2006/main"/>
        </p:spPr>
        <p:txBody>
          <a:bodyPr xmlns:a="http://schemas.openxmlformats.org/drawingml/2006/main" wrap="square" lIns="254" tIns="254" rIns="254" bIns="254" anchor="ctr">
            <a:normAutofit/>
          </a:bodyPr>
          <a:lstStyle xmlns:a="http://schemas.openxmlformats.org/drawingml/2006/main"/>
          <a:p xmlns:a="http://schemas.openxmlformats.org/drawingml/2006/main">
            <a:pPr marL="0" indent="0">
              <a:buNone/>
            </a:pPr>
            <a:r>
              <a:rPr sz="1060">
                <a:solidFill>
                  <a:srgbClr val="334155"/>
                </a:solidFill>
              </a:rPr>
              <a:t>Construir un Analyzer v1 que reconstruya dataflow, transfers declarados y evidencia HTCondor.</a:t>
            </a:r>
            <a:endParaRPr sz="1060"/>
          </a:p>
        </p:txBody>
      </p:sp>
      <p:sp>
        <p:nvSpPr>
          <p:cNvPr id="15" name="Shape 13">
            <a:extLst xmlns:a="http://schemas.openxmlformats.org/drawingml/2006/main">
              <a:ext uri="{FF2B5EF4-FFF2-40B4-BE49-F238E27FC236}">
                <a16:creationId xmlns:a16="http://schemas.microsoft.com/office/drawing/2014/main" id="{45BFC760-FE20-4E06-B233-72AD2E621591}"/>
              </a:ext>
            </a:extLst>
          </p:cNvPr>
          <p:cNvSpPr>
            <a:spLocks xmlns:a="http://schemas.openxmlformats.org/drawingml/2006/main" noGrp="1"/>
          </p:cNvSpPr>
          <p:nvPr/>
        </p:nvSpPr>
        <p:spPr>
          <a:xfrm xmlns:a="http://schemas.openxmlformats.org/drawingml/2006/main">
            <a:off x="6492240" y="2907792"/>
            <a:ext cx="475488" cy="475488"/>
          </a:xfrm>
          <a:prstGeom xmlns:a="http://schemas.openxmlformats.org/drawingml/2006/main" prst="ellipse">
            <a:avLst/>
          </a:prstGeom>
          <a:solidFill xmlns:a="http://schemas.openxmlformats.org/drawingml/2006/main">
            <a:srgbClr val="0F766E"/>
          </a:solidFill>
          <a:ln xmlns:a="http://schemas.openxmlformats.org/drawingml/2006/main" w="12700">
            <a:solidFill>
              <a:srgbClr val="0F766E"/>
            </a:solidFill>
            <a:prstDash val="solid"/>
          </a:ln>
        </p:spPr>
      </p:sp>
      <p:sp>
        <p:nvSpPr>
          <p:cNvPr id="16" name="Text 14">
            <a:extLst xmlns:a="http://schemas.openxmlformats.org/drawingml/2006/main">
              <a:ext uri="{FF2B5EF4-FFF2-40B4-BE49-F238E27FC236}">
                <a16:creationId xmlns:a16="http://schemas.microsoft.com/office/drawing/2014/main" id="{FFF82DD2-A7DD-4949-AB1F-75D64D3D26E6}"/>
              </a:ext>
            </a:extLst>
          </p:cNvPr>
          <p:cNvSpPr>
            <a:spLocks xmlns:a="http://schemas.openxmlformats.org/drawingml/2006/main" noGrp="1"/>
          </p:cNvSpPr>
          <p:nvPr/>
        </p:nvSpPr>
        <p:spPr>
          <a:xfrm xmlns:a="http://schemas.openxmlformats.org/drawingml/2006/main">
            <a:off x="6492240" y="2999232"/>
            <a:ext cx="475488" cy="1828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00" b="1">
                <a:solidFill>
                  <a:srgbClr val="FFFFFF"/>
                </a:solidFill>
              </a:rPr>
              <a:t>3</a:t>
            </a:r>
            <a:endParaRPr sz="1000"/>
          </a:p>
        </p:txBody>
      </p:sp>
      <p:sp>
        <p:nvSpPr>
          <p:cNvPr id="17" name="Text 15">
            <a:extLst xmlns:a="http://schemas.openxmlformats.org/drawingml/2006/main">
              <a:ext uri="{FF2B5EF4-FFF2-40B4-BE49-F238E27FC236}">
                <a16:creationId xmlns:a16="http://schemas.microsoft.com/office/drawing/2014/main" id="{1228E1C8-B2B5-4787-A448-4C001B29B002}"/>
              </a:ext>
            </a:extLst>
          </p:cNvPr>
          <p:cNvSpPr>
            <a:spLocks xmlns:a="http://schemas.openxmlformats.org/drawingml/2006/main" noGrp="1"/>
          </p:cNvSpPr>
          <p:nvPr/>
        </p:nvSpPr>
        <p:spPr>
          <a:xfrm xmlns:a="http://schemas.openxmlformats.org/drawingml/2006/main">
            <a:off x="7114032" y="2862072"/>
            <a:ext cx="196596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400" b="1">
                <a:solidFill>
                  <a:srgbClr val="102A43"/>
                </a:solidFill>
              </a:rPr>
              <a:t>Validar</a:t>
            </a:r>
            <a:endParaRPr sz="1400"/>
          </a:p>
        </p:txBody>
      </p:sp>
      <p:sp>
        <p:nvSpPr>
          <p:cNvPr id="18" name="Text 16">
            <a:extLst xmlns:a="http://schemas.openxmlformats.org/drawingml/2006/main">
              <a:ext uri="{FF2B5EF4-FFF2-40B4-BE49-F238E27FC236}">
                <a16:creationId xmlns:a16="http://schemas.microsoft.com/office/drawing/2014/main" id="{37F8CE00-1BE0-4DD4-81A1-18A29008CC43}"/>
              </a:ext>
            </a:extLst>
          </p:cNvPr>
          <p:cNvSpPr>
            <a:spLocks xmlns:a="http://schemas.openxmlformats.org/drawingml/2006/main" noGrp="1"/>
          </p:cNvSpPr>
          <p:nvPr/>
        </p:nvSpPr>
        <p:spPr>
          <a:xfrm xmlns:a="http://schemas.openxmlformats.org/drawingml/2006/main">
            <a:off x="7114032" y="3200400"/>
            <a:ext cx="2057400" cy="1143000"/>
          </a:xfrm>
          <a:prstGeom xmlns:a="http://schemas.openxmlformats.org/drawingml/2006/main" prst="rect">
            <a:avLst/>
          </a:prstGeom>
          <a:noFill xmlns:a="http://schemas.openxmlformats.org/drawingml/2006/main"/>
        </p:spPr>
        <p:txBody>
          <a:bodyPr xmlns:a="http://schemas.openxmlformats.org/drawingml/2006/main" wrap="square" lIns="254" tIns="254" rIns="254" bIns="254" anchor="ctr">
            <a:normAutofit/>
          </a:bodyPr>
          <a:lstStyle xmlns:a="http://schemas.openxmlformats.org/drawingml/2006/main"/>
          <a:p xmlns:a="http://schemas.openxmlformats.org/drawingml/2006/main">
            <a:pPr marL="0" indent="0">
              <a:buNone/>
            </a:pPr>
            <a:r>
              <a:rPr sz="1060">
                <a:solidFill>
                  <a:srgbClr val="334155"/>
                </a:solidFill>
              </a:rPr>
              <a:t>Usar patrones controlados y corridas preservadas con oráculos reproducibles.</a:t>
            </a:r>
            <a:endParaRPr sz="1060"/>
          </a:p>
        </p:txBody>
      </p:sp>
      <p:sp>
        <p:nvSpPr>
          <p:cNvPr id="19" name="Shape 17">
            <a:extLst xmlns:a="http://schemas.openxmlformats.org/drawingml/2006/main">
              <a:ext uri="{FF2B5EF4-FFF2-40B4-BE49-F238E27FC236}">
                <a16:creationId xmlns:a16="http://schemas.microsoft.com/office/drawing/2014/main" id="{921FD8B7-EFE4-4C55-AC74-BE50FBDB6411}"/>
              </a:ext>
            </a:extLst>
          </p:cNvPr>
          <p:cNvSpPr>
            <a:spLocks xmlns:a="http://schemas.openxmlformats.org/drawingml/2006/main" noGrp="1"/>
          </p:cNvSpPr>
          <p:nvPr/>
        </p:nvSpPr>
        <p:spPr>
          <a:xfrm xmlns:a="http://schemas.openxmlformats.org/drawingml/2006/main">
            <a:off x="9326880" y="2907792"/>
            <a:ext cx="475488" cy="475488"/>
          </a:xfrm>
          <a:prstGeom xmlns:a="http://schemas.openxmlformats.org/drawingml/2006/main" prst="ellipse">
            <a:avLst/>
          </a:prstGeom>
          <a:solidFill xmlns:a="http://schemas.openxmlformats.org/drawingml/2006/main">
            <a:srgbClr val="0F766E"/>
          </a:solidFill>
          <a:ln xmlns:a="http://schemas.openxmlformats.org/drawingml/2006/main" w="12700">
            <a:solidFill>
              <a:srgbClr val="0F766E"/>
            </a:solidFill>
            <a:prstDash val="solid"/>
          </a:ln>
        </p:spPr>
      </p:sp>
      <p:sp>
        <p:nvSpPr>
          <p:cNvPr id="20" name="Text 18">
            <a:extLst xmlns:a="http://schemas.openxmlformats.org/drawingml/2006/main">
              <a:ext uri="{FF2B5EF4-FFF2-40B4-BE49-F238E27FC236}">
                <a16:creationId xmlns:a16="http://schemas.microsoft.com/office/drawing/2014/main" id="{344B5E24-8B7B-4EF9-AC67-7E1E5B543712}"/>
              </a:ext>
            </a:extLst>
          </p:cNvPr>
          <p:cNvSpPr>
            <a:spLocks xmlns:a="http://schemas.openxmlformats.org/drawingml/2006/main" noGrp="1"/>
          </p:cNvSpPr>
          <p:nvPr/>
        </p:nvSpPr>
        <p:spPr>
          <a:xfrm xmlns:a="http://schemas.openxmlformats.org/drawingml/2006/main">
            <a:off x="9326880" y="2999232"/>
            <a:ext cx="475488" cy="1828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00" b="1">
                <a:solidFill>
                  <a:srgbClr val="FFFFFF"/>
                </a:solidFill>
              </a:rPr>
              <a:t>4</a:t>
            </a:r>
            <a:endParaRPr sz="1000"/>
          </a:p>
        </p:txBody>
      </p:sp>
      <p:sp>
        <p:nvSpPr>
          <p:cNvPr id="21" name="Text 19">
            <a:extLst xmlns:a="http://schemas.openxmlformats.org/drawingml/2006/main">
              <a:ext uri="{FF2B5EF4-FFF2-40B4-BE49-F238E27FC236}">
                <a16:creationId xmlns:a16="http://schemas.microsoft.com/office/drawing/2014/main" id="{6263017A-27B3-46F7-A76A-E70F8144FBB2}"/>
              </a:ext>
            </a:extLst>
          </p:cNvPr>
          <p:cNvSpPr>
            <a:spLocks xmlns:a="http://schemas.openxmlformats.org/drawingml/2006/main" noGrp="1"/>
          </p:cNvSpPr>
          <p:nvPr/>
        </p:nvSpPr>
        <p:spPr>
          <a:xfrm xmlns:a="http://schemas.openxmlformats.org/drawingml/2006/main">
            <a:off x="9948672" y="2862072"/>
            <a:ext cx="196596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400" b="1">
                <a:solidFill>
                  <a:srgbClr val="102A43"/>
                </a:solidFill>
              </a:rPr>
              <a:t>Delimitar</a:t>
            </a:r>
            <a:endParaRPr sz="1400"/>
          </a:p>
        </p:txBody>
      </p:sp>
      <p:sp>
        <p:nvSpPr>
          <p:cNvPr id="22" name="Text 20">
            <a:extLst xmlns:a="http://schemas.openxmlformats.org/drawingml/2006/main">
              <a:ext uri="{FF2B5EF4-FFF2-40B4-BE49-F238E27FC236}">
                <a16:creationId xmlns:a16="http://schemas.microsoft.com/office/drawing/2014/main" id="{CE8C4621-6F98-482F-AE12-B0D8894901DB}"/>
              </a:ext>
            </a:extLst>
          </p:cNvPr>
          <p:cNvSpPr>
            <a:spLocks xmlns:a="http://schemas.openxmlformats.org/drawingml/2006/main" noGrp="1"/>
          </p:cNvSpPr>
          <p:nvPr/>
        </p:nvSpPr>
        <p:spPr>
          <a:xfrm xmlns:a="http://schemas.openxmlformats.org/drawingml/2006/main">
            <a:off x="9948672" y="3200400"/>
            <a:ext cx="2057400" cy="1143000"/>
          </a:xfrm>
          <a:prstGeom xmlns:a="http://schemas.openxmlformats.org/drawingml/2006/main" prst="rect">
            <a:avLst/>
          </a:prstGeom>
          <a:noFill xmlns:a="http://schemas.openxmlformats.org/drawingml/2006/main"/>
        </p:spPr>
        <p:txBody>
          <a:bodyPr xmlns:a="http://schemas.openxmlformats.org/drawingml/2006/main" wrap="square" lIns="254" tIns="254" rIns="254" bIns="254" anchor="ctr">
            <a:normAutofit/>
          </a:bodyPr>
          <a:lstStyle xmlns:a="http://schemas.openxmlformats.org/drawingml/2006/main"/>
          <a:p xmlns:a="http://schemas.openxmlformats.org/drawingml/2006/main">
            <a:pPr marL="0" indent="0">
              <a:buNone/>
            </a:pPr>
            <a:r>
              <a:rPr sz="1060">
                <a:solidFill>
                  <a:srgbClr val="334155"/>
                </a:solidFill>
              </a:rPr>
              <a:t>Reportar casos indeterminados, supuestos y alcance del execution model soportado.</a:t>
            </a:r>
            <a:endParaRPr sz="1060"/>
          </a:p>
        </p:txBody>
      </p:sp>
      <p:sp>
        <p:nvSpPr>
          <p:cNvPr id="23" name="Shape 21">
            <a:extLst xmlns:a="http://schemas.openxmlformats.org/drawingml/2006/main">
              <a:ext uri="{FF2B5EF4-FFF2-40B4-BE49-F238E27FC236}">
                <a16:creationId xmlns:a16="http://schemas.microsoft.com/office/drawing/2014/main" id="{EEDFEC7C-100D-4994-AC72-EBBFBF296B22}"/>
              </a:ext>
            </a:extLst>
          </p:cNvPr>
          <p:cNvSpPr>
            <a:spLocks xmlns:a="http://schemas.openxmlformats.org/drawingml/2006/main" noGrp="1"/>
          </p:cNvSpPr>
          <p:nvPr/>
        </p:nvSpPr>
        <p:spPr>
          <a:xfrm xmlns:a="http://schemas.openxmlformats.org/drawingml/2006/main">
            <a:off x="502920" y="6446520"/>
            <a:ext cx="11201400" cy="0"/>
          </a:xfrm>
          <a:prstGeom xmlns:a="http://schemas.openxmlformats.org/drawingml/2006/main" prst="line">
            <a:avLst/>
          </a:prstGeom>
          <a:noFill xmlns:a="http://schemas.openxmlformats.org/drawingml/2006/main"/>
          <a:ln xmlns:a="http://schemas.openxmlformats.org/drawingml/2006/main" w="8890">
            <a:solidFill>
              <a:srgbClr val="CBD5E1"/>
            </a:solidFill>
            <a:prstDash val="solid"/>
          </a:ln>
        </p:spPr>
      </p:sp>
      <p:sp>
        <p:nvSpPr>
          <p:cNvPr id="24" name="Text 22">
            <a:extLst xmlns:a="http://schemas.openxmlformats.org/drawingml/2006/main">
              <a:ext uri="{FF2B5EF4-FFF2-40B4-BE49-F238E27FC236}">
                <a16:creationId xmlns:a16="http://schemas.microsoft.com/office/drawing/2014/main" id="{5931C260-B7AB-4801-9AEB-D3BE41A618D7}"/>
              </a:ext>
            </a:extLst>
          </p:cNvPr>
          <p:cNvSpPr>
            <a:spLocks xmlns:a="http://schemas.openxmlformats.org/drawingml/2006/main" noGrp="1"/>
          </p:cNvSpPr>
          <p:nvPr/>
        </p:nvSpPr>
        <p:spPr>
          <a:xfrm xmlns:a="http://schemas.openxmlformats.org/drawingml/2006/main">
            <a:off x="594360" y="6510528"/>
            <a:ext cx="7223760" cy="2011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750">
                <a:solidFill>
                  <a:srgbClr val="64748B"/>
                </a:solidFill>
                <a:latin typeface="Aptos"/>
                <a:ea typeface="Aptos"/>
                <a:cs typeface="Aptos"/>
              </a:rPr>
              <a:t>Objetivos</a:t>
            </a:r>
            <a:endParaRPr sz="750"/>
          </a:p>
        </p:txBody>
      </p:sp>
      <p:sp>
        <p:nvSpPr>
          <p:cNvPr id="25" name="Text 23">
            <a:extLst xmlns:a="http://schemas.openxmlformats.org/drawingml/2006/main">
              <a:ext uri="{FF2B5EF4-FFF2-40B4-BE49-F238E27FC236}">
                <a16:creationId xmlns:a16="http://schemas.microsoft.com/office/drawing/2014/main" id="{0F78BB1E-27D9-4BCE-AD59-4A4FD405A316}"/>
              </a:ext>
            </a:extLst>
          </p:cNvPr>
          <p:cNvSpPr>
            <a:spLocks xmlns:a="http://schemas.openxmlformats.org/drawingml/2006/main" noGrp="1"/>
          </p:cNvSpPr>
          <p:nvPr/>
        </p:nvSpPr>
        <p:spPr>
          <a:xfrm xmlns:a="http://schemas.openxmlformats.org/drawingml/2006/main">
            <a:off x="11228832" y="6492240"/>
            <a:ext cx="411480" cy="2286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800">
                <a:solidFill>
                  <a:srgbClr val="64748B"/>
                </a:solidFill>
                <a:latin typeface="Aptos"/>
                <a:ea typeface="Aptos"/>
                <a:cs typeface="Aptos"/>
              </a:rPr>
              <a:t>6</a:t>
            </a:r>
            <a:endParaRPr sz="800"/>
          </a:p>
        </p:txBody>
      </p:sp>
    </p:spTree>
    <p:extLst>
      <p:ext uri="{BB962C8B-B14F-4D97-AF65-F5344CB8AC3E}">
        <p14:creationId xmlns:p14="http://schemas.microsoft.com/office/powerpoint/2010/main" val="1214274313"/>
      </p:ext>
    </p:extLst>
  </p:cSld>
</p:sld>
</file>

<file path=ppt/slides/slide7.xml><?xml version="1.0" encoding="utf-8"?>
<p:sld xmlns:p="http://schemas.openxmlformats.org/presentationml/2006/main">
  <p:cSld>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00A34A0B-9AEA-441A-A820-CFEE44C2C45F}"/>
              </a:ext>
            </a:extLst>
          </p:cNvPr>
          <p:cNvSpPr>
            <a:spLocks xmlns:a="http://schemas.openxmlformats.org/drawingml/2006/main" noGrp="1"/>
          </p:cNvSpPr>
          <p:nvPr/>
        </p:nvSpPr>
        <p:spPr>
          <a:xfrm xmlns:a="http://schemas.openxmlformats.org/drawingml/2006/main">
            <a:off x="0" y="0"/>
            <a:ext cx="12191695" cy="109728"/>
          </a:xfrm>
          <a:prstGeom xmlns:a="http://schemas.openxmlformats.org/drawingml/2006/main" prst="rect">
            <a:avLst/>
          </a:prstGeom>
          <a:solidFill xmlns:a="http://schemas.openxmlformats.org/drawingml/2006/main">
            <a:srgbClr val="0F766E"/>
          </a:solidFill>
          <a:ln xmlns:a="http://schemas.openxmlformats.org/drawingml/2006/main" w="12700">
            <a:solidFill>
              <a:srgbClr val="0F766E"/>
            </a:solidFill>
            <a:prstDash val="solid"/>
          </a:ln>
        </p:spPr>
      </p:sp>
      <p:sp>
        <p:nvSpPr>
          <p:cNvPr id="3" name="Text 1">
            <a:extLst xmlns:a="http://schemas.openxmlformats.org/drawingml/2006/main">
              <a:ext uri="{FF2B5EF4-FFF2-40B4-BE49-F238E27FC236}">
                <a16:creationId xmlns:a16="http://schemas.microsoft.com/office/drawing/2014/main" id="{85C5CC15-31EB-4FBC-8435-5ED2428C19D5}"/>
              </a:ext>
            </a:extLst>
          </p:cNvPr>
          <p:cNvSpPr>
            <a:spLocks xmlns:a="http://schemas.openxmlformats.org/drawingml/2006/main" noGrp="1"/>
          </p:cNvSpPr>
          <p:nvPr/>
        </p:nvSpPr>
        <p:spPr>
          <a:xfrm xmlns:a="http://schemas.openxmlformats.org/drawingml/2006/main">
            <a:off x="658368" y="384048"/>
            <a:ext cx="292608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850" b="1">
                <a:solidFill>
                  <a:srgbClr val="2563EB"/>
                </a:solidFill>
                <a:latin typeface="Aptos"/>
                <a:ea typeface="Aptos"/>
                <a:cs typeface="Aptos"/>
              </a:rPr>
              <a:t>ALCANCE</a:t>
            </a:r>
            <a:endParaRPr sz="850"/>
          </a:p>
        </p:txBody>
      </p:sp>
      <p:sp>
        <p:nvSpPr>
          <p:cNvPr id="4" name="Text 2">
            <a:extLst xmlns:a="http://schemas.openxmlformats.org/drawingml/2006/main">
              <a:ext uri="{FF2B5EF4-FFF2-40B4-BE49-F238E27FC236}">
                <a16:creationId xmlns:a16="http://schemas.microsoft.com/office/drawing/2014/main" id="{C235CAA7-C2A4-4E60-A073-C9F36995F1AB}"/>
              </a:ext>
            </a:extLst>
          </p:cNvPr>
          <p:cNvSpPr>
            <a:spLocks xmlns:a="http://schemas.openxmlformats.org/drawingml/2006/main" noGrp="1"/>
          </p:cNvSpPr>
          <p:nvPr/>
        </p:nvSpPr>
        <p:spPr>
          <a:xfrm xmlns:a="http://schemas.openxmlformats.org/drawingml/2006/main">
            <a:off x="621792" y="621792"/>
            <a:ext cx="10881360" cy="530352"/>
          </a:xfrm>
          <a:prstGeom xmlns:a="http://schemas.openxmlformats.org/drawingml/2006/main" prst="rect">
            <a:avLst/>
          </a:prstGeom>
          <a:noFill xmlns:a="http://schemas.openxmlformats.org/drawingml/2006/main"/>
        </p:spPr>
        <p:txBody>
          <a:bodyPr xmlns:a="http://schemas.openxmlformats.org/drawingml/2006/main" wrap="square" lIns="254" tIns="254" rIns="254" bIns="254" anchor="ctr">
            <a:normAutofit/>
          </a:bodyPr>
          <a:lstStyle xmlns:a="http://schemas.openxmlformats.org/drawingml/2006/main"/>
          <a:p xmlns:a="http://schemas.openxmlformats.org/drawingml/2006/main">
            <a:pPr marL="0" indent="0">
              <a:buNone/>
            </a:pPr>
            <a:r>
              <a:rPr sz="2500" b="1">
                <a:solidFill>
                  <a:srgbClr val="102A43"/>
                </a:solidFill>
                <a:latin typeface="Aptos Display"/>
                <a:ea typeface="Aptos Display"/>
                <a:cs typeface="Aptos Display"/>
              </a:rPr>
              <a:t>6. Qué sí mide y qué no pretende resolver</a:t>
            </a:r>
            <a:endParaRPr sz="2500"/>
          </a:p>
        </p:txBody>
      </p:sp>
      <p:sp>
        <p:nvSpPr>
          <p:cNvPr id="5" name="Shape 3">
            <a:extLst xmlns:a="http://schemas.openxmlformats.org/drawingml/2006/main">
              <a:ext uri="{FF2B5EF4-FFF2-40B4-BE49-F238E27FC236}">
                <a16:creationId xmlns:a16="http://schemas.microsoft.com/office/drawing/2014/main" id="{69BF8837-A25B-480C-9DC3-B636623D5315}"/>
              </a:ext>
            </a:extLst>
          </p:cNvPr>
          <p:cNvSpPr>
            <a:spLocks xmlns:a="http://schemas.openxmlformats.org/drawingml/2006/main" noGrp="1"/>
          </p:cNvSpPr>
          <p:nvPr/>
        </p:nvSpPr>
        <p:spPr>
          <a:xfrm xmlns:a="http://schemas.openxmlformats.org/drawingml/2006/main">
            <a:off x="822960" y="1417320"/>
            <a:ext cx="914400" cy="411480"/>
          </a:xfrm>
          <a:prstGeom xmlns:a="http://schemas.openxmlformats.org/drawingml/2006/main" prst="roundRect">
            <a:avLst>
              <a:gd name="adj" fmla="val 17778"/>
            </a:avLst>
          </a:prstGeom>
          <a:solidFill xmlns:a="http://schemas.openxmlformats.org/drawingml/2006/main">
            <a:srgbClr val="16A34A"/>
          </a:solidFill>
          <a:ln xmlns:a="http://schemas.openxmlformats.org/drawingml/2006/main" w="10160">
            <a:solidFill>
              <a:srgbClr val="16A34A"/>
            </a:solidFill>
            <a:prstDash val="solid"/>
          </a:ln>
        </p:spPr>
      </p:sp>
      <p:sp>
        <p:nvSpPr>
          <p:cNvPr id="6" name="Text 4">
            <a:extLst xmlns:a="http://schemas.openxmlformats.org/drawingml/2006/main">
              <a:ext uri="{FF2B5EF4-FFF2-40B4-BE49-F238E27FC236}">
                <a16:creationId xmlns:a16="http://schemas.microsoft.com/office/drawing/2014/main" id="{B41BA74E-B936-4A18-A7B3-1E92700E323D}"/>
              </a:ext>
            </a:extLst>
          </p:cNvPr>
          <p:cNvSpPr>
            <a:spLocks xmlns:a="http://schemas.openxmlformats.org/drawingml/2006/main" noGrp="1"/>
          </p:cNvSpPr>
          <p:nvPr/>
        </p:nvSpPr>
        <p:spPr>
          <a:xfrm xmlns:a="http://schemas.openxmlformats.org/drawingml/2006/main">
            <a:off x="932688" y="1508760"/>
            <a:ext cx="694944" cy="228600"/>
          </a:xfrm>
          <a:prstGeom xmlns:a="http://schemas.openxmlformats.org/drawingml/2006/main" prst="rect">
            <a:avLst/>
          </a:prstGeom>
          <a:noFill xmlns:a="http://schemas.openxmlformats.org/drawingml/2006/main"/>
        </p:spPr>
        <p:txBody>
          <a:bodyPr xmlns:a="http://schemas.openxmlformats.org/drawingml/2006/main" wrap="square" lIns="381" tIns="381" rIns="381" bIns="381" anchor="ctr">
            <a:normAutofit/>
          </a:bodyPr>
          <a:lstStyle xmlns:a="http://schemas.openxmlformats.org/drawingml/2006/main"/>
          <a:p xmlns:a="http://schemas.openxmlformats.org/drawingml/2006/main">
            <a:pPr marL="0" indent="0" algn="ctr">
              <a:buNone/>
            </a:pPr>
            <a:r>
              <a:rPr sz="1300" b="1">
                <a:solidFill>
                  <a:srgbClr val="FFFFFF"/>
                </a:solidFill>
                <a:latin typeface="Aptos"/>
                <a:ea typeface="Aptos"/>
                <a:cs typeface="Aptos"/>
              </a:rPr>
              <a:t>SÍ</a:t>
            </a:r>
            <a:endParaRPr sz="1300"/>
          </a:p>
        </p:txBody>
      </p:sp>
      <p:sp>
        <p:nvSpPr>
          <p:cNvPr id="7" name="Text 5">
            <a:extLst xmlns:a="http://schemas.openxmlformats.org/drawingml/2006/main">
              <a:ext uri="{FF2B5EF4-FFF2-40B4-BE49-F238E27FC236}">
                <a16:creationId xmlns:a16="http://schemas.microsoft.com/office/drawing/2014/main" id="{0E9E0624-8384-4F43-9DBD-FE440D3C226D}"/>
              </a:ext>
            </a:extLst>
          </p:cNvPr>
          <p:cNvSpPr>
            <a:spLocks xmlns:a="http://schemas.openxmlformats.org/drawingml/2006/main" noGrp="1"/>
          </p:cNvSpPr>
          <p:nvPr/>
        </p:nvSpPr>
        <p:spPr>
          <a:xfrm xmlns:a="http://schemas.openxmlformats.org/drawingml/2006/main">
            <a:off x="960120" y="2011680"/>
            <a:ext cx="4709160" cy="2377440"/>
          </a:xfrm>
          <a:prstGeom xmlns:a="http://schemas.openxmlformats.org/drawingml/2006/main" prst="rect">
            <a:avLst/>
          </a:prstGeom>
          <a:noFill xmlns:a="http://schemas.openxmlformats.org/drawingml/2006/main"/>
        </p:spPr>
        <p:txBody>
          <a:bodyPr xmlns:a="http://schemas.openxmlformats.org/drawingml/2006/main" wrap="square" lIns="381" tIns="381" rIns="381" bIns="381" anchor="ctr">
            <a:normAutofit/>
          </a:bodyPr>
          <a:lstStyle xmlns:a="http://schemas.openxmlformats.org/drawingml/2006/main"/>
          <a:p xmlns:a="http://schemas.openxmlformats.org/drawingml/2006/main">
            <a:pPr marL="203200" indent="-203200">
              <a:buSzPct val="100000"/>
              <a:buChar char="•"/>
            </a:pPr>
            <a:r>
              <a:rPr sz="1300">
                <a:solidFill>
                  <a:srgbClr val="334155"/>
                </a:solidFill>
                <a:latin typeface="Aptos"/>
                <a:ea typeface="Aptos"/>
                <a:cs typeface="Aptos"/>
              </a:rPr>
              <a:t>Payload científico: inputs, intermedios y outputs finales.</a:t>
            </a:r>
            <a:endParaRPr sz="1300"/>
          </a:p>
          <a:p xmlns:a="http://schemas.openxmlformats.org/drawingml/2006/main">
            <a:pPr marL="203200" indent="-203200">
              <a:buSzPct val="100000"/>
              <a:buChar char="•"/>
            </a:pPr>
            <a:r>
              <a:rPr sz="1300">
                <a:solidFill>
                  <a:srgbClr val="334155"/>
                </a:solidFill>
                <a:latin typeface="Aptos"/>
                <a:ea typeface="Aptos"/>
                <a:cs typeface="Aptos"/>
              </a:rPr>
              <a:t>Una ejecución concreta, con placement observado.</a:t>
            </a:r>
            <a:endParaRPr sz="1300"/>
          </a:p>
          <a:p xmlns:a="http://schemas.openxmlformats.org/drawingml/2006/main">
            <a:pPr marL="203200" indent="-203200">
              <a:buSzPct val="100000"/>
              <a:buChar char="•"/>
            </a:pPr>
            <a:r>
              <a:rPr sz="1300">
                <a:solidFill>
                  <a:srgbClr val="334155"/>
                </a:solidFill>
                <a:latin typeface="Aptos"/>
                <a:ea typeface="Aptos"/>
                <a:cs typeface="Aptos"/>
              </a:rPr>
              <a:t>Comparación entre movimiento requerido y movimiento confirmado.</a:t>
            </a:r>
            <a:endParaRPr sz="1300"/>
          </a:p>
          <a:p xmlns:a="http://schemas.openxmlformats.org/drawingml/2006/main">
            <a:pPr marL="203200" indent="-203200">
              <a:buSzPct val="100000"/>
              <a:buChar char="•"/>
            </a:pPr>
            <a:r>
              <a:rPr sz="1300">
                <a:solidFill>
                  <a:srgbClr val="334155"/>
                </a:solidFill>
                <a:latin typeface="Aptos"/>
                <a:ea typeface="Aptos"/>
                <a:cs typeface="Aptos"/>
              </a:rPr>
              <a:t>Trazabilidad hacia Pegasus/HTCondor y decisiones fail-closed.</a:t>
            </a:r>
            <a:endParaRPr sz="1300"/>
          </a:p>
        </p:txBody>
      </p:sp>
      <p:sp>
        <p:nvSpPr>
          <p:cNvPr id="8" name="Shape 6">
            <a:extLst xmlns:a="http://schemas.openxmlformats.org/drawingml/2006/main">
              <a:ext uri="{FF2B5EF4-FFF2-40B4-BE49-F238E27FC236}">
                <a16:creationId xmlns:a16="http://schemas.microsoft.com/office/drawing/2014/main" id="{08CFAB9E-3082-452C-8D15-D53AC56E9887}"/>
              </a:ext>
            </a:extLst>
          </p:cNvPr>
          <p:cNvSpPr>
            <a:spLocks xmlns:a="http://schemas.openxmlformats.org/drawingml/2006/main" noGrp="1"/>
          </p:cNvSpPr>
          <p:nvPr/>
        </p:nvSpPr>
        <p:spPr>
          <a:xfrm xmlns:a="http://schemas.openxmlformats.org/drawingml/2006/main">
            <a:off x="6400800" y="1417320"/>
            <a:ext cx="914400" cy="411480"/>
          </a:xfrm>
          <a:prstGeom xmlns:a="http://schemas.openxmlformats.org/drawingml/2006/main" prst="roundRect">
            <a:avLst>
              <a:gd name="adj" fmla="val 17778"/>
            </a:avLst>
          </a:prstGeom>
          <a:solidFill xmlns:a="http://schemas.openxmlformats.org/drawingml/2006/main">
            <a:srgbClr val="B91C1C"/>
          </a:solidFill>
          <a:ln xmlns:a="http://schemas.openxmlformats.org/drawingml/2006/main" w="10160">
            <a:solidFill>
              <a:srgbClr val="B91C1C"/>
            </a:solidFill>
            <a:prstDash val="solid"/>
          </a:ln>
        </p:spPr>
      </p:sp>
      <p:sp>
        <p:nvSpPr>
          <p:cNvPr id="9" name="Text 7">
            <a:extLst xmlns:a="http://schemas.openxmlformats.org/drawingml/2006/main">
              <a:ext uri="{FF2B5EF4-FFF2-40B4-BE49-F238E27FC236}">
                <a16:creationId xmlns:a16="http://schemas.microsoft.com/office/drawing/2014/main" id="{0D241A85-385E-4C22-9317-4DCC02A5DD8E}"/>
              </a:ext>
            </a:extLst>
          </p:cNvPr>
          <p:cNvSpPr>
            <a:spLocks xmlns:a="http://schemas.openxmlformats.org/drawingml/2006/main" noGrp="1"/>
          </p:cNvSpPr>
          <p:nvPr/>
        </p:nvSpPr>
        <p:spPr>
          <a:xfrm xmlns:a="http://schemas.openxmlformats.org/drawingml/2006/main">
            <a:off x="6510528" y="1508760"/>
            <a:ext cx="694944" cy="228600"/>
          </a:xfrm>
          <a:prstGeom xmlns:a="http://schemas.openxmlformats.org/drawingml/2006/main" prst="rect">
            <a:avLst/>
          </a:prstGeom>
          <a:noFill xmlns:a="http://schemas.openxmlformats.org/drawingml/2006/main"/>
        </p:spPr>
        <p:txBody>
          <a:bodyPr xmlns:a="http://schemas.openxmlformats.org/drawingml/2006/main" wrap="square" lIns="381" tIns="381" rIns="381" bIns="381" anchor="ctr">
            <a:normAutofit/>
          </a:bodyPr>
          <a:lstStyle xmlns:a="http://schemas.openxmlformats.org/drawingml/2006/main"/>
          <a:p xmlns:a="http://schemas.openxmlformats.org/drawingml/2006/main">
            <a:pPr marL="0" indent="0" algn="ctr">
              <a:buNone/>
            </a:pPr>
            <a:r>
              <a:rPr sz="1300" b="1">
                <a:solidFill>
                  <a:srgbClr val="FFFFFF"/>
                </a:solidFill>
                <a:latin typeface="Aptos"/>
                <a:ea typeface="Aptos"/>
                <a:cs typeface="Aptos"/>
              </a:rPr>
              <a:t>NO</a:t>
            </a:r>
            <a:endParaRPr sz="1300"/>
          </a:p>
        </p:txBody>
      </p:sp>
      <p:sp>
        <p:nvSpPr>
          <p:cNvPr id="10" name="Text 8">
            <a:extLst xmlns:a="http://schemas.openxmlformats.org/drawingml/2006/main">
              <a:ext uri="{FF2B5EF4-FFF2-40B4-BE49-F238E27FC236}">
                <a16:creationId xmlns:a16="http://schemas.microsoft.com/office/drawing/2014/main" id="{A2C02FC2-3466-49E5-867C-C833B8F72D70}"/>
              </a:ext>
            </a:extLst>
          </p:cNvPr>
          <p:cNvSpPr>
            <a:spLocks xmlns:a="http://schemas.openxmlformats.org/drawingml/2006/main" noGrp="1"/>
          </p:cNvSpPr>
          <p:nvPr/>
        </p:nvSpPr>
        <p:spPr>
          <a:xfrm xmlns:a="http://schemas.openxmlformats.org/drawingml/2006/main">
            <a:off x="6537960" y="2011680"/>
            <a:ext cx="4709160" cy="2377440"/>
          </a:xfrm>
          <a:prstGeom xmlns:a="http://schemas.openxmlformats.org/drawingml/2006/main" prst="rect">
            <a:avLst/>
          </a:prstGeom>
          <a:noFill xmlns:a="http://schemas.openxmlformats.org/drawingml/2006/main"/>
        </p:spPr>
        <p:txBody>
          <a:bodyPr xmlns:a="http://schemas.openxmlformats.org/drawingml/2006/main" wrap="square" lIns="381" tIns="381" rIns="381" bIns="381" anchor="ctr">
            <a:normAutofit/>
          </a:bodyPr>
          <a:lstStyle xmlns:a="http://schemas.openxmlformats.org/drawingml/2006/main"/>
          <a:p xmlns:a="http://schemas.openxmlformats.org/drawingml/2006/main">
            <a:pPr marL="203200" indent="-203200">
              <a:buSzPct val="100000"/>
              <a:buChar char="•"/>
            </a:pPr>
            <a:r>
              <a:rPr sz="1300">
                <a:solidFill>
                  <a:srgbClr val="334155"/>
                </a:solidFill>
                <a:latin typeface="Aptos"/>
                <a:ea typeface="Aptos"/>
                <a:cs typeface="Aptos"/>
              </a:rPr>
              <a:t>No diseña un nuevo scheduler ni un nuevo WMS.</a:t>
            </a:r>
            <a:endParaRPr sz="1300"/>
          </a:p>
          <a:p xmlns:a="http://schemas.openxmlformats.org/drawingml/2006/main">
            <a:pPr marL="203200" indent="-203200">
              <a:buSzPct val="100000"/>
              <a:buChar char="•"/>
            </a:pPr>
            <a:r>
              <a:rPr sz="1300">
                <a:solidFill>
                  <a:srgbClr val="334155"/>
                </a:solidFill>
                <a:latin typeface="Aptos"/>
                <a:ea typeface="Aptos"/>
                <a:cs typeface="Aptos"/>
              </a:rPr>
              <a:t>No afirma que DME mida tiempo total, costo o throughput.</a:t>
            </a:r>
            <a:endParaRPr sz="1300"/>
          </a:p>
          <a:p xmlns:a="http://schemas.openxmlformats.org/drawingml/2006/main">
            <a:pPr marL="203200" indent="-203200">
              <a:buSzPct val="100000"/>
              <a:buChar char="•"/>
            </a:pPr>
            <a:r>
              <a:rPr sz="1300">
                <a:solidFill>
                  <a:srgbClr val="334155"/>
                </a:solidFill>
                <a:latin typeface="Aptos"/>
                <a:ea typeface="Aptos"/>
                <a:cs typeface="Aptos"/>
              </a:rPr>
              <a:t>No suma tráfico de red total ni bytes auxiliares como ciencia.</a:t>
            </a:r>
            <a:endParaRPr sz="1300"/>
          </a:p>
          <a:p xmlns:a="http://schemas.openxmlformats.org/drawingml/2006/main">
            <a:pPr marL="203200" indent="-203200">
              <a:buSzPct val="100000"/>
              <a:buChar char="•"/>
            </a:pPr>
            <a:r>
              <a:rPr sz="1300">
                <a:solidFill>
                  <a:srgbClr val="334155"/>
                </a:solidFill>
                <a:latin typeface="Aptos"/>
                <a:ea typeface="Aptos"/>
                <a:cs typeface="Aptos"/>
              </a:rPr>
              <a:t>No infiere ObservedMovement cuando la evidencia es incompleta.</a:t>
            </a:r>
            <a:endParaRPr sz="1300"/>
          </a:p>
        </p:txBody>
      </p:sp>
      <p:sp>
        <p:nvSpPr>
          <p:cNvPr id="11" name="Shape 9">
            <a:extLst xmlns:a="http://schemas.openxmlformats.org/drawingml/2006/main">
              <a:ext uri="{FF2B5EF4-FFF2-40B4-BE49-F238E27FC236}">
                <a16:creationId xmlns:a16="http://schemas.microsoft.com/office/drawing/2014/main" id="{AA6BDEE2-8F93-4324-928D-D2F598BFAE1C}"/>
              </a:ext>
            </a:extLst>
          </p:cNvPr>
          <p:cNvSpPr>
            <a:spLocks xmlns:a="http://schemas.openxmlformats.org/drawingml/2006/main" noGrp="1"/>
          </p:cNvSpPr>
          <p:nvPr/>
        </p:nvSpPr>
        <p:spPr>
          <a:xfrm xmlns:a="http://schemas.openxmlformats.org/drawingml/2006/main">
            <a:off x="1005840" y="5166360"/>
            <a:ext cx="10058400" cy="502920"/>
          </a:xfrm>
          <a:prstGeom xmlns:a="http://schemas.openxmlformats.org/drawingml/2006/main" prst="roundRect">
            <a:avLst>
              <a:gd name="adj" fmla="val 14545"/>
            </a:avLst>
          </a:prstGeom>
          <a:solidFill xmlns:a="http://schemas.openxmlformats.org/drawingml/2006/main">
            <a:srgbClr val="FFFFFF"/>
          </a:solidFill>
          <a:ln xmlns:a="http://schemas.openxmlformats.org/drawingml/2006/main" w="10160">
            <a:solidFill>
              <a:srgbClr val="CBD5E1"/>
            </a:solidFill>
            <a:prstDash val="solid"/>
          </a:ln>
        </p:spPr>
      </p:sp>
      <p:sp>
        <p:nvSpPr>
          <p:cNvPr id="12" name="Text 10">
            <a:extLst xmlns:a="http://schemas.openxmlformats.org/drawingml/2006/main">
              <a:ext uri="{FF2B5EF4-FFF2-40B4-BE49-F238E27FC236}">
                <a16:creationId xmlns:a16="http://schemas.microsoft.com/office/drawing/2014/main" id="{7C6D2816-C3DB-4C40-8529-DD34FDF409DA}"/>
              </a:ext>
            </a:extLst>
          </p:cNvPr>
          <p:cNvSpPr>
            <a:spLocks xmlns:a="http://schemas.openxmlformats.org/drawingml/2006/main" noGrp="1"/>
          </p:cNvSpPr>
          <p:nvPr/>
        </p:nvSpPr>
        <p:spPr>
          <a:xfrm xmlns:a="http://schemas.openxmlformats.org/drawingml/2006/main">
            <a:off x="1170432" y="5294376"/>
            <a:ext cx="9729216" cy="246888"/>
          </a:xfrm>
          <a:prstGeom xmlns:a="http://schemas.openxmlformats.org/drawingml/2006/main" prst="rect">
            <a:avLst/>
          </a:prstGeom>
          <a:noFill xmlns:a="http://schemas.openxmlformats.org/drawingml/2006/main"/>
        </p:spPr>
        <p:txBody>
          <a:bodyPr xmlns:a="http://schemas.openxmlformats.org/drawingml/2006/main" wrap="square" lIns="381" tIns="381" rIns="381" bIns="381" anchor="ctr">
            <a:normAutofit/>
          </a:bodyPr>
          <a:lstStyle xmlns:a="http://schemas.openxmlformats.org/drawingml/2006/main"/>
          <a:p xmlns:a="http://schemas.openxmlformats.org/drawingml/2006/main">
            <a:pPr marL="0" indent="0">
              <a:buNone/>
            </a:pPr>
            <a:r>
              <a:rPr sz="1120">
                <a:solidFill>
                  <a:srgbClr val="334155"/>
                </a:solidFill>
                <a:latin typeface="Aptos"/>
                <a:ea typeface="Aptos"/>
                <a:cs typeface="Aptos"/>
              </a:rPr>
              <a:t>Esta delimitación evita que la contribución se malinterprete como optimización global. La tesis propone una herramienta de medición y diagnóstico.</a:t>
            </a:r>
            <a:endParaRPr sz="1120"/>
          </a:p>
        </p:txBody>
      </p:sp>
      <p:sp>
        <p:nvSpPr>
          <p:cNvPr id="13" name="Shape 11">
            <a:extLst xmlns:a="http://schemas.openxmlformats.org/drawingml/2006/main">
              <a:ext uri="{FF2B5EF4-FFF2-40B4-BE49-F238E27FC236}">
                <a16:creationId xmlns:a16="http://schemas.microsoft.com/office/drawing/2014/main" id="{B6E57491-3AD3-4F7B-A538-3DF20C7574E8}"/>
              </a:ext>
            </a:extLst>
          </p:cNvPr>
          <p:cNvSpPr>
            <a:spLocks xmlns:a="http://schemas.openxmlformats.org/drawingml/2006/main" noGrp="1"/>
          </p:cNvSpPr>
          <p:nvPr/>
        </p:nvSpPr>
        <p:spPr>
          <a:xfrm xmlns:a="http://schemas.openxmlformats.org/drawingml/2006/main">
            <a:off x="502920" y="6446520"/>
            <a:ext cx="11201400" cy="0"/>
          </a:xfrm>
          <a:prstGeom xmlns:a="http://schemas.openxmlformats.org/drawingml/2006/main" prst="line">
            <a:avLst/>
          </a:prstGeom>
          <a:noFill xmlns:a="http://schemas.openxmlformats.org/drawingml/2006/main"/>
          <a:ln xmlns:a="http://schemas.openxmlformats.org/drawingml/2006/main" w="8890">
            <a:solidFill>
              <a:srgbClr val="CBD5E1"/>
            </a:solidFill>
            <a:prstDash val="solid"/>
          </a:ln>
        </p:spPr>
      </p:sp>
      <p:sp>
        <p:nvSpPr>
          <p:cNvPr id="14" name="Text 12">
            <a:extLst xmlns:a="http://schemas.openxmlformats.org/drawingml/2006/main">
              <a:ext uri="{FF2B5EF4-FFF2-40B4-BE49-F238E27FC236}">
                <a16:creationId xmlns:a16="http://schemas.microsoft.com/office/drawing/2014/main" id="{36CB65EA-36A4-4EB4-B672-A5BA659042E3}"/>
              </a:ext>
            </a:extLst>
          </p:cNvPr>
          <p:cNvSpPr>
            <a:spLocks xmlns:a="http://schemas.openxmlformats.org/drawingml/2006/main" noGrp="1"/>
          </p:cNvSpPr>
          <p:nvPr/>
        </p:nvSpPr>
        <p:spPr>
          <a:xfrm xmlns:a="http://schemas.openxmlformats.org/drawingml/2006/main">
            <a:off x="594360" y="6510528"/>
            <a:ext cx="7223760" cy="2011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750">
                <a:solidFill>
                  <a:srgbClr val="64748B"/>
                </a:solidFill>
                <a:latin typeface="Aptos"/>
                <a:ea typeface="Aptos"/>
                <a:cs typeface="Aptos"/>
              </a:rPr>
              <a:t>Alcance y no objetivos</a:t>
            </a:r>
            <a:endParaRPr sz="750"/>
          </a:p>
        </p:txBody>
      </p:sp>
      <p:sp>
        <p:nvSpPr>
          <p:cNvPr id="15" name="Text 13">
            <a:extLst xmlns:a="http://schemas.openxmlformats.org/drawingml/2006/main">
              <a:ext uri="{FF2B5EF4-FFF2-40B4-BE49-F238E27FC236}">
                <a16:creationId xmlns:a16="http://schemas.microsoft.com/office/drawing/2014/main" id="{DEFE159D-4596-4895-8EF2-AC676B240852}"/>
              </a:ext>
            </a:extLst>
          </p:cNvPr>
          <p:cNvSpPr>
            <a:spLocks xmlns:a="http://schemas.openxmlformats.org/drawingml/2006/main" noGrp="1"/>
          </p:cNvSpPr>
          <p:nvPr/>
        </p:nvSpPr>
        <p:spPr>
          <a:xfrm xmlns:a="http://schemas.openxmlformats.org/drawingml/2006/main">
            <a:off x="11228832" y="6492240"/>
            <a:ext cx="411480" cy="2286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800">
                <a:solidFill>
                  <a:srgbClr val="64748B"/>
                </a:solidFill>
                <a:latin typeface="Aptos"/>
                <a:ea typeface="Aptos"/>
                <a:cs typeface="Aptos"/>
              </a:rPr>
              <a:t>7</a:t>
            </a:r>
            <a:endParaRPr sz="800"/>
          </a:p>
        </p:txBody>
      </p:sp>
    </p:spTree>
    <p:extLst>
      <p:ext uri="{BB962C8B-B14F-4D97-AF65-F5344CB8AC3E}">
        <p14:creationId xmlns:p14="http://schemas.microsoft.com/office/powerpoint/2010/main" val="1880554082"/>
      </p:ext>
    </p:extLst>
  </p:cSld>
</p:sld>
</file>

<file path=ppt/slides/slide8.xml><?xml version="1.0" encoding="utf-8"?>
<p:sld xmlns:p="http://schemas.openxmlformats.org/presentationml/2006/main">
  <p:cSld>
    <p:spTree>
      <p:nvGrpSpPr>
        <p:cNvPr id="1" name=""/>
        <p:cNvGrpSpPr/>
        <p:nvPr/>
      </p:nvGrpSpPr>
      <p:grpSpPr>
        <a:xfrm xmlns:a="http://schemas.openxmlformats.org/drawingml/2006/main"/>
      </p:grpSpPr>
      <p:sp>
        <p:nvSpPr>
          <p:cNvPr id="10" name="section-accent">
            <a:extLst xmlns:a="http://schemas.openxmlformats.org/drawingml/2006/main">
              <a:ext uri="{FF2B5EF4-FFF2-40B4-BE49-F238E27FC236}">
                <a16:creationId xmlns:a16="http://schemas.microsoft.com/office/drawing/2014/main" id="{C3E04A80-64F1-4FF6-9FB2-9331BE6A48B0}"/>
              </a:ext>
            </a:extLst>
          </p:cNvPr>
          <p:cNvSpPr>
            <a:spLocks xmlns:a="http://schemas.openxmlformats.org/drawingml/2006/main" noGrp="1"/>
          </p:cNvSpPr>
          <p:nvPr/>
        </p:nvSpPr>
        <p:spPr>
          <a:xfrm xmlns:a="http://schemas.openxmlformats.org/drawingml/2006/main">
            <a:off x="0" y="0"/>
            <a:ext cx="12192000" cy="114300"/>
          </a:xfrm>
          <a:prstGeom xmlns:a="http://schemas.openxmlformats.org/drawingml/2006/main" prst="rect">
            <a:avLst/>
          </a:prstGeom>
          <a:solidFill xmlns:a="http://schemas.openxmlformats.org/drawingml/2006/main">
            <a:srgbClr val="6D28D9"/>
          </a:solidFill>
          <a:ln xmlns:a="http://schemas.openxmlformats.org/drawingml/2006/main" w="0">
            <a:solidFill>
              <a:srgbClr val="6D28D9"/>
            </a:solidFill>
            <a:prstDash val="solid"/>
          </a:ln>
        </p:spPr>
      </p:sp>
      <p:sp>
        <p:nvSpPr>
          <p:cNvPr id="2" name="section-label">
            <a:extLst xmlns:a="http://schemas.openxmlformats.org/drawingml/2006/main">
              <a:ext uri="{FF2B5EF4-FFF2-40B4-BE49-F238E27FC236}">
                <a16:creationId xmlns:a16="http://schemas.microsoft.com/office/drawing/2014/main" id="{BB04EA1F-9102-4C06-BDC7-134DC8430276}"/>
              </a:ext>
            </a:extLst>
          </p:cNvPr>
          <p:cNvSpPr>
            <a:spLocks xmlns:a="http://schemas.openxmlformats.org/drawingml/2006/main" noGrp="1"/>
          </p:cNvSpPr>
          <p:nvPr/>
        </p:nvSpPr>
        <p:spPr>
          <a:xfrm xmlns:a="http://schemas.openxmlformats.org/drawingml/2006/main">
            <a:off x="647700" y="352425"/>
            <a:ext cx="10668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buNone/>
              <a:defRPr sz="825" b="1">
                <a:solidFill>
                  <a:srgbClr val="6D28D9"/>
                </a:solidFill>
                <a:latin typeface="Aptos"/>
                <a:ea typeface="Aptos"/>
                <a:cs typeface="Aptos"/>
              </a:defRPr>
            </a:pPr>
            <a:r>
              <a:rPr sz="825" b="1">
                <a:solidFill>
                  <a:srgbClr val="6D28D9"/>
                </a:solidFill>
                <a:latin typeface="Aptos"/>
                <a:ea typeface="Aptos"/>
                <a:cs typeface="Aptos"/>
              </a:rPr>
              <a:t>ESTADO DEL ARTE</a:t>
            </a:r>
          </a:p>
        </p:txBody>
      </p:sp>
      <p:sp>
        <p:nvSpPr>
          <p:cNvPr id="3" name="slide-heading">
            <a:extLst xmlns:a="http://schemas.openxmlformats.org/drawingml/2006/main">
              <a:ext uri="{FF2B5EF4-FFF2-40B4-BE49-F238E27FC236}">
                <a16:creationId xmlns:a16="http://schemas.microsoft.com/office/drawing/2014/main" id="{14D5604C-9CE4-49B9-BDA9-6D292C4C69F4}"/>
              </a:ext>
            </a:extLst>
          </p:cNvPr>
          <p:cNvSpPr>
            <a:spLocks xmlns:a="http://schemas.openxmlformats.org/drawingml/2006/main" noGrp="1"/>
          </p:cNvSpPr>
          <p:nvPr/>
        </p:nvSpPr>
        <p:spPr>
          <a:xfrm xmlns:a="http://schemas.openxmlformats.org/drawingml/2006/main">
            <a:off x="609600" y="619125"/>
            <a:ext cx="109537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buNone/>
              <a:defRPr sz="2250" b="1">
                <a:solidFill>
                  <a:srgbClr val="142D45"/>
                </a:solidFill>
                <a:latin typeface="Aptos"/>
                <a:ea typeface="Aptos"/>
                <a:cs typeface="Aptos"/>
              </a:defRPr>
            </a:pPr>
            <a:r>
              <a:rPr sz="2250" b="1">
                <a:solidFill>
                  <a:srgbClr val="142D45"/>
                </a:solidFill>
                <a:latin typeface="Aptos"/>
                <a:ea typeface="Aptos"/>
                <a:cs typeface="Aptos"/>
              </a:rPr>
              <a:t>7. Qué aporta cada línea de investigación</a:t>
            </a:r>
          </a:p>
        </p:txBody>
      </p:sp>
      <p:sp>
        <p:nvSpPr>
          <p:cNvPr id="4" name="slide-subtitle">
            <a:extLst xmlns:a="http://schemas.openxmlformats.org/drawingml/2006/main">
              <a:ext uri="{FF2B5EF4-FFF2-40B4-BE49-F238E27FC236}">
                <a16:creationId xmlns:a16="http://schemas.microsoft.com/office/drawing/2014/main" id="{B1A4D5CE-90EB-400E-9D09-CEA98EAD9BCA}"/>
              </a:ext>
            </a:extLst>
          </p:cNvPr>
          <p:cNvSpPr>
            <a:spLocks xmlns:a="http://schemas.openxmlformats.org/drawingml/2006/main" noGrp="1"/>
          </p:cNvSpPr>
          <p:nvPr/>
        </p:nvSpPr>
        <p:spPr>
          <a:xfrm xmlns:a="http://schemas.openxmlformats.org/drawingml/2006/main">
            <a:off x="647700" y="1219200"/>
            <a:ext cx="10858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buNone/>
              <a:defRPr sz="1163">
                <a:solidFill>
                  <a:srgbClr val="34485D"/>
                </a:solidFill>
                <a:latin typeface="Aptos"/>
                <a:ea typeface="Aptos"/>
                <a:cs typeface="Aptos"/>
              </a:defRPr>
            </a:pPr>
            <a:r>
              <a:rPr sz="1163">
                <a:solidFill>
                  <a:srgbClr val="34485D"/>
                </a:solidFill>
                <a:latin typeface="Aptos"/>
                <a:ea typeface="Aptos"/>
                <a:cs typeface="Aptos"/>
              </a:rPr>
              <a:t>Estos estudios dan contexto y herramientas conceptuales; sus resultados no son resultados de Analyzer.</a:t>
            </a:r>
          </a:p>
        </p:txBody>
      </p:sp>
      <p:sp>
        <p:nvSpPr>
          <p:cNvPr id="5" name="rule-677-52">
            <a:extLst xmlns:a="http://schemas.openxmlformats.org/drawingml/2006/main">
              <a:ext uri="{FF2B5EF4-FFF2-40B4-BE49-F238E27FC236}">
                <a16:creationId xmlns:a16="http://schemas.microsoft.com/office/drawing/2014/main" id="{6A1E72F9-95BA-4802-A8C7-EF9C0D569F90}"/>
              </a:ext>
            </a:extLst>
          </p:cNvPr>
          <p:cNvSpPr>
            <a:spLocks xmlns:a="http://schemas.openxmlformats.org/drawingml/2006/main" noGrp="1"/>
          </p:cNvSpPr>
          <p:nvPr/>
        </p:nvSpPr>
        <p:spPr>
          <a:xfrm xmlns:a="http://schemas.openxmlformats.org/drawingml/2006/main">
            <a:off x="495300" y="6448425"/>
            <a:ext cx="11201400" cy="9525"/>
          </a:xfrm>
          <a:prstGeom xmlns:a="http://schemas.openxmlformats.org/drawingml/2006/main" prst="rect">
            <a:avLst/>
          </a:prstGeom>
          <a:solidFill xmlns:a="http://schemas.openxmlformats.org/drawingml/2006/main">
            <a:srgbClr val="CBD5E1"/>
          </a:solidFill>
          <a:ln xmlns:a="http://schemas.openxmlformats.org/drawingml/2006/main" w="0">
            <a:solidFill>
              <a:srgbClr val="CBD5E1"/>
            </a:solidFill>
            <a:prstDash val="solid"/>
          </a:ln>
        </p:spPr>
      </p:sp>
      <p:sp>
        <p:nvSpPr>
          <p:cNvPr id="6" name="footer-label">
            <a:extLst xmlns:a="http://schemas.openxmlformats.org/drawingml/2006/main">
              <a:ext uri="{FF2B5EF4-FFF2-40B4-BE49-F238E27FC236}">
                <a16:creationId xmlns:a16="http://schemas.microsoft.com/office/drawing/2014/main" id="{47584705-EBEA-433E-978D-5875BC180F8E}"/>
              </a:ext>
            </a:extLst>
          </p:cNvPr>
          <p:cNvSpPr>
            <a:spLocks xmlns:a="http://schemas.openxmlformats.org/drawingml/2006/main" noGrp="1"/>
          </p:cNvSpPr>
          <p:nvPr/>
        </p:nvSpPr>
        <p:spPr>
          <a:xfrm xmlns:a="http://schemas.openxmlformats.org/drawingml/2006/main">
            <a:off x="590550" y="6496050"/>
            <a:ext cx="9620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buNone/>
              <a:defRPr sz="750">
                <a:solidFill>
                  <a:srgbClr val="64748B"/>
                </a:solidFill>
                <a:latin typeface="Aptos"/>
                <a:ea typeface="Aptos"/>
                <a:cs typeface="Aptos"/>
              </a:defRPr>
            </a:pPr>
            <a:r>
              <a:rPr sz="750">
                <a:solidFill>
                  <a:srgbClr val="64748B"/>
                </a:solidFill>
                <a:latin typeface="Aptos"/>
                <a:ea typeface="Aptos"/>
                <a:cs typeface="Aptos"/>
              </a:rPr>
              <a:t>Estado del arte · autores, hallazgos y relación con la tesis</a:t>
            </a:r>
          </a:p>
        </p:txBody>
      </p:sp>
      <p:sp>
        <p:nvSpPr>
          <p:cNvPr id="7" name="folio">
            <a:extLst xmlns:a="http://schemas.openxmlformats.org/drawingml/2006/main">
              <a:ext uri="{FF2B5EF4-FFF2-40B4-BE49-F238E27FC236}">
                <a16:creationId xmlns:a16="http://schemas.microsoft.com/office/drawing/2014/main" id="{BDC7F34E-36D9-4349-92E0-A034FA14E3F9}"/>
              </a:ext>
            </a:extLst>
          </p:cNvPr>
          <p:cNvSpPr>
            <a:spLocks xmlns:a="http://schemas.openxmlformats.org/drawingml/2006/main" noGrp="1"/>
          </p:cNvSpPr>
          <p:nvPr/>
        </p:nvSpPr>
        <p:spPr>
          <a:xfrm xmlns:a="http://schemas.openxmlformats.org/drawingml/2006/main">
            <a:off x="11201400" y="6496050"/>
            <a:ext cx="4572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r">
              <a:buNone/>
              <a:defRPr sz="750">
                <a:solidFill>
                  <a:srgbClr val="64748B"/>
                </a:solidFill>
                <a:latin typeface="Aptos"/>
                <a:ea typeface="Aptos"/>
                <a:cs typeface="Aptos"/>
              </a:defRPr>
            </a:pPr>
            <a:r>
              <a:rPr sz="750">
                <a:solidFill>
                  <a:srgbClr val="64748B"/>
                </a:solidFill>
                <a:latin typeface="Aptos"/>
                <a:ea typeface="Aptos"/>
                <a:cs typeface="Aptos"/>
              </a:rPr>
              <a:t>8</a:t>
            </a:r>
          </a:p>
        </p:txBody>
      </p:sp>
      <p:graphicFrame>
        <p:nvGraphicFramePr>
          <p:cNvPr id="19" name=""/>
          <p:cNvGraphicFramePr/>
          <p:nvPr/>
        </p:nvGraphicFramePr>
        <p:xfrm>
          <a:off xmlns:a="http://schemas.openxmlformats.org/drawingml/2006/main" x="647700" y="1657350"/>
          <a:ext xmlns:a="http://schemas.openxmlformats.org/drawingml/2006/main" cx="10896600" cy="4019550"/>
        </p:xfrm>
        <a:graphic xmlns:a="http://schemas.openxmlformats.org/drawingml/2006/main">
          <a:graphicData uri="http://schemas.openxmlformats.org/drawingml/2006/table">
            <a:tbl>
              <a:tblPr firstRow="0" bandRow="0"/>
              <a:tblGrid>
                <a:gridCol w="1943100"/>
                <a:gridCol w="5219700"/>
                <a:gridCol w="3733800"/>
              </a:tblGrid>
              <a:tr h="803910">
                <a:tc>
                  <a:txBody>
                    <a:bodyPr wrap="square" lIns="85725" tIns="47625" rIns="85725" bIns="47625">
                      <a:normAutofit/>
                    </a:bodyPr>
                    <a:lstStyle/>
                    <a:p>
                      <a:pPr algn="l">
                        <a:buNone/>
                      </a:pPr>
                      <a:r>
                        <a:rPr sz="1102" b="1">
                          <a:solidFill>
                            <a:srgbClr val="142D45"/>
                          </a:solidFill>
                          <a:latin typeface="Aptos"/>
                          <a:ea typeface="Aptos"/>
                          <a:cs typeface="Aptos"/>
                        </a:rPr>
                        <a:t>Línea</a:t>
                      </a:r>
                    </a:p>
                  </a:txBody>
                  <a:tcPr marL="91440" marR="91440" marT="45720" marB="45720" anchor="ctr">
                    <a:solidFill>
                      <a:srgbClr val="E8EEF5"/>
                    </a:solidFill>
                  </a:tcPr>
                </a:tc>
                <a:tc>
                  <a:txBody>
                    <a:bodyPr wrap="square" lIns="85725" tIns="47625" rIns="85725" bIns="47625">
                      <a:normAutofit/>
                    </a:bodyPr>
                    <a:lstStyle/>
                    <a:p>
                      <a:pPr algn="l">
                        <a:buNone/>
                      </a:pPr>
                      <a:r>
                        <a:rPr sz="1102" b="1">
                          <a:solidFill>
                            <a:srgbClr val="142D45"/>
                          </a:solidFill>
                          <a:latin typeface="Aptos"/>
                          <a:ea typeface="Aptos"/>
                          <a:cs typeface="Aptos"/>
                        </a:rPr>
                        <a:t>Autores y qué encontraron</a:t>
                      </a:r>
                    </a:p>
                  </a:txBody>
                  <a:tcPr marL="91440" marR="91440" marT="45720" marB="45720" anchor="ctr">
                    <a:solidFill>
                      <a:srgbClr val="E8EEF5"/>
                    </a:solidFill>
                  </a:tcPr>
                </a:tc>
                <a:tc>
                  <a:txBody>
                    <a:bodyPr wrap="square" lIns="85725" tIns="47625" rIns="85725" bIns="47625">
                      <a:normAutofit/>
                    </a:bodyPr>
                    <a:lstStyle/>
                    <a:p>
                      <a:pPr algn="l">
                        <a:buNone/>
                      </a:pPr>
                      <a:r>
                        <a:rPr sz="1102" b="1">
                          <a:solidFill>
                            <a:srgbClr val="142D45"/>
                          </a:solidFill>
                          <a:latin typeface="Aptos"/>
                          <a:ea typeface="Aptos"/>
                          <a:cs typeface="Aptos"/>
                        </a:rPr>
                        <a:t>Por qué sirve y cuál es la diferencia</a:t>
                      </a:r>
                    </a:p>
                  </a:txBody>
                  <a:tcPr marL="91440" marR="91440" marT="45720" marB="45720" anchor="ctr">
                    <a:solidFill>
                      <a:srgbClr val="E8EEF5"/>
                    </a:solidFill>
                  </a:tcPr>
                </a:tc>
              </a:tr>
              <a:tr h="803910">
                <a:tc>
                  <a:txBody>
                    <a:bodyPr wrap="square" lIns="85725" tIns="47625" rIns="85725" bIns="47625">
                      <a:normAutofit/>
                    </a:bodyPr>
                    <a:lstStyle/>
                    <a:p>
                      <a:pPr algn="l">
                        <a:buNone/>
                      </a:pPr>
                      <a:r>
                        <a:rPr sz="1140" b="1">
                          <a:solidFill>
                            <a:srgbClr val="34485D"/>
                          </a:solidFill>
                          <a:latin typeface="Aptos"/>
                          <a:ea typeface="Aptos"/>
                          <a:cs typeface="Aptos"/>
                        </a:rPr>
                        <a:t>Pegasus y workflows</a:t>
                      </a:r>
                    </a:p>
                  </a:txBody>
                  <a:tcPr marL="91440" marR="91440" marT="45720" marB="45720" anchor="ctr">
                    <a:solidFill>
                      <a:srgbClr val="FFFFFF"/>
                    </a:solidFill>
                  </a:tcPr>
                </a:tc>
                <a:tc>
                  <a:txBody>
                    <a:bodyPr wrap="square" lIns="85725" tIns="47625" rIns="85725" bIns="47625">
                      <a:normAutofit/>
                    </a:bodyPr>
                    <a:lstStyle/>
                    <a:p>
                      <a:pPr algn="l">
                        <a:buNone/>
                      </a:pPr>
                      <a:r>
                        <a:rPr sz="1140" b="0">
                          <a:solidFill>
                            <a:srgbClr val="34485D"/>
                          </a:solidFill>
                          <a:latin typeface="Aptos"/>
                          <a:ea typeface="Aptos"/>
                          <a:cs typeface="Aptos"/>
                        </a:rPr>
                        <a:t>Ewa Deelman et al. (USC/ISI, 2015): Pegasus mapea DAGs a ejecución distribuida. Shishir Bharathi et al. (USC/ISI, 2008): caracterizan cinco aplicaciones científicas.</a:t>
                      </a:r>
                    </a:p>
                  </a:txBody>
                  <a:tcPr marL="91440" marR="91440" marT="45720" marB="45720" anchor="ctr">
                    <a:solidFill>
                      <a:srgbClr val="FFFFFF"/>
                    </a:solidFill>
                  </a:tcPr>
                </a:tc>
                <a:tc>
                  <a:txBody>
                    <a:bodyPr wrap="square" lIns="85725" tIns="47625" rIns="85725" bIns="47625">
                      <a:normAutofit/>
                    </a:bodyPr>
                    <a:lstStyle/>
                    <a:p>
                      <a:pPr algn="l">
                        <a:buNone/>
                      </a:pPr>
                      <a:r>
                        <a:rPr sz="1140" b="0">
                          <a:solidFill>
                            <a:srgbClr val="34485D"/>
                          </a:solidFill>
                          <a:latin typeface="Aptos"/>
                          <a:ea typeface="Aptos"/>
                          <a:cs typeface="Aptos"/>
                        </a:rPr>
                        <a:t>Contexto para separar DAG, placement y staging. La propuesta oficial fija los patrones de esta tesis.</a:t>
                      </a:r>
                    </a:p>
                  </a:txBody>
                  <a:tcPr marL="91440" marR="91440" marT="45720" marB="45720" anchor="ctr">
                    <a:solidFill>
                      <a:srgbClr val="FFFFFF"/>
                    </a:solidFill>
                  </a:tcPr>
                </a:tc>
              </a:tr>
              <a:tr h="803910">
                <a:tc>
                  <a:txBody>
                    <a:bodyPr wrap="square" lIns="85725" tIns="47625" rIns="85725" bIns="47625">
                      <a:normAutofit/>
                    </a:bodyPr>
                    <a:lstStyle/>
                    <a:p>
                      <a:pPr algn="l">
                        <a:buNone/>
                      </a:pPr>
                      <a:r>
                        <a:rPr sz="1140" b="1">
                          <a:solidFill>
                            <a:srgbClr val="34485D"/>
                          </a:solidFill>
                          <a:latin typeface="Aptos"/>
                          <a:ea typeface="Aptos"/>
                          <a:cs typeface="Aptos"/>
                        </a:rPr>
                        <a:t>Ubicación y scheduling</a:t>
                      </a:r>
                    </a:p>
                  </a:txBody>
                  <a:tcPr marL="91440" marR="91440" marT="45720" marB="45720" anchor="ctr">
                    <a:solidFill>
                      <a:srgbClr val="F8FAFC"/>
                    </a:solidFill>
                  </a:tcPr>
                </a:tc>
                <a:tc>
                  <a:txBody>
                    <a:bodyPr wrap="square" lIns="85725" tIns="47625" rIns="85725" bIns="47625">
                      <a:normAutofit/>
                    </a:bodyPr>
                    <a:lstStyle/>
                    <a:p>
                      <a:pPr algn="l">
                        <a:buNone/>
                      </a:pPr>
                      <a:r>
                        <a:rPr sz="1140" b="0">
                          <a:solidFill>
                            <a:srgbClr val="34485D"/>
                          </a:solidFill>
                          <a:latin typeface="Aptos"/>
                          <a:ea typeface="Aptos"/>
                          <a:cs typeface="Aptos"/>
                        </a:rPr>
                        <a:t>Ilia Pietri y Rizos Sakellariou (2018): colocación para reducir comunicación. Daniel Nguyen y Karen Karavanic (2021): camino crítico. Aurelio Antonio Vivas Meza (asesor de esta tesis; Uniandes, 2026): nFlows y scheduling NUMA; 521 escenarios, mejor caso 1.8×.</a:t>
                      </a:r>
                    </a:p>
                  </a:txBody>
                  <a:tcPr marL="91440" marR="91440" marT="45720" marB="45720" anchor="ctr">
                    <a:solidFill>
                      <a:srgbClr val="F8FAFC"/>
                    </a:solidFill>
                  </a:tcPr>
                </a:tc>
                <a:tc>
                  <a:txBody>
                    <a:bodyPr wrap="square" lIns="85725" tIns="47625" rIns="85725" bIns="47625">
                      <a:normAutofit/>
                    </a:bodyPr>
                    <a:lstStyle/>
                    <a:p>
                      <a:pPr algn="l">
                        <a:buNone/>
                      </a:pPr>
                      <a:r>
                        <a:rPr sz="1140" b="0">
                          <a:solidFill>
                            <a:srgbClr val="34485D"/>
                          </a:solidFill>
                          <a:latin typeface="Aptos"/>
                          <a:ea typeface="Aptos"/>
                          <a:cs typeface="Aptos"/>
                        </a:rPr>
                        <a:t>La localidad afecta el movimiento. Estos trabajos abordan scheduling o camino crítico, no reconciliación condorio–HTCondor.</a:t>
                      </a:r>
                    </a:p>
                  </a:txBody>
                  <a:tcPr marL="91440" marR="91440" marT="45720" marB="45720" anchor="ctr">
                    <a:solidFill>
                      <a:srgbClr val="F8FAFC"/>
                    </a:solidFill>
                  </a:tcPr>
                </a:tc>
              </a:tr>
              <a:tr h="803910">
                <a:tc>
                  <a:txBody>
                    <a:bodyPr wrap="square" lIns="85725" tIns="47625" rIns="85725" bIns="47625">
                      <a:normAutofit/>
                    </a:bodyPr>
                    <a:lstStyle/>
                    <a:p>
                      <a:pPr algn="l">
                        <a:buNone/>
                      </a:pPr>
                      <a:r>
                        <a:rPr sz="1140" b="1">
                          <a:solidFill>
                            <a:srgbClr val="34485D"/>
                          </a:solidFill>
                          <a:latin typeface="Aptos"/>
                          <a:ea typeface="Aptos"/>
                          <a:cs typeface="Aptos"/>
                        </a:rPr>
                        <a:t>Dataflow y semántica</a:t>
                      </a:r>
                    </a:p>
                  </a:txBody>
                  <a:tcPr marL="91440" marR="91440" marT="45720" marB="45720" anchor="ctr">
                    <a:solidFill>
                      <a:srgbClr val="FFFFFF"/>
                    </a:solidFill>
                  </a:tcPr>
                </a:tc>
                <a:tc>
                  <a:txBody>
                    <a:bodyPr wrap="square" lIns="85725" tIns="47625" rIns="85725" bIns="47625">
                      <a:normAutofit/>
                    </a:bodyPr>
                    <a:lstStyle/>
                    <a:p>
                      <a:pPr algn="l">
                        <a:buNone/>
                      </a:pPr>
                      <a:r>
                        <a:rPr sz="1140" b="0">
                          <a:solidFill>
                            <a:srgbClr val="34485D"/>
                          </a:solidFill>
                          <a:latin typeface="Aptos"/>
                          <a:ea typeface="Aptos"/>
                          <a:cs typeface="Aptos"/>
                        </a:rPr>
                        <a:t>Hyungro Lee et al. (PNNL/IIT, DataLife, 2023): ciclos de vida de datos en DAGs. Meng Tang et al. (PNNL/IIT, DaYu, 2024): relación entre datasets, archivos y operaciones I/O.</a:t>
                      </a:r>
                    </a:p>
                  </a:txBody>
                  <a:tcPr marL="91440" marR="91440" marT="45720" marB="45720" anchor="ctr">
                    <a:solidFill>
                      <a:srgbClr val="FFFFFF"/>
                    </a:solidFill>
                  </a:tcPr>
                </a:tc>
                <a:tc>
                  <a:txBody>
                    <a:bodyPr wrap="square" lIns="85725" tIns="47625" rIns="85725" bIns="47625">
                      <a:normAutofit/>
                    </a:bodyPr>
                    <a:lstStyle/>
                    <a:p>
                      <a:pPr algn="l">
                        <a:buNone/>
                      </a:pPr>
                      <a:r>
                        <a:rPr sz="1140" b="0">
                          <a:solidFill>
                            <a:srgbClr val="34485D"/>
                          </a:solidFill>
                          <a:latin typeface="Aptos"/>
                          <a:ea typeface="Aptos"/>
                          <a:cs typeface="Aptos"/>
                        </a:rPr>
                        <a:t>Justifican vincular tarea, archivo y semántica. Analyzer añade manifests condorio y evidencia HTCondor por job.</a:t>
                      </a:r>
                    </a:p>
                  </a:txBody>
                  <a:tcPr marL="91440" marR="91440" marT="45720" marB="45720" anchor="ctr">
                    <a:solidFill>
                      <a:srgbClr val="FFFFFF"/>
                    </a:solidFill>
                  </a:tcPr>
                </a:tc>
              </a:tr>
              <a:tr h="803910">
                <a:tc>
                  <a:txBody>
                    <a:bodyPr wrap="square" lIns="85725" tIns="47625" rIns="85725" bIns="47625">
                      <a:normAutofit/>
                    </a:bodyPr>
                    <a:lstStyle/>
                    <a:p>
                      <a:pPr algn="l">
                        <a:buNone/>
                      </a:pPr>
                      <a:r>
                        <a:rPr sz="1140" b="1">
                          <a:solidFill>
                            <a:srgbClr val="34485D"/>
                          </a:solidFill>
                          <a:latin typeface="Aptos"/>
                          <a:ea typeface="Aptos"/>
                          <a:cs typeface="Aptos"/>
                        </a:rPr>
                        <a:t>Métricas y observabilidad</a:t>
                      </a:r>
                    </a:p>
                  </a:txBody>
                  <a:tcPr marL="91440" marR="91440" marT="45720" marB="45720" anchor="ctr">
                    <a:solidFill>
                      <a:srgbClr val="F8FAFC"/>
                    </a:solidFill>
                  </a:tcPr>
                </a:tc>
                <a:tc>
                  <a:txBody>
                    <a:bodyPr wrap="square" lIns="85725" tIns="47625" rIns="85725" bIns="47625">
                      <a:normAutofit/>
                    </a:bodyPr>
                    <a:lstStyle/>
                    <a:p>
                      <a:pPr algn="l">
                        <a:buNone/>
                      </a:pPr>
                      <a:r>
                        <a:rPr sz="1140" b="0">
                          <a:solidFill>
                            <a:srgbClr val="34485D"/>
                          </a:solidFill>
                          <a:latin typeface="Aptos"/>
                          <a:ea typeface="Aptos"/>
                          <a:cs typeface="Aptos"/>
                        </a:rPr>
                        <a:t>Tu Mai Anh Do et al. (USC/ISI + colaboradores, 2021): eficiencia in situ. Hariharan Devarajan et al. (LLNL/ANL/IIT/FSU, DFTracer, 2024): eventos de varias capas I/O.</a:t>
                      </a:r>
                    </a:p>
                  </a:txBody>
                  <a:tcPr marL="91440" marR="91440" marT="45720" marB="45720" anchor="ctr">
                    <a:solidFill>
                      <a:srgbClr val="F8FAFC"/>
                    </a:solidFill>
                  </a:tcPr>
                </a:tc>
                <a:tc>
                  <a:txBody>
                    <a:bodyPr wrap="square" lIns="85725" tIns="47625" rIns="85725" bIns="47625">
                      <a:normAutofit/>
                    </a:bodyPr>
                    <a:lstStyle/>
                    <a:p>
                      <a:pPr algn="l">
                        <a:buNone/>
                      </a:pPr>
                      <a:r>
                        <a:rPr sz="1140" b="0">
                          <a:solidFill>
                            <a:srgbClr val="34485D"/>
                          </a:solidFill>
                          <a:latin typeface="Aptos"/>
                          <a:ea typeface="Aptos"/>
                          <a:cs typeface="Aptos"/>
                        </a:rPr>
                        <a:t>Eficiencia y trazas no equivalen a M_req, Coverage ni M_obs. Analyzer v1 calcula la métrica offline.</a:t>
                      </a:r>
                    </a:p>
                  </a:txBody>
                  <a:tcPr marL="91440" marR="91440" marT="45720" marB="45720" anchor="ctr">
                    <a:solidFill>
                      <a:srgbClr val="F8FAFC"/>
                    </a:solidFill>
                  </a:tcPr>
                </a:tc>
              </a:tr>
            </a:tbl>
          </a:graphicData>
        </a:graphic>
      </p:graphicFrame>
      <p:sp>
        <p:nvSpPr>
          <p:cNvPr id="9" name="literature-gap">
            <a:extLst xmlns:a="http://schemas.openxmlformats.org/drawingml/2006/main">
              <a:ext uri="{FF2B5EF4-FFF2-40B4-BE49-F238E27FC236}">
                <a16:creationId xmlns:a16="http://schemas.microsoft.com/office/drawing/2014/main" id="{38194223-224E-449E-B33A-B1B7FC99FB6C}"/>
              </a:ext>
            </a:extLst>
          </p:cNvPr>
          <p:cNvSpPr>
            <a:spLocks xmlns:a="http://schemas.openxmlformats.org/drawingml/2006/main" noGrp="1"/>
          </p:cNvSpPr>
          <p:nvPr/>
        </p:nvSpPr>
        <p:spPr>
          <a:xfrm xmlns:a="http://schemas.openxmlformats.org/drawingml/2006/main">
            <a:off x="781050" y="6048375"/>
            <a:ext cx="10629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buNone/>
              <a:defRPr sz="1125" b="1">
                <a:solidFill>
                  <a:srgbClr val="6D28D9"/>
                </a:solidFill>
                <a:latin typeface="Aptos"/>
                <a:ea typeface="Aptos"/>
                <a:cs typeface="Aptos"/>
              </a:defRPr>
            </a:pPr>
            <a:r>
              <a:rPr sz="1125" b="1">
                <a:solidFill>
                  <a:srgbClr val="6D28D9"/>
                </a:solidFill>
                <a:latin typeface="Aptos"/>
                <a:ea typeface="Aptos"/>
                <a:cs typeface="Aptos"/>
              </a:rPr>
              <a:t>Brecha que aborda esta tesis: auditar, para Pegasus + condorio, el mínimo lógico, el movimiento científico declarado y las ocurrencias confirmadas.</a:t>
            </a:r>
          </a:p>
        </p:txBody>
      </p:sp>
    </p:spTree>
    <p:extLst>
      <p:ext uri="{BB962C8B-B14F-4D97-AF65-F5344CB8AC3E}">
        <p14:creationId xmlns:p14="http://schemas.microsoft.com/office/powerpoint/2010/main" val="642634300"/>
      </p:ext>
    </p:extLst>
  </p:cSld>
</p:sld>
</file>

<file path=ppt/slides/slide9.xml><?xml version="1.0" encoding="utf-8"?>
<p:sld xmlns:p="http://schemas.openxmlformats.org/presentationml/2006/main">
  <p:cSld>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F12CAA81-3429-4F2E-BE12-60FC9B40AAC4}"/>
              </a:ext>
            </a:extLst>
          </p:cNvPr>
          <p:cNvSpPr>
            <a:spLocks xmlns:a="http://schemas.openxmlformats.org/drawingml/2006/main" noGrp="1"/>
          </p:cNvSpPr>
          <p:nvPr/>
        </p:nvSpPr>
        <p:spPr>
          <a:xfrm xmlns:a="http://schemas.openxmlformats.org/drawingml/2006/main">
            <a:off x="0" y="0"/>
            <a:ext cx="12191695" cy="109728"/>
          </a:xfrm>
          <a:prstGeom xmlns:a="http://schemas.openxmlformats.org/drawingml/2006/main" prst="rect">
            <a:avLst/>
          </a:prstGeom>
          <a:solidFill xmlns:a="http://schemas.openxmlformats.org/drawingml/2006/main">
            <a:srgbClr val="2563EB"/>
          </a:solidFill>
          <a:ln xmlns:a="http://schemas.openxmlformats.org/drawingml/2006/main" w="12700">
            <a:solidFill>
              <a:srgbClr val="2563EB"/>
            </a:solidFill>
            <a:prstDash val="solid"/>
          </a:ln>
        </p:spPr>
      </p:sp>
      <p:sp>
        <p:nvSpPr>
          <p:cNvPr id="3" name="Text 1">
            <a:extLst xmlns:a="http://schemas.openxmlformats.org/drawingml/2006/main">
              <a:ext uri="{FF2B5EF4-FFF2-40B4-BE49-F238E27FC236}">
                <a16:creationId xmlns:a16="http://schemas.microsoft.com/office/drawing/2014/main" id="{D969AF3F-9DD1-4626-9DDA-ADDB1AE8887A}"/>
              </a:ext>
            </a:extLst>
          </p:cNvPr>
          <p:cNvSpPr>
            <a:spLocks xmlns:a="http://schemas.openxmlformats.org/drawingml/2006/main" noGrp="1"/>
          </p:cNvSpPr>
          <p:nvPr/>
        </p:nvSpPr>
        <p:spPr>
          <a:xfrm xmlns:a="http://schemas.openxmlformats.org/drawingml/2006/main">
            <a:off x="658368" y="384048"/>
            <a:ext cx="292608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850" b="1">
                <a:solidFill>
                  <a:srgbClr val="2563EB"/>
                </a:solidFill>
                <a:latin typeface="Aptos"/>
                <a:ea typeface="Aptos"/>
                <a:cs typeface="Aptos"/>
              </a:rPr>
              <a:t>INFRAESTRUCTURA</a:t>
            </a:r>
            <a:endParaRPr sz="850"/>
          </a:p>
        </p:txBody>
      </p:sp>
      <p:sp>
        <p:nvSpPr>
          <p:cNvPr id="4" name="Text 2">
            <a:extLst xmlns:a="http://schemas.openxmlformats.org/drawingml/2006/main">
              <a:ext uri="{FF2B5EF4-FFF2-40B4-BE49-F238E27FC236}">
                <a16:creationId xmlns:a16="http://schemas.microsoft.com/office/drawing/2014/main" id="{D9F921EC-BC49-4A2B-8ACB-172D4088804E}"/>
              </a:ext>
            </a:extLst>
          </p:cNvPr>
          <p:cNvSpPr>
            <a:spLocks xmlns:a="http://schemas.openxmlformats.org/drawingml/2006/main" noGrp="1"/>
          </p:cNvSpPr>
          <p:nvPr/>
        </p:nvSpPr>
        <p:spPr>
          <a:xfrm xmlns:a="http://schemas.openxmlformats.org/drawingml/2006/main">
            <a:off x="621792" y="621792"/>
            <a:ext cx="10881360" cy="530352"/>
          </a:xfrm>
          <a:prstGeom xmlns:a="http://schemas.openxmlformats.org/drawingml/2006/main" prst="rect">
            <a:avLst/>
          </a:prstGeom>
          <a:noFill xmlns:a="http://schemas.openxmlformats.org/drawingml/2006/main"/>
        </p:spPr>
        <p:txBody>
          <a:bodyPr xmlns:a="http://schemas.openxmlformats.org/drawingml/2006/main" wrap="square" lIns="254" tIns="254" rIns="254" bIns="254" anchor="ctr">
            <a:normAutofit fontScale="100000"/>
          </a:bodyPr>
          <a:lstStyle xmlns:a="http://schemas.openxmlformats.org/drawingml/2006/main"/>
          <a:p xmlns:a="http://schemas.openxmlformats.org/drawingml/2006/main">
            <a:pPr marL="0" indent="0">
              <a:buNone/>
            </a:pPr>
            <a:r>
              <a:rPr sz="2500" b="1">
                <a:solidFill>
                  <a:srgbClr val="102A43"/>
                </a:solidFill>
                <a:latin typeface="Aptos Display"/>
                <a:ea typeface="Aptos Display"/>
                <a:cs typeface="Aptos Display"/>
              </a:rPr>
              <a:t>8. Infraestructura y modelo de ejecución</a:t>
            </a:r>
            <a:endParaRPr sz="2500"/>
          </a:p>
        </p:txBody>
      </p:sp>
      <p:sp>
        <p:nvSpPr>
          <p:cNvPr id="27" name="Shape 25">
            <a:extLst xmlns:a="http://schemas.openxmlformats.org/drawingml/2006/main">
              <a:ext uri="{FF2B5EF4-FFF2-40B4-BE49-F238E27FC236}">
                <a16:creationId xmlns:a16="http://schemas.microsoft.com/office/drawing/2014/main" id="{7161BB2C-B93E-4D76-908B-AC8F1EA96FD1}"/>
              </a:ext>
            </a:extLst>
          </p:cNvPr>
          <p:cNvSpPr>
            <a:spLocks xmlns:a="http://schemas.openxmlformats.org/drawingml/2006/main" noGrp="1"/>
          </p:cNvSpPr>
          <p:nvPr/>
        </p:nvSpPr>
        <p:spPr>
          <a:xfrm xmlns:a="http://schemas.openxmlformats.org/drawingml/2006/main">
            <a:off x="502920" y="6446520"/>
            <a:ext cx="11201400" cy="0"/>
          </a:xfrm>
          <a:prstGeom xmlns:a="http://schemas.openxmlformats.org/drawingml/2006/main" prst="line">
            <a:avLst/>
          </a:prstGeom>
          <a:noFill xmlns:a="http://schemas.openxmlformats.org/drawingml/2006/main"/>
          <a:ln xmlns:a="http://schemas.openxmlformats.org/drawingml/2006/main" w="8890">
            <a:solidFill>
              <a:srgbClr val="CBD5E1"/>
            </a:solidFill>
            <a:prstDash val="solid"/>
          </a:ln>
        </p:spPr>
      </p:sp>
      <p:sp>
        <p:nvSpPr>
          <p:cNvPr id="28" name="Text 26">
            <a:extLst xmlns:a="http://schemas.openxmlformats.org/drawingml/2006/main">
              <a:ext uri="{FF2B5EF4-FFF2-40B4-BE49-F238E27FC236}">
                <a16:creationId xmlns:a16="http://schemas.microsoft.com/office/drawing/2014/main" id="{F9F183E1-6F9B-4E3A-85E2-6258297BEF2D}"/>
              </a:ext>
            </a:extLst>
          </p:cNvPr>
          <p:cNvSpPr>
            <a:spLocks xmlns:a="http://schemas.openxmlformats.org/drawingml/2006/main" noGrp="1"/>
          </p:cNvSpPr>
          <p:nvPr/>
        </p:nvSpPr>
        <p:spPr>
          <a:xfrm xmlns:a="http://schemas.openxmlformats.org/drawingml/2006/main">
            <a:off x="594360" y="6510528"/>
            <a:ext cx="7223760" cy="2011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750">
                <a:solidFill>
                  <a:srgbClr val="64748B"/>
                </a:solidFill>
                <a:latin typeface="Aptos"/>
                <a:ea typeface="Aptos"/>
                <a:cs typeface="Aptos"/>
              </a:rPr>
              <a:t>Infraestructura y execution model</a:t>
            </a:r>
            <a:endParaRPr sz="750"/>
          </a:p>
        </p:txBody>
      </p:sp>
      <p:sp>
        <p:nvSpPr>
          <p:cNvPr id="29" name="Text 27">
            <a:extLst xmlns:a="http://schemas.openxmlformats.org/drawingml/2006/main">
              <a:ext uri="{FF2B5EF4-FFF2-40B4-BE49-F238E27FC236}">
                <a16:creationId xmlns:a16="http://schemas.microsoft.com/office/drawing/2014/main" id="{846229AB-6D40-496A-A238-CBBF246D41DD}"/>
              </a:ext>
            </a:extLst>
          </p:cNvPr>
          <p:cNvSpPr>
            <a:spLocks xmlns:a="http://schemas.openxmlformats.org/drawingml/2006/main" noGrp="1"/>
          </p:cNvSpPr>
          <p:nvPr/>
        </p:nvSpPr>
        <p:spPr>
          <a:xfrm xmlns:a="http://schemas.openxmlformats.org/drawingml/2006/main">
            <a:off x="11228832" y="6492240"/>
            <a:ext cx="411480" cy="2286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800">
                <a:solidFill>
                  <a:srgbClr val="64748B"/>
                </a:solidFill>
                <a:latin typeface="Aptos"/>
                <a:ea typeface="Aptos"/>
                <a:cs typeface="Aptos"/>
              </a:rPr>
              <a:t>9</a:t>
            </a:r>
            <a:endParaRPr sz="800"/>
          </a:p>
        </p:txBody>
      </p:sp>
      <p:sp>
        <p:nvSpPr>
          <p:cNvPr id="30" name="deployment-snapshot-caption">
            <a:extLst xmlns:a="http://schemas.openxmlformats.org/drawingml/2006/main">
              <a:ext uri="{FF2B5EF4-FFF2-40B4-BE49-F238E27FC236}">
                <a16:creationId xmlns:a16="http://schemas.microsoft.com/office/drawing/2014/main" id="{7DF61D3F-64BB-4E3A-A400-6BA1088D242C}"/>
              </a:ext>
            </a:extLst>
          </p:cNvPr>
          <p:cNvSpPr>
            <a:spLocks xmlns:a="http://schemas.openxmlformats.org/drawingml/2006/main" noGrp="1"/>
          </p:cNvSpPr>
          <p:nvPr/>
        </p:nvSpPr>
        <p:spPr>
          <a:xfrm xmlns:a="http://schemas.openxmlformats.org/drawingml/2006/main">
            <a:off x="685800" y="1257300"/>
            <a:ext cx="1081087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98984"/>
          </a:bodyPr>
          <a:lstStyle xmlns:a="http://schemas.openxmlformats.org/drawingml/2006/main"/>
          <a:p xmlns:a="http://schemas.openxmlformats.org/drawingml/2006/main">
            <a:pPr algn="ctr">
              <a:buNone/>
              <a:defRPr sz="1200" b="0">
                <a:solidFill>
                  <a:srgbClr val="34485D"/>
                </a:solidFill>
                <a:latin typeface="Aptos"/>
                <a:ea typeface="Aptos"/>
                <a:cs typeface="Aptos"/>
              </a:defRPr>
            </a:pPr>
            <a:r>
              <a:rPr sz="1200" b="0">
                <a:solidFill>
                  <a:srgbClr val="34485D"/>
                </a:solidFill>
                <a:latin typeface="Aptos"/>
                <a:ea typeface="Aptos"/>
                <a:cs typeface="Aptos"/>
              </a:rPr>
              <a:t>Workers: inventario por jobs HTCondor desde master · CPU modelo reportado al guest bajo VMware · anfitrión según propuesta oficial: Windows 11 Home · i5-1235U · 8 GB · x64</a:t>
            </a:r>
          </a:p>
        </p:txBody>
      </p:sp>
      <p:sp>
        <p:nvSpPr>
          <p:cNvPr id="31" name="pool-network-frame">
            <a:extLst xmlns:a="http://schemas.openxmlformats.org/drawingml/2006/main">
              <a:ext uri="{FF2B5EF4-FFF2-40B4-BE49-F238E27FC236}">
                <a16:creationId xmlns:a16="http://schemas.microsoft.com/office/drawing/2014/main" id="{8EA98415-6AAE-4563-8A53-10D577D63778}"/>
              </a:ext>
            </a:extLst>
          </p:cNvPr>
          <p:cNvSpPr>
            <a:spLocks xmlns:a="http://schemas.openxmlformats.org/drawingml/2006/main" noGrp="1"/>
          </p:cNvSpPr>
          <p:nvPr/>
        </p:nvSpPr>
        <p:spPr>
          <a:xfrm xmlns:a="http://schemas.openxmlformats.org/drawingml/2006/main">
            <a:off x="504825" y="1685925"/>
            <a:ext cx="11182350" cy="3190875"/>
          </a:xfrm>
          <a:prstGeom xmlns:a="http://schemas.openxmlformats.org/drawingml/2006/main" prst="roundRect">
            <a:avLst>
              <a:gd name="adj" fmla="val 2985"/>
            </a:avLst>
          </a:prstGeom>
          <a:solidFill xmlns:a="http://schemas.openxmlformats.org/drawingml/2006/main">
            <a:srgbClr val="FAFCFF"/>
          </a:solidFill>
          <a:ln xmlns:a="http://schemas.openxmlformats.org/drawingml/2006/main" w="13335">
            <a:solidFill>
              <a:srgbClr val="A8B8CA"/>
            </a:solidFill>
            <a:prstDash val="solid"/>
          </a:ln>
        </p:spPr>
      </p:sp>
      <p:sp>
        <p:nvSpPr>
          <p:cNvPr id="32" name="pool-network-label">
            <a:extLst xmlns:a="http://schemas.openxmlformats.org/drawingml/2006/main">
              <a:ext uri="{FF2B5EF4-FFF2-40B4-BE49-F238E27FC236}">
                <a16:creationId xmlns:a16="http://schemas.microsoft.com/office/drawing/2014/main" id="{77BDA071-2317-4EEF-A370-FAFAB6ED3DFB}"/>
              </a:ext>
            </a:extLst>
          </p:cNvPr>
          <p:cNvSpPr>
            <a:spLocks xmlns:a="http://schemas.openxmlformats.org/drawingml/2006/main" noGrp="1"/>
          </p:cNvSpPr>
          <p:nvPr/>
        </p:nvSpPr>
        <p:spPr>
          <a:xfrm xmlns:a="http://schemas.openxmlformats.org/drawingml/2006/main">
            <a:off x="714375" y="1724025"/>
            <a:ext cx="107442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buNone/>
              <a:defRPr sz="1125" b="1">
                <a:solidFill>
                  <a:srgbClr val="65758B"/>
                </a:solidFill>
                <a:latin typeface="Aptos"/>
                <a:ea typeface="Aptos"/>
                <a:cs typeface="Aptos"/>
              </a:defRPr>
            </a:pPr>
            <a:r>
              <a:rPr sz="1125" b="1">
                <a:solidFill>
                  <a:srgbClr val="65758B"/>
                </a:solidFill>
                <a:latin typeface="Aptos"/>
                <a:ea typeface="Aptos"/>
                <a:cs typeface="Aptos"/>
              </a:rPr>
              <a:t>Pool HTCondor · 192.168.79.0/24 · ClassAds consultadas desde master; guest inventory capturado con jobs de solo lectura</a:t>
            </a:r>
          </a:p>
        </p:txBody>
      </p:sp>
      <p:sp>
        <p:nvSpPr>
          <p:cNvPr id="33" name="master-vm-frame">
            <a:extLst xmlns:a="http://schemas.openxmlformats.org/drawingml/2006/main">
              <a:ext uri="{FF2B5EF4-FFF2-40B4-BE49-F238E27FC236}">
                <a16:creationId xmlns:a16="http://schemas.microsoft.com/office/drawing/2014/main" id="{1F3F0964-45C2-4DFE-8F39-F9672E7481F8}"/>
              </a:ext>
            </a:extLst>
          </p:cNvPr>
          <p:cNvSpPr>
            <a:spLocks xmlns:a="http://schemas.openxmlformats.org/drawingml/2006/main" noGrp="1"/>
          </p:cNvSpPr>
          <p:nvPr/>
        </p:nvSpPr>
        <p:spPr>
          <a:xfrm xmlns:a="http://schemas.openxmlformats.org/drawingml/2006/main">
            <a:off x="714375" y="2095500"/>
            <a:ext cx="3952875" cy="2609850"/>
          </a:xfrm>
          <a:prstGeom xmlns:a="http://schemas.openxmlformats.org/drawingml/2006/main" prst="roundRect">
            <a:avLst>
              <a:gd name="adj" fmla="val 3650"/>
            </a:avLst>
          </a:prstGeom>
          <a:solidFill xmlns:a="http://schemas.openxmlformats.org/drawingml/2006/main">
            <a:srgbClr val="EAF2FF"/>
          </a:solidFill>
          <a:ln xmlns:a="http://schemas.openxmlformats.org/drawingml/2006/main" w="16193">
            <a:solidFill>
              <a:srgbClr val="2563EB"/>
            </a:solidFill>
            <a:prstDash val="solid"/>
          </a:ln>
        </p:spPr>
      </p:sp>
      <p:sp>
        <p:nvSpPr>
          <p:cNvPr id="34" name="master-host-label">
            <a:extLst xmlns:a="http://schemas.openxmlformats.org/drawingml/2006/main">
              <a:ext uri="{FF2B5EF4-FFF2-40B4-BE49-F238E27FC236}">
                <a16:creationId xmlns:a16="http://schemas.microsoft.com/office/drawing/2014/main" id="{989CA640-AB9C-425E-993A-ADE8AAC0C079}"/>
              </a:ext>
            </a:extLst>
          </p:cNvPr>
          <p:cNvSpPr>
            <a:spLocks xmlns:a="http://schemas.openxmlformats.org/drawingml/2006/main" noGrp="1"/>
          </p:cNvSpPr>
          <p:nvPr/>
        </p:nvSpPr>
        <p:spPr>
          <a:xfrm xmlns:a="http://schemas.openxmlformats.org/drawingml/2006/main">
            <a:off x="866775" y="2181225"/>
            <a:ext cx="3648075"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buNone/>
              <a:defRPr sz="1350" b="1">
                <a:solidFill>
                  <a:srgbClr val="142D45"/>
                </a:solidFill>
                <a:latin typeface="Aptos"/>
                <a:ea typeface="Aptos"/>
                <a:cs typeface="Aptos"/>
              </a:defRPr>
            </a:pPr>
            <a:r>
              <a:rPr sz="1350" b="1">
                <a:solidFill>
                  <a:srgbClr val="142D45"/>
                </a:solidFill>
                <a:latin typeface="Aptos"/>
                <a:ea typeface="Aptos"/>
                <a:cs typeface="Aptos"/>
              </a:rPr>
              <a:t>PEGASUS MASTER · 192.168.79.135</a:t>
            </a:r>
          </a:p>
        </p:txBody>
      </p:sp>
      <p:sp>
        <p:nvSpPr>
          <p:cNvPr id="35" name="master-host-facts">
            <a:extLst xmlns:a="http://schemas.openxmlformats.org/drawingml/2006/main">
              <a:ext uri="{FF2B5EF4-FFF2-40B4-BE49-F238E27FC236}">
                <a16:creationId xmlns:a16="http://schemas.microsoft.com/office/drawing/2014/main" id="{04E286D6-9CF7-45F2-9A8F-4CFBA0FA744D}"/>
              </a:ext>
            </a:extLst>
          </p:cNvPr>
          <p:cNvSpPr>
            <a:spLocks xmlns:a="http://schemas.openxmlformats.org/drawingml/2006/main" noGrp="1"/>
          </p:cNvSpPr>
          <p:nvPr/>
        </p:nvSpPr>
        <p:spPr>
          <a:xfrm xmlns:a="http://schemas.openxmlformats.org/drawingml/2006/main">
            <a:off x="962025" y="2486025"/>
            <a:ext cx="3457575"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buNone/>
              <a:defRPr sz="1125" b="0">
                <a:solidFill>
                  <a:srgbClr val="34485D"/>
                </a:solidFill>
                <a:latin typeface="Aptos"/>
                <a:ea typeface="Aptos"/>
                <a:cs typeface="Aptos"/>
              </a:defRPr>
            </a:pPr>
            <a:r>
              <a:rPr sz="1125" b="0">
                <a:solidFill>
                  <a:srgbClr val="34485D"/>
                </a:solidFill>
                <a:latin typeface="Aptos"/>
                <a:ea typeface="Aptos"/>
                <a:cs typeface="Aptos"/>
              </a:rPr>
              <a:t>Ubuntu 26.04 LTS · VMware</a:t>
            </a:r>
          </a:p>
          <a:p xmlns:a="http://schemas.openxmlformats.org/drawingml/2006/main">
            <a:pPr algn="ctr">
              <a:buNone/>
              <a:defRPr sz="1125" b="0">
                <a:solidFill>
                  <a:srgbClr val="34485D"/>
                </a:solidFill>
                <a:latin typeface="Aptos"/>
                <a:ea typeface="Aptos"/>
                <a:cs typeface="Aptos"/>
              </a:defRPr>
            </a:pPr>
            <a:r>
              <a:rPr sz="1125" b="0">
                <a:solidFill>
                  <a:srgbClr val="34485D"/>
                </a:solidFill>
                <a:latin typeface="Aptos"/>
                <a:ea typeface="Aptos"/>
                <a:cs typeface="Aptos"/>
              </a:rPr>
              <a:t>Intel Core i5-1235U reportado por guest</a:t>
            </a:r>
          </a:p>
          <a:p xmlns:a="http://schemas.openxmlformats.org/drawingml/2006/main">
            <a:pPr algn="ctr">
              <a:buNone/>
              <a:defRPr sz="1125" b="0">
                <a:solidFill>
                  <a:srgbClr val="34485D"/>
                </a:solidFill>
                <a:latin typeface="Aptos"/>
                <a:ea typeface="Aptos"/>
                <a:cs typeface="Aptos"/>
              </a:defRPr>
            </a:pPr>
            <a:r>
              <a:rPr sz="1125" b="0">
                <a:solidFill>
                  <a:srgbClr val="34485D"/>
                </a:solidFill>
                <a:latin typeface="Aptos"/>
                <a:ea typeface="Aptos"/>
                <a:cs typeface="Aptos"/>
              </a:rPr>
              <a:t>1 vCPU · RAM 1,671,811,072 B</a:t>
            </a:r>
          </a:p>
        </p:txBody>
      </p:sp>
      <p:sp>
        <p:nvSpPr>
          <p:cNvPr id="36" name="master-pegasus-service">
            <a:extLst xmlns:a="http://schemas.openxmlformats.org/drawingml/2006/main">
              <a:ext uri="{FF2B5EF4-FFF2-40B4-BE49-F238E27FC236}">
                <a16:creationId xmlns:a16="http://schemas.microsoft.com/office/drawing/2014/main" id="{0E4A849F-856E-4CEC-8422-2B28E0498668}"/>
              </a:ext>
            </a:extLst>
          </p:cNvPr>
          <p:cNvSpPr>
            <a:spLocks xmlns:a="http://schemas.openxmlformats.org/drawingml/2006/main" noGrp="1"/>
          </p:cNvSpPr>
          <p:nvPr/>
        </p:nvSpPr>
        <p:spPr>
          <a:xfrm xmlns:a="http://schemas.openxmlformats.org/drawingml/2006/main">
            <a:off x="952500" y="3276600"/>
            <a:ext cx="1524000" cy="666750"/>
          </a:xfrm>
          <a:prstGeom xmlns:a="http://schemas.openxmlformats.org/drawingml/2006/main" prst="roundRect">
            <a:avLst>
              <a:gd name="adj" fmla="val 12857"/>
            </a:avLst>
          </a:prstGeom>
          <a:solidFill xmlns:a="http://schemas.openxmlformats.org/drawingml/2006/main">
            <a:srgbClr val="FFFFFF"/>
          </a:solidFill>
          <a:ln xmlns:a="http://schemas.openxmlformats.org/drawingml/2006/main" w="14288">
            <a:solidFill>
              <a:srgbClr val="2563EB"/>
            </a:solidFill>
            <a:prstDash val="solid"/>
          </a:ln>
        </p:spPr>
        <p:txBody>
          <a:bodyPr xmlns:a="http://schemas.openxmlformats.org/drawingml/2006/main" wrap="square" lIns="85725" tIns="57150" rIns="85725" bIns="57150" anchor="ctr">
            <a:normAutofit fontScale="100000"/>
          </a:bodyPr>
          <a:lstStyle xmlns:a="http://schemas.openxmlformats.org/drawingml/2006/main"/>
          <a:p xmlns:a="http://schemas.openxmlformats.org/drawingml/2006/main">
            <a:pPr algn="ctr">
              <a:buNone/>
              <a:defRPr sz="1200" b="1">
                <a:solidFill>
                  <a:srgbClr val="142D45"/>
                </a:solidFill>
                <a:latin typeface="Aptos"/>
                <a:ea typeface="Aptos"/>
                <a:cs typeface="Aptos"/>
              </a:defRPr>
            </a:pPr>
            <a:r>
              <a:rPr sz="1200" b="1">
                <a:solidFill>
                  <a:srgbClr val="142D45"/>
                </a:solidFill>
                <a:latin typeface="Aptos"/>
                <a:ea typeface="Aptos"/>
                <a:cs typeface="Aptos"/>
              </a:rPr>
              <a:t>Pegasus WMS</a:t>
            </a:r>
          </a:p>
          <a:p xmlns:a="http://schemas.openxmlformats.org/drawingml/2006/main">
            <a:pPr algn="ctr">
              <a:buNone/>
              <a:defRPr sz="1200" b="1">
                <a:solidFill>
                  <a:srgbClr val="142D45"/>
                </a:solidFill>
                <a:latin typeface="Aptos"/>
                <a:ea typeface="Aptos"/>
                <a:cs typeface="Aptos"/>
              </a:defRPr>
            </a:pPr>
            <a:r>
              <a:rPr sz="1200" b="1">
                <a:solidFill>
                  <a:srgbClr val="142D45"/>
                </a:solidFill>
                <a:latin typeface="Aptos"/>
                <a:ea typeface="Aptos"/>
                <a:cs typeface="Aptos"/>
              </a:rPr>
              <a:t>5.1.2</a:t>
            </a:r>
          </a:p>
        </p:txBody>
      </p:sp>
      <p:sp>
        <p:nvSpPr>
          <p:cNvPr id="37" name="master-condor-services">
            <a:extLst xmlns:a="http://schemas.openxmlformats.org/drawingml/2006/main">
              <a:ext uri="{FF2B5EF4-FFF2-40B4-BE49-F238E27FC236}">
                <a16:creationId xmlns:a16="http://schemas.microsoft.com/office/drawing/2014/main" id="{C725CF3D-0F4C-4DC2-B1DC-E8AD73939728}"/>
              </a:ext>
            </a:extLst>
          </p:cNvPr>
          <p:cNvSpPr>
            <a:spLocks xmlns:a="http://schemas.openxmlformats.org/drawingml/2006/main" noGrp="1"/>
          </p:cNvSpPr>
          <p:nvPr/>
        </p:nvSpPr>
        <p:spPr>
          <a:xfrm xmlns:a="http://schemas.openxmlformats.org/drawingml/2006/main">
            <a:off x="2619375" y="3276600"/>
            <a:ext cx="1809750" cy="895350"/>
          </a:xfrm>
          <a:prstGeom xmlns:a="http://schemas.openxmlformats.org/drawingml/2006/main" prst="roundRect">
            <a:avLst>
              <a:gd name="adj" fmla="val 9574"/>
            </a:avLst>
          </a:prstGeom>
          <a:solidFill xmlns:a="http://schemas.openxmlformats.org/drawingml/2006/main">
            <a:srgbClr val="FFFFFF"/>
          </a:solidFill>
          <a:ln xmlns:a="http://schemas.openxmlformats.org/drawingml/2006/main" w="14288">
            <a:solidFill>
              <a:srgbClr val="2563EB"/>
            </a:solidFill>
            <a:prstDash val="solid"/>
          </a:ln>
        </p:spPr>
        <p:txBody>
          <a:bodyPr xmlns:a="http://schemas.openxmlformats.org/drawingml/2006/main" wrap="square" lIns="85725" tIns="57150" rIns="85725" bIns="57150" anchor="ctr">
            <a:normAutofit fontScale="100000"/>
          </a:bodyPr>
          <a:lstStyle xmlns:a="http://schemas.openxmlformats.org/drawingml/2006/main"/>
          <a:p xmlns:a="http://schemas.openxmlformats.org/drawingml/2006/main">
            <a:pPr algn="ctr">
              <a:buNone/>
              <a:defRPr sz="1125" b="1">
                <a:solidFill>
                  <a:srgbClr val="142D45"/>
                </a:solidFill>
                <a:latin typeface="Aptos"/>
                <a:ea typeface="Aptos"/>
                <a:cs typeface="Aptos"/>
              </a:defRPr>
            </a:pPr>
            <a:r>
              <a:rPr sz="1125" b="1">
                <a:solidFill>
                  <a:srgbClr val="142D45"/>
                </a:solidFill>
                <a:latin typeface="Aptos"/>
                <a:ea typeface="Aptos"/>
                <a:cs typeface="Aptos"/>
              </a:rPr>
              <a:t>HTCondor 25.12.2</a:t>
            </a:r>
          </a:p>
          <a:p xmlns:a="http://schemas.openxmlformats.org/drawingml/2006/main">
            <a:pPr algn="ctr">
              <a:buNone/>
              <a:defRPr sz="1125" b="1">
                <a:solidFill>
                  <a:srgbClr val="142D45"/>
                </a:solidFill>
                <a:latin typeface="Aptos"/>
                <a:ea typeface="Aptos"/>
                <a:cs typeface="Aptos"/>
              </a:defRPr>
            </a:pPr>
            <a:r>
              <a:rPr sz="1125" b="1">
                <a:solidFill>
                  <a:srgbClr val="142D45"/>
                </a:solidFill>
                <a:latin typeface="Aptos"/>
                <a:ea typeface="Aptos"/>
                <a:cs typeface="Aptos"/>
              </a:rPr>
              <a:t>MASTER · COLLECTOR</a:t>
            </a:r>
          </a:p>
          <a:p xmlns:a="http://schemas.openxmlformats.org/drawingml/2006/main">
            <a:pPr algn="ctr">
              <a:buNone/>
              <a:defRPr sz="1125" b="1">
                <a:solidFill>
                  <a:srgbClr val="142D45"/>
                </a:solidFill>
                <a:latin typeface="Aptos"/>
                <a:ea typeface="Aptos"/>
                <a:cs typeface="Aptos"/>
              </a:defRPr>
            </a:pPr>
            <a:r>
              <a:rPr sz="1125" b="1">
                <a:solidFill>
                  <a:srgbClr val="142D45"/>
                </a:solidFill>
                <a:latin typeface="Aptos"/>
                <a:ea typeface="Aptos"/>
                <a:cs typeface="Aptos"/>
              </a:rPr>
              <a:t>NEGOTIATOR · SCHEDD</a:t>
            </a:r>
          </a:p>
        </p:txBody>
      </p:sp>
      <p:sp>
        <p:nvSpPr>
          <p:cNvPr id="38" name="master-network-facts">
            <a:extLst xmlns:a="http://schemas.openxmlformats.org/drawingml/2006/main">
              <a:ext uri="{FF2B5EF4-FFF2-40B4-BE49-F238E27FC236}">
                <a16:creationId xmlns:a16="http://schemas.microsoft.com/office/drawing/2014/main" id="{43A72AC2-1C38-4374-9DA4-0B48EFE6E53A}"/>
              </a:ext>
            </a:extLst>
          </p:cNvPr>
          <p:cNvSpPr>
            <a:spLocks xmlns:a="http://schemas.openxmlformats.org/drawingml/2006/main" noGrp="1"/>
          </p:cNvSpPr>
          <p:nvPr/>
        </p:nvSpPr>
        <p:spPr>
          <a:xfrm xmlns:a="http://schemas.openxmlformats.org/drawingml/2006/main">
            <a:off x="933450" y="4305300"/>
            <a:ext cx="34861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buNone/>
              <a:defRPr sz="1050" b="0">
                <a:solidFill>
                  <a:srgbClr val="65758B"/>
                </a:solidFill>
                <a:latin typeface="Aptos"/>
                <a:ea typeface="Aptos"/>
                <a:cs typeface="Aptos"/>
              </a:defRPr>
            </a:pPr>
            <a:r>
              <a:rPr sz="1050" b="0">
                <a:solidFill>
                  <a:srgbClr val="65758B"/>
                </a:solidFill>
                <a:latin typeface="Aptos"/>
                <a:ea typeface="Aptos"/>
                <a:cs typeface="Aptos"/>
              </a:rPr>
              <a:t>ens33 · 192.168.79.135/24</a:t>
            </a:r>
          </a:p>
        </p:txBody>
      </p:sp>
      <p:sp>
        <p:nvSpPr>
          <p:cNvPr id="39" name="worker1-host-frame">
            <a:extLst xmlns:a="http://schemas.openxmlformats.org/drawingml/2006/main">
              <a:ext uri="{FF2B5EF4-FFF2-40B4-BE49-F238E27FC236}">
                <a16:creationId xmlns:a16="http://schemas.microsoft.com/office/drawing/2014/main" id="{1D3F055C-E230-49B5-A65C-43DFDD0665D1}"/>
              </a:ext>
            </a:extLst>
          </p:cNvPr>
          <p:cNvSpPr>
            <a:spLocks xmlns:a="http://schemas.openxmlformats.org/drawingml/2006/main" noGrp="1"/>
          </p:cNvSpPr>
          <p:nvPr/>
        </p:nvSpPr>
        <p:spPr>
          <a:xfrm xmlns:a="http://schemas.openxmlformats.org/drawingml/2006/main">
            <a:off x="5095875" y="2095500"/>
            <a:ext cx="2857500" cy="2609850"/>
          </a:xfrm>
          <a:prstGeom xmlns:a="http://schemas.openxmlformats.org/drawingml/2006/main" prst="roundRect">
            <a:avLst>
              <a:gd name="adj" fmla="val 3650"/>
            </a:avLst>
          </a:prstGeom>
          <a:solidFill xmlns:a="http://schemas.openxmlformats.org/drawingml/2006/main">
            <a:srgbClr val="E7F6F3"/>
          </a:solidFill>
          <a:ln xmlns:a="http://schemas.openxmlformats.org/drawingml/2006/main" w="16193">
            <a:solidFill>
              <a:srgbClr val="0F766E"/>
            </a:solidFill>
            <a:prstDash val="solid"/>
          </a:ln>
        </p:spPr>
      </p:sp>
      <p:sp>
        <p:nvSpPr>
          <p:cNvPr id="40" name="worker1-host-label">
            <a:extLst xmlns:a="http://schemas.openxmlformats.org/drawingml/2006/main">
              <a:ext uri="{FF2B5EF4-FFF2-40B4-BE49-F238E27FC236}">
                <a16:creationId xmlns:a16="http://schemas.microsoft.com/office/drawing/2014/main" id="{11838ECC-DDD4-4C0C-9C17-ED432F7F3893}"/>
              </a:ext>
            </a:extLst>
          </p:cNvPr>
          <p:cNvSpPr>
            <a:spLocks xmlns:a="http://schemas.openxmlformats.org/drawingml/2006/main" noGrp="1"/>
          </p:cNvSpPr>
          <p:nvPr/>
        </p:nvSpPr>
        <p:spPr>
          <a:xfrm xmlns:a="http://schemas.openxmlformats.org/drawingml/2006/main">
            <a:off x="5238750" y="2190750"/>
            <a:ext cx="2571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buNone/>
              <a:defRPr sz="1275" b="1">
                <a:solidFill>
                  <a:srgbClr val="142D45"/>
                </a:solidFill>
                <a:latin typeface="Aptos"/>
                <a:ea typeface="Aptos"/>
                <a:cs typeface="Aptos"/>
              </a:defRPr>
            </a:pPr>
            <a:r>
              <a:rPr sz="1275" b="1">
                <a:solidFill>
                  <a:srgbClr val="142D45"/>
                </a:solidFill>
                <a:latin typeface="Aptos"/>
                <a:ea typeface="Aptos"/>
                <a:cs typeface="Aptos"/>
              </a:rPr>
              <a:t>WORKER 1 · 192.168.79.137</a:t>
            </a:r>
          </a:p>
        </p:txBody>
      </p:sp>
      <p:sp>
        <p:nvSpPr>
          <p:cNvPr id="41" name="worker1-host-facts">
            <a:extLst xmlns:a="http://schemas.openxmlformats.org/drawingml/2006/main">
              <a:ext uri="{FF2B5EF4-FFF2-40B4-BE49-F238E27FC236}">
                <a16:creationId xmlns:a16="http://schemas.microsoft.com/office/drawing/2014/main" id="{7196985F-ECD6-4CB2-9F18-4EFFC6334285}"/>
              </a:ext>
            </a:extLst>
          </p:cNvPr>
          <p:cNvSpPr>
            <a:spLocks xmlns:a="http://schemas.openxmlformats.org/drawingml/2006/main" noGrp="1"/>
          </p:cNvSpPr>
          <p:nvPr/>
        </p:nvSpPr>
        <p:spPr>
          <a:xfrm xmlns:a="http://schemas.openxmlformats.org/drawingml/2006/main">
            <a:off x="5324475" y="2495550"/>
            <a:ext cx="24003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96154"/>
          </a:bodyPr>
          <a:lstStyle xmlns:a="http://schemas.openxmlformats.org/drawingml/2006/main"/>
          <a:p xmlns:a="http://schemas.openxmlformats.org/drawingml/2006/main">
            <a:pPr algn="ctr">
              <a:buNone/>
              <a:defRPr sz="1125" b="0">
                <a:solidFill>
                  <a:srgbClr val="34485D"/>
                </a:solidFill>
                <a:latin typeface="Aptos"/>
                <a:ea typeface="Aptos"/>
                <a:cs typeface="Aptos"/>
              </a:defRPr>
            </a:pPr>
            <a:r>
              <a:rPr sz="975" b="0">
                <a:solidFill>
                  <a:srgbClr val="34485D"/>
                </a:solidFill>
                <a:latin typeface="Aptos"/>
                <a:ea typeface="Aptos"/>
                <a:cs typeface="Aptos"/>
              </a:rPr>
              <a:t>pegasus-worker1</a:t>
            </a:r>
          </a:p>
          <a:p xmlns:a="http://schemas.openxmlformats.org/drawingml/2006/main">
            <a:pPr algn="ctr">
              <a:buNone/>
              <a:defRPr sz="1125" b="0">
                <a:solidFill>
                  <a:srgbClr val="34485D"/>
                </a:solidFill>
                <a:latin typeface="Aptos"/>
                <a:ea typeface="Aptos"/>
                <a:cs typeface="Aptos"/>
              </a:defRPr>
            </a:pPr>
            <a:r>
              <a:rPr sz="975" b="0">
                <a:solidFill>
                  <a:srgbClr val="34485D"/>
                </a:solidFill>
                <a:latin typeface="Aptos"/>
                <a:ea typeface="Aptos"/>
                <a:cs typeface="Aptos"/>
              </a:rPr>
              <a:t>Ubuntu 26.04 · Linux 7.0.0-34</a:t>
            </a:r>
          </a:p>
          <a:p xmlns:a="http://schemas.openxmlformats.org/drawingml/2006/main">
            <a:pPr algn="ctr">
              <a:buNone/>
              <a:defRPr sz="1125" b="0">
                <a:solidFill>
                  <a:srgbClr val="34485D"/>
                </a:solidFill>
                <a:latin typeface="Aptos"/>
                <a:ea typeface="Aptos"/>
                <a:cs typeface="Aptos"/>
              </a:defRPr>
            </a:pPr>
            <a:r>
              <a:rPr sz="975" b="0">
                <a:solidFill>
                  <a:srgbClr val="34485D"/>
                </a:solidFill>
                <a:latin typeface="Aptos"/>
                <a:ea typeface="Aptos"/>
                <a:cs typeface="Aptos"/>
              </a:rPr>
              <a:t>i5-1235U (guest) · 1 vCPU</a:t>
            </a:r>
          </a:p>
          <a:p xmlns:a="http://schemas.openxmlformats.org/drawingml/2006/main">
            <a:pPr algn="ctr">
              <a:buNone/>
              <a:defRPr sz="1125" b="0">
                <a:solidFill>
                  <a:srgbClr val="34485D"/>
                </a:solidFill>
                <a:latin typeface="Aptos"/>
                <a:ea typeface="Aptos"/>
                <a:cs typeface="Aptos"/>
              </a:defRPr>
            </a:pPr>
            <a:r>
              <a:rPr sz="975" b="0">
                <a:solidFill>
                  <a:srgbClr val="34485D"/>
                </a:solidFill>
                <a:latin typeface="Aptos"/>
                <a:ea typeface="Aptos"/>
                <a:cs typeface="Aptos"/>
              </a:rPr>
              <a:t>RAM guest 1.48 GB</a:t>
            </a:r>
          </a:p>
          <a:p xmlns:a="http://schemas.openxmlformats.org/drawingml/2006/main">
            <a:pPr algn="ctr">
              <a:buNone/>
              <a:defRPr sz="1125" b="0">
                <a:solidFill>
                  <a:srgbClr val="34485D"/>
                </a:solidFill>
                <a:latin typeface="Aptos"/>
                <a:ea typeface="Aptos"/>
                <a:cs typeface="Aptos"/>
              </a:defRPr>
            </a:pPr>
            <a:r>
              <a:rPr sz="975" b="0">
                <a:solidFill>
                  <a:srgbClr val="34485D"/>
                </a:solidFill>
                <a:latin typeface="Aptos"/>
                <a:ea typeface="Aptos"/>
                <a:cs typeface="Aptos"/>
              </a:rPr>
              <a:t>Pegasus 5.1.2 · HTCondor 25.12.2</a:t>
            </a:r>
          </a:p>
          <a:p xmlns:a="http://schemas.openxmlformats.org/drawingml/2006/main">
            <a:pPr algn="ctr">
              <a:buNone/>
              <a:defRPr sz="1125" b="0">
                <a:solidFill>
                  <a:srgbClr val="34485D"/>
                </a:solidFill>
                <a:latin typeface="Aptos"/>
                <a:ea typeface="Aptos"/>
                <a:cs typeface="Aptos"/>
              </a:defRPr>
            </a:pPr>
            <a:r>
              <a:rPr sz="975" b="0">
                <a:solidFill>
                  <a:srgbClr val="34485D"/>
                </a:solidFill>
                <a:latin typeface="Aptos"/>
                <a:ea typeface="Aptos"/>
                <a:cs typeface="Aptos"/>
              </a:rPr>
              <a:t>Python 3.14.4 · OpenJDK 25.0.4.1</a:t>
            </a:r>
          </a:p>
        </p:txBody>
      </p:sp>
      <p:sp>
        <p:nvSpPr>
          <p:cNvPr id="42" name="worker1-slot">
            <a:extLst xmlns:a="http://schemas.openxmlformats.org/drawingml/2006/main">
              <a:ext uri="{FF2B5EF4-FFF2-40B4-BE49-F238E27FC236}">
                <a16:creationId xmlns:a16="http://schemas.microsoft.com/office/drawing/2014/main" id="{954C932F-EDB2-4D67-969A-41136AB078A1}"/>
              </a:ext>
            </a:extLst>
          </p:cNvPr>
          <p:cNvSpPr>
            <a:spLocks xmlns:a="http://schemas.openxmlformats.org/drawingml/2006/main" noGrp="1"/>
          </p:cNvSpPr>
          <p:nvPr/>
        </p:nvSpPr>
        <p:spPr>
          <a:xfrm xmlns:a="http://schemas.openxmlformats.org/drawingml/2006/main">
            <a:off x="5334000" y="3457575"/>
            <a:ext cx="2381250" cy="781050"/>
          </a:xfrm>
          <a:prstGeom xmlns:a="http://schemas.openxmlformats.org/drawingml/2006/main" prst="roundRect">
            <a:avLst>
              <a:gd name="adj" fmla="val 10976"/>
            </a:avLst>
          </a:prstGeom>
          <a:solidFill xmlns:a="http://schemas.openxmlformats.org/drawingml/2006/main">
            <a:srgbClr val="FFFFFF"/>
          </a:solidFill>
          <a:ln xmlns:a="http://schemas.openxmlformats.org/drawingml/2006/main" w="14288">
            <a:solidFill>
              <a:srgbClr val="0F766E"/>
            </a:solidFill>
            <a:prstDash val="solid"/>
          </a:ln>
        </p:spPr>
        <p:txBody>
          <a:bodyPr xmlns:a="http://schemas.openxmlformats.org/drawingml/2006/main" wrap="square" lIns="85725" tIns="57150" rIns="85725" bIns="57150" anchor="ctr">
            <a:normAutofit fontScale="100000"/>
          </a:bodyPr>
          <a:lstStyle xmlns:a="http://schemas.openxmlformats.org/drawingml/2006/main"/>
          <a:p xmlns:a="http://schemas.openxmlformats.org/drawingml/2006/main">
            <a:pPr algn="ctr">
              <a:buNone/>
              <a:defRPr sz="1125" b="1">
                <a:solidFill>
                  <a:srgbClr val="142D45"/>
                </a:solidFill>
                <a:latin typeface="Aptos"/>
                <a:ea typeface="Aptos"/>
                <a:cs typeface="Aptos"/>
              </a:defRPr>
            </a:pPr>
            <a:r>
              <a:rPr sz="1125" b="1">
                <a:solidFill>
                  <a:srgbClr val="142D45"/>
                </a:solidFill>
                <a:latin typeface="Aptos"/>
                <a:ea typeface="Aptos"/>
                <a:cs typeface="Aptos"/>
              </a:rPr>
              <a:t>slot1 · ClassAd</a:t>
            </a:r>
          </a:p>
          <a:p xmlns:a="http://schemas.openxmlformats.org/drawingml/2006/main">
            <a:pPr algn="ctr">
              <a:buNone/>
              <a:defRPr sz="1125" b="1">
                <a:solidFill>
                  <a:srgbClr val="142D45"/>
                </a:solidFill>
                <a:latin typeface="Aptos"/>
                <a:ea typeface="Aptos"/>
                <a:cs typeface="Aptos"/>
              </a:defRPr>
            </a:pPr>
            <a:r>
              <a:rPr sz="1125" b="1">
                <a:solidFill>
                  <a:srgbClr val="142D45"/>
                </a:solidFill>
                <a:latin typeface="Aptos"/>
                <a:ea typeface="Aptos"/>
                <a:cs typeface="Aptos"/>
              </a:rPr>
              <a:t>Cpus=1 · Memory=1410 MiB</a:t>
            </a:r>
          </a:p>
          <a:p xmlns:a="http://schemas.openxmlformats.org/drawingml/2006/main">
            <a:pPr algn="ctr">
              <a:buNone/>
              <a:defRPr sz="1125" b="1">
                <a:solidFill>
                  <a:srgbClr val="142D45"/>
                </a:solidFill>
                <a:latin typeface="Aptos"/>
                <a:ea typeface="Aptos"/>
                <a:cs typeface="Aptos"/>
              </a:defRPr>
            </a:pPr>
            <a:r>
              <a:rPr sz="1125" b="1">
                <a:solidFill>
                  <a:srgbClr val="142D45"/>
                </a:solidFill>
                <a:latin typeface="Aptos"/>
                <a:ea typeface="Aptos"/>
                <a:cs typeface="Aptos"/>
              </a:rPr>
              <a:t>Unclaimed · Idle</a:t>
            </a:r>
          </a:p>
        </p:txBody>
      </p:sp>
      <p:sp>
        <p:nvSpPr>
          <p:cNvPr id="43" name="worker1-resource-scope">
            <a:extLst xmlns:a="http://schemas.openxmlformats.org/drawingml/2006/main">
              <a:ext uri="{FF2B5EF4-FFF2-40B4-BE49-F238E27FC236}">
                <a16:creationId xmlns:a16="http://schemas.microsoft.com/office/drawing/2014/main" id="{36A6C27A-77C9-4DAD-B563-1D37CC2BC610}"/>
              </a:ext>
            </a:extLst>
          </p:cNvPr>
          <p:cNvSpPr>
            <a:spLocks xmlns:a="http://schemas.openxmlformats.org/drawingml/2006/main" noGrp="1"/>
          </p:cNvSpPr>
          <p:nvPr/>
        </p:nvSpPr>
        <p:spPr>
          <a:xfrm xmlns:a="http://schemas.openxmlformats.org/drawingml/2006/main">
            <a:off x="5314950" y="4314825"/>
            <a:ext cx="242887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buNone/>
              <a:defRPr sz="975" b="0">
                <a:solidFill>
                  <a:srgbClr val="0F766E"/>
                </a:solidFill>
                <a:latin typeface="Aptos"/>
                <a:ea typeface="Aptos"/>
                <a:cs typeface="Aptos"/>
              </a:defRPr>
            </a:pPr>
            <a:r>
              <a:rPr sz="975" b="0">
                <a:solidFill>
                  <a:srgbClr val="0F766E"/>
                </a:solidFill>
                <a:latin typeface="Aptos"/>
                <a:ea typeface="Aptos"/>
                <a:cs typeface="Aptos"/>
              </a:rPr>
              <a:t>recursos anunciados del slot</a:t>
            </a:r>
          </a:p>
        </p:txBody>
      </p:sp>
      <p:sp>
        <p:nvSpPr>
          <p:cNvPr id="44" name="worker2-host-frame">
            <a:extLst xmlns:a="http://schemas.openxmlformats.org/drawingml/2006/main">
              <a:ext uri="{FF2B5EF4-FFF2-40B4-BE49-F238E27FC236}">
                <a16:creationId xmlns:a16="http://schemas.microsoft.com/office/drawing/2014/main" id="{7A14D257-9CE6-4240-AFD9-D2ECB03F5A8E}"/>
              </a:ext>
            </a:extLst>
          </p:cNvPr>
          <p:cNvSpPr>
            <a:spLocks xmlns:a="http://schemas.openxmlformats.org/drawingml/2006/main" noGrp="1"/>
          </p:cNvSpPr>
          <p:nvPr/>
        </p:nvSpPr>
        <p:spPr>
          <a:xfrm xmlns:a="http://schemas.openxmlformats.org/drawingml/2006/main">
            <a:off x="8239125" y="2095500"/>
            <a:ext cx="2857500" cy="2609850"/>
          </a:xfrm>
          <a:prstGeom xmlns:a="http://schemas.openxmlformats.org/drawingml/2006/main" prst="roundRect">
            <a:avLst>
              <a:gd name="adj" fmla="val 3650"/>
            </a:avLst>
          </a:prstGeom>
          <a:solidFill xmlns:a="http://schemas.openxmlformats.org/drawingml/2006/main">
            <a:srgbClr val="E7F6F3"/>
          </a:solidFill>
          <a:ln xmlns:a="http://schemas.openxmlformats.org/drawingml/2006/main" w="16193">
            <a:solidFill>
              <a:srgbClr val="0F766E"/>
            </a:solidFill>
            <a:prstDash val="solid"/>
          </a:ln>
        </p:spPr>
      </p:sp>
      <p:sp>
        <p:nvSpPr>
          <p:cNvPr id="45" name="worker2-host-label">
            <a:extLst xmlns:a="http://schemas.openxmlformats.org/drawingml/2006/main">
              <a:ext uri="{FF2B5EF4-FFF2-40B4-BE49-F238E27FC236}">
                <a16:creationId xmlns:a16="http://schemas.microsoft.com/office/drawing/2014/main" id="{833524C0-1A4D-4CE9-865D-F2E62184DBEB}"/>
              </a:ext>
            </a:extLst>
          </p:cNvPr>
          <p:cNvSpPr>
            <a:spLocks xmlns:a="http://schemas.openxmlformats.org/drawingml/2006/main" noGrp="1"/>
          </p:cNvSpPr>
          <p:nvPr/>
        </p:nvSpPr>
        <p:spPr>
          <a:xfrm xmlns:a="http://schemas.openxmlformats.org/drawingml/2006/main">
            <a:off x="8382000" y="2190750"/>
            <a:ext cx="2571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buNone/>
              <a:defRPr sz="1275" b="1">
                <a:solidFill>
                  <a:srgbClr val="142D45"/>
                </a:solidFill>
                <a:latin typeface="Aptos"/>
                <a:ea typeface="Aptos"/>
                <a:cs typeface="Aptos"/>
              </a:defRPr>
            </a:pPr>
            <a:r>
              <a:rPr sz="1275" b="1">
                <a:solidFill>
                  <a:srgbClr val="142D45"/>
                </a:solidFill>
                <a:latin typeface="Aptos"/>
                <a:ea typeface="Aptos"/>
                <a:cs typeface="Aptos"/>
              </a:rPr>
              <a:t>WORKER 2 · 192.168.79.139</a:t>
            </a:r>
          </a:p>
        </p:txBody>
      </p:sp>
      <p:sp>
        <p:nvSpPr>
          <p:cNvPr id="46" name="worker2-host-facts">
            <a:extLst xmlns:a="http://schemas.openxmlformats.org/drawingml/2006/main">
              <a:ext uri="{FF2B5EF4-FFF2-40B4-BE49-F238E27FC236}">
                <a16:creationId xmlns:a16="http://schemas.microsoft.com/office/drawing/2014/main" id="{4C62DF29-A99B-45CE-88C9-4285B1972FDB}"/>
              </a:ext>
            </a:extLst>
          </p:cNvPr>
          <p:cNvSpPr>
            <a:spLocks xmlns:a="http://schemas.openxmlformats.org/drawingml/2006/main" noGrp="1"/>
          </p:cNvSpPr>
          <p:nvPr/>
        </p:nvSpPr>
        <p:spPr>
          <a:xfrm xmlns:a="http://schemas.openxmlformats.org/drawingml/2006/main">
            <a:off x="8467725" y="2495550"/>
            <a:ext cx="24003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96154"/>
          </a:bodyPr>
          <a:lstStyle xmlns:a="http://schemas.openxmlformats.org/drawingml/2006/main"/>
          <a:p xmlns:a="http://schemas.openxmlformats.org/drawingml/2006/main">
            <a:pPr algn="ctr">
              <a:buNone/>
              <a:defRPr sz="1125" b="0">
                <a:solidFill>
                  <a:srgbClr val="34485D"/>
                </a:solidFill>
                <a:latin typeface="Aptos"/>
                <a:ea typeface="Aptos"/>
                <a:cs typeface="Aptos"/>
              </a:defRPr>
            </a:pPr>
            <a:r>
              <a:rPr sz="975" b="0">
                <a:solidFill>
                  <a:srgbClr val="34485D"/>
                </a:solidFill>
                <a:latin typeface="Aptos"/>
                <a:ea typeface="Aptos"/>
                <a:cs typeface="Aptos"/>
              </a:rPr>
              <a:t>pegasus-worker2</a:t>
            </a:r>
          </a:p>
          <a:p xmlns:a="http://schemas.openxmlformats.org/drawingml/2006/main">
            <a:pPr algn="ctr">
              <a:buNone/>
              <a:defRPr sz="1125" b="0">
                <a:solidFill>
                  <a:srgbClr val="34485D"/>
                </a:solidFill>
                <a:latin typeface="Aptos"/>
                <a:ea typeface="Aptos"/>
                <a:cs typeface="Aptos"/>
              </a:defRPr>
            </a:pPr>
            <a:r>
              <a:rPr sz="975" b="0">
                <a:solidFill>
                  <a:srgbClr val="34485D"/>
                </a:solidFill>
                <a:latin typeface="Aptos"/>
                <a:ea typeface="Aptos"/>
                <a:cs typeface="Aptos"/>
              </a:rPr>
              <a:t>Ubuntu 26.04 · Linux 7.0.0-34</a:t>
            </a:r>
          </a:p>
          <a:p xmlns:a="http://schemas.openxmlformats.org/drawingml/2006/main">
            <a:pPr algn="ctr">
              <a:buNone/>
              <a:defRPr sz="1125" b="0">
                <a:solidFill>
                  <a:srgbClr val="34485D"/>
                </a:solidFill>
                <a:latin typeface="Aptos"/>
                <a:ea typeface="Aptos"/>
                <a:cs typeface="Aptos"/>
              </a:defRPr>
            </a:pPr>
            <a:r>
              <a:rPr sz="975" b="0">
                <a:solidFill>
                  <a:srgbClr val="34485D"/>
                </a:solidFill>
                <a:latin typeface="Aptos"/>
                <a:ea typeface="Aptos"/>
                <a:cs typeface="Aptos"/>
              </a:rPr>
              <a:t>i5-1235U (guest) · 1 vCPU</a:t>
            </a:r>
          </a:p>
          <a:p xmlns:a="http://schemas.openxmlformats.org/drawingml/2006/main">
            <a:pPr algn="ctr">
              <a:buNone/>
              <a:defRPr sz="1125" b="0">
                <a:solidFill>
                  <a:srgbClr val="34485D"/>
                </a:solidFill>
                <a:latin typeface="Aptos"/>
                <a:ea typeface="Aptos"/>
                <a:cs typeface="Aptos"/>
              </a:defRPr>
            </a:pPr>
            <a:r>
              <a:rPr sz="975" b="0">
                <a:solidFill>
                  <a:srgbClr val="34485D"/>
                </a:solidFill>
                <a:latin typeface="Aptos"/>
                <a:ea typeface="Aptos"/>
                <a:cs typeface="Aptos"/>
              </a:rPr>
              <a:t>RAM guest 1.48 GB</a:t>
            </a:r>
          </a:p>
          <a:p xmlns:a="http://schemas.openxmlformats.org/drawingml/2006/main">
            <a:pPr algn="ctr">
              <a:buNone/>
              <a:defRPr sz="1125" b="0">
                <a:solidFill>
                  <a:srgbClr val="34485D"/>
                </a:solidFill>
                <a:latin typeface="Aptos"/>
                <a:ea typeface="Aptos"/>
                <a:cs typeface="Aptos"/>
              </a:defRPr>
            </a:pPr>
            <a:r>
              <a:rPr sz="975" b="0">
                <a:solidFill>
                  <a:srgbClr val="34485D"/>
                </a:solidFill>
                <a:latin typeface="Aptos"/>
                <a:ea typeface="Aptos"/>
                <a:cs typeface="Aptos"/>
              </a:rPr>
              <a:t>Pegasus 5.1.2 · HTCondor 25.12.2</a:t>
            </a:r>
          </a:p>
          <a:p xmlns:a="http://schemas.openxmlformats.org/drawingml/2006/main">
            <a:pPr algn="ctr">
              <a:buNone/>
              <a:defRPr sz="1125" b="0">
                <a:solidFill>
                  <a:srgbClr val="34485D"/>
                </a:solidFill>
                <a:latin typeface="Aptos"/>
                <a:ea typeface="Aptos"/>
                <a:cs typeface="Aptos"/>
              </a:defRPr>
            </a:pPr>
            <a:r>
              <a:rPr sz="975" b="0">
                <a:solidFill>
                  <a:srgbClr val="34485D"/>
                </a:solidFill>
                <a:latin typeface="Aptos"/>
                <a:ea typeface="Aptos"/>
                <a:cs typeface="Aptos"/>
              </a:rPr>
              <a:t>Python 3.14.4 · OpenJDK 25.0.4.1</a:t>
            </a:r>
          </a:p>
        </p:txBody>
      </p:sp>
      <p:sp>
        <p:nvSpPr>
          <p:cNvPr id="47" name="worker2-slot">
            <a:extLst xmlns:a="http://schemas.openxmlformats.org/drawingml/2006/main">
              <a:ext uri="{FF2B5EF4-FFF2-40B4-BE49-F238E27FC236}">
                <a16:creationId xmlns:a16="http://schemas.microsoft.com/office/drawing/2014/main" id="{50726692-AA9F-488A-8422-7B2AAE29333D}"/>
              </a:ext>
            </a:extLst>
          </p:cNvPr>
          <p:cNvSpPr>
            <a:spLocks xmlns:a="http://schemas.openxmlformats.org/drawingml/2006/main" noGrp="1"/>
          </p:cNvSpPr>
          <p:nvPr/>
        </p:nvSpPr>
        <p:spPr>
          <a:xfrm xmlns:a="http://schemas.openxmlformats.org/drawingml/2006/main">
            <a:off x="8477250" y="3457575"/>
            <a:ext cx="2381250" cy="781050"/>
          </a:xfrm>
          <a:prstGeom xmlns:a="http://schemas.openxmlformats.org/drawingml/2006/main" prst="roundRect">
            <a:avLst>
              <a:gd name="adj" fmla="val 10976"/>
            </a:avLst>
          </a:prstGeom>
          <a:solidFill xmlns:a="http://schemas.openxmlformats.org/drawingml/2006/main">
            <a:srgbClr val="FFFFFF"/>
          </a:solidFill>
          <a:ln xmlns:a="http://schemas.openxmlformats.org/drawingml/2006/main" w="14288">
            <a:solidFill>
              <a:srgbClr val="0F766E"/>
            </a:solidFill>
            <a:prstDash val="solid"/>
          </a:ln>
        </p:spPr>
        <p:txBody>
          <a:bodyPr xmlns:a="http://schemas.openxmlformats.org/drawingml/2006/main" wrap="square" lIns="85725" tIns="57150" rIns="85725" bIns="57150" anchor="ctr">
            <a:normAutofit fontScale="100000"/>
          </a:bodyPr>
          <a:lstStyle xmlns:a="http://schemas.openxmlformats.org/drawingml/2006/main"/>
          <a:p xmlns:a="http://schemas.openxmlformats.org/drawingml/2006/main">
            <a:pPr algn="ctr">
              <a:buNone/>
              <a:defRPr sz="1125" b="1">
                <a:solidFill>
                  <a:srgbClr val="142D45"/>
                </a:solidFill>
                <a:latin typeface="Aptos"/>
                <a:ea typeface="Aptos"/>
                <a:cs typeface="Aptos"/>
              </a:defRPr>
            </a:pPr>
            <a:r>
              <a:rPr sz="1125" b="1">
                <a:solidFill>
                  <a:srgbClr val="142D45"/>
                </a:solidFill>
                <a:latin typeface="Aptos"/>
                <a:ea typeface="Aptos"/>
                <a:cs typeface="Aptos"/>
              </a:rPr>
              <a:t>slot1 · ClassAd</a:t>
            </a:r>
          </a:p>
          <a:p xmlns:a="http://schemas.openxmlformats.org/drawingml/2006/main">
            <a:pPr algn="ctr">
              <a:buNone/>
              <a:defRPr sz="1125" b="1">
                <a:solidFill>
                  <a:srgbClr val="142D45"/>
                </a:solidFill>
                <a:latin typeface="Aptos"/>
                <a:ea typeface="Aptos"/>
                <a:cs typeface="Aptos"/>
              </a:defRPr>
            </a:pPr>
            <a:r>
              <a:rPr sz="1125" b="1">
                <a:solidFill>
                  <a:srgbClr val="142D45"/>
                </a:solidFill>
                <a:latin typeface="Aptos"/>
                <a:ea typeface="Aptos"/>
                <a:cs typeface="Aptos"/>
              </a:rPr>
              <a:t>Cpus=1 · Memory=1410 MiB</a:t>
            </a:r>
          </a:p>
          <a:p xmlns:a="http://schemas.openxmlformats.org/drawingml/2006/main">
            <a:pPr algn="ctr">
              <a:buNone/>
              <a:defRPr sz="1125" b="1">
                <a:solidFill>
                  <a:srgbClr val="142D45"/>
                </a:solidFill>
                <a:latin typeface="Aptos"/>
                <a:ea typeface="Aptos"/>
                <a:cs typeface="Aptos"/>
              </a:defRPr>
            </a:pPr>
            <a:r>
              <a:rPr sz="1125" b="1">
                <a:solidFill>
                  <a:srgbClr val="142D45"/>
                </a:solidFill>
                <a:latin typeface="Aptos"/>
                <a:ea typeface="Aptos"/>
                <a:cs typeface="Aptos"/>
              </a:rPr>
              <a:t>Unclaimed · Idle</a:t>
            </a:r>
          </a:p>
        </p:txBody>
      </p:sp>
      <p:sp>
        <p:nvSpPr>
          <p:cNvPr id="48" name="worker2-resource-scope">
            <a:extLst xmlns:a="http://schemas.openxmlformats.org/drawingml/2006/main">
              <a:ext uri="{FF2B5EF4-FFF2-40B4-BE49-F238E27FC236}">
                <a16:creationId xmlns:a16="http://schemas.microsoft.com/office/drawing/2014/main" id="{C6BB3941-51B4-4BDE-ABEC-4AE1B32BE4FD}"/>
              </a:ext>
            </a:extLst>
          </p:cNvPr>
          <p:cNvSpPr>
            <a:spLocks xmlns:a="http://schemas.openxmlformats.org/drawingml/2006/main" noGrp="1"/>
          </p:cNvSpPr>
          <p:nvPr/>
        </p:nvSpPr>
        <p:spPr>
          <a:xfrm xmlns:a="http://schemas.openxmlformats.org/drawingml/2006/main">
            <a:off x="8458200" y="4314825"/>
            <a:ext cx="242887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buNone/>
              <a:defRPr sz="975" b="0">
                <a:solidFill>
                  <a:srgbClr val="0F766E"/>
                </a:solidFill>
                <a:latin typeface="Aptos"/>
                <a:ea typeface="Aptos"/>
                <a:cs typeface="Aptos"/>
              </a:defRPr>
            </a:pPr>
            <a:r>
              <a:rPr sz="975" b="0">
                <a:solidFill>
                  <a:srgbClr val="0F766E"/>
                </a:solidFill>
                <a:latin typeface="Aptos"/>
                <a:ea typeface="Aptos"/>
                <a:cs typeface="Aptos"/>
              </a:rPr>
              <a:t>recursos anunciados del slot</a:t>
            </a:r>
          </a:p>
        </p:txBody>
      </p:sp>
      <p:sp>
        <p:nvSpPr>
          <p:cNvPr id="49" name="pool-control-explanation">
            <a:extLst xmlns:a="http://schemas.openxmlformats.org/drawingml/2006/main">
              <a:ext uri="{FF2B5EF4-FFF2-40B4-BE49-F238E27FC236}">
                <a16:creationId xmlns:a16="http://schemas.microsoft.com/office/drawing/2014/main" id="{402217F4-EADA-46B0-976C-BBCFD996C315}"/>
              </a:ext>
            </a:extLst>
          </p:cNvPr>
          <p:cNvSpPr>
            <a:spLocks xmlns:a="http://schemas.openxmlformats.org/drawingml/2006/main" noGrp="1"/>
          </p:cNvSpPr>
          <p:nvPr/>
        </p:nvSpPr>
        <p:spPr>
          <a:xfrm xmlns:a="http://schemas.openxmlformats.org/drawingml/2006/main">
            <a:off x="857250" y="4981575"/>
            <a:ext cx="10477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buNone/>
              <a:defRPr sz="1050" b="0">
                <a:solidFill>
                  <a:srgbClr val="65758B"/>
                </a:solidFill>
                <a:latin typeface="Aptos"/>
                <a:ea typeface="Aptos"/>
                <a:cs typeface="Aptos"/>
              </a:defRPr>
            </a:pPr>
            <a:r>
              <a:rPr sz="1050" b="0">
                <a:solidFill>
                  <a:srgbClr val="65758B"/>
                </a:solidFill>
                <a:latin typeface="Aptos"/>
                <a:ea typeface="Aptos"/>
                <a:cs typeface="Aptos"/>
              </a:rPr>
              <a:t>La RAM guest es distinta de los 1410 MiB anunciados para cada slot. La figura representa control y anuncios lógicos del pool, no rutas físicas ni tráfico de red.</a:t>
            </a:r>
          </a:p>
        </p:txBody>
      </p:sp>
      <p:sp>
        <p:nvSpPr>
          <p:cNvPr id="50" name="offline-analysis-boundary">
            <a:extLst xmlns:a="http://schemas.openxmlformats.org/drawingml/2006/main">
              <a:ext uri="{FF2B5EF4-FFF2-40B4-BE49-F238E27FC236}">
                <a16:creationId xmlns:a16="http://schemas.microsoft.com/office/drawing/2014/main" id="{13316B4E-0456-4460-B9BE-737CB53CAD17}"/>
              </a:ext>
            </a:extLst>
          </p:cNvPr>
          <p:cNvSpPr>
            <a:spLocks xmlns:a="http://schemas.openxmlformats.org/drawingml/2006/main" noGrp="1"/>
          </p:cNvSpPr>
          <p:nvPr/>
        </p:nvSpPr>
        <p:spPr>
          <a:xfrm xmlns:a="http://schemas.openxmlformats.org/drawingml/2006/main">
            <a:off x="800100" y="5648325"/>
            <a:ext cx="1059180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buNone/>
              <a:defRPr sz="1200" b="1">
                <a:solidFill>
                  <a:srgbClr val="142D45"/>
                </a:solidFill>
                <a:latin typeface="Aptos"/>
                <a:ea typeface="Aptos"/>
                <a:cs typeface="Aptos"/>
              </a:defRPr>
            </a:pPr>
            <a:r>
              <a:rPr sz="1200" b="1">
                <a:solidFill>
                  <a:srgbClr val="142D45"/>
                </a:solidFill>
                <a:latin typeface="Aptos"/>
                <a:ea typeface="Aptos"/>
                <a:cs typeface="Aptos"/>
              </a:rPr>
              <a:t>Analyzer v1 procesa artefactos Pegasus preservados e HTCondor history exportado; el análisis no consulta el pool en vivo.</a:t>
            </a:r>
          </a:p>
        </p:txBody>
      </p:sp>
    </p:spTree>
    <p:extLst>
      <p:ext uri="{BB962C8B-B14F-4D97-AF65-F5344CB8AC3E}">
        <p14:creationId xmlns:p14="http://schemas.microsoft.com/office/powerpoint/2010/main" val="1754904956"/>
      </p:ext>
    </p:extLst>
  </p:cSld>
</p:sld>
</file>

<file path=ppt/slides/slide10.xml><?xml version="1.0" encoding="utf-8"?>
<p:sld xmlns:p="http://schemas.openxmlformats.org/presentationml/2006/main">
  <p:cSld>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402D99ED-F9F7-40B8-84D6-F629F98B78E6}"/>
              </a:ext>
            </a:extLst>
          </p:cNvPr>
          <p:cNvSpPr>
            <a:spLocks xmlns:a="http://schemas.openxmlformats.org/drawingml/2006/main" noGrp="1"/>
          </p:cNvSpPr>
          <p:nvPr/>
        </p:nvSpPr>
        <p:spPr>
          <a:xfrm xmlns:a="http://schemas.openxmlformats.org/drawingml/2006/main">
            <a:off x="0" y="0"/>
            <a:ext cx="12191695" cy="109728"/>
          </a:xfrm>
          <a:prstGeom xmlns:a="http://schemas.openxmlformats.org/drawingml/2006/main" prst="rect">
            <a:avLst/>
          </a:prstGeom>
          <a:solidFill xmlns:a="http://schemas.openxmlformats.org/drawingml/2006/main">
            <a:srgbClr val="2563EB"/>
          </a:solidFill>
          <a:ln xmlns:a="http://schemas.openxmlformats.org/drawingml/2006/main" w="12700">
            <a:solidFill>
              <a:srgbClr val="2563EB"/>
            </a:solidFill>
            <a:prstDash val="solid"/>
          </a:ln>
        </p:spPr>
      </p:sp>
      <p:sp>
        <p:nvSpPr>
          <p:cNvPr id="3" name="Text 1">
            <a:extLst xmlns:a="http://schemas.openxmlformats.org/drawingml/2006/main">
              <a:ext uri="{FF2B5EF4-FFF2-40B4-BE49-F238E27FC236}">
                <a16:creationId xmlns:a16="http://schemas.microsoft.com/office/drawing/2014/main" id="{789215D2-FFF5-4484-80E5-5996AA92C70C}"/>
              </a:ext>
            </a:extLst>
          </p:cNvPr>
          <p:cNvSpPr>
            <a:spLocks xmlns:a="http://schemas.openxmlformats.org/drawingml/2006/main" noGrp="1"/>
          </p:cNvSpPr>
          <p:nvPr/>
        </p:nvSpPr>
        <p:spPr>
          <a:xfrm xmlns:a="http://schemas.openxmlformats.org/drawingml/2006/main">
            <a:off x="658368" y="384048"/>
            <a:ext cx="292608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850" b="1">
                <a:solidFill>
                  <a:srgbClr val="2563EB"/>
                </a:solidFill>
                <a:latin typeface="Aptos"/>
                <a:ea typeface="Aptos"/>
                <a:cs typeface="Aptos"/>
              </a:rPr>
              <a:t>MÉTRICA</a:t>
            </a:r>
            <a:endParaRPr sz="850"/>
          </a:p>
        </p:txBody>
      </p:sp>
      <p:sp>
        <p:nvSpPr>
          <p:cNvPr id="4" name="Text 2">
            <a:extLst xmlns:a="http://schemas.openxmlformats.org/drawingml/2006/main">
              <a:ext uri="{FF2B5EF4-FFF2-40B4-BE49-F238E27FC236}">
                <a16:creationId xmlns:a16="http://schemas.microsoft.com/office/drawing/2014/main" id="{A298EB3D-732F-473B-B629-4797450BF6F3}"/>
              </a:ext>
            </a:extLst>
          </p:cNvPr>
          <p:cNvSpPr>
            <a:spLocks xmlns:a="http://schemas.openxmlformats.org/drawingml/2006/main" noGrp="1"/>
          </p:cNvSpPr>
          <p:nvPr/>
        </p:nvSpPr>
        <p:spPr>
          <a:xfrm xmlns:a="http://schemas.openxmlformats.org/drawingml/2006/main">
            <a:off x="621792" y="621792"/>
            <a:ext cx="10881360" cy="530352"/>
          </a:xfrm>
          <a:prstGeom xmlns:a="http://schemas.openxmlformats.org/drawingml/2006/main" prst="rect">
            <a:avLst/>
          </a:prstGeom>
          <a:noFill xmlns:a="http://schemas.openxmlformats.org/drawingml/2006/main"/>
        </p:spPr>
        <p:txBody>
          <a:bodyPr xmlns:a="http://schemas.openxmlformats.org/drawingml/2006/main" wrap="square" lIns="254" tIns="254" rIns="254" bIns="254" anchor="ctr">
            <a:normAutofit/>
          </a:bodyPr>
          <a:lstStyle xmlns:a="http://schemas.openxmlformats.org/drawingml/2006/main"/>
          <a:p xmlns:a="http://schemas.openxmlformats.org/drawingml/2006/main">
            <a:pPr marL="0" indent="0">
              <a:buNone/>
            </a:pPr>
            <a:r>
              <a:rPr sz="2500" b="1">
                <a:solidFill>
                  <a:srgbClr val="102A43"/>
                </a:solidFill>
                <a:latin typeface="Aptos Display"/>
                <a:ea typeface="Aptos Display"/>
                <a:cs typeface="Aptos Display"/>
              </a:rPr>
              <a:t>9. Tres cantidades que no deben confundirse</a:t>
            </a:r>
            <a:endParaRPr sz="2500"/>
          </a:p>
        </p:txBody>
      </p:sp>
      <p:sp>
        <p:nvSpPr>
          <p:cNvPr id="5" name="Shape 3">
            <a:extLst xmlns:a="http://schemas.openxmlformats.org/drawingml/2006/main">
              <a:ext uri="{FF2B5EF4-FFF2-40B4-BE49-F238E27FC236}">
                <a16:creationId xmlns:a16="http://schemas.microsoft.com/office/drawing/2014/main" id="{98AA8ED3-8057-439D-BA94-7DAB6CDDEE72}"/>
              </a:ext>
            </a:extLst>
          </p:cNvPr>
          <p:cNvSpPr>
            <a:spLocks xmlns:a="http://schemas.openxmlformats.org/drawingml/2006/main" noGrp="1"/>
          </p:cNvSpPr>
          <p:nvPr/>
        </p:nvSpPr>
        <p:spPr>
          <a:xfrm xmlns:a="http://schemas.openxmlformats.org/drawingml/2006/main">
            <a:off x="777240" y="1572768"/>
            <a:ext cx="3429000" cy="1097280"/>
          </a:xfrm>
          <a:prstGeom xmlns:a="http://schemas.openxmlformats.org/drawingml/2006/main" prst="roundRect">
            <a:avLst>
              <a:gd name="adj" fmla="val 8333"/>
            </a:avLst>
          </a:prstGeom>
          <a:solidFill xmlns:a="http://schemas.openxmlformats.org/drawingml/2006/main">
            <a:srgbClr val="FFFFFF"/>
          </a:solidFill>
          <a:ln xmlns:a="http://schemas.openxmlformats.org/drawingml/2006/main" w="10160">
            <a:solidFill>
              <a:srgbClr val="CBD5E1"/>
            </a:solidFill>
            <a:prstDash val="solid"/>
          </a:ln>
        </p:spPr>
      </p:sp>
      <p:sp>
        <p:nvSpPr>
          <p:cNvPr id="6" name="Shape 4">
            <a:extLst xmlns:a="http://schemas.openxmlformats.org/drawingml/2006/main">
              <a:ext uri="{FF2B5EF4-FFF2-40B4-BE49-F238E27FC236}">
                <a16:creationId xmlns:a16="http://schemas.microsoft.com/office/drawing/2014/main" id="{1C791076-C681-4A30-A0BF-BC73D6E29910}"/>
              </a:ext>
            </a:extLst>
          </p:cNvPr>
          <p:cNvSpPr>
            <a:spLocks xmlns:a="http://schemas.openxmlformats.org/drawingml/2006/main" noGrp="1"/>
          </p:cNvSpPr>
          <p:nvPr/>
        </p:nvSpPr>
        <p:spPr>
          <a:xfrm xmlns:a="http://schemas.openxmlformats.org/drawingml/2006/main">
            <a:off x="777240" y="1572768"/>
            <a:ext cx="73152" cy="1097280"/>
          </a:xfrm>
          <a:prstGeom xmlns:a="http://schemas.openxmlformats.org/drawingml/2006/main" prst="rect">
            <a:avLst/>
          </a:prstGeom>
          <a:solidFill xmlns:a="http://schemas.openxmlformats.org/drawingml/2006/main">
            <a:srgbClr val="2563EB"/>
          </a:solidFill>
          <a:ln xmlns:a="http://schemas.openxmlformats.org/drawingml/2006/main" w="12700">
            <a:solidFill>
              <a:srgbClr val="2563EB"/>
            </a:solidFill>
            <a:prstDash val="solid"/>
          </a:ln>
        </p:spPr>
      </p:sp>
      <p:sp>
        <p:nvSpPr>
          <p:cNvPr id="7" name="Text 5">
            <a:extLst xmlns:a="http://schemas.openxmlformats.org/drawingml/2006/main">
              <a:ext uri="{FF2B5EF4-FFF2-40B4-BE49-F238E27FC236}">
                <a16:creationId xmlns:a16="http://schemas.microsoft.com/office/drawing/2014/main" id="{57764B3C-BA7E-4BD5-B6FA-2BC1A77D5E0C}"/>
              </a:ext>
            </a:extLst>
          </p:cNvPr>
          <p:cNvSpPr>
            <a:spLocks xmlns:a="http://schemas.openxmlformats.org/drawingml/2006/main" noGrp="1"/>
          </p:cNvSpPr>
          <p:nvPr/>
        </p:nvSpPr>
        <p:spPr>
          <a:xfrm xmlns:a="http://schemas.openxmlformats.org/drawingml/2006/main">
            <a:off x="960120" y="1719072"/>
            <a:ext cx="310896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buNone/>
            </a:pPr>
            <a:r>
              <a:rPr sz="1000" b="1">
                <a:solidFill>
                  <a:srgbClr val="2563EB"/>
                </a:solidFill>
              </a:rPr>
              <a:t>RequiredMovement</a:t>
            </a:r>
            <a:endParaRPr sz="1000"/>
          </a:p>
        </p:txBody>
      </p:sp>
      <p:sp>
        <p:nvSpPr>
          <p:cNvPr id="8" name="Text 6">
            <a:extLst xmlns:a="http://schemas.openxmlformats.org/drawingml/2006/main">
              <a:ext uri="{FF2B5EF4-FFF2-40B4-BE49-F238E27FC236}">
                <a16:creationId xmlns:a16="http://schemas.microsoft.com/office/drawing/2014/main" id="{4CAAA5EF-FC2E-4ADB-9657-11533C1F8D67}"/>
              </a:ext>
            </a:extLst>
          </p:cNvPr>
          <p:cNvSpPr>
            <a:spLocks xmlns:a="http://schemas.openxmlformats.org/drawingml/2006/main" noGrp="1"/>
          </p:cNvSpPr>
          <p:nvPr/>
        </p:nvSpPr>
        <p:spPr>
          <a:xfrm xmlns:a="http://schemas.openxmlformats.org/drawingml/2006/main">
            <a:off x="960120" y="2011680"/>
            <a:ext cx="310896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buNone/>
            </a:pPr>
            <a:r>
              <a:rPr sz="1600" b="1">
                <a:solidFill>
                  <a:srgbClr val="102A43"/>
                </a:solidFill>
              </a:rPr>
              <a:t>M_req</a:t>
            </a:r>
            <a:endParaRPr sz="1600"/>
          </a:p>
        </p:txBody>
      </p:sp>
      <p:sp>
        <p:nvSpPr>
          <p:cNvPr id="9" name="Text 7">
            <a:extLst xmlns:a="http://schemas.openxmlformats.org/drawingml/2006/main">
              <a:ext uri="{FF2B5EF4-FFF2-40B4-BE49-F238E27FC236}">
                <a16:creationId xmlns:a16="http://schemas.microsoft.com/office/drawing/2014/main" id="{4FA38F5F-8678-45D1-804B-AD6E38E4640F}"/>
              </a:ext>
            </a:extLst>
          </p:cNvPr>
          <p:cNvSpPr>
            <a:spLocks xmlns:a="http://schemas.openxmlformats.org/drawingml/2006/main" noGrp="1"/>
          </p:cNvSpPr>
          <p:nvPr/>
        </p:nvSpPr>
        <p:spPr>
          <a:xfrm xmlns:a="http://schemas.openxmlformats.org/drawingml/2006/main">
            <a:off x="960120" y="2350008"/>
            <a:ext cx="3108960" cy="22860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buNone/>
            </a:pPr>
            <a:r>
              <a:rPr sz="850">
                <a:solidFill>
                  <a:srgbClr val="64748B"/>
                </a:solidFill>
              </a:rPr>
              <a:t>mínimo científico necesario bajo el placement observado</a:t>
            </a:r>
            <a:endParaRPr sz="850"/>
          </a:p>
        </p:txBody>
      </p:sp>
      <p:sp>
        <p:nvSpPr>
          <p:cNvPr id="10" name="Shape 8">
            <a:extLst xmlns:a="http://schemas.openxmlformats.org/drawingml/2006/main">
              <a:ext uri="{FF2B5EF4-FFF2-40B4-BE49-F238E27FC236}">
                <a16:creationId xmlns:a16="http://schemas.microsoft.com/office/drawing/2014/main" id="{0FEF7E11-7E0A-42A9-8F2F-955072B6A193}"/>
              </a:ext>
            </a:extLst>
          </p:cNvPr>
          <p:cNvSpPr>
            <a:spLocks xmlns:a="http://schemas.openxmlformats.org/drawingml/2006/main" noGrp="1"/>
          </p:cNvSpPr>
          <p:nvPr/>
        </p:nvSpPr>
        <p:spPr>
          <a:xfrm xmlns:a="http://schemas.openxmlformats.org/drawingml/2006/main">
            <a:off x="4389120" y="1572768"/>
            <a:ext cx="3429000" cy="1097280"/>
          </a:xfrm>
          <a:prstGeom xmlns:a="http://schemas.openxmlformats.org/drawingml/2006/main" prst="roundRect">
            <a:avLst>
              <a:gd name="adj" fmla="val 8333"/>
            </a:avLst>
          </a:prstGeom>
          <a:solidFill xmlns:a="http://schemas.openxmlformats.org/drawingml/2006/main">
            <a:srgbClr val="FFFFFF"/>
          </a:solidFill>
          <a:ln xmlns:a="http://schemas.openxmlformats.org/drawingml/2006/main" w="10160">
            <a:solidFill>
              <a:srgbClr val="CBD5E1"/>
            </a:solidFill>
            <a:prstDash val="solid"/>
          </a:ln>
        </p:spPr>
      </p:sp>
      <p:sp>
        <p:nvSpPr>
          <p:cNvPr id="11" name="Shape 9">
            <a:extLst xmlns:a="http://schemas.openxmlformats.org/drawingml/2006/main">
              <a:ext uri="{FF2B5EF4-FFF2-40B4-BE49-F238E27FC236}">
                <a16:creationId xmlns:a16="http://schemas.microsoft.com/office/drawing/2014/main" id="{111884D9-D771-404F-992C-74615D439070}"/>
              </a:ext>
            </a:extLst>
          </p:cNvPr>
          <p:cNvSpPr>
            <a:spLocks xmlns:a="http://schemas.openxmlformats.org/drawingml/2006/main" noGrp="1"/>
          </p:cNvSpPr>
          <p:nvPr/>
        </p:nvSpPr>
        <p:spPr>
          <a:xfrm xmlns:a="http://schemas.openxmlformats.org/drawingml/2006/main">
            <a:off x="4389120" y="1572768"/>
            <a:ext cx="73152" cy="1097280"/>
          </a:xfrm>
          <a:prstGeom xmlns:a="http://schemas.openxmlformats.org/drawingml/2006/main" prst="rect">
            <a:avLst/>
          </a:prstGeom>
          <a:solidFill xmlns:a="http://schemas.openxmlformats.org/drawingml/2006/main">
            <a:srgbClr val="F59E0B"/>
          </a:solidFill>
          <a:ln xmlns:a="http://schemas.openxmlformats.org/drawingml/2006/main" w="12700">
            <a:solidFill>
              <a:srgbClr val="F59E0B"/>
            </a:solidFill>
            <a:prstDash val="solid"/>
          </a:ln>
        </p:spPr>
      </p:sp>
      <p:sp>
        <p:nvSpPr>
          <p:cNvPr id="12" name="Text 10">
            <a:extLst xmlns:a="http://schemas.openxmlformats.org/drawingml/2006/main">
              <a:ext uri="{FF2B5EF4-FFF2-40B4-BE49-F238E27FC236}">
                <a16:creationId xmlns:a16="http://schemas.microsoft.com/office/drawing/2014/main" id="{AB9A14FA-6601-4CF4-A41A-ABE49D79B623}"/>
              </a:ext>
            </a:extLst>
          </p:cNvPr>
          <p:cNvSpPr>
            <a:spLocks xmlns:a="http://schemas.openxmlformats.org/drawingml/2006/main" noGrp="1"/>
          </p:cNvSpPr>
          <p:nvPr/>
        </p:nvSpPr>
        <p:spPr>
          <a:xfrm xmlns:a="http://schemas.openxmlformats.org/drawingml/2006/main">
            <a:off x="4572000" y="1719072"/>
            <a:ext cx="310896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buNone/>
            </a:pPr>
            <a:r>
              <a:rPr sz="1000" b="1">
                <a:solidFill>
                  <a:srgbClr val="F59E0B"/>
                </a:solidFill>
              </a:rPr>
              <a:t>DeclaredMovement</a:t>
            </a:r>
            <a:endParaRPr sz="1000"/>
          </a:p>
        </p:txBody>
      </p:sp>
      <p:sp>
        <p:nvSpPr>
          <p:cNvPr id="13" name="Text 11">
            <a:extLst xmlns:a="http://schemas.openxmlformats.org/drawingml/2006/main">
              <a:ext uri="{FF2B5EF4-FFF2-40B4-BE49-F238E27FC236}">
                <a16:creationId xmlns:a16="http://schemas.microsoft.com/office/drawing/2014/main" id="{6AE28393-2E69-4DB6-9A94-538E93DE5B6C}"/>
              </a:ext>
            </a:extLst>
          </p:cNvPr>
          <p:cNvSpPr>
            <a:spLocks xmlns:a="http://schemas.openxmlformats.org/drawingml/2006/main" noGrp="1"/>
          </p:cNvSpPr>
          <p:nvPr/>
        </p:nvSpPr>
        <p:spPr>
          <a:xfrm xmlns:a="http://schemas.openxmlformats.org/drawingml/2006/main">
            <a:off x="4572000" y="2011680"/>
            <a:ext cx="310896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buNone/>
            </a:pPr>
            <a:r>
              <a:rPr sz="1600" b="1">
                <a:solidFill>
                  <a:srgbClr val="102A43"/>
                </a:solidFill>
              </a:rPr>
              <a:t>M_rec</a:t>
            </a:r>
            <a:endParaRPr sz="1600"/>
          </a:p>
        </p:txBody>
      </p:sp>
      <p:sp>
        <p:nvSpPr>
          <p:cNvPr id="14" name="Text 12">
            <a:extLst xmlns:a="http://schemas.openxmlformats.org/drawingml/2006/main">
              <a:ext uri="{FF2B5EF4-FFF2-40B4-BE49-F238E27FC236}">
                <a16:creationId xmlns:a16="http://schemas.microsoft.com/office/drawing/2014/main" id="{137DD30E-068F-4375-A7E8-745A534D8CC5}"/>
              </a:ext>
            </a:extLst>
          </p:cNvPr>
          <p:cNvSpPr>
            <a:spLocks xmlns:a="http://schemas.openxmlformats.org/drawingml/2006/main" noGrp="1"/>
          </p:cNvSpPr>
          <p:nvPr/>
        </p:nvSpPr>
        <p:spPr>
          <a:xfrm xmlns:a="http://schemas.openxmlformats.org/drawingml/2006/main">
            <a:off x="4572000" y="2350008"/>
            <a:ext cx="3108960" cy="22860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buNone/>
            </a:pPr>
            <a:r>
              <a:rPr sz="850">
                <a:solidFill>
                  <a:srgbClr val="64748B"/>
                </a:solidFill>
              </a:rPr>
              <a:t>payload científico declarado en los contratos de transferencia</a:t>
            </a:r>
            <a:endParaRPr sz="850"/>
          </a:p>
        </p:txBody>
      </p:sp>
      <p:sp>
        <p:nvSpPr>
          <p:cNvPr id="15" name="Shape 13">
            <a:extLst xmlns:a="http://schemas.openxmlformats.org/drawingml/2006/main">
              <a:ext uri="{FF2B5EF4-FFF2-40B4-BE49-F238E27FC236}">
                <a16:creationId xmlns:a16="http://schemas.microsoft.com/office/drawing/2014/main" id="{12279576-D30A-408E-B885-216619F189EC}"/>
              </a:ext>
            </a:extLst>
          </p:cNvPr>
          <p:cNvSpPr>
            <a:spLocks xmlns:a="http://schemas.openxmlformats.org/drawingml/2006/main" noGrp="1"/>
          </p:cNvSpPr>
          <p:nvPr/>
        </p:nvSpPr>
        <p:spPr>
          <a:xfrm xmlns:a="http://schemas.openxmlformats.org/drawingml/2006/main">
            <a:off x="8001000" y="1572768"/>
            <a:ext cx="3429000" cy="1097280"/>
          </a:xfrm>
          <a:prstGeom xmlns:a="http://schemas.openxmlformats.org/drawingml/2006/main" prst="roundRect">
            <a:avLst>
              <a:gd name="adj" fmla="val 8333"/>
            </a:avLst>
          </a:prstGeom>
          <a:solidFill xmlns:a="http://schemas.openxmlformats.org/drawingml/2006/main">
            <a:srgbClr val="FFFFFF"/>
          </a:solidFill>
          <a:ln xmlns:a="http://schemas.openxmlformats.org/drawingml/2006/main" w="10160">
            <a:solidFill>
              <a:srgbClr val="CBD5E1"/>
            </a:solidFill>
            <a:prstDash val="solid"/>
          </a:ln>
        </p:spPr>
      </p:sp>
      <p:sp>
        <p:nvSpPr>
          <p:cNvPr id="16" name="Shape 14">
            <a:extLst xmlns:a="http://schemas.openxmlformats.org/drawingml/2006/main">
              <a:ext uri="{FF2B5EF4-FFF2-40B4-BE49-F238E27FC236}">
                <a16:creationId xmlns:a16="http://schemas.microsoft.com/office/drawing/2014/main" id="{6F561EAF-121E-4FD6-9838-B10767FC018B}"/>
              </a:ext>
            </a:extLst>
          </p:cNvPr>
          <p:cNvSpPr>
            <a:spLocks xmlns:a="http://schemas.openxmlformats.org/drawingml/2006/main" noGrp="1"/>
          </p:cNvSpPr>
          <p:nvPr/>
        </p:nvSpPr>
        <p:spPr>
          <a:xfrm xmlns:a="http://schemas.openxmlformats.org/drawingml/2006/main">
            <a:off x="8001000" y="1572768"/>
            <a:ext cx="73152" cy="1097280"/>
          </a:xfrm>
          <a:prstGeom xmlns:a="http://schemas.openxmlformats.org/drawingml/2006/main" prst="rect">
            <a:avLst/>
          </a:prstGeom>
          <a:solidFill xmlns:a="http://schemas.openxmlformats.org/drawingml/2006/main">
            <a:srgbClr val="16A34A"/>
          </a:solidFill>
          <a:ln xmlns:a="http://schemas.openxmlformats.org/drawingml/2006/main" w="12700">
            <a:solidFill>
              <a:srgbClr val="16A34A"/>
            </a:solidFill>
            <a:prstDash val="solid"/>
          </a:ln>
        </p:spPr>
      </p:sp>
      <p:sp>
        <p:nvSpPr>
          <p:cNvPr id="17" name="Text 15">
            <a:extLst xmlns:a="http://schemas.openxmlformats.org/drawingml/2006/main">
              <a:ext uri="{FF2B5EF4-FFF2-40B4-BE49-F238E27FC236}">
                <a16:creationId xmlns:a16="http://schemas.microsoft.com/office/drawing/2014/main" id="{807B6703-0C44-4A00-B3D0-99869FE0DAFC}"/>
              </a:ext>
            </a:extLst>
          </p:cNvPr>
          <p:cNvSpPr>
            <a:spLocks xmlns:a="http://schemas.openxmlformats.org/drawingml/2006/main" noGrp="1"/>
          </p:cNvSpPr>
          <p:nvPr/>
        </p:nvSpPr>
        <p:spPr>
          <a:xfrm xmlns:a="http://schemas.openxmlformats.org/drawingml/2006/main">
            <a:off x="8183880" y="1719072"/>
            <a:ext cx="310896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buNone/>
            </a:pPr>
            <a:r>
              <a:rPr sz="1000" b="1">
                <a:solidFill>
                  <a:srgbClr val="16A34A"/>
                </a:solidFill>
              </a:rPr>
              <a:t>ObservedMovement</a:t>
            </a:r>
            <a:endParaRPr sz="1000"/>
          </a:p>
        </p:txBody>
      </p:sp>
      <p:sp>
        <p:nvSpPr>
          <p:cNvPr id="18" name="Text 16">
            <a:extLst xmlns:a="http://schemas.openxmlformats.org/drawingml/2006/main">
              <a:ext uri="{FF2B5EF4-FFF2-40B4-BE49-F238E27FC236}">
                <a16:creationId xmlns:a16="http://schemas.microsoft.com/office/drawing/2014/main" id="{D1E8071F-12D9-4441-AA65-6C423673B8E7}"/>
              </a:ext>
            </a:extLst>
          </p:cNvPr>
          <p:cNvSpPr>
            <a:spLocks xmlns:a="http://schemas.openxmlformats.org/drawingml/2006/main" noGrp="1"/>
          </p:cNvSpPr>
          <p:nvPr/>
        </p:nvSpPr>
        <p:spPr>
          <a:xfrm xmlns:a="http://schemas.openxmlformats.org/drawingml/2006/main">
            <a:off x="8183880" y="2011680"/>
            <a:ext cx="310896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buNone/>
            </a:pPr>
            <a:r>
              <a:rPr sz="1600" b="1">
                <a:solidFill>
                  <a:srgbClr val="102A43"/>
                </a:solidFill>
              </a:rPr>
              <a:t>M_obs</a:t>
            </a:r>
            <a:endParaRPr sz="1600"/>
          </a:p>
        </p:txBody>
      </p:sp>
      <p:sp>
        <p:nvSpPr>
          <p:cNvPr id="19" name="Text 17">
            <a:extLst xmlns:a="http://schemas.openxmlformats.org/drawingml/2006/main">
              <a:ext uri="{FF2B5EF4-FFF2-40B4-BE49-F238E27FC236}">
                <a16:creationId xmlns:a16="http://schemas.microsoft.com/office/drawing/2014/main" id="{9AAD5F11-96BB-4043-87FA-F99567A61363}"/>
              </a:ext>
            </a:extLst>
          </p:cNvPr>
          <p:cNvSpPr>
            <a:spLocks xmlns:a="http://schemas.openxmlformats.org/drawingml/2006/main" noGrp="1"/>
          </p:cNvSpPr>
          <p:nvPr/>
        </p:nvSpPr>
        <p:spPr>
          <a:xfrm xmlns:a="http://schemas.openxmlformats.org/drawingml/2006/main">
            <a:off x="8183880" y="2350008"/>
            <a:ext cx="3108960" cy="22860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buNone/>
            </a:pPr>
            <a:r>
              <a:rPr sz="850">
                <a:solidFill>
                  <a:srgbClr val="64748B"/>
                </a:solidFill>
              </a:rPr>
              <a:t>movimientos declarados confirmados por evidencia suficiente</a:t>
            </a:r>
            <a:endParaRPr sz="850"/>
          </a:p>
        </p:txBody>
      </p:sp>
      <p:sp>
        <p:nvSpPr>
          <p:cNvPr id="20" name="Shape 18">
            <a:extLst xmlns:a="http://schemas.openxmlformats.org/drawingml/2006/main">
              <a:ext uri="{FF2B5EF4-FFF2-40B4-BE49-F238E27FC236}">
                <a16:creationId xmlns:a16="http://schemas.microsoft.com/office/drawing/2014/main" id="{7547E4AC-4BE2-46C0-8470-6C77DCE07758}"/>
              </a:ext>
            </a:extLst>
          </p:cNvPr>
          <p:cNvSpPr>
            <a:spLocks xmlns:a="http://schemas.openxmlformats.org/drawingml/2006/main" noGrp="1"/>
          </p:cNvSpPr>
          <p:nvPr/>
        </p:nvSpPr>
        <p:spPr>
          <a:xfrm xmlns:a="http://schemas.openxmlformats.org/drawingml/2006/main">
            <a:off x="960120" y="3401568"/>
            <a:ext cx="3200400" cy="502920"/>
          </a:xfrm>
          <a:prstGeom xmlns:a="http://schemas.openxmlformats.org/drawingml/2006/main" prst="roundRect">
            <a:avLst>
              <a:gd name="adj" fmla="val 14545"/>
            </a:avLst>
          </a:prstGeom>
          <a:solidFill xmlns:a="http://schemas.openxmlformats.org/drawingml/2006/main">
            <a:srgbClr val="FFFFFF"/>
          </a:solidFill>
          <a:ln xmlns:a="http://schemas.openxmlformats.org/drawingml/2006/main" w="10160">
            <a:solidFill>
              <a:srgbClr val="0F766E"/>
            </a:solidFill>
            <a:prstDash val="solid"/>
          </a:ln>
        </p:spPr>
      </p:sp>
      <p:sp>
        <p:nvSpPr>
          <p:cNvPr id="21" name="Text 19">
            <a:extLst xmlns:a="http://schemas.openxmlformats.org/drawingml/2006/main">
              <a:ext uri="{FF2B5EF4-FFF2-40B4-BE49-F238E27FC236}">
                <a16:creationId xmlns:a16="http://schemas.microsoft.com/office/drawing/2014/main" id="{ECC6DDE2-A937-4BF5-BB14-6AB11EC9AD75}"/>
              </a:ext>
            </a:extLst>
          </p:cNvPr>
          <p:cNvSpPr>
            <a:spLocks xmlns:a="http://schemas.openxmlformats.org/drawingml/2006/main" noGrp="1"/>
          </p:cNvSpPr>
          <p:nvPr/>
        </p:nvSpPr>
        <p:spPr>
          <a:xfrm xmlns:a="http://schemas.openxmlformats.org/drawingml/2006/main">
            <a:off x="1069848" y="3493008"/>
            <a:ext cx="2980944" cy="320040"/>
          </a:xfrm>
          <a:prstGeom xmlns:a="http://schemas.openxmlformats.org/drawingml/2006/main" prst="rect">
            <a:avLst/>
          </a:prstGeom>
          <a:noFill xmlns:a="http://schemas.openxmlformats.org/drawingml/2006/main"/>
        </p:spPr>
        <p:txBody>
          <a:bodyPr xmlns:a="http://schemas.openxmlformats.org/drawingml/2006/main" wrap="square" lIns="381" tIns="381" rIns="381" bIns="381" anchor="ctr">
            <a:normAutofit/>
          </a:bodyPr>
          <a:lstStyle xmlns:a="http://schemas.openxmlformats.org/drawingml/2006/main"/>
          <a:p xmlns:a="http://schemas.openxmlformats.org/drawingml/2006/main">
            <a:pPr marL="0" indent="0" algn="ctr">
              <a:buNone/>
            </a:pPr>
            <a:r>
              <a:rPr sz="1300" b="1">
                <a:solidFill>
                  <a:srgbClr val="0F766E"/>
                </a:solidFill>
                <a:latin typeface="Aptos"/>
                <a:ea typeface="Aptos"/>
                <a:cs typeface="Aptos"/>
              </a:rPr>
              <a:t>Coverage = confirmados / declarados</a:t>
            </a:r>
            <a:endParaRPr sz="1300"/>
          </a:p>
        </p:txBody>
      </p:sp>
      <p:sp>
        <p:nvSpPr>
          <p:cNvPr id="22" name="Shape 20">
            <a:extLst xmlns:a="http://schemas.openxmlformats.org/drawingml/2006/main">
              <a:ext uri="{FF2B5EF4-FFF2-40B4-BE49-F238E27FC236}">
                <a16:creationId xmlns:a16="http://schemas.microsoft.com/office/drawing/2014/main" id="{A9F9D0D3-F44A-4969-8055-410BFBD369CB}"/>
              </a:ext>
            </a:extLst>
          </p:cNvPr>
          <p:cNvSpPr>
            <a:spLocks xmlns:a="http://schemas.openxmlformats.org/drawingml/2006/main" noGrp="1"/>
          </p:cNvSpPr>
          <p:nvPr/>
        </p:nvSpPr>
        <p:spPr>
          <a:xfrm xmlns:a="http://schemas.openxmlformats.org/drawingml/2006/main">
            <a:off x="4526280" y="3401568"/>
            <a:ext cx="3749040" cy="502920"/>
          </a:xfrm>
          <a:prstGeom xmlns:a="http://schemas.openxmlformats.org/drawingml/2006/main" prst="roundRect">
            <a:avLst>
              <a:gd name="adj" fmla="val 14545"/>
            </a:avLst>
          </a:prstGeom>
          <a:solidFill xmlns:a="http://schemas.openxmlformats.org/drawingml/2006/main">
            <a:srgbClr val="FFFFFF"/>
          </a:solidFill>
          <a:ln xmlns:a="http://schemas.openxmlformats.org/drawingml/2006/main" w="10160">
            <a:solidFill>
              <a:srgbClr val="2563EB"/>
            </a:solidFill>
            <a:prstDash val="solid"/>
          </a:ln>
        </p:spPr>
      </p:sp>
      <p:sp>
        <p:nvSpPr>
          <p:cNvPr id="23" name="Text 21">
            <a:extLst xmlns:a="http://schemas.openxmlformats.org/drawingml/2006/main">
              <a:ext uri="{FF2B5EF4-FFF2-40B4-BE49-F238E27FC236}">
                <a16:creationId xmlns:a16="http://schemas.microsoft.com/office/drawing/2014/main" id="{AD24F98E-A256-40AF-A4CA-45768390E0E3}"/>
              </a:ext>
            </a:extLst>
          </p:cNvPr>
          <p:cNvSpPr>
            <a:spLocks xmlns:a="http://schemas.openxmlformats.org/drawingml/2006/main" noGrp="1"/>
          </p:cNvSpPr>
          <p:nvPr/>
        </p:nvSpPr>
        <p:spPr>
          <a:xfrm xmlns:a="http://schemas.openxmlformats.org/drawingml/2006/main">
            <a:off x="4636008" y="3493008"/>
            <a:ext cx="3529584" cy="320040"/>
          </a:xfrm>
          <a:prstGeom xmlns:a="http://schemas.openxmlformats.org/drawingml/2006/main" prst="rect">
            <a:avLst/>
          </a:prstGeom>
          <a:noFill xmlns:a="http://schemas.openxmlformats.org/drawingml/2006/main"/>
        </p:spPr>
        <p:txBody>
          <a:bodyPr xmlns:a="http://schemas.openxmlformats.org/drawingml/2006/main" wrap="square" lIns="381" tIns="381" rIns="381" bIns="381" anchor="ctr">
            <a:normAutofit/>
          </a:bodyPr>
          <a:lstStyle xmlns:a="http://schemas.openxmlformats.org/drawingml/2006/main"/>
          <a:p xmlns:a="http://schemas.openxmlformats.org/drawingml/2006/main">
            <a:pPr marL="0" indent="0" algn="ctr">
              <a:buNone/>
            </a:pPr>
            <a:r>
              <a:rPr sz="1300" b="1">
                <a:solidFill>
                  <a:srgbClr val="102A43"/>
                </a:solidFill>
                <a:latin typeface="Aptos"/>
                <a:ea typeface="Aptos"/>
                <a:cs typeface="Aptos"/>
              </a:rPr>
              <a:t>DME = RequiredMovement / ObservedMovement</a:t>
            </a:r>
            <a:endParaRPr sz="1300"/>
          </a:p>
        </p:txBody>
      </p:sp>
      <p:sp>
        <p:nvSpPr>
          <p:cNvPr id="24" name="Shape 22">
            <a:extLst xmlns:a="http://schemas.openxmlformats.org/drawingml/2006/main">
              <a:ext uri="{FF2B5EF4-FFF2-40B4-BE49-F238E27FC236}">
                <a16:creationId xmlns:a16="http://schemas.microsoft.com/office/drawing/2014/main" id="{25807416-CF28-4A75-B793-56B58DF67595}"/>
              </a:ext>
            </a:extLst>
          </p:cNvPr>
          <p:cNvSpPr>
            <a:spLocks xmlns:a="http://schemas.openxmlformats.org/drawingml/2006/main" noGrp="1"/>
          </p:cNvSpPr>
          <p:nvPr/>
        </p:nvSpPr>
        <p:spPr>
          <a:xfrm xmlns:a="http://schemas.openxmlformats.org/drawingml/2006/main">
            <a:off x="8686800" y="3401568"/>
            <a:ext cx="2468880" cy="502920"/>
          </a:xfrm>
          <a:prstGeom xmlns:a="http://schemas.openxmlformats.org/drawingml/2006/main" prst="roundRect">
            <a:avLst>
              <a:gd name="adj" fmla="val 14545"/>
            </a:avLst>
          </a:prstGeom>
          <a:solidFill xmlns:a="http://schemas.openxmlformats.org/drawingml/2006/main">
            <a:srgbClr val="FEE2E2"/>
          </a:solidFill>
          <a:ln xmlns:a="http://schemas.openxmlformats.org/drawingml/2006/main" w="10160">
            <a:solidFill>
              <a:srgbClr val="B91C1C"/>
            </a:solidFill>
            <a:prstDash val="solid"/>
          </a:ln>
        </p:spPr>
      </p:sp>
      <p:sp>
        <p:nvSpPr>
          <p:cNvPr id="25" name="Text 23">
            <a:extLst xmlns:a="http://schemas.openxmlformats.org/drawingml/2006/main">
              <a:ext uri="{FF2B5EF4-FFF2-40B4-BE49-F238E27FC236}">
                <a16:creationId xmlns:a16="http://schemas.microsoft.com/office/drawing/2014/main" id="{B3D53E0E-F0A1-4E3D-AF61-E89673FD9BFA}"/>
              </a:ext>
            </a:extLst>
          </p:cNvPr>
          <p:cNvSpPr>
            <a:spLocks xmlns:a="http://schemas.openxmlformats.org/drawingml/2006/main" noGrp="1"/>
          </p:cNvSpPr>
          <p:nvPr/>
        </p:nvSpPr>
        <p:spPr>
          <a:xfrm xmlns:a="http://schemas.openxmlformats.org/drawingml/2006/main">
            <a:off x="8796528" y="3493008"/>
            <a:ext cx="2249424" cy="320040"/>
          </a:xfrm>
          <a:prstGeom xmlns:a="http://schemas.openxmlformats.org/drawingml/2006/main" prst="rect">
            <a:avLst/>
          </a:prstGeom>
          <a:noFill xmlns:a="http://schemas.openxmlformats.org/drawingml/2006/main"/>
        </p:spPr>
        <p:txBody>
          <a:bodyPr xmlns:a="http://schemas.openxmlformats.org/drawingml/2006/main" wrap="square" lIns="381" tIns="381" rIns="381" bIns="381" anchor="ctr">
            <a:normAutofit/>
          </a:bodyPr>
          <a:lstStyle xmlns:a="http://schemas.openxmlformats.org/drawingml/2006/main"/>
          <a:p xmlns:a="http://schemas.openxmlformats.org/drawingml/2006/main">
            <a:pPr marL="0" indent="0" algn="ctr">
              <a:buNone/>
            </a:pPr>
            <a:r>
              <a:rPr sz="1150" b="1">
                <a:solidFill>
                  <a:srgbClr val="B91C1C"/>
                </a:solidFill>
                <a:latin typeface="Aptos"/>
                <a:ea typeface="Aptos"/>
                <a:cs typeface="Aptos"/>
              </a:rPr>
              <a:t>Si Coverage &lt; 1 → DME indeterminado</a:t>
            </a:r>
            <a:endParaRPr sz="1150"/>
          </a:p>
        </p:txBody>
      </p:sp>
      <p:sp>
        <p:nvSpPr>
          <p:cNvPr id="26" name="Shape 24">
            <a:extLst xmlns:a="http://schemas.openxmlformats.org/drawingml/2006/main">
              <a:ext uri="{FF2B5EF4-FFF2-40B4-BE49-F238E27FC236}">
                <a16:creationId xmlns:a16="http://schemas.microsoft.com/office/drawing/2014/main" id="{FD40878E-89F8-4F25-B658-38151CB35D38}"/>
              </a:ext>
            </a:extLst>
          </p:cNvPr>
          <p:cNvSpPr>
            <a:spLocks xmlns:a="http://schemas.openxmlformats.org/drawingml/2006/main" noGrp="1"/>
          </p:cNvSpPr>
          <p:nvPr/>
        </p:nvSpPr>
        <p:spPr>
          <a:xfrm xmlns:a="http://schemas.openxmlformats.org/drawingml/2006/main">
            <a:off x="1005840" y="4754880"/>
            <a:ext cx="10058400" cy="777240"/>
          </a:xfrm>
          <a:prstGeom xmlns:a="http://schemas.openxmlformats.org/drawingml/2006/main" prst="roundRect">
            <a:avLst>
              <a:gd name="adj" fmla="val 9412"/>
            </a:avLst>
          </a:prstGeom>
          <a:solidFill xmlns:a="http://schemas.openxmlformats.org/drawingml/2006/main">
            <a:srgbClr val="FFFFFF"/>
          </a:solidFill>
          <a:ln xmlns:a="http://schemas.openxmlformats.org/drawingml/2006/main" w="10160">
            <a:solidFill>
              <a:srgbClr val="CBD5E1"/>
            </a:solidFill>
            <a:prstDash val="solid"/>
          </a:ln>
        </p:spPr>
      </p:sp>
      <p:sp>
        <p:nvSpPr>
          <p:cNvPr id="27" name="Text 25">
            <a:extLst xmlns:a="http://schemas.openxmlformats.org/drawingml/2006/main">
              <a:ext uri="{FF2B5EF4-FFF2-40B4-BE49-F238E27FC236}">
                <a16:creationId xmlns:a16="http://schemas.microsoft.com/office/drawing/2014/main" id="{38C99235-7761-49AF-9CD5-A444B0681084}"/>
              </a:ext>
            </a:extLst>
          </p:cNvPr>
          <p:cNvSpPr>
            <a:spLocks xmlns:a="http://schemas.openxmlformats.org/drawingml/2006/main" noGrp="1"/>
          </p:cNvSpPr>
          <p:nvPr/>
        </p:nvSpPr>
        <p:spPr>
          <a:xfrm xmlns:a="http://schemas.openxmlformats.org/drawingml/2006/main">
            <a:off x="1170432" y="4882896"/>
            <a:ext cx="9729216" cy="521208"/>
          </a:xfrm>
          <a:prstGeom xmlns:a="http://schemas.openxmlformats.org/drawingml/2006/main" prst="rect">
            <a:avLst/>
          </a:prstGeom>
          <a:noFill xmlns:a="http://schemas.openxmlformats.org/drawingml/2006/main"/>
        </p:spPr>
        <p:txBody>
          <a:bodyPr xmlns:a="http://schemas.openxmlformats.org/drawingml/2006/main" wrap="square" lIns="381" tIns="381" rIns="381" bIns="381" anchor="ctr">
            <a:normAutofit/>
          </a:bodyPr>
          <a:lstStyle xmlns:a="http://schemas.openxmlformats.org/drawingml/2006/main"/>
          <a:p xmlns:a="http://schemas.openxmlformats.org/drawingml/2006/main">
            <a:pPr marL="0" indent="0">
              <a:buNone/>
            </a:pPr>
            <a:r>
              <a:rPr sz="1120">
                <a:solidFill>
                  <a:srgbClr val="334155"/>
                </a:solidFill>
                <a:latin typeface="Aptos"/>
                <a:ea typeface="Aptos"/>
                <a:cs typeface="Aptos"/>
              </a:rPr>
              <a:t>Interpretación: DME=1 significa que el movimiento científico confirmado no excede el mínimo requerido para ese placement. DME&lt;1 indica exceso confirmado respecto a ese lower bound; no implica por sí solo mejor o peor scheduler.</a:t>
            </a:r>
            <a:endParaRPr sz="1120"/>
          </a:p>
        </p:txBody>
      </p:sp>
      <p:sp>
        <p:nvSpPr>
          <p:cNvPr id="28" name="Shape 26">
            <a:extLst xmlns:a="http://schemas.openxmlformats.org/drawingml/2006/main">
              <a:ext uri="{FF2B5EF4-FFF2-40B4-BE49-F238E27FC236}">
                <a16:creationId xmlns:a16="http://schemas.microsoft.com/office/drawing/2014/main" id="{2E7DDAEC-706C-4DB2-B8C0-74FF52895718}"/>
              </a:ext>
            </a:extLst>
          </p:cNvPr>
          <p:cNvSpPr>
            <a:spLocks xmlns:a="http://schemas.openxmlformats.org/drawingml/2006/main" noGrp="1"/>
          </p:cNvSpPr>
          <p:nvPr/>
        </p:nvSpPr>
        <p:spPr>
          <a:xfrm xmlns:a="http://schemas.openxmlformats.org/drawingml/2006/main">
            <a:off x="502920" y="6446520"/>
            <a:ext cx="11201400" cy="0"/>
          </a:xfrm>
          <a:prstGeom xmlns:a="http://schemas.openxmlformats.org/drawingml/2006/main" prst="line">
            <a:avLst/>
          </a:prstGeom>
          <a:noFill xmlns:a="http://schemas.openxmlformats.org/drawingml/2006/main"/>
          <a:ln xmlns:a="http://schemas.openxmlformats.org/drawingml/2006/main" w="8890">
            <a:solidFill>
              <a:srgbClr val="CBD5E1"/>
            </a:solidFill>
            <a:prstDash val="solid"/>
          </a:ln>
        </p:spPr>
      </p:sp>
      <p:sp>
        <p:nvSpPr>
          <p:cNvPr id="29" name="Text 27">
            <a:extLst xmlns:a="http://schemas.openxmlformats.org/drawingml/2006/main">
              <a:ext uri="{FF2B5EF4-FFF2-40B4-BE49-F238E27FC236}">
                <a16:creationId xmlns:a16="http://schemas.microsoft.com/office/drawing/2014/main" id="{4CE81BAD-300D-4601-AA92-7EA1D82A3DCB}"/>
              </a:ext>
            </a:extLst>
          </p:cNvPr>
          <p:cNvSpPr>
            <a:spLocks xmlns:a="http://schemas.openxmlformats.org/drawingml/2006/main" noGrp="1"/>
          </p:cNvSpPr>
          <p:nvPr/>
        </p:nvSpPr>
        <p:spPr>
          <a:xfrm xmlns:a="http://schemas.openxmlformats.org/drawingml/2006/main">
            <a:off x="594360" y="6510528"/>
            <a:ext cx="7223760" cy="2011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750">
                <a:solidFill>
                  <a:srgbClr val="64748B"/>
                </a:solidFill>
                <a:latin typeface="Aptos"/>
                <a:ea typeface="Aptos"/>
                <a:cs typeface="Aptos"/>
              </a:rPr>
              <a:t>Métrica · definiciones</a:t>
            </a:r>
            <a:endParaRPr sz="750"/>
          </a:p>
        </p:txBody>
      </p:sp>
      <p:sp>
        <p:nvSpPr>
          <p:cNvPr id="30" name="Text 28">
            <a:extLst xmlns:a="http://schemas.openxmlformats.org/drawingml/2006/main">
              <a:ext uri="{FF2B5EF4-FFF2-40B4-BE49-F238E27FC236}">
                <a16:creationId xmlns:a16="http://schemas.microsoft.com/office/drawing/2014/main" id="{C9C8AC41-BEAC-408A-B0C3-75AC6008B23D}"/>
              </a:ext>
            </a:extLst>
          </p:cNvPr>
          <p:cNvSpPr>
            <a:spLocks xmlns:a="http://schemas.openxmlformats.org/drawingml/2006/main" noGrp="1"/>
          </p:cNvSpPr>
          <p:nvPr/>
        </p:nvSpPr>
        <p:spPr>
          <a:xfrm xmlns:a="http://schemas.openxmlformats.org/drawingml/2006/main">
            <a:off x="11228832" y="6492240"/>
            <a:ext cx="411480" cy="2286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800">
                <a:solidFill>
                  <a:srgbClr val="64748B"/>
                </a:solidFill>
                <a:latin typeface="Aptos"/>
                <a:ea typeface="Aptos"/>
                <a:cs typeface="Aptos"/>
              </a:rPr>
              <a:t>10</a:t>
            </a:r>
            <a:endParaRPr sz="800"/>
          </a:p>
        </p:txBody>
      </p:sp>
    </p:spTree>
    <p:extLst>
      <p:ext uri="{BB962C8B-B14F-4D97-AF65-F5344CB8AC3E}">
        <p14:creationId xmlns:p14="http://schemas.microsoft.com/office/powerpoint/2010/main" val="1173316117"/>
      </p:ext>
    </p:extLst>
  </p:cSld>
</p:sld>
</file>

<file path=ppt/slides/slide11.xml><?xml version="1.0" encoding="utf-8"?>
<p:sld xmlns:p="http://schemas.openxmlformats.org/presentationml/2006/main">
  <p:cSld>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59815295-B2DD-40F7-8F72-31C193AC4F00}"/>
              </a:ext>
            </a:extLst>
          </p:cNvPr>
          <p:cNvSpPr>
            <a:spLocks xmlns:a="http://schemas.openxmlformats.org/drawingml/2006/main" noGrp="1"/>
          </p:cNvSpPr>
          <p:nvPr/>
        </p:nvSpPr>
        <p:spPr>
          <a:xfrm xmlns:a="http://schemas.openxmlformats.org/drawingml/2006/main">
            <a:off x="0" y="0"/>
            <a:ext cx="12191695" cy="109728"/>
          </a:xfrm>
          <a:prstGeom xmlns:a="http://schemas.openxmlformats.org/drawingml/2006/main" prst="rect">
            <a:avLst/>
          </a:prstGeom>
          <a:solidFill xmlns:a="http://schemas.openxmlformats.org/drawingml/2006/main">
            <a:srgbClr val="B91C1C"/>
          </a:solidFill>
          <a:ln xmlns:a="http://schemas.openxmlformats.org/drawingml/2006/main" w="12700">
            <a:solidFill>
              <a:srgbClr val="B91C1C"/>
            </a:solidFill>
            <a:prstDash val="solid"/>
          </a:ln>
        </p:spPr>
      </p:sp>
      <p:sp>
        <p:nvSpPr>
          <p:cNvPr id="3" name="Text 1">
            <a:extLst xmlns:a="http://schemas.openxmlformats.org/drawingml/2006/main">
              <a:ext uri="{FF2B5EF4-FFF2-40B4-BE49-F238E27FC236}">
                <a16:creationId xmlns:a16="http://schemas.microsoft.com/office/drawing/2014/main" id="{CD319875-7DED-4723-8BFE-BC95F23EBFC9}"/>
              </a:ext>
            </a:extLst>
          </p:cNvPr>
          <p:cNvSpPr>
            <a:spLocks xmlns:a="http://schemas.openxmlformats.org/drawingml/2006/main" noGrp="1"/>
          </p:cNvSpPr>
          <p:nvPr/>
        </p:nvSpPr>
        <p:spPr>
          <a:xfrm xmlns:a="http://schemas.openxmlformats.org/drawingml/2006/main">
            <a:off x="658368" y="384048"/>
            <a:ext cx="292608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850" b="1">
                <a:solidFill>
                  <a:srgbClr val="2563EB"/>
                </a:solidFill>
                <a:latin typeface="Aptos"/>
                <a:ea typeface="Aptos"/>
                <a:cs typeface="Aptos"/>
              </a:rPr>
              <a:t>MÉTRICA</a:t>
            </a:r>
            <a:endParaRPr sz="850"/>
          </a:p>
        </p:txBody>
      </p:sp>
      <p:sp>
        <p:nvSpPr>
          <p:cNvPr id="4" name="Text 2">
            <a:extLst xmlns:a="http://schemas.openxmlformats.org/drawingml/2006/main">
              <a:ext uri="{FF2B5EF4-FFF2-40B4-BE49-F238E27FC236}">
                <a16:creationId xmlns:a16="http://schemas.microsoft.com/office/drawing/2014/main" id="{52D4577C-5130-40AA-9AFE-CE0827EE3DB5}"/>
              </a:ext>
            </a:extLst>
          </p:cNvPr>
          <p:cNvSpPr>
            <a:spLocks xmlns:a="http://schemas.openxmlformats.org/drawingml/2006/main" noGrp="1"/>
          </p:cNvSpPr>
          <p:nvPr/>
        </p:nvSpPr>
        <p:spPr>
          <a:xfrm xmlns:a="http://schemas.openxmlformats.org/drawingml/2006/main">
            <a:off x="621792" y="621792"/>
            <a:ext cx="10881360" cy="530352"/>
          </a:xfrm>
          <a:prstGeom xmlns:a="http://schemas.openxmlformats.org/drawingml/2006/main" prst="rect">
            <a:avLst/>
          </a:prstGeom>
          <a:noFill xmlns:a="http://schemas.openxmlformats.org/drawingml/2006/main"/>
        </p:spPr>
        <p:txBody>
          <a:bodyPr xmlns:a="http://schemas.openxmlformats.org/drawingml/2006/main" wrap="square" lIns="254" tIns="254" rIns="254" bIns="254" anchor="ctr">
            <a:normAutofit/>
          </a:bodyPr>
          <a:lstStyle xmlns:a="http://schemas.openxmlformats.org/drawingml/2006/main"/>
          <a:p xmlns:a="http://schemas.openxmlformats.org/drawingml/2006/main">
            <a:pPr marL="0" indent="0">
              <a:buNone/>
            </a:pPr>
            <a:r>
              <a:rPr sz="2500" b="1">
                <a:solidFill>
                  <a:srgbClr val="102A43"/>
                </a:solidFill>
                <a:latin typeface="Aptos Display"/>
                <a:ea typeface="Aptos Display"/>
                <a:cs typeface="Aptos Display"/>
              </a:rPr>
              <a:t>10. Validez: evidencia antes que número</a:t>
            </a:r>
            <a:endParaRPr sz="2500"/>
          </a:p>
        </p:txBody>
      </p:sp>
      <p:sp>
        <p:nvSpPr>
          <p:cNvPr id="5" name="Shape 3">
            <a:extLst xmlns:a="http://schemas.openxmlformats.org/drawingml/2006/main">
              <a:ext uri="{FF2B5EF4-FFF2-40B4-BE49-F238E27FC236}">
                <a16:creationId xmlns:a16="http://schemas.microsoft.com/office/drawing/2014/main" id="{A8708916-67DB-4AFF-ABAA-7630AA9C1443}"/>
              </a:ext>
            </a:extLst>
          </p:cNvPr>
          <p:cNvSpPr>
            <a:spLocks xmlns:a="http://schemas.openxmlformats.org/drawingml/2006/main" noGrp="1"/>
          </p:cNvSpPr>
          <p:nvPr/>
        </p:nvSpPr>
        <p:spPr>
          <a:xfrm xmlns:a="http://schemas.openxmlformats.org/drawingml/2006/main">
            <a:off x="868680" y="1572768"/>
            <a:ext cx="1920240" cy="457200"/>
          </a:xfrm>
          <a:prstGeom xmlns:a="http://schemas.openxmlformats.org/drawingml/2006/main" prst="roundRect">
            <a:avLst>
              <a:gd name="adj" fmla="val 16000"/>
            </a:avLst>
          </a:prstGeom>
          <a:solidFill xmlns:a="http://schemas.openxmlformats.org/drawingml/2006/main">
            <a:srgbClr val="FFFFFF"/>
          </a:solidFill>
          <a:ln xmlns:a="http://schemas.openxmlformats.org/drawingml/2006/main" w="10160">
            <a:solidFill>
              <a:srgbClr val="2563EB"/>
            </a:solidFill>
            <a:prstDash val="solid"/>
          </a:ln>
        </p:spPr>
      </p:sp>
      <p:sp>
        <p:nvSpPr>
          <p:cNvPr id="6" name="Text 4">
            <a:extLst xmlns:a="http://schemas.openxmlformats.org/drawingml/2006/main">
              <a:ext uri="{FF2B5EF4-FFF2-40B4-BE49-F238E27FC236}">
                <a16:creationId xmlns:a16="http://schemas.microsoft.com/office/drawing/2014/main" id="{F5958488-674A-41E6-BB9C-D8D2007B5121}"/>
              </a:ext>
            </a:extLst>
          </p:cNvPr>
          <p:cNvSpPr>
            <a:spLocks xmlns:a="http://schemas.openxmlformats.org/drawingml/2006/main" noGrp="1"/>
          </p:cNvSpPr>
          <p:nvPr/>
        </p:nvSpPr>
        <p:spPr>
          <a:xfrm xmlns:a="http://schemas.openxmlformats.org/drawingml/2006/main">
            <a:off x="978408" y="1664208"/>
            <a:ext cx="1700784" cy="274320"/>
          </a:xfrm>
          <a:prstGeom xmlns:a="http://schemas.openxmlformats.org/drawingml/2006/main" prst="rect">
            <a:avLst/>
          </a:prstGeom>
          <a:noFill xmlns:a="http://schemas.openxmlformats.org/drawingml/2006/main"/>
        </p:spPr>
        <p:txBody>
          <a:bodyPr xmlns:a="http://schemas.openxmlformats.org/drawingml/2006/main" wrap="square" lIns="381" tIns="381" rIns="381" bIns="381" anchor="ctr">
            <a:normAutofit/>
          </a:bodyPr>
          <a:lstStyle xmlns:a="http://schemas.openxmlformats.org/drawingml/2006/main"/>
          <a:p xmlns:a="http://schemas.openxmlformats.org/drawingml/2006/main">
            <a:pPr marL="0" indent="0" algn="ctr">
              <a:buNone/>
            </a:pPr>
            <a:r>
              <a:rPr sz="1250" b="1">
                <a:solidFill>
                  <a:srgbClr val="102A43"/>
                </a:solidFill>
                <a:latin typeface="Aptos"/>
                <a:ea typeface="Aptos"/>
                <a:cs typeface="Aptos"/>
              </a:rPr>
              <a:t>Mismos archivos</a:t>
            </a:r>
            <a:endParaRPr sz="1250"/>
          </a:p>
        </p:txBody>
      </p:sp>
      <p:sp>
        <p:nvSpPr>
          <p:cNvPr id="7" name="Text 5">
            <a:extLst xmlns:a="http://schemas.openxmlformats.org/drawingml/2006/main">
              <a:ext uri="{FF2B5EF4-FFF2-40B4-BE49-F238E27FC236}">
                <a16:creationId xmlns:a16="http://schemas.microsoft.com/office/drawing/2014/main" id="{ED871D99-FE32-4E41-92D7-4635CAC329C8}"/>
              </a:ext>
            </a:extLst>
          </p:cNvPr>
          <p:cNvSpPr>
            <a:spLocks xmlns:a="http://schemas.openxmlformats.org/drawingml/2006/main" noGrp="1"/>
          </p:cNvSpPr>
          <p:nvPr/>
        </p:nvSpPr>
        <p:spPr>
          <a:xfrm xmlns:a="http://schemas.openxmlformats.org/drawingml/2006/main">
            <a:off x="3017520" y="1627632"/>
            <a:ext cx="3154680" cy="457200"/>
          </a:xfrm>
          <a:prstGeom xmlns:a="http://schemas.openxmlformats.org/drawingml/2006/main" prst="rect">
            <a:avLst/>
          </a:prstGeom>
          <a:noFill xmlns:a="http://schemas.openxmlformats.org/drawingml/2006/main"/>
        </p:spPr>
        <p:txBody>
          <a:bodyPr xmlns:a="http://schemas.openxmlformats.org/drawingml/2006/main" wrap="square" lIns="254" tIns="254" rIns="254" bIns="254" anchor="ctr">
            <a:normAutofit/>
          </a:bodyPr>
          <a:lstStyle xmlns:a="http://schemas.openxmlformats.org/drawingml/2006/main"/>
          <a:p xmlns:a="http://schemas.openxmlformats.org/drawingml/2006/main">
            <a:pPr marL="0" indent="0">
              <a:buNone/>
            </a:pPr>
            <a:r>
              <a:rPr sz="1120">
                <a:solidFill>
                  <a:srgbClr val="334155"/>
                </a:solidFill>
              </a:rPr>
              <a:t>RequiredMovement y ObservedMovement deben usar la misma frontera científica.</a:t>
            </a:r>
            <a:endParaRPr sz="1120"/>
          </a:p>
        </p:txBody>
      </p:sp>
      <p:sp>
        <p:nvSpPr>
          <p:cNvPr id="8" name="Shape 6">
            <a:extLst xmlns:a="http://schemas.openxmlformats.org/drawingml/2006/main">
              <a:ext uri="{FF2B5EF4-FFF2-40B4-BE49-F238E27FC236}">
                <a16:creationId xmlns:a16="http://schemas.microsoft.com/office/drawing/2014/main" id="{53AFFBF9-386B-41CA-81D0-37257DF61F9A}"/>
              </a:ext>
            </a:extLst>
          </p:cNvPr>
          <p:cNvSpPr>
            <a:spLocks xmlns:a="http://schemas.openxmlformats.org/drawingml/2006/main" noGrp="1"/>
          </p:cNvSpPr>
          <p:nvPr/>
        </p:nvSpPr>
        <p:spPr>
          <a:xfrm xmlns:a="http://schemas.openxmlformats.org/drawingml/2006/main">
            <a:off x="6400800" y="1572768"/>
            <a:ext cx="1920240" cy="457200"/>
          </a:xfrm>
          <a:prstGeom xmlns:a="http://schemas.openxmlformats.org/drawingml/2006/main" prst="roundRect">
            <a:avLst>
              <a:gd name="adj" fmla="val 16000"/>
            </a:avLst>
          </a:prstGeom>
          <a:solidFill xmlns:a="http://schemas.openxmlformats.org/drawingml/2006/main">
            <a:srgbClr val="FFFFFF"/>
          </a:solidFill>
          <a:ln xmlns:a="http://schemas.openxmlformats.org/drawingml/2006/main" w="10160">
            <a:solidFill>
              <a:srgbClr val="2563EB"/>
            </a:solidFill>
            <a:prstDash val="solid"/>
          </a:ln>
        </p:spPr>
      </p:sp>
      <p:sp>
        <p:nvSpPr>
          <p:cNvPr id="9" name="Text 7">
            <a:extLst xmlns:a="http://schemas.openxmlformats.org/drawingml/2006/main">
              <a:ext uri="{FF2B5EF4-FFF2-40B4-BE49-F238E27FC236}">
                <a16:creationId xmlns:a16="http://schemas.microsoft.com/office/drawing/2014/main" id="{D216CF1D-0170-467D-AB9E-8F5A3D5BC94B}"/>
              </a:ext>
            </a:extLst>
          </p:cNvPr>
          <p:cNvSpPr>
            <a:spLocks xmlns:a="http://schemas.openxmlformats.org/drawingml/2006/main" noGrp="1"/>
          </p:cNvSpPr>
          <p:nvPr/>
        </p:nvSpPr>
        <p:spPr>
          <a:xfrm xmlns:a="http://schemas.openxmlformats.org/drawingml/2006/main">
            <a:off x="6510528" y="1664208"/>
            <a:ext cx="1700784" cy="274320"/>
          </a:xfrm>
          <a:prstGeom xmlns:a="http://schemas.openxmlformats.org/drawingml/2006/main" prst="rect">
            <a:avLst/>
          </a:prstGeom>
          <a:noFill xmlns:a="http://schemas.openxmlformats.org/drawingml/2006/main"/>
        </p:spPr>
        <p:txBody>
          <a:bodyPr xmlns:a="http://schemas.openxmlformats.org/drawingml/2006/main" wrap="square" lIns="381" tIns="381" rIns="381" bIns="381" anchor="ctr">
            <a:normAutofit/>
          </a:bodyPr>
          <a:lstStyle xmlns:a="http://schemas.openxmlformats.org/drawingml/2006/main"/>
          <a:p xmlns:a="http://schemas.openxmlformats.org/drawingml/2006/main">
            <a:pPr marL="0" indent="0" algn="ctr">
              <a:buNone/>
            </a:pPr>
            <a:r>
              <a:rPr sz="1250" b="1">
                <a:solidFill>
                  <a:srgbClr val="102A43"/>
                </a:solidFill>
                <a:latin typeface="Aptos"/>
                <a:ea typeface="Aptos"/>
                <a:cs typeface="Aptos"/>
              </a:rPr>
              <a:t>Mismas ubicaciones</a:t>
            </a:r>
            <a:endParaRPr sz="1250"/>
          </a:p>
        </p:txBody>
      </p:sp>
      <p:sp>
        <p:nvSpPr>
          <p:cNvPr id="10" name="Text 8">
            <a:extLst xmlns:a="http://schemas.openxmlformats.org/drawingml/2006/main">
              <a:ext uri="{FF2B5EF4-FFF2-40B4-BE49-F238E27FC236}">
                <a16:creationId xmlns:a16="http://schemas.microsoft.com/office/drawing/2014/main" id="{F9CAC221-C0DD-4C7A-8C3F-34C8C8AF3C48}"/>
              </a:ext>
            </a:extLst>
          </p:cNvPr>
          <p:cNvSpPr>
            <a:spLocks xmlns:a="http://schemas.openxmlformats.org/drawingml/2006/main" noGrp="1"/>
          </p:cNvSpPr>
          <p:nvPr/>
        </p:nvSpPr>
        <p:spPr>
          <a:xfrm xmlns:a="http://schemas.openxmlformats.org/drawingml/2006/main">
            <a:off x="8549640" y="1627632"/>
            <a:ext cx="3154680" cy="457200"/>
          </a:xfrm>
          <a:prstGeom xmlns:a="http://schemas.openxmlformats.org/drawingml/2006/main" prst="rect">
            <a:avLst/>
          </a:prstGeom>
          <a:noFill xmlns:a="http://schemas.openxmlformats.org/drawingml/2006/main"/>
        </p:spPr>
        <p:txBody>
          <a:bodyPr xmlns:a="http://schemas.openxmlformats.org/drawingml/2006/main" wrap="square" lIns="254" tIns="254" rIns="254" bIns="254" anchor="ctr">
            <a:normAutofit/>
          </a:bodyPr>
          <a:lstStyle xmlns:a="http://schemas.openxmlformats.org/drawingml/2006/main"/>
          <a:p xmlns:a="http://schemas.openxmlformats.org/drawingml/2006/main">
            <a:pPr marL="0" indent="0">
              <a:buNone/>
            </a:pPr>
            <a:r>
              <a:rPr sz="1120">
                <a:solidFill>
                  <a:srgbClr val="334155"/>
                </a:solidFill>
              </a:rPr>
              <a:t>El origen/destino lógico y la ubicación observada deben ser comparables.</a:t>
            </a:r>
            <a:endParaRPr sz="1120"/>
          </a:p>
        </p:txBody>
      </p:sp>
      <p:sp>
        <p:nvSpPr>
          <p:cNvPr id="11" name="Shape 9">
            <a:extLst xmlns:a="http://schemas.openxmlformats.org/drawingml/2006/main">
              <a:ext uri="{FF2B5EF4-FFF2-40B4-BE49-F238E27FC236}">
                <a16:creationId xmlns:a16="http://schemas.microsoft.com/office/drawing/2014/main" id="{91B2D443-694E-47CA-BF1E-DB0622E39F01}"/>
              </a:ext>
            </a:extLst>
          </p:cNvPr>
          <p:cNvSpPr>
            <a:spLocks xmlns:a="http://schemas.openxmlformats.org/drawingml/2006/main" noGrp="1"/>
          </p:cNvSpPr>
          <p:nvPr/>
        </p:nvSpPr>
        <p:spPr>
          <a:xfrm xmlns:a="http://schemas.openxmlformats.org/drawingml/2006/main">
            <a:off x="868680" y="3657600"/>
            <a:ext cx="1920240" cy="457200"/>
          </a:xfrm>
          <a:prstGeom xmlns:a="http://schemas.openxmlformats.org/drawingml/2006/main" prst="roundRect">
            <a:avLst>
              <a:gd name="adj" fmla="val 16000"/>
            </a:avLst>
          </a:prstGeom>
          <a:solidFill xmlns:a="http://schemas.openxmlformats.org/drawingml/2006/main">
            <a:srgbClr val="FFFFFF"/>
          </a:solidFill>
          <a:ln xmlns:a="http://schemas.openxmlformats.org/drawingml/2006/main" w="10160">
            <a:solidFill>
              <a:srgbClr val="2563EB"/>
            </a:solidFill>
            <a:prstDash val="solid"/>
          </a:ln>
        </p:spPr>
      </p:sp>
      <p:sp>
        <p:nvSpPr>
          <p:cNvPr id="12" name="Text 10">
            <a:extLst xmlns:a="http://schemas.openxmlformats.org/drawingml/2006/main">
              <a:ext uri="{FF2B5EF4-FFF2-40B4-BE49-F238E27FC236}">
                <a16:creationId xmlns:a16="http://schemas.microsoft.com/office/drawing/2014/main" id="{B1585393-01FD-48F1-8EA7-00E4BBE2E217}"/>
              </a:ext>
            </a:extLst>
          </p:cNvPr>
          <p:cNvSpPr>
            <a:spLocks xmlns:a="http://schemas.openxmlformats.org/drawingml/2006/main" noGrp="1"/>
          </p:cNvSpPr>
          <p:nvPr/>
        </p:nvSpPr>
        <p:spPr>
          <a:xfrm xmlns:a="http://schemas.openxmlformats.org/drawingml/2006/main">
            <a:off x="978408" y="3749040"/>
            <a:ext cx="1700784" cy="274320"/>
          </a:xfrm>
          <a:prstGeom xmlns:a="http://schemas.openxmlformats.org/drawingml/2006/main" prst="rect">
            <a:avLst/>
          </a:prstGeom>
          <a:noFill xmlns:a="http://schemas.openxmlformats.org/drawingml/2006/main"/>
        </p:spPr>
        <p:txBody>
          <a:bodyPr xmlns:a="http://schemas.openxmlformats.org/drawingml/2006/main" wrap="square" lIns="381" tIns="381" rIns="381" bIns="381" anchor="ctr">
            <a:normAutofit/>
          </a:bodyPr>
          <a:lstStyle xmlns:a="http://schemas.openxmlformats.org/drawingml/2006/main"/>
          <a:p xmlns:a="http://schemas.openxmlformats.org/drawingml/2006/main">
            <a:pPr marL="0" indent="0" algn="ctr">
              <a:buNone/>
            </a:pPr>
            <a:r>
              <a:rPr sz="1250" b="1">
                <a:solidFill>
                  <a:srgbClr val="102A43"/>
                </a:solidFill>
                <a:latin typeface="Aptos"/>
                <a:ea typeface="Aptos"/>
                <a:cs typeface="Aptos"/>
              </a:rPr>
              <a:t>Intento separable</a:t>
            </a:r>
            <a:endParaRPr sz="1250"/>
          </a:p>
        </p:txBody>
      </p:sp>
      <p:sp>
        <p:nvSpPr>
          <p:cNvPr id="13" name="Text 11">
            <a:extLst xmlns:a="http://schemas.openxmlformats.org/drawingml/2006/main">
              <a:ext uri="{FF2B5EF4-FFF2-40B4-BE49-F238E27FC236}">
                <a16:creationId xmlns:a16="http://schemas.microsoft.com/office/drawing/2014/main" id="{FE8B43AB-A738-4354-AA9E-A701522554D1}"/>
              </a:ext>
            </a:extLst>
          </p:cNvPr>
          <p:cNvSpPr>
            <a:spLocks xmlns:a="http://schemas.openxmlformats.org/drawingml/2006/main" noGrp="1"/>
          </p:cNvSpPr>
          <p:nvPr/>
        </p:nvSpPr>
        <p:spPr>
          <a:xfrm xmlns:a="http://schemas.openxmlformats.org/drawingml/2006/main">
            <a:off x="3017520" y="3712464"/>
            <a:ext cx="3154680" cy="457200"/>
          </a:xfrm>
          <a:prstGeom xmlns:a="http://schemas.openxmlformats.org/drawingml/2006/main" prst="rect">
            <a:avLst/>
          </a:prstGeom>
          <a:noFill xmlns:a="http://schemas.openxmlformats.org/drawingml/2006/main"/>
        </p:spPr>
        <p:txBody>
          <a:bodyPr xmlns:a="http://schemas.openxmlformats.org/drawingml/2006/main" wrap="square" lIns="254" tIns="254" rIns="254" bIns="254" anchor="ctr">
            <a:normAutofit/>
          </a:bodyPr>
          <a:lstStyle xmlns:a="http://schemas.openxmlformats.org/drawingml/2006/main"/>
          <a:p xmlns:a="http://schemas.openxmlformats.org/drawingml/2006/main">
            <a:pPr marL="0" indent="0">
              <a:buNone/>
            </a:pPr>
            <a:r>
              <a:rPr sz="1120">
                <a:solidFill>
                  <a:srgbClr val="334155"/>
                </a:solidFill>
              </a:rPr>
              <a:t>Retries ambiguos no se colapsan silenciosamente.</a:t>
            </a:r>
            <a:endParaRPr sz="1120"/>
          </a:p>
        </p:txBody>
      </p:sp>
      <p:sp>
        <p:nvSpPr>
          <p:cNvPr id="14" name="Shape 12">
            <a:extLst xmlns:a="http://schemas.openxmlformats.org/drawingml/2006/main">
              <a:ext uri="{FF2B5EF4-FFF2-40B4-BE49-F238E27FC236}">
                <a16:creationId xmlns:a16="http://schemas.microsoft.com/office/drawing/2014/main" id="{EB3487F1-1B39-4DD5-A6B3-C1A512986975}"/>
              </a:ext>
            </a:extLst>
          </p:cNvPr>
          <p:cNvSpPr>
            <a:spLocks xmlns:a="http://schemas.openxmlformats.org/drawingml/2006/main" noGrp="1"/>
          </p:cNvSpPr>
          <p:nvPr/>
        </p:nvSpPr>
        <p:spPr>
          <a:xfrm xmlns:a="http://schemas.openxmlformats.org/drawingml/2006/main">
            <a:off x="6400800" y="3657600"/>
            <a:ext cx="1920240" cy="457200"/>
          </a:xfrm>
          <a:prstGeom xmlns:a="http://schemas.openxmlformats.org/drawingml/2006/main" prst="roundRect">
            <a:avLst>
              <a:gd name="adj" fmla="val 16000"/>
            </a:avLst>
          </a:prstGeom>
          <a:solidFill xmlns:a="http://schemas.openxmlformats.org/drawingml/2006/main">
            <a:srgbClr val="FFFFFF"/>
          </a:solidFill>
          <a:ln xmlns:a="http://schemas.openxmlformats.org/drawingml/2006/main" w="14288">
            <a:solidFill>
              <a:srgbClr val="2563EB"/>
            </a:solidFill>
            <a:prstDash val="solid"/>
          </a:ln>
        </p:spPr>
      </p:sp>
      <p:sp>
        <p:nvSpPr>
          <p:cNvPr id="15" name="Text 13">
            <a:extLst xmlns:a="http://schemas.openxmlformats.org/drawingml/2006/main">
              <a:ext uri="{FF2B5EF4-FFF2-40B4-BE49-F238E27FC236}">
                <a16:creationId xmlns:a16="http://schemas.microsoft.com/office/drawing/2014/main" id="{0C06EBE5-467B-4A76-97E6-35D3632BA619}"/>
              </a:ext>
            </a:extLst>
          </p:cNvPr>
          <p:cNvSpPr>
            <a:spLocks xmlns:a="http://schemas.openxmlformats.org/drawingml/2006/main" noGrp="1"/>
          </p:cNvSpPr>
          <p:nvPr/>
        </p:nvSpPr>
        <p:spPr>
          <a:xfrm xmlns:a="http://schemas.openxmlformats.org/drawingml/2006/main">
            <a:off x="6510528" y="3749040"/>
            <a:ext cx="1700784" cy="274320"/>
          </a:xfrm>
          <a:prstGeom xmlns:a="http://schemas.openxmlformats.org/drawingml/2006/main" prst="rect">
            <a:avLst/>
          </a:prstGeom>
          <a:noFill xmlns:a="http://schemas.openxmlformats.org/drawingml/2006/main"/>
        </p:spPr>
        <p:txBody>
          <a:bodyPr xmlns:a="http://schemas.openxmlformats.org/drawingml/2006/main" wrap="square" lIns="381" tIns="381" rIns="381" bIns="381" anchor="ctr">
            <a:normAutofit fontScale="100000"/>
          </a:bodyPr>
          <a:lstStyle xmlns:a="http://schemas.openxmlformats.org/drawingml/2006/main"/>
          <a:p xmlns:a="http://schemas.openxmlformats.org/drawingml/2006/main">
            <a:pPr marL="0" indent="0" algn="ctr">
              <a:buNone/>
            </a:pPr>
            <a:r>
              <a:rPr sz="1250" b="1">
                <a:solidFill>
                  <a:srgbClr val="142D45"/>
                </a:solidFill>
                <a:latin typeface="Aptos"/>
                <a:ea typeface="Aptos"/>
                <a:cs typeface="Aptos"/>
              </a:rPr>
              <a:t>Coverage = 1</a:t>
            </a:r>
            <a:endParaRPr sz="1250"/>
          </a:p>
        </p:txBody>
      </p:sp>
      <p:sp>
        <p:nvSpPr>
          <p:cNvPr id="16" name="Text 14">
            <a:extLst xmlns:a="http://schemas.openxmlformats.org/drawingml/2006/main">
              <a:ext uri="{FF2B5EF4-FFF2-40B4-BE49-F238E27FC236}">
                <a16:creationId xmlns:a16="http://schemas.microsoft.com/office/drawing/2014/main" id="{A32E6B4F-DC2C-4F79-BE86-9EB84E01DDA4}"/>
              </a:ext>
            </a:extLst>
          </p:cNvPr>
          <p:cNvSpPr>
            <a:spLocks xmlns:a="http://schemas.openxmlformats.org/drawingml/2006/main" noGrp="1"/>
          </p:cNvSpPr>
          <p:nvPr/>
        </p:nvSpPr>
        <p:spPr>
          <a:xfrm xmlns:a="http://schemas.openxmlformats.org/drawingml/2006/main">
            <a:off x="8549640" y="3712464"/>
            <a:ext cx="3154680" cy="457200"/>
          </a:xfrm>
          <a:prstGeom xmlns:a="http://schemas.openxmlformats.org/drawingml/2006/main" prst="rect">
            <a:avLst/>
          </a:prstGeom>
          <a:noFill xmlns:a="http://schemas.openxmlformats.org/drawingml/2006/main"/>
        </p:spPr>
        <p:txBody>
          <a:bodyPr xmlns:a="http://schemas.openxmlformats.org/drawingml/2006/main" wrap="square" lIns="254" tIns="254" rIns="254" bIns="254" anchor="ctr">
            <a:normAutofit/>
          </a:bodyPr>
          <a:lstStyle xmlns:a="http://schemas.openxmlformats.org/drawingml/2006/main"/>
          <a:p xmlns:a="http://schemas.openxmlformats.org/drawingml/2006/main">
            <a:pPr marL="0" indent="0">
              <a:buNone/>
            </a:pPr>
            <a:r>
              <a:rPr sz="1120">
                <a:solidFill>
                  <a:srgbClr val="334155"/>
                </a:solidFill>
              </a:rPr>
              <a:t>Si falta confirmación, ObservedMovement completo y DME son N/A.</a:t>
            </a:r>
            <a:endParaRPr sz="1120"/>
          </a:p>
        </p:txBody>
      </p:sp>
      <p:sp>
        <p:nvSpPr>
          <p:cNvPr id="17" name="Shape 15">
            <a:extLst xmlns:a="http://schemas.openxmlformats.org/drawingml/2006/main">
              <a:ext uri="{FF2B5EF4-FFF2-40B4-BE49-F238E27FC236}">
                <a16:creationId xmlns:a16="http://schemas.microsoft.com/office/drawing/2014/main" id="{D7CAD7EC-A803-4DD7-BEED-4A34CF36C081}"/>
              </a:ext>
            </a:extLst>
          </p:cNvPr>
          <p:cNvSpPr>
            <a:spLocks xmlns:a="http://schemas.openxmlformats.org/drawingml/2006/main" noGrp="1"/>
          </p:cNvSpPr>
          <p:nvPr/>
        </p:nvSpPr>
        <p:spPr>
          <a:xfrm xmlns:a="http://schemas.openxmlformats.org/drawingml/2006/main">
            <a:off x="1463040" y="5486400"/>
            <a:ext cx="73152" cy="502920"/>
          </a:xfrm>
          <a:prstGeom xmlns:a="http://schemas.openxmlformats.org/drawingml/2006/main" prst="rect">
            <a:avLst/>
          </a:prstGeom>
          <a:solidFill xmlns:a="http://schemas.openxmlformats.org/drawingml/2006/main">
            <a:srgbClr val="B91C1C"/>
          </a:solidFill>
          <a:ln xmlns:a="http://schemas.openxmlformats.org/drawingml/2006/main" w="12700">
            <a:solidFill>
              <a:srgbClr val="B91C1C"/>
            </a:solidFill>
            <a:prstDash val="solid"/>
          </a:ln>
        </p:spPr>
      </p:sp>
      <p:sp>
        <p:nvSpPr>
          <p:cNvPr id="18" name="Text 16">
            <a:extLst xmlns:a="http://schemas.openxmlformats.org/drawingml/2006/main">
              <a:ext uri="{FF2B5EF4-FFF2-40B4-BE49-F238E27FC236}">
                <a16:creationId xmlns:a16="http://schemas.microsoft.com/office/drawing/2014/main" id="{22CF30BA-30B8-453B-8C70-FB41D42C6E0D}"/>
              </a:ext>
            </a:extLst>
          </p:cNvPr>
          <p:cNvSpPr>
            <a:spLocks xmlns:a="http://schemas.openxmlformats.org/drawingml/2006/main" noGrp="1"/>
          </p:cNvSpPr>
          <p:nvPr/>
        </p:nvSpPr>
        <p:spPr>
          <a:xfrm xmlns:a="http://schemas.openxmlformats.org/drawingml/2006/main">
            <a:off x="1691640" y="5522976"/>
            <a:ext cx="8823960" cy="502920"/>
          </a:xfrm>
          <a:prstGeom xmlns:a="http://schemas.openxmlformats.org/drawingml/2006/main" prst="rect">
            <a:avLst/>
          </a:prstGeom>
          <a:noFill xmlns:a="http://schemas.openxmlformats.org/drawingml/2006/main"/>
        </p:spPr>
        <p:txBody>
          <a:bodyPr xmlns:a="http://schemas.openxmlformats.org/drawingml/2006/main" wrap="square" lIns="254" tIns="254" rIns="254" bIns="254" anchor="ctr">
            <a:normAutofit/>
          </a:bodyPr>
          <a:lstStyle xmlns:a="http://schemas.openxmlformats.org/drawingml/2006/main"/>
          <a:p xmlns:a="http://schemas.openxmlformats.org/drawingml/2006/main">
            <a:pPr marL="0" indent="0">
              <a:buNone/>
            </a:pPr>
            <a:r>
              <a:rPr sz="2000" b="1">
                <a:solidFill>
                  <a:srgbClr val="102A43"/>
                </a:solidFill>
                <a:latin typeface="Aptos Display"/>
                <a:ea typeface="Aptos Display"/>
                <a:cs typeface="Aptos Display"/>
              </a:rPr>
              <a:t>La ausencia de evidencia nunca equivale a cero bytes.</a:t>
            </a:r>
            <a:endParaRPr sz="2000"/>
          </a:p>
        </p:txBody>
      </p:sp>
      <p:sp>
        <p:nvSpPr>
          <p:cNvPr id="19" name="Shape 17">
            <a:extLst xmlns:a="http://schemas.openxmlformats.org/drawingml/2006/main">
              <a:ext uri="{FF2B5EF4-FFF2-40B4-BE49-F238E27FC236}">
                <a16:creationId xmlns:a16="http://schemas.microsoft.com/office/drawing/2014/main" id="{65AA0DF2-DC2C-4063-9CB8-83C348469244}"/>
              </a:ext>
            </a:extLst>
          </p:cNvPr>
          <p:cNvSpPr>
            <a:spLocks xmlns:a="http://schemas.openxmlformats.org/drawingml/2006/main" noGrp="1"/>
          </p:cNvSpPr>
          <p:nvPr/>
        </p:nvSpPr>
        <p:spPr>
          <a:xfrm xmlns:a="http://schemas.openxmlformats.org/drawingml/2006/main">
            <a:off x="502920" y="6446520"/>
            <a:ext cx="11201400" cy="0"/>
          </a:xfrm>
          <a:prstGeom xmlns:a="http://schemas.openxmlformats.org/drawingml/2006/main" prst="line">
            <a:avLst/>
          </a:prstGeom>
          <a:noFill xmlns:a="http://schemas.openxmlformats.org/drawingml/2006/main"/>
          <a:ln xmlns:a="http://schemas.openxmlformats.org/drawingml/2006/main" w="8890">
            <a:solidFill>
              <a:srgbClr val="CBD5E1"/>
            </a:solidFill>
            <a:prstDash val="solid"/>
          </a:ln>
        </p:spPr>
      </p:sp>
      <p:sp>
        <p:nvSpPr>
          <p:cNvPr id="20" name="Text 18">
            <a:extLst xmlns:a="http://schemas.openxmlformats.org/drawingml/2006/main">
              <a:ext uri="{FF2B5EF4-FFF2-40B4-BE49-F238E27FC236}">
                <a16:creationId xmlns:a16="http://schemas.microsoft.com/office/drawing/2014/main" id="{8C5D4B64-82AF-4722-BD8C-DC4E0857CAE0}"/>
              </a:ext>
            </a:extLst>
          </p:cNvPr>
          <p:cNvSpPr>
            <a:spLocks xmlns:a="http://schemas.openxmlformats.org/drawingml/2006/main" noGrp="1"/>
          </p:cNvSpPr>
          <p:nvPr/>
        </p:nvSpPr>
        <p:spPr>
          <a:xfrm xmlns:a="http://schemas.openxmlformats.org/drawingml/2006/main">
            <a:off x="594360" y="6510528"/>
            <a:ext cx="7223760" cy="2011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750">
                <a:solidFill>
                  <a:srgbClr val="64748B"/>
                </a:solidFill>
                <a:latin typeface="Aptos"/>
                <a:ea typeface="Aptos"/>
                <a:cs typeface="Aptos"/>
              </a:rPr>
              <a:t>Métrica · precondiciones</a:t>
            </a:r>
            <a:endParaRPr sz="750"/>
          </a:p>
        </p:txBody>
      </p:sp>
      <p:sp>
        <p:nvSpPr>
          <p:cNvPr id="21" name="Text 19">
            <a:extLst xmlns:a="http://schemas.openxmlformats.org/drawingml/2006/main">
              <a:ext uri="{FF2B5EF4-FFF2-40B4-BE49-F238E27FC236}">
                <a16:creationId xmlns:a16="http://schemas.microsoft.com/office/drawing/2014/main" id="{5474E5B3-9DF2-4F82-A75B-6884F0EBC275}"/>
              </a:ext>
            </a:extLst>
          </p:cNvPr>
          <p:cNvSpPr>
            <a:spLocks xmlns:a="http://schemas.openxmlformats.org/drawingml/2006/main" noGrp="1"/>
          </p:cNvSpPr>
          <p:nvPr/>
        </p:nvSpPr>
        <p:spPr>
          <a:xfrm xmlns:a="http://schemas.openxmlformats.org/drawingml/2006/main">
            <a:off x="11228832" y="6492240"/>
            <a:ext cx="411480" cy="2286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800">
                <a:solidFill>
                  <a:srgbClr val="64748B"/>
                </a:solidFill>
                <a:latin typeface="Aptos"/>
                <a:ea typeface="Aptos"/>
                <a:cs typeface="Aptos"/>
              </a:rPr>
              <a:t>11</a:t>
            </a:r>
            <a:endParaRPr sz="800"/>
          </a:p>
        </p:txBody>
      </p:sp>
    </p:spTree>
    <p:extLst>
      <p:ext uri="{BB962C8B-B14F-4D97-AF65-F5344CB8AC3E}">
        <p14:creationId xmlns:p14="http://schemas.microsoft.com/office/powerpoint/2010/main" val="1097410007"/>
      </p:ext>
    </p:extLst>
  </p:cSld>
</p:sld>
</file>

<file path=ppt/slides/slide12.xml><?xml version="1.0" encoding="utf-8"?>
<p:sld xmlns:p="http://schemas.openxmlformats.org/presentationml/2006/main">
  <p:cSld>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88FE11CB-5111-4B91-AEFA-B866EFFA305D}"/>
              </a:ext>
            </a:extLst>
          </p:cNvPr>
          <p:cNvSpPr>
            <a:spLocks xmlns:a="http://schemas.openxmlformats.org/drawingml/2006/main" noGrp="1"/>
          </p:cNvSpPr>
          <p:nvPr/>
        </p:nvSpPr>
        <p:spPr>
          <a:xfrm xmlns:a="http://schemas.openxmlformats.org/drawingml/2006/main">
            <a:off x="0" y="0"/>
            <a:ext cx="12191695" cy="109728"/>
          </a:xfrm>
          <a:prstGeom xmlns:a="http://schemas.openxmlformats.org/drawingml/2006/main" prst="rect">
            <a:avLst/>
          </a:prstGeom>
          <a:solidFill xmlns:a="http://schemas.openxmlformats.org/drawingml/2006/main">
            <a:srgbClr val="0F766E"/>
          </a:solidFill>
          <a:ln xmlns:a="http://schemas.openxmlformats.org/drawingml/2006/main" w="12700">
            <a:solidFill>
              <a:srgbClr val="0F766E"/>
            </a:solidFill>
            <a:prstDash val="solid"/>
          </a:ln>
        </p:spPr>
        <p:txBody>
          <a:bodyPr xmlns:a="http://schemas.openxmlformats.org/drawingml/2006/main"/>
          <a:lstStyle xmlns:a="http://schemas.openxmlformats.org/drawingml/2006/main"/>
          <a:p xmlns:a="http://schemas.openxmlformats.org/drawingml/2006/main"/>
        </p:txBody>
      </p:sp>
      <p:sp>
        <p:nvSpPr>
          <p:cNvPr id="3" name="Text 1">
            <a:extLst xmlns:a="http://schemas.openxmlformats.org/drawingml/2006/main">
              <a:ext uri="{FF2B5EF4-FFF2-40B4-BE49-F238E27FC236}">
                <a16:creationId xmlns:a16="http://schemas.microsoft.com/office/drawing/2014/main" id="{9822D7E3-267D-4267-8E83-6421864F19F9}"/>
              </a:ext>
            </a:extLst>
          </p:cNvPr>
          <p:cNvSpPr>
            <a:spLocks xmlns:a="http://schemas.openxmlformats.org/drawingml/2006/main" noGrp="1"/>
          </p:cNvSpPr>
          <p:nvPr/>
        </p:nvSpPr>
        <p:spPr>
          <a:xfrm xmlns:a="http://schemas.openxmlformats.org/drawingml/2006/main">
            <a:off x="658368" y="384048"/>
            <a:ext cx="292608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850" b="1">
                <a:solidFill>
                  <a:srgbClr val="2563EB"/>
                </a:solidFill>
                <a:latin typeface="Aptos"/>
                <a:ea typeface="Aptos"/>
                <a:cs typeface="Aptos"/>
              </a:rPr>
              <a:t>METODOLOGÍA</a:t>
            </a:r>
            <a:endParaRPr sz="850"/>
          </a:p>
        </p:txBody>
      </p:sp>
      <p:sp>
        <p:nvSpPr>
          <p:cNvPr id="4" name="Text 2">
            <a:extLst xmlns:a="http://schemas.openxmlformats.org/drawingml/2006/main">
              <a:ext uri="{FF2B5EF4-FFF2-40B4-BE49-F238E27FC236}">
                <a16:creationId xmlns:a16="http://schemas.microsoft.com/office/drawing/2014/main" id="{F14F3248-D021-4CFF-A23B-CAEB314505AD}"/>
              </a:ext>
            </a:extLst>
          </p:cNvPr>
          <p:cNvSpPr>
            <a:spLocks xmlns:a="http://schemas.openxmlformats.org/drawingml/2006/main" noGrp="1"/>
          </p:cNvSpPr>
          <p:nvPr/>
        </p:nvSpPr>
        <p:spPr>
          <a:xfrm xmlns:a="http://schemas.openxmlformats.org/drawingml/2006/main">
            <a:off x="621792" y="621792"/>
            <a:ext cx="10881360" cy="530352"/>
          </a:xfrm>
          <a:prstGeom xmlns:a="http://schemas.openxmlformats.org/drawingml/2006/main" prst="rect">
            <a:avLst/>
          </a:prstGeom>
          <a:noFill xmlns:a="http://schemas.openxmlformats.org/drawingml/2006/main"/>
        </p:spPr>
        <p:txBody>
          <a:bodyPr xmlns:a="http://schemas.openxmlformats.org/drawingml/2006/main" wrap="square" lIns="254" tIns="254" rIns="254" bIns="254" anchor="ctr">
            <a:normAutofit fontScale="100000"/>
          </a:bodyPr>
          <a:lstStyle xmlns:a="http://schemas.openxmlformats.org/drawingml/2006/main"/>
          <a:p xmlns:a="http://schemas.openxmlformats.org/drawingml/2006/main">
            <a:pPr marL="0" indent="0">
              <a:buNone/>
            </a:pPr>
            <a:r>
              <a:rPr sz="2500" b="1">
                <a:solidFill>
                  <a:srgbClr val="102A43"/>
                </a:solidFill>
                <a:latin typeface="Aptos Display"/>
                <a:ea typeface="Aptos Display"/>
                <a:cs typeface="Aptos Display"/>
              </a:rPr>
              <a:t>11. Metodología de investigación</a:t>
            </a:r>
            <a:endParaRPr sz="2500"/>
          </a:p>
        </p:txBody>
      </p:sp>
      <p:sp>
        <p:nvSpPr>
          <p:cNvPr id="5" name="Text 3">
            <a:extLst xmlns:a="http://schemas.openxmlformats.org/drawingml/2006/main">
              <a:ext uri="{FF2B5EF4-FFF2-40B4-BE49-F238E27FC236}">
                <a16:creationId xmlns:a16="http://schemas.microsoft.com/office/drawing/2014/main" id="{2E646021-C8E8-402C-B604-28B24FEC813F}"/>
              </a:ext>
            </a:extLst>
          </p:cNvPr>
          <p:cNvSpPr>
            <a:spLocks xmlns:a="http://schemas.openxmlformats.org/drawingml/2006/main" noGrp="1"/>
          </p:cNvSpPr>
          <p:nvPr/>
        </p:nvSpPr>
        <p:spPr>
          <a:xfrm xmlns:a="http://schemas.openxmlformats.org/drawingml/2006/main">
            <a:off x="658368" y="1298448"/>
            <a:ext cx="10789920" cy="475488"/>
          </a:xfrm>
          <a:prstGeom xmlns:a="http://schemas.openxmlformats.org/drawingml/2006/main" prst="rect">
            <a:avLst/>
          </a:prstGeom>
          <a:noFill xmlns:a="http://schemas.openxmlformats.org/drawingml/2006/main"/>
        </p:spPr>
        <p:txBody>
          <a:bodyPr xmlns:a="http://schemas.openxmlformats.org/drawingml/2006/main" wrap="square" lIns="254" tIns="254" rIns="254" bIns="254" anchor="ctr">
            <a:normAutofit fontScale="100000"/>
          </a:bodyPr>
          <a:lstStyle xmlns:a="http://schemas.openxmlformats.org/drawingml/2006/main"/>
          <a:p xmlns:a="http://schemas.openxmlformats.org/drawingml/2006/main">
            <a:pPr marL="0" indent="0">
              <a:buNone/>
            </a:pPr>
            <a:r>
              <a:rPr sz="1450">
                <a:solidFill>
                  <a:srgbClr val="334155"/>
                </a:solidFill>
                <a:latin typeface="Aptos"/>
                <a:ea typeface="Aptos"/>
                <a:cs typeface="Aptos"/>
              </a:rPr>
              <a:t>El método conecta la brecha, la formalización de la métrica, su operacionalización y una validación controlada.</a:t>
            </a:r>
            <a:endParaRPr sz="1450"/>
          </a:p>
        </p:txBody>
      </p:sp>
      <p:sp>
        <p:nvSpPr>
          <p:cNvPr id="6" name="Shape 4">
            <a:extLst xmlns:a="http://schemas.openxmlformats.org/drawingml/2006/main">
              <a:ext uri="{FF2B5EF4-FFF2-40B4-BE49-F238E27FC236}">
                <a16:creationId xmlns:a16="http://schemas.microsoft.com/office/drawing/2014/main" id="{60C60B90-E9AE-4A25-8DB1-31AF11D31192}"/>
              </a:ext>
            </a:extLst>
          </p:cNvPr>
          <p:cNvSpPr>
            <a:spLocks xmlns:a="http://schemas.openxmlformats.org/drawingml/2006/main" noGrp="1"/>
          </p:cNvSpPr>
          <p:nvPr/>
        </p:nvSpPr>
        <p:spPr>
          <a:xfrm xmlns:a="http://schemas.openxmlformats.org/drawingml/2006/main">
            <a:off x="914400" y="1965960"/>
            <a:ext cx="1645920" cy="566928"/>
          </a:xfrm>
          <a:prstGeom xmlns:a="http://schemas.openxmlformats.org/drawingml/2006/main" prst="roundRect">
            <a:avLst>
              <a:gd name="adj" fmla="val 12903"/>
            </a:avLst>
          </a:prstGeom>
          <a:solidFill xmlns:a="http://schemas.openxmlformats.org/drawingml/2006/main">
            <a:srgbClr val="DCFCE7"/>
          </a:solidFill>
          <a:ln xmlns:a="http://schemas.openxmlformats.org/drawingml/2006/main" w="10160">
            <a:solidFill>
              <a:srgbClr val="BBF7D0"/>
            </a:solidFill>
            <a:prstDash val="solid"/>
          </a:ln>
        </p:spPr>
        <p:txBody>
          <a:bodyPr xmlns:a="http://schemas.openxmlformats.org/drawingml/2006/main"/>
          <a:lstStyle xmlns:a="http://schemas.openxmlformats.org/drawingml/2006/main"/>
          <a:p xmlns:a="http://schemas.openxmlformats.org/drawingml/2006/main"/>
        </p:txBody>
      </p:sp>
      <p:sp>
        <p:nvSpPr>
          <p:cNvPr id="7" name="Text 5">
            <a:extLst xmlns:a="http://schemas.openxmlformats.org/drawingml/2006/main">
              <a:ext uri="{FF2B5EF4-FFF2-40B4-BE49-F238E27FC236}">
                <a16:creationId xmlns:a16="http://schemas.microsoft.com/office/drawing/2014/main" id="{838D1626-7B1C-4DA4-AF91-A3C063361883}"/>
              </a:ext>
            </a:extLst>
          </p:cNvPr>
          <p:cNvSpPr>
            <a:spLocks xmlns:a="http://schemas.openxmlformats.org/drawingml/2006/main" noGrp="1"/>
          </p:cNvSpPr>
          <p:nvPr/>
        </p:nvSpPr>
        <p:spPr>
          <a:xfrm xmlns:a="http://schemas.openxmlformats.org/drawingml/2006/main">
            <a:off x="1024128" y="2057400"/>
            <a:ext cx="1426464" cy="384048"/>
          </a:xfrm>
          <a:prstGeom xmlns:a="http://schemas.openxmlformats.org/drawingml/2006/main" prst="rect">
            <a:avLst/>
          </a:prstGeom>
          <a:noFill xmlns:a="http://schemas.openxmlformats.org/drawingml/2006/main"/>
        </p:spPr>
        <p:txBody>
          <a:bodyPr xmlns:a="http://schemas.openxmlformats.org/drawingml/2006/main" wrap="square" lIns="381" tIns="381" rIns="381" bIns="381" anchor="ctr">
            <a:normAutofit fontScale="100000"/>
          </a:bodyPr>
          <a:lstStyle xmlns:a="http://schemas.openxmlformats.org/drawingml/2006/main"/>
          <a:p xmlns:a="http://schemas.openxmlformats.org/drawingml/2006/main">
            <a:pPr marL="0" indent="0" algn="ctr">
              <a:buNone/>
            </a:pPr>
            <a:r>
              <a:rPr sz="1400" b="1">
                <a:solidFill>
                  <a:srgbClr val="16A34A"/>
                </a:solidFill>
                <a:latin typeface="Aptos"/>
                <a:ea typeface="Aptos"/>
                <a:cs typeface="Aptos"/>
              </a:rPr>
              <a:t>Problema</a:t>
            </a:r>
            <a:endParaRPr sz="1400"/>
          </a:p>
        </p:txBody>
      </p:sp>
      <p:sp>
        <p:nvSpPr>
          <p:cNvPr id="8" name="Text 6">
            <a:extLst xmlns:a="http://schemas.openxmlformats.org/drawingml/2006/main">
              <a:ext uri="{FF2B5EF4-FFF2-40B4-BE49-F238E27FC236}">
                <a16:creationId xmlns:a16="http://schemas.microsoft.com/office/drawing/2014/main" id="{0859C694-3E9C-48FD-ACF2-3FC0E7065ED4}"/>
              </a:ext>
            </a:extLst>
          </p:cNvPr>
          <p:cNvSpPr>
            <a:spLocks xmlns:a="http://schemas.openxmlformats.org/drawingml/2006/main" noGrp="1"/>
          </p:cNvSpPr>
          <p:nvPr/>
        </p:nvSpPr>
        <p:spPr>
          <a:xfrm xmlns:a="http://schemas.openxmlformats.org/drawingml/2006/main">
            <a:off x="822960" y="2697480"/>
            <a:ext cx="18288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50">
                <a:solidFill>
                  <a:srgbClr val="64748B"/>
                </a:solidFill>
              </a:rPr>
              <a:t>brecha y alcance</a:t>
            </a:r>
            <a:endParaRPr sz="1050"/>
          </a:p>
        </p:txBody>
      </p:sp>
      <p:sp>
        <p:nvSpPr>
          <p:cNvPr id="9" name="Shape 7">
            <a:extLst xmlns:a="http://schemas.openxmlformats.org/drawingml/2006/main">
              <a:ext uri="{FF2B5EF4-FFF2-40B4-BE49-F238E27FC236}">
                <a16:creationId xmlns:a16="http://schemas.microsoft.com/office/drawing/2014/main" id="{65FA6DA9-364E-4758-A3C8-7F80C7806706}"/>
              </a:ext>
            </a:extLst>
          </p:cNvPr>
          <p:cNvSpPr>
            <a:spLocks xmlns:a="http://schemas.openxmlformats.org/drawingml/2006/main" noGrp="1"/>
          </p:cNvSpPr>
          <p:nvPr/>
        </p:nvSpPr>
        <p:spPr>
          <a:xfrm xmlns:a="http://schemas.openxmlformats.org/drawingml/2006/main">
            <a:off x="2670048" y="2249424"/>
            <a:ext cx="758952" cy="0"/>
          </a:xfrm>
          <a:prstGeom xmlns:a="http://schemas.openxmlformats.org/drawingml/2006/main" prst="line">
            <a:avLst/>
          </a:prstGeom>
          <a:noFill xmlns:a="http://schemas.openxmlformats.org/drawingml/2006/main"/>
          <a:ln xmlns:a="http://schemas.openxmlformats.org/drawingml/2006/main" w="12700">
            <a:solidFill>
              <a:srgbClr val="64748B"/>
            </a:solidFill>
            <a:prstDash val="solid"/>
            <a:headEnd type="none"/>
            <a:tailEnd type="triangle"/>
          </a:ln>
        </p:spPr>
        <p:txBody>
          <a:bodyPr xmlns:a="http://schemas.openxmlformats.org/drawingml/2006/main"/>
          <a:lstStyle xmlns:a="http://schemas.openxmlformats.org/drawingml/2006/main"/>
          <a:p xmlns:a="http://schemas.openxmlformats.org/drawingml/2006/main"/>
        </p:txBody>
      </p:sp>
      <p:sp>
        <p:nvSpPr>
          <p:cNvPr id="10" name="Shape 8">
            <a:extLst xmlns:a="http://schemas.openxmlformats.org/drawingml/2006/main">
              <a:ext uri="{FF2B5EF4-FFF2-40B4-BE49-F238E27FC236}">
                <a16:creationId xmlns:a16="http://schemas.microsoft.com/office/drawing/2014/main" id="{13574673-D04C-4E2E-A49D-BF7369D3442B}"/>
              </a:ext>
            </a:extLst>
          </p:cNvPr>
          <p:cNvSpPr>
            <a:spLocks xmlns:a="http://schemas.openxmlformats.org/drawingml/2006/main" noGrp="1"/>
          </p:cNvSpPr>
          <p:nvPr/>
        </p:nvSpPr>
        <p:spPr>
          <a:xfrm xmlns:a="http://schemas.openxmlformats.org/drawingml/2006/main">
            <a:off x="3657600" y="1965960"/>
            <a:ext cx="1645920" cy="566928"/>
          </a:xfrm>
          <a:prstGeom xmlns:a="http://schemas.openxmlformats.org/drawingml/2006/main" prst="roundRect">
            <a:avLst>
              <a:gd name="adj" fmla="val 12903"/>
            </a:avLst>
          </a:prstGeom>
          <a:solidFill xmlns:a="http://schemas.openxmlformats.org/drawingml/2006/main">
            <a:srgbClr val="DCFCE7"/>
          </a:solidFill>
          <a:ln xmlns:a="http://schemas.openxmlformats.org/drawingml/2006/main" w="10160">
            <a:solidFill>
              <a:srgbClr val="BBF7D0"/>
            </a:solidFill>
            <a:prstDash val="solid"/>
          </a:ln>
        </p:spPr>
        <p:txBody>
          <a:bodyPr xmlns:a="http://schemas.openxmlformats.org/drawingml/2006/main"/>
          <a:lstStyle xmlns:a="http://schemas.openxmlformats.org/drawingml/2006/main"/>
          <a:p xmlns:a="http://schemas.openxmlformats.org/drawingml/2006/main"/>
        </p:txBody>
      </p:sp>
      <p:sp>
        <p:nvSpPr>
          <p:cNvPr id="11" name="Text 9">
            <a:extLst xmlns:a="http://schemas.openxmlformats.org/drawingml/2006/main">
              <a:ext uri="{FF2B5EF4-FFF2-40B4-BE49-F238E27FC236}">
                <a16:creationId xmlns:a16="http://schemas.microsoft.com/office/drawing/2014/main" id="{53A8BF68-FB99-4D57-9FAD-36A2ACD14EFC}"/>
              </a:ext>
            </a:extLst>
          </p:cNvPr>
          <p:cNvSpPr>
            <a:spLocks xmlns:a="http://schemas.openxmlformats.org/drawingml/2006/main" noGrp="1"/>
          </p:cNvSpPr>
          <p:nvPr/>
        </p:nvSpPr>
        <p:spPr>
          <a:xfrm xmlns:a="http://schemas.openxmlformats.org/drawingml/2006/main">
            <a:off x="3767328" y="2057400"/>
            <a:ext cx="1426464" cy="384048"/>
          </a:xfrm>
          <a:prstGeom xmlns:a="http://schemas.openxmlformats.org/drawingml/2006/main" prst="rect">
            <a:avLst/>
          </a:prstGeom>
          <a:noFill xmlns:a="http://schemas.openxmlformats.org/drawingml/2006/main"/>
        </p:spPr>
        <p:txBody>
          <a:bodyPr xmlns:a="http://schemas.openxmlformats.org/drawingml/2006/main" wrap="square" lIns="381" tIns="381" rIns="381" bIns="381" anchor="ctr">
            <a:normAutofit fontScale="100000"/>
          </a:bodyPr>
          <a:lstStyle xmlns:a="http://schemas.openxmlformats.org/drawingml/2006/main"/>
          <a:p xmlns:a="http://schemas.openxmlformats.org/drawingml/2006/main">
            <a:pPr marL="0" indent="0" algn="ctr">
              <a:buNone/>
            </a:pPr>
            <a:r>
              <a:rPr sz="1400" b="1">
                <a:solidFill>
                  <a:srgbClr val="16A34A"/>
                </a:solidFill>
                <a:latin typeface="Aptos"/>
                <a:ea typeface="Aptos"/>
                <a:cs typeface="Aptos"/>
              </a:rPr>
              <a:t>Formalización</a:t>
            </a:r>
            <a:endParaRPr sz="1400"/>
          </a:p>
        </p:txBody>
      </p:sp>
      <p:sp>
        <p:nvSpPr>
          <p:cNvPr id="12" name="Text 10">
            <a:extLst xmlns:a="http://schemas.openxmlformats.org/drawingml/2006/main">
              <a:ext uri="{FF2B5EF4-FFF2-40B4-BE49-F238E27FC236}">
                <a16:creationId xmlns:a16="http://schemas.microsoft.com/office/drawing/2014/main" id="{531607D8-3C74-4A43-A194-85BB3E4337BF}"/>
              </a:ext>
            </a:extLst>
          </p:cNvPr>
          <p:cNvSpPr>
            <a:spLocks xmlns:a="http://schemas.openxmlformats.org/drawingml/2006/main" noGrp="1"/>
          </p:cNvSpPr>
          <p:nvPr/>
        </p:nvSpPr>
        <p:spPr>
          <a:xfrm xmlns:a="http://schemas.openxmlformats.org/drawingml/2006/main">
            <a:off x="3566160" y="2697480"/>
            <a:ext cx="18288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50">
                <a:solidFill>
                  <a:srgbClr val="64748B"/>
                </a:solidFill>
              </a:rPr>
              <a:t>archivos y métricas</a:t>
            </a:r>
            <a:endParaRPr sz="1050"/>
          </a:p>
        </p:txBody>
      </p:sp>
      <p:sp>
        <p:nvSpPr>
          <p:cNvPr id="13" name="Shape 11">
            <a:extLst xmlns:a="http://schemas.openxmlformats.org/drawingml/2006/main">
              <a:ext uri="{FF2B5EF4-FFF2-40B4-BE49-F238E27FC236}">
                <a16:creationId xmlns:a16="http://schemas.microsoft.com/office/drawing/2014/main" id="{712C06FE-A9CE-48CF-B9CF-6C6CC46F4651}"/>
              </a:ext>
            </a:extLst>
          </p:cNvPr>
          <p:cNvSpPr>
            <a:spLocks xmlns:a="http://schemas.openxmlformats.org/drawingml/2006/main" noGrp="1"/>
          </p:cNvSpPr>
          <p:nvPr/>
        </p:nvSpPr>
        <p:spPr>
          <a:xfrm xmlns:a="http://schemas.openxmlformats.org/drawingml/2006/main">
            <a:off x="5413248" y="2249424"/>
            <a:ext cx="758952" cy="0"/>
          </a:xfrm>
          <a:prstGeom xmlns:a="http://schemas.openxmlformats.org/drawingml/2006/main" prst="line">
            <a:avLst/>
          </a:prstGeom>
          <a:noFill xmlns:a="http://schemas.openxmlformats.org/drawingml/2006/main"/>
          <a:ln xmlns:a="http://schemas.openxmlformats.org/drawingml/2006/main" w="12700">
            <a:solidFill>
              <a:srgbClr val="64748B"/>
            </a:solidFill>
            <a:prstDash val="solid"/>
            <a:headEnd type="none"/>
            <a:tailEnd type="triangle"/>
          </a:ln>
        </p:spPr>
        <p:txBody>
          <a:bodyPr xmlns:a="http://schemas.openxmlformats.org/drawingml/2006/main"/>
          <a:lstStyle xmlns:a="http://schemas.openxmlformats.org/drawingml/2006/main"/>
          <a:p xmlns:a="http://schemas.openxmlformats.org/drawingml/2006/main"/>
        </p:txBody>
      </p:sp>
      <p:sp>
        <p:nvSpPr>
          <p:cNvPr id="14" name="Shape 12">
            <a:extLst xmlns:a="http://schemas.openxmlformats.org/drawingml/2006/main">
              <a:ext uri="{FF2B5EF4-FFF2-40B4-BE49-F238E27FC236}">
                <a16:creationId xmlns:a16="http://schemas.microsoft.com/office/drawing/2014/main" id="{D7D95489-96C4-40FF-8F40-AA99BBB0C3D2}"/>
              </a:ext>
            </a:extLst>
          </p:cNvPr>
          <p:cNvSpPr>
            <a:spLocks xmlns:a="http://schemas.openxmlformats.org/drawingml/2006/main" noGrp="1"/>
          </p:cNvSpPr>
          <p:nvPr/>
        </p:nvSpPr>
        <p:spPr>
          <a:xfrm xmlns:a="http://schemas.openxmlformats.org/drawingml/2006/main">
            <a:off x="6400800" y="1965960"/>
            <a:ext cx="1645920" cy="566928"/>
          </a:xfrm>
          <a:prstGeom xmlns:a="http://schemas.openxmlformats.org/drawingml/2006/main" prst="roundRect">
            <a:avLst>
              <a:gd name="adj" fmla="val 12903"/>
            </a:avLst>
          </a:prstGeom>
          <a:solidFill xmlns:a="http://schemas.openxmlformats.org/drawingml/2006/main">
            <a:srgbClr val="DCFCE7"/>
          </a:solidFill>
          <a:ln xmlns:a="http://schemas.openxmlformats.org/drawingml/2006/main" w="10160">
            <a:solidFill>
              <a:srgbClr val="BBF7D0"/>
            </a:solidFill>
            <a:prstDash val="solid"/>
          </a:ln>
        </p:spPr>
        <p:txBody>
          <a:bodyPr xmlns:a="http://schemas.openxmlformats.org/drawingml/2006/main"/>
          <a:lstStyle xmlns:a="http://schemas.openxmlformats.org/drawingml/2006/main"/>
          <a:p xmlns:a="http://schemas.openxmlformats.org/drawingml/2006/main"/>
        </p:txBody>
      </p:sp>
      <p:sp>
        <p:nvSpPr>
          <p:cNvPr id="15" name="Text 13">
            <a:extLst xmlns:a="http://schemas.openxmlformats.org/drawingml/2006/main">
              <a:ext uri="{FF2B5EF4-FFF2-40B4-BE49-F238E27FC236}">
                <a16:creationId xmlns:a16="http://schemas.microsoft.com/office/drawing/2014/main" id="{9EFF540B-0F01-4C62-98F0-94D17618667C}"/>
              </a:ext>
            </a:extLst>
          </p:cNvPr>
          <p:cNvSpPr>
            <a:spLocks xmlns:a="http://schemas.openxmlformats.org/drawingml/2006/main" noGrp="1"/>
          </p:cNvSpPr>
          <p:nvPr/>
        </p:nvSpPr>
        <p:spPr>
          <a:xfrm xmlns:a="http://schemas.openxmlformats.org/drawingml/2006/main">
            <a:off x="6510528" y="2057400"/>
            <a:ext cx="1426464" cy="384048"/>
          </a:xfrm>
          <a:prstGeom xmlns:a="http://schemas.openxmlformats.org/drawingml/2006/main" prst="rect">
            <a:avLst/>
          </a:prstGeom>
          <a:noFill xmlns:a="http://schemas.openxmlformats.org/drawingml/2006/main"/>
        </p:spPr>
        <p:txBody>
          <a:bodyPr xmlns:a="http://schemas.openxmlformats.org/drawingml/2006/main" wrap="square" lIns="381" tIns="381" rIns="381" bIns="381" anchor="ctr">
            <a:normAutofit fontScale="100000"/>
          </a:bodyPr>
          <a:lstStyle xmlns:a="http://schemas.openxmlformats.org/drawingml/2006/main"/>
          <a:p xmlns:a="http://schemas.openxmlformats.org/drawingml/2006/main">
            <a:pPr marL="0" indent="0" algn="ctr">
              <a:buNone/>
            </a:pPr>
            <a:r>
              <a:rPr sz="1400" b="1">
                <a:solidFill>
                  <a:srgbClr val="16A34A"/>
                </a:solidFill>
                <a:latin typeface="Aptos"/>
                <a:ea typeface="Aptos"/>
                <a:cs typeface="Aptos"/>
              </a:rPr>
              <a:t>Analyzer v1</a:t>
            </a:r>
            <a:endParaRPr sz="1400"/>
          </a:p>
        </p:txBody>
      </p:sp>
      <p:sp>
        <p:nvSpPr>
          <p:cNvPr id="16" name="Text 14">
            <a:extLst xmlns:a="http://schemas.openxmlformats.org/drawingml/2006/main">
              <a:ext uri="{FF2B5EF4-FFF2-40B4-BE49-F238E27FC236}">
                <a16:creationId xmlns:a16="http://schemas.microsoft.com/office/drawing/2014/main" id="{6C4572B4-609F-4B8A-BB59-752EA13E581A}"/>
              </a:ext>
            </a:extLst>
          </p:cNvPr>
          <p:cNvSpPr>
            <a:spLocks xmlns:a="http://schemas.openxmlformats.org/drawingml/2006/main" noGrp="1"/>
          </p:cNvSpPr>
          <p:nvPr/>
        </p:nvSpPr>
        <p:spPr>
          <a:xfrm xmlns:a="http://schemas.openxmlformats.org/drawingml/2006/main">
            <a:off x="6309360" y="2697480"/>
            <a:ext cx="18288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50">
                <a:solidFill>
                  <a:srgbClr val="64748B"/>
                </a:solidFill>
              </a:rPr>
              <a:t>operacionalización</a:t>
            </a:r>
            <a:endParaRPr sz="1050"/>
          </a:p>
        </p:txBody>
      </p:sp>
      <p:sp>
        <p:nvSpPr>
          <p:cNvPr id="17" name="Shape 15">
            <a:extLst xmlns:a="http://schemas.openxmlformats.org/drawingml/2006/main">
              <a:ext uri="{FF2B5EF4-FFF2-40B4-BE49-F238E27FC236}">
                <a16:creationId xmlns:a16="http://schemas.microsoft.com/office/drawing/2014/main" id="{0F3E928F-AF4D-46BE-A471-5389C97E6095}"/>
              </a:ext>
            </a:extLst>
          </p:cNvPr>
          <p:cNvSpPr>
            <a:spLocks xmlns:a="http://schemas.openxmlformats.org/drawingml/2006/main" noGrp="1"/>
          </p:cNvSpPr>
          <p:nvPr/>
        </p:nvSpPr>
        <p:spPr>
          <a:xfrm xmlns:a="http://schemas.openxmlformats.org/drawingml/2006/main">
            <a:off x="8156448" y="2249424"/>
            <a:ext cx="758952" cy="0"/>
          </a:xfrm>
          <a:prstGeom xmlns:a="http://schemas.openxmlformats.org/drawingml/2006/main" prst="line">
            <a:avLst/>
          </a:prstGeom>
          <a:noFill xmlns:a="http://schemas.openxmlformats.org/drawingml/2006/main"/>
          <a:ln xmlns:a="http://schemas.openxmlformats.org/drawingml/2006/main" w="12700">
            <a:solidFill>
              <a:srgbClr val="64748B"/>
            </a:solidFill>
            <a:prstDash val="solid"/>
            <a:headEnd type="none"/>
            <a:tailEnd type="triangle"/>
          </a:ln>
        </p:spPr>
        <p:txBody>
          <a:bodyPr xmlns:a="http://schemas.openxmlformats.org/drawingml/2006/main"/>
          <a:lstStyle xmlns:a="http://schemas.openxmlformats.org/drawingml/2006/main"/>
          <a:p xmlns:a="http://schemas.openxmlformats.org/drawingml/2006/main"/>
        </p:txBody>
      </p:sp>
      <p:sp>
        <p:nvSpPr>
          <p:cNvPr id="18" name="Shape 16">
            <a:extLst xmlns:a="http://schemas.openxmlformats.org/drawingml/2006/main">
              <a:ext uri="{FF2B5EF4-FFF2-40B4-BE49-F238E27FC236}">
                <a16:creationId xmlns:a16="http://schemas.microsoft.com/office/drawing/2014/main" id="{170648D7-CA58-420E-BE5B-D3865BD54734}"/>
              </a:ext>
            </a:extLst>
          </p:cNvPr>
          <p:cNvSpPr>
            <a:spLocks xmlns:a="http://schemas.openxmlformats.org/drawingml/2006/main" noGrp="1"/>
          </p:cNvSpPr>
          <p:nvPr/>
        </p:nvSpPr>
        <p:spPr>
          <a:xfrm xmlns:a="http://schemas.openxmlformats.org/drawingml/2006/main">
            <a:off x="9144000" y="1965960"/>
            <a:ext cx="1645920" cy="566928"/>
          </a:xfrm>
          <a:prstGeom xmlns:a="http://schemas.openxmlformats.org/drawingml/2006/main" prst="roundRect">
            <a:avLst>
              <a:gd name="adj" fmla="val 12903"/>
            </a:avLst>
          </a:prstGeom>
          <a:solidFill xmlns:a="http://schemas.openxmlformats.org/drawingml/2006/main">
            <a:srgbClr val="F1F5F9"/>
          </a:solidFill>
          <a:ln xmlns:a="http://schemas.openxmlformats.org/drawingml/2006/main" w="10160">
            <a:solidFill>
              <a:srgbClr val="CBD5E1"/>
            </a:solidFill>
            <a:prstDash val="solid"/>
          </a:ln>
        </p:spPr>
        <p:txBody>
          <a:bodyPr xmlns:a="http://schemas.openxmlformats.org/drawingml/2006/main"/>
          <a:lstStyle xmlns:a="http://schemas.openxmlformats.org/drawingml/2006/main"/>
          <a:p xmlns:a="http://schemas.openxmlformats.org/drawingml/2006/main"/>
        </p:txBody>
      </p:sp>
      <p:sp>
        <p:nvSpPr>
          <p:cNvPr id="19" name="Text 17">
            <a:extLst xmlns:a="http://schemas.openxmlformats.org/drawingml/2006/main">
              <a:ext uri="{FF2B5EF4-FFF2-40B4-BE49-F238E27FC236}">
                <a16:creationId xmlns:a16="http://schemas.microsoft.com/office/drawing/2014/main" id="{79919868-6DBD-4433-B837-0F68D402B59A}"/>
              </a:ext>
            </a:extLst>
          </p:cNvPr>
          <p:cNvSpPr>
            <a:spLocks xmlns:a="http://schemas.openxmlformats.org/drawingml/2006/main" noGrp="1"/>
          </p:cNvSpPr>
          <p:nvPr/>
        </p:nvSpPr>
        <p:spPr>
          <a:xfrm xmlns:a="http://schemas.openxmlformats.org/drawingml/2006/main">
            <a:off x="9253728" y="2057400"/>
            <a:ext cx="1426464" cy="384048"/>
          </a:xfrm>
          <a:prstGeom xmlns:a="http://schemas.openxmlformats.org/drawingml/2006/main" prst="rect">
            <a:avLst/>
          </a:prstGeom>
          <a:noFill xmlns:a="http://schemas.openxmlformats.org/drawingml/2006/main"/>
        </p:spPr>
        <p:txBody>
          <a:bodyPr xmlns:a="http://schemas.openxmlformats.org/drawingml/2006/main" wrap="square" lIns="381" tIns="381" rIns="381" bIns="381" anchor="ctr">
            <a:normAutofit fontScale="100000"/>
          </a:bodyPr>
          <a:lstStyle xmlns:a="http://schemas.openxmlformats.org/drawingml/2006/main"/>
          <a:p xmlns:a="http://schemas.openxmlformats.org/drawingml/2006/main">
            <a:pPr marL="0" indent="0" algn="ctr">
              <a:buNone/>
            </a:pPr>
            <a:r>
              <a:rPr sz="1400" b="1">
                <a:solidFill>
                  <a:srgbClr val="64748B"/>
                </a:solidFill>
                <a:latin typeface="Aptos"/>
                <a:ea typeface="Aptos"/>
                <a:cs typeface="Aptos"/>
              </a:rPr>
              <a:t>Validación</a:t>
            </a:r>
            <a:endParaRPr sz="1400"/>
          </a:p>
        </p:txBody>
      </p:sp>
      <p:sp>
        <p:nvSpPr>
          <p:cNvPr id="20" name="Text 18">
            <a:extLst xmlns:a="http://schemas.openxmlformats.org/drawingml/2006/main">
              <a:ext uri="{FF2B5EF4-FFF2-40B4-BE49-F238E27FC236}">
                <a16:creationId xmlns:a16="http://schemas.microsoft.com/office/drawing/2014/main" id="{CD5F0667-9C26-4AC6-9943-8986691655C8}"/>
              </a:ext>
            </a:extLst>
          </p:cNvPr>
          <p:cNvSpPr>
            <a:spLocks xmlns:a="http://schemas.openxmlformats.org/drawingml/2006/main" noGrp="1"/>
          </p:cNvSpPr>
          <p:nvPr/>
        </p:nvSpPr>
        <p:spPr>
          <a:xfrm xmlns:a="http://schemas.openxmlformats.org/drawingml/2006/main">
            <a:off x="9052560" y="2697480"/>
            <a:ext cx="18288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50">
                <a:solidFill>
                  <a:srgbClr val="64748B"/>
                </a:solidFill>
              </a:rPr>
              <a:t>patrones y oráculos</a:t>
            </a:r>
            <a:endParaRPr sz="1050"/>
          </a:p>
        </p:txBody>
      </p:sp>
      <p:sp>
        <p:nvSpPr>
          <p:cNvPr id="21" name="Shape 19">
            <a:extLst xmlns:a="http://schemas.openxmlformats.org/drawingml/2006/main">
              <a:ext uri="{FF2B5EF4-FFF2-40B4-BE49-F238E27FC236}">
                <a16:creationId xmlns:a16="http://schemas.microsoft.com/office/drawing/2014/main" id="{2EBB2CB2-839F-473E-B900-4F43F805E37D}"/>
              </a:ext>
            </a:extLst>
          </p:cNvPr>
          <p:cNvSpPr>
            <a:spLocks xmlns:a="http://schemas.openxmlformats.org/drawingml/2006/main" noGrp="1"/>
          </p:cNvSpPr>
          <p:nvPr/>
        </p:nvSpPr>
        <p:spPr>
          <a:xfrm xmlns:a="http://schemas.openxmlformats.org/drawingml/2006/main">
            <a:off x="1143000" y="3886200"/>
            <a:ext cx="9784080" cy="777240"/>
          </a:xfrm>
          <a:prstGeom xmlns:a="http://schemas.openxmlformats.org/drawingml/2006/main" prst="roundRect">
            <a:avLst>
              <a:gd name="adj" fmla="val 9412"/>
            </a:avLst>
          </a:prstGeom>
          <a:solidFill xmlns:a="http://schemas.openxmlformats.org/drawingml/2006/main">
            <a:srgbClr val="FFFFFF"/>
          </a:solidFill>
          <a:ln xmlns:a="http://schemas.openxmlformats.org/drawingml/2006/main" w="10160">
            <a:solidFill>
              <a:srgbClr val="CBD5E1"/>
            </a:solidFill>
            <a:prstDash val="solid"/>
          </a:ln>
        </p:spPr>
        <p:txBody>
          <a:bodyPr xmlns:a="http://schemas.openxmlformats.org/drawingml/2006/main"/>
          <a:lstStyle xmlns:a="http://schemas.openxmlformats.org/drawingml/2006/main"/>
          <a:p xmlns:a="http://schemas.openxmlformats.org/drawingml/2006/main"/>
        </p:txBody>
      </p:sp>
      <p:sp>
        <p:nvSpPr>
          <p:cNvPr id="22" name="Text 20">
            <a:extLst xmlns:a="http://schemas.openxmlformats.org/drawingml/2006/main">
              <a:ext uri="{FF2B5EF4-FFF2-40B4-BE49-F238E27FC236}">
                <a16:creationId xmlns:a16="http://schemas.microsoft.com/office/drawing/2014/main" id="{E87A812B-123A-4A2D-A881-475A985B4E74}"/>
              </a:ext>
            </a:extLst>
          </p:cNvPr>
          <p:cNvSpPr>
            <a:spLocks xmlns:a="http://schemas.openxmlformats.org/drawingml/2006/main" noGrp="1"/>
          </p:cNvSpPr>
          <p:nvPr/>
        </p:nvSpPr>
        <p:spPr>
          <a:xfrm xmlns:a="http://schemas.openxmlformats.org/drawingml/2006/main">
            <a:off x="1307592" y="4014216"/>
            <a:ext cx="9454896" cy="521208"/>
          </a:xfrm>
          <a:prstGeom xmlns:a="http://schemas.openxmlformats.org/drawingml/2006/main" prst="rect">
            <a:avLst/>
          </a:prstGeom>
          <a:noFill xmlns:a="http://schemas.openxmlformats.org/drawingml/2006/main"/>
        </p:spPr>
        <p:txBody>
          <a:bodyPr xmlns:a="http://schemas.openxmlformats.org/drawingml/2006/main" wrap="square" lIns="381" tIns="381" rIns="381" bIns="381" anchor="ctr">
            <a:normAutofit fontScale="100000"/>
          </a:bodyPr>
          <a:lstStyle xmlns:a="http://schemas.openxmlformats.org/drawingml/2006/main"/>
          <a:p xmlns:a="http://schemas.openxmlformats.org/drawingml/2006/main">
            <a:pPr marL="0" indent="0">
              <a:buNone/>
            </a:pPr>
            <a:r>
              <a:rPr sz="1120">
                <a:solidFill>
                  <a:srgbClr val="334155"/>
                </a:solidFill>
                <a:latin typeface="Aptos"/>
                <a:ea typeface="Aptos"/>
                <a:cs typeface="Aptos"/>
              </a:rPr>
              <a:t>La evaluación contrasta la implementación con oráculos y verifica cobertura y precondiciones bajo escenarios controlados. El placement es un factor experimental, no una comparación de schedulers.</a:t>
            </a:r>
            <a:endParaRPr sz="1120"/>
          </a:p>
        </p:txBody>
      </p:sp>
      <p:sp>
        <p:nvSpPr>
          <p:cNvPr id="23" name="Shape 21">
            <a:extLst xmlns:a="http://schemas.openxmlformats.org/drawingml/2006/main">
              <a:ext uri="{FF2B5EF4-FFF2-40B4-BE49-F238E27FC236}">
                <a16:creationId xmlns:a16="http://schemas.microsoft.com/office/drawing/2014/main" id="{9D9B3B13-6206-4779-BE38-82E9D1026CC1}"/>
              </a:ext>
            </a:extLst>
          </p:cNvPr>
          <p:cNvSpPr>
            <a:spLocks xmlns:a="http://schemas.openxmlformats.org/drawingml/2006/main" noGrp="1"/>
          </p:cNvSpPr>
          <p:nvPr/>
        </p:nvSpPr>
        <p:spPr>
          <a:xfrm xmlns:a="http://schemas.openxmlformats.org/drawingml/2006/main">
            <a:off x="2194560" y="5138928"/>
            <a:ext cx="7772400" cy="502920"/>
          </a:xfrm>
          <a:prstGeom xmlns:a="http://schemas.openxmlformats.org/drawingml/2006/main" prst="roundRect">
            <a:avLst>
              <a:gd name="adj" fmla="val 14545"/>
            </a:avLst>
          </a:prstGeom>
          <a:solidFill xmlns:a="http://schemas.openxmlformats.org/drawingml/2006/main">
            <a:srgbClr val="EAF2FF"/>
          </a:solidFill>
          <a:ln xmlns:a="http://schemas.openxmlformats.org/drawingml/2006/main" w="9525">
            <a:solidFill>
              <a:srgbClr val="A8C4EA"/>
            </a:solidFill>
            <a:prstDash val="solid"/>
          </a:ln>
        </p:spPr>
        <p:txBody>
          <a:bodyPr xmlns:a="http://schemas.openxmlformats.org/drawingml/2006/main"/>
          <a:lstStyle xmlns:a="http://schemas.openxmlformats.org/drawingml/2006/main"/>
          <a:p xmlns:a="http://schemas.openxmlformats.org/drawingml/2006/main"/>
        </p:txBody>
      </p:sp>
      <p:sp>
        <p:nvSpPr>
          <p:cNvPr id="24" name="Text 22">
            <a:extLst xmlns:a="http://schemas.openxmlformats.org/drawingml/2006/main">
              <a:ext uri="{FF2B5EF4-FFF2-40B4-BE49-F238E27FC236}">
                <a16:creationId xmlns:a16="http://schemas.microsoft.com/office/drawing/2014/main" id="{7CB5AF33-323A-49B9-879B-7365446FA911}"/>
              </a:ext>
            </a:extLst>
          </p:cNvPr>
          <p:cNvSpPr>
            <a:spLocks xmlns:a="http://schemas.openxmlformats.org/drawingml/2006/main" noGrp="1"/>
          </p:cNvSpPr>
          <p:nvPr/>
        </p:nvSpPr>
        <p:spPr>
          <a:xfrm xmlns:a="http://schemas.openxmlformats.org/drawingml/2006/main">
            <a:off x="2304288" y="5230368"/>
            <a:ext cx="7552944" cy="320040"/>
          </a:xfrm>
          <a:prstGeom xmlns:a="http://schemas.openxmlformats.org/drawingml/2006/main" prst="rect">
            <a:avLst/>
          </a:prstGeom>
          <a:noFill xmlns:a="http://schemas.openxmlformats.org/drawingml/2006/main"/>
        </p:spPr>
        <p:txBody>
          <a:bodyPr xmlns:a="http://schemas.openxmlformats.org/drawingml/2006/main" wrap="square" lIns="381" tIns="381" rIns="381" bIns="381" anchor="ctr">
            <a:normAutofit fontScale="100000"/>
          </a:bodyPr>
          <a:lstStyle xmlns:a="http://schemas.openxmlformats.org/drawingml/2006/main"/>
          <a:p xmlns:a="http://schemas.openxmlformats.org/drawingml/2006/main">
            <a:pPr marL="0" indent="0" algn="ctr">
              <a:buNone/>
            </a:pPr>
            <a:r>
              <a:rPr sz="1200" b="1">
                <a:solidFill>
                  <a:srgbClr val="142D45"/>
                </a:solidFill>
                <a:latin typeface="Aptos"/>
                <a:ea typeface="Aptos"/>
                <a:cs typeface="Aptos"/>
              </a:rPr>
              <a:t>La validación usa oráculos controlados; Coverage y evidencia determinan si DME puede informarse.</a:t>
            </a:r>
            <a:endParaRPr sz="1200"/>
          </a:p>
        </p:txBody>
      </p:sp>
      <p:sp>
        <p:nvSpPr>
          <p:cNvPr id="25" name="Shape 23">
            <a:extLst xmlns:a="http://schemas.openxmlformats.org/drawingml/2006/main">
              <a:ext uri="{FF2B5EF4-FFF2-40B4-BE49-F238E27FC236}">
                <a16:creationId xmlns:a16="http://schemas.microsoft.com/office/drawing/2014/main" id="{B95CB932-9EB0-481C-A828-67E5678449AE}"/>
              </a:ext>
            </a:extLst>
          </p:cNvPr>
          <p:cNvSpPr>
            <a:spLocks xmlns:a="http://schemas.openxmlformats.org/drawingml/2006/main" noGrp="1"/>
          </p:cNvSpPr>
          <p:nvPr/>
        </p:nvSpPr>
        <p:spPr>
          <a:xfrm xmlns:a="http://schemas.openxmlformats.org/drawingml/2006/main">
            <a:off x="502920" y="6446520"/>
            <a:ext cx="11201400" cy="0"/>
          </a:xfrm>
          <a:prstGeom xmlns:a="http://schemas.openxmlformats.org/drawingml/2006/main" prst="line">
            <a:avLst/>
          </a:prstGeom>
          <a:noFill xmlns:a="http://schemas.openxmlformats.org/drawingml/2006/main"/>
          <a:ln xmlns:a="http://schemas.openxmlformats.org/drawingml/2006/main" w="8890">
            <a:solidFill>
              <a:srgbClr val="CBD5E1"/>
            </a:solidFill>
            <a:prstDash val="solid"/>
          </a:ln>
        </p:spPr>
        <p:txBody>
          <a:bodyPr xmlns:a="http://schemas.openxmlformats.org/drawingml/2006/main"/>
          <a:lstStyle xmlns:a="http://schemas.openxmlformats.org/drawingml/2006/main"/>
          <a:p xmlns:a="http://schemas.openxmlformats.org/drawingml/2006/main"/>
        </p:txBody>
      </p:sp>
      <p:sp>
        <p:nvSpPr>
          <p:cNvPr id="26" name="Text 24">
            <a:extLst xmlns:a="http://schemas.openxmlformats.org/drawingml/2006/main">
              <a:ext uri="{FF2B5EF4-FFF2-40B4-BE49-F238E27FC236}">
                <a16:creationId xmlns:a16="http://schemas.microsoft.com/office/drawing/2014/main" id="{8EE0C23B-512D-4920-B178-0C8D273B8117}"/>
              </a:ext>
            </a:extLst>
          </p:cNvPr>
          <p:cNvSpPr>
            <a:spLocks xmlns:a="http://schemas.openxmlformats.org/drawingml/2006/main" noGrp="1"/>
          </p:cNvSpPr>
          <p:nvPr/>
        </p:nvSpPr>
        <p:spPr>
          <a:xfrm xmlns:a="http://schemas.openxmlformats.org/drawingml/2006/main">
            <a:off x="594360" y="6510528"/>
            <a:ext cx="7223760" cy="2011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750">
                <a:solidFill>
                  <a:srgbClr val="64748B"/>
                </a:solidFill>
                <a:latin typeface="Aptos"/>
                <a:ea typeface="Aptos"/>
                <a:cs typeface="Aptos"/>
              </a:rPr>
              <a:t>Metodología</a:t>
            </a:r>
            <a:endParaRPr sz="750"/>
          </a:p>
        </p:txBody>
      </p:sp>
      <p:sp>
        <p:nvSpPr>
          <p:cNvPr id="27" name="Text 25">
            <a:extLst xmlns:a="http://schemas.openxmlformats.org/drawingml/2006/main">
              <a:ext uri="{FF2B5EF4-FFF2-40B4-BE49-F238E27FC236}">
                <a16:creationId xmlns:a16="http://schemas.microsoft.com/office/drawing/2014/main" id="{7ECA5B7B-4FD4-4632-8C62-81AC9E2763E2}"/>
              </a:ext>
            </a:extLst>
          </p:cNvPr>
          <p:cNvSpPr>
            <a:spLocks xmlns:a="http://schemas.openxmlformats.org/drawingml/2006/main" noGrp="1"/>
          </p:cNvSpPr>
          <p:nvPr/>
        </p:nvSpPr>
        <p:spPr>
          <a:xfrm xmlns:a="http://schemas.openxmlformats.org/drawingml/2006/main">
            <a:off x="11228832" y="6492240"/>
            <a:ext cx="411480" cy="2286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800">
                <a:solidFill>
                  <a:srgbClr val="64748B"/>
                </a:solidFill>
                <a:latin typeface="Aptos"/>
                <a:ea typeface="Aptos"/>
                <a:cs typeface="Aptos"/>
              </a:rPr>
              <a:t>12</a:t>
            </a:r>
            <a:endParaRPr sz="800"/>
          </a:p>
        </p:txBody>
      </p:sp>
    </p:spTree>
    <p:extLst>
      <p:ext uri="{BB962C8B-B14F-4D97-AF65-F5344CB8AC3E}">
        <p14:creationId xmlns:p14="http://schemas.microsoft.com/office/powerpoint/2010/main" val="781606995"/>
      </p:ext>
    </p:extLst>
  </p:cSld>
</p:sld>
</file>

<file path=ppt/slides/slide13.xml><?xml version="1.0" encoding="utf-8"?>
<p:sld xmlns:p="http://schemas.openxmlformats.org/presentationml/2006/main">
  <p:cSld>
    <p:spTree>
      <p:nvGrpSpPr>
        <p:cNvPr id="1" name=""/>
        <p:cNvGrpSpPr/>
        <p:nvPr/>
      </p:nvGrpSpPr>
      <p:grpSpPr>
        <a:xfrm xmlns:a="http://schemas.openxmlformats.org/drawingml/2006/main"/>
      </p:grpSpPr>
      <p:sp>
        <p:nvSpPr>
          <p:cNvPr id="38" name="section-accent">
            <a:extLst xmlns:a="http://schemas.openxmlformats.org/drawingml/2006/main">
              <a:ext uri="{FF2B5EF4-FFF2-40B4-BE49-F238E27FC236}">
                <a16:creationId xmlns:a16="http://schemas.microsoft.com/office/drawing/2014/main" id="{0BF6C4A5-235C-43DE-ABAC-10F49A9F4ECE}"/>
              </a:ext>
            </a:extLst>
          </p:cNvPr>
          <p:cNvSpPr>
            <a:spLocks xmlns:a="http://schemas.openxmlformats.org/drawingml/2006/main" noGrp="1"/>
          </p:cNvSpPr>
          <p:nvPr/>
        </p:nvSpPr>
        <p:spPr>
          <a:xfrm xmlns:a="http://schemas.openxmlformats.org/drawingml/2006/main">
            <a:off x="0" y="0"/>
            <a:ext cx="12192000" cy="114300"/>
          </a:xfrm>
          <a:prstGeom xmlns:a="http://schemas.openxmlformats.org/drawingml/2006/main" prst="rect">
            <a:avLst/>
          </a:prstGeom>
          <a:solidFill xmlns:a="http://schemas.openxmlformats.org/drawingml/2006/main">
            <a:srgbClr val="2563EB"/>
          </a:solidFill>
          <a:ln xmlns:a="http://schemas.openxmlformats.org/drawingml/2006/main" w="0">
            <a:solidFill>
              <a:srgbClr val="2563EB"/>
            </a:solidFill>
            <a:prstDash val="solid"/>
          </a:ln>
        </p:spPr>
      </p:sp>
      <p:sp>
        <p:nvSpPr>
          <p:cNvPr id="2" name="section-label">
            <a:extLst xmlns:a="http://schemas.openxmlformats.org/drawingml/2006/main">
              <a:ext uri="{FF2B5EF4-FFF2-40B4-BE49-F238E27FC236}">
                <a16:creationId xmlns:a16="http://schemas.microsoft.com/office/drawing/2014/main" id="{9833B885-53F6-46B6-987D-93AC9368451A}"/>
              </a:ext>
            </a:extLst>
          </p:cNvPr>
          <p:cNvSpPr>
            <a:spLocks xmlns:a="http://schemas.openxmlformats.org/drawingml/2006/main" noGrp="1"/>
          </p:cNvSpPr>
          <p:nvPr/>
        </p:nvSpPr>
        <p:spPr>
          <a:xfrm xmlns:a="http://schemas.openxmlformats.org/drawingml/2006/main">
            <a:off x="647700" y="352425"/>
            <a:ext cx="10668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buNone/>
              <a:defRPr sz="825" b="1">
                <a:solidFill>
                  <a:srgbClr val="2563EB"/>
                </a:solidFill>
                <a:latin typeface="Aptos"/>
                <a:ea typeface="Aptos"/>
                <a:cs typeface="Aptos"/>
              </a:defRPr>
            </a:pPr>
            <a:r>
              <a:rPr sz="825" b="1">
                <a:solidFill>
                  <a:srgbClr val="2563EB"/>
                </a:solidFill>
                <a:latin typeface="Aptos"/>
                <a:ea typeface="Aptos"/>
                <a:cs typeface="Aptos"/>
              </a:rPr>
              <a:t>ARQUITECTURA</a:t>
            </a:r>
          </a:p>
        </p:txBody>
      </p:sp>
      <p:sp>
        <p:nvSpPr>
          <p:cNvPr id="3" name="slide-heading">
            <a:extLst xmlns:a="http://schemas.openxmlformats.org/drawingml/2006/main">
              <a:ext uri="{FF2B5EF4-FFF2-40B4-BE49-F238E27FC236}">
                <a16:creationId xmlns:a16="http://schemas.microsoft.com/office/drawing/2014/main" id="{FF861105-C2E5-4DD0-A957-DDAE671C2E9A}"/>
              </a:ext>
            </a:extLst>
          </p:cNvPr>
          <p:cNvSpPr>
            <a:spLocks xmlns:a="http://schemas.openxmlformats.org/drawingml/2006/main" noGrp="1"/>
          </p:cNvSpPr>
          <p:nvPr/>
        </p:nvSpPr>
        <p:spPr>
          <a:xfrm xmlns:a="http://schemas.openxmlformats.org/drawingml/2006/main">
            <a:off x="609600" y="619125"/>
            <a:ext cx="109537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buNone/>
              <a:defRPr sz="2250" b="1">
                <a:solidFill>
                  <a:srgbClr val="142D45"/>
                </a:solidFill>
                <a:latin typeface="Aptos"/>
                <a:ea typeface="Aptos"/>
                <a:cs typeface="Aptos"/>
              </a:defRPr>
            </a:pPr>
            <a:r>
              <a:rPr sz="2250" b="1">
                <a:solidFill>
                  <a:srgbClr val="142D45"/>
                </a:solidFill>
                <a:latin typeface="Aptos"/>
                <a:ea typeface="Aptos"/>
                <a:cs typeface="Aptos"/>
              </a:rPr>
              <a:t>12. Arquitectura de software del Analyzer v1</a:t>
            </a:r>
          </a:p>
        </p:txBody>
      </p:sp>
      <p:sp>
        <p:nvSpPr>
          <p:cNvPr id="4" name="slide-subtitle">
            <a:extLst xmlns:a="http://schemas.openxmlformats.org/drawingml/2006/main">
              <a:ext uri="{FF2B5EF4-FFF2-40B4-BE49-F238E27FC236}">
                <a16:creationId xmlns:a16="http://schemas.microsoft.com/office/drawing/2014/main" id="{760381B0-0098-4D6D-886A-6E457B1BF3BC}"/>
              </a:ext>
            </a:extLst>
          </p:cNvPr>
          <p:cNvSpPr>
            <a:spLocks xmlns:a="http://schemas.openxmlformats.org/drawingml/2006/main" noGrp="1"/>
          </p:cNvSpPr>
          <p:nvPr/>
        </p:nvSpPr>
        <p:spPr>
          <a:xfrm xmlns:a="http://schemas.openxmlformats.org/drawingml/2006/main">
            <a:off x="647700" y="1219200"/>
            <a:ext cx="10858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buNone/>
              <a:defRPr sz="1163">
                <a:solidFill>
                  <a:srgbClr val="34485D"/>
                </a:solidFill>
                <a:latin typeface="Aptos"/>
                <a:ea typeface="Aptos"/>
                <a:cs typeface="Aptos"/>
              </a:defRPr>
            </a:pPr>
            <a:r>
              <a:rPr sz="1163">
                <a:solidFill>
                  <a:srgbClr val="34485D"/>
                </a:solidFill>
                <a:latin typeface="Aptos"/>
                <a:ea typeface="Aptos"/>
                <a:cs typeface="Aptos"/>
              </a:rPr>
              <a:t>Flujo offline: cada fuente se adapta al modelo normalizado antes de derivar movimiento y reconciliar evidencia.</a:t>
            </a:r>
          </a:p>
        </p:txBody>
      </p:sp>
      <p:sp>
        <p:nvSpPr>
          <p:cNvPr id="5" name="rule-677-52">
            <a:extLst xmlns:a="http://schemas.openxmlformats.org/drawingml/2006/main">
              <a:ext uri="{FF2B5EF4-FFF2-40B4-BE49-F238E27FC236}">
                <a16:creationId xmlns:a16="http://schemas.microsoft.com/office/drawing/2014/main" id="{F5C43B3B-DE1D-45E6-8BF4-EE945F02F522}"/>
              </a:ext>
            </a:extLst>
          </p:cNvPr>
          <p:cNvSpPr>
            <a:spLocks xmlns:a="http://schemas.openxmlformats.org/drawingml/2006/main" noGrp="1"/>
          </p:cNvSpPr>
          <p:nvPr/>
        </p:nvSpPr>
        <p:spPr>
          <a:xfrm xmlns:a="http://schemas.openxmlformats.org/drawingml/2006/main">
            <a:off x="495300" y="6448425"/>
            <a:ext cx="11201400" cy="9525"/>
          </a:xfrm>
          <a:prstGeom xmlns:a="http://schemas.openxmlformats.org/drawingml/2006/main" prst="rect">
            <a:avLst/>
          </a:prstGeom>
          <a:solidFill xmlns:a="http://schemas.openxmlformats.org/drawingml/2006/main">
            <a:srgbClr val="CBD5E1"/>
          </a:solidFill>
          <a:ln xmlns:a="http://schemas.openxmlformats.org/drawingml/2006/main" w="0">
            <a:solidFill>
              <a:srgbClr val="CBD5E1"/>
            </a:solidFill>
            <a:prstDash val="solid"/>
          </a:ln>
        </p:spPr>
      </p:sp>
      <p:sp>
        <p:nvSpPr>
          <p:cNvPr id="6" name="footer-label">
            <a:extLst xmlns:a="http://schemas.openxmlformats.org/drawingml/2006/main">
              <a:ext uri="{FF2B5EF4-FFF2-40B4-BE49-F238E27FC236}">
                <a16:creationId xmlns:a16="http://schemas.microsoft.com/office/drawing/2014/main" id="{1BE3F600-7ACE-4E23-B443-1DDAF12C5355}"/>
              </a:ext>
            </a:extLst>
          </p:cNvPr>
          <p:cNvSpPr>
            <a:spLocks xmlns:a="http://schemas.openxmlformats.org/drawingml/2006/main" noGrp="1"/>
          </p:cNvSpPr>
          <p:nvPr/>
        </p:nvSpPr>
        <p:spPr>
          <a:xfrm xmlns:a="http://schemas.openxmlformats.org/drawingml/2006/main">
            <a:off x="590550" y="6496050"/>
            <a:ext cx="9620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buNone/>
              <a:defRPr sz="750">
                <a:solidFill>
                  <a:srgbClr val="64748B"/>
                </a:solidFill>
                <a:latin typeface="Aptos"/>
                <a:ea typeface="Aptos"/>
                <a:cs typeface="Aptos"/>
              </a:defRPr>
            </a:pPr>
            <a:r>
              <a:rPr sz="750">
                <a:solidFill>
                  <a:srgbClr val="64748B"/>
                </a:solidFill>
                <a:latin typeface="Aptos"/>
                <a:ea typeface="Aptos"/>
                <a:cs typeface="Aptos"/>
              </a:rPr>
              <a:t>Arquitectura de software · Analyzer v1</a:t>
            </a:r>
          </a:p>
        </p:txBody>
      </p:sp>
      <p:sp>
        <p:nvSpPr>
          <p:cNvPr id="7" name="folio">
            <a:extLst xmlns:a="http://schemas.openxmlformats.org/drawingml/2006/main">
              <a:ext uri="{FF2B5EF4-FFF2-40B4-BE49-F238E27FC236}">
                <a16:creationId xmlns:a16="http://schemas.microsoft.com/office/drawing/2014/main" id="{8EBB5277-4E03-481D-8CCE-9EF58849AC97}"/>
              </a:ext>
            </a:extLst>
          </p:cNvPr>
          <p:cNvSpPr>
            <a:spLocks xmlns:a="http://schemas.openxmlformats.org/drawingml/2006/main" noGrp="1"/>
          </p:cNvSpPr>
          <p:nvPr/>
        </p:nvSpPr>
        <p:spPr>
          <a:xfrm xmlns:a="http://schemas.openxmlformats.org/drawingml/2006/main">
            <a:off x="11201400" y="6496050"/>
            <a:ext cx="4572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r">
              <a:buNone/>
              <a:defRPr sz="750">
                <a:solidFill>
                  <a:srgbClr val="64748B"/>
                </a:solidFill>
                <a:latin typeface="Aptos"/>
                <a:ea typeface="Aptos"/>
                <a:cs typeface="Aptos"/>
              </a:defRPr>
            </a:pPr>
            <a:r>
              <a:rPr sz="750">
                <a:solidFill>
                  <a:srgbClr val="64748B"/>
                </a:solidFill>
                <a:latin typeface="Aptos"/>
                <a:ea typeface="Aptos"/>
                <a:cs typeface="Aptos"/>
              </a:rPr>
              <a:t>13</a:t>
            </a:r>
          </a:p>
        </p:txBody>
      </p:sp>
      <p:sp>
        <p:nvSpPr>
          <p:cNvPr id="8" name="column-source">
            <a:extLst xmlns:a="http://schemas.openxmlformats.org/drawingml/2006/main">
              <a:ext uri="{FF2B5EF4-FFF2-40B4-BE49-F238E27FC236}">
                <a16:creationId xmlns:a16="http://schemas.microsoft.com/office/drawing/2014/main" id="{0F23DFA7-0430-4CB0-90AF-385132F20C3B}"/>
              </a:ext>
            </a:extLst>
          </p:cNvPr>
          <p:cNvSpPr>
            <a:spLocks xmlns:a="http://schemas.openxmlformats.org/drawingml/2006/main" noGrp="1"/>
          </p:cNvSpPr>
          <p:nvPr/>
        </p:nvSpPr>
        <p:spPr>
          <a:xfrm xmlns:a="http://schemas.openxmlformats.org/drawingml/2006/main">
            <a:off x="552450" y="1657350"/>
            <a:ext cx="23241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buNone/>
              <a:defRPr sz="825" b="1">
                <a:solidFill>
                  <a:srgbClr val="64748B"/>
                </a:solidFill>
                <a:latin typeface="Aptos"/>
                <a:ea typeface="Aptos"/>
                <a:cs typeface="Aptos"/>
              </a:defRPr>
            </a:pPr>
            <a:r>
              <a:rPr sz="825" b="1">
                <a:solidFill>
                  <a:srgbClr val="64748B"/>
                </a:solidFill>
                <a:latin typeface="Aptos"/>
                <a:ea typeface="Aptos"/>
                <a:cs typeface="Aptos"/>
              </a:rPr>
              <a:t>FUENTES PRESERVADAS</a:t>
            </a:r>
          </a:p>
        </p:txBody>
      </p:sp>
      <p:sp>
        <p:nvSpPr>
          <p:cNvPr id="9" name="column-adapter">
            <a:extLst xmlns:a="http://schemas.openxmlformats.org/drawingml/2006/main">
              <a:ext uri="{FF2B5EF4-FFF2-40B4-BE49-F238E27FC236}">
                <a16:creationId xmlns:a16="http://schemas.microsoft.com/office/drawing/2014/main" id="{D5D92082-DB76-40AA-9ACC-85824214FF43}"/>
              </a:ext>
            </a:extLst>
          </p:cNvPr>
          <p:cNvSpPr>
            <a:spLocks xmlns:a="http://schemas.openxmlformats.org/drawingml/2006/main" noGrp="1"/>
          </p:cNvSpPr>
          <p:nvPr/>
        </p:nvSpPr>
        <p:spPr>
          <a:xfrm xmlns:a="http://schemas.openxmlformats.org/drawingml/2006/main">
            <a:off x="2971800" y="1657350"/>
            <a:ext cx="2476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buNone/>
              <a:defRPr sz="825" b="1">
                <a:solidFill>
                  <a:srgbClr val="64748B"/>
                </a:solidFill>
                <a:latin typeface="Aptos"/>
                <a:ea typeface="Aptos"/>
                <a:cs typeface="Aptos"/>
              </a:defRPr>
            </a:pPr>
            <a:r>
              <a:rPr sz="825" b="1">
                <a:solidFill>
                  <a:srgbClr val="64748B"/>
                </a:solidFill>
                <a:latin typeface="Aptos"/>
                <a:ea typeface="Aptos"/>
                <a:cs typeface="Aptos"/>
              </a:rPr>
              <a:t>ADQUISICIÓN Y ADAPTADORES</a:t>
            </a:r>
          </a:p>
        </p:txBody>
      </p:sp>
      <p:sp>
        <p:nvSpPr>
          <p:cNvPr id="10" name="column-model">
            <a:extLst xmlns:a="http://schemas.openxmlformats.org/drawingml/2006/main">
              <a:ext uri="{FF2B5EF4-FFF2-40B4-BE49-F238E27FC236}">
                <a16:creationId xmlns:a16="http://schemas.microsoft.com/office/drawing/2014/main" id="{7242C002-0388-47BC-AB17-CF288146685D}"/>
              </a:ext>
            </a:extLst>
          </p:cNvPr>
          <p:cNvSpPr>
            <a:spLocks xmlns:a="http://schemas.openxmlformats.org/drawingml/2006/main" noGrp="1"/>
          </p:cNvSpPr>
          <p:nvPr/>
        </p:nvSpPr>
        <p:spPr>
          <a:xfrm xmlns:a="http://schemas.openxmlformats.org/drawingml/2006/main">
            <a:off x="5619750" y="1657350"/>
            <a:ext cx="2667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buNone/>
              <a:defRPr sz="825" b="1">
                <a:solidFill>
                  <a:srgbClr val="64748B"/>
                </a:solidFill>
                <a:latin typeface="Aptos"/>
                <a:ea typeface="Aptos"/>
                <a:cs typeface="Aptos"/>
              </a:defRPr>
            </a:pPr>
            <a:r>
              <a:rPr sz="825" b="1">
                <a:solidFill>
                  <a:srgbClr val="64748B"/>
                </a:solidFill>
                <a:latin typeface="Aptos"/>
                <a:ea typeface="Aptos"/>
                <a:cs typeface="Aptos"/>
              </a:rPr>
              <a:t>REGISTROS DERIVADOS</a:t>
            </a:r>
          </a:p>
        </p:txBody>
      </p:sp>
      <p:sp>
        <p:nvSpPr>
          <p:cNvPr id="11" name="column-validation">
            <a:extLst xmlns:a="http://schemas.openxmlformats.org/drawingml/2006/main">
              <a:ext uri="{FF2B5EF4-FFF2-40B4-BE49-F238E27FC236}">
                <a16:creationId xmlns:a16="http://schemas.microsoft.com/office/drawing/2014/main" id="{DDFCB3EE-28F9-4D3A-970E-014E580822DF}"/>
              </a:ext>
            </a:extLst>
          </p:cNvPr>
          <p:cNvSpPr>
            <a:spLocks xmlns:a="http://schemas.openxmlformats.org/drawingml/2006/main" noGrp="1"/>
          </p:cNvSpPr>
          <p:nvPr/>
        </p:nvSpPr>
        <p:spPr>
          <a:xfrm xmlns:a="http://schemas.openxmlformats.org/drawingml/2006/main">
            <a:off x="8591550" y="1657350"/>
            <a:ext cx="285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buNone/>
              <a:defRPr sz="825" b="1">
                <a:solidFill>
                  <a:srgbClr val="64748B"/>
                </a:solidFill>
                <a:latin typeface="Aptos"/>
                <a:ea typeface="Aptos"/>
                <a:cs typeface="Aptos"/>
              </a:defRPr>
            </a:pPr>
            <a:r>
              <a:rPr sz="825" b="1">
                <a:solidFill>
                  <a:srgbClr val="64748B"/>
                </a:solidFill>
                <a:latin typeface="Aptos"/>
                <a:ea typeface="Aptos"/>
                <a:cs typeface="Aptos"/>
              </a:rPr>
              <a:t>VALIDACIÓN Y SALIDA</a:t>
            </a:r>
          </a:p>
        </p:txBody>
      </p:sp>
      <p:sp>
        <p:nvSpPr>
          <p:cNvPr id="12" name="src-pegasus">
            <a:extLst xmlns:a="http://schemas.openxmlformats.org/drawingml/2006/main">
              <a:ext uri="{FF2B5EF4-FFF2-40B4-BE49-F238E27FC236}">
                <a16:creationId xmlns:a16="http://schemas.microsoft.com/office/drawing/2014/main" id="{A0D1FB90-C265-4EC7-AF31-6E10386482C2}"/>
              </a:ext>
            </a:extLst>
          </p:cNvPr>
          <p:cNvSpPr>
            <a:spLocks xmlns:a="http://schemas.openxmlformats.org/drawingml/2006/main" noGrp="1"/>
          </p:cNvSpPr>
          <p:nvPr/>
        </p:nvSpPr>
        <p:spPr>
          <a:xfrm xmlns:a="http://schemas.openxmlformats.org/drawingml/2006/main">
            <a:off x="552450" y="1905000"/>
            <a:ext cx="2324100" cy="723900"/>
          </a:xfrm>
          <a:prstGeom xmlns:a="http://schemas.openxmlformats.org/drawingml/2006/main" prst="rect">
            <a:avLst/>
          </a:prstGeom>
          <a:solidFill xmlns:a="http://schemas.openxmlformats.org/drawingml/2006/main">
            <a:srgbClr val="EFF6FF"/>
          </a:solidFill>
          <a:ln xmlns:a="http://schemas.openxmlformats.org/drawingml/2006/main" w="12859">
            <a:solidFill>
              <a:srgbClr val="2563EB"/>
            </a:solidFill>
            <a:prstDash val="solid"/>
          </a:ln>
        </p:spPr>
        <p:txBody>
          <a:bodyPr xmlns:a="http://schemas.openxmlformats.org/drawingml/2006/main" wrap="square" lIns="66675" tIns="38100" rIns="66675" bIns="38100" anchor="ctr">
            <a:normAutofit fontScale="100000"/>
          </a:bodyPr>
          <a:lstStyle xmlns:a="http://schemas.openxmlformats.org/drawingml/2006/main"/>
          <a:p xmlns:a="http://schemas.openxmlformats.org/drawingml/2006/main">
            <a:pPr algn="ctr">
              <a:buNone/>
              <a:defRPr sz="1125" b="0">
                <a:solidFill>
                  <a:srgbClr val="142D45"/>
                </a:solidFill>
                <a:latin typeface="Aptos"/>
                <a:ea typeface="Aptos"/>
                <a:cs typeface="Aptos"/>
              </a:defRPr>
            </a:pPr>
            <a:r>
              <a:rPr sz="1125" b="0">
                <a:solidFill>
                  <a:srgbClr val="142D45"/>
                </a:solidFill>
                <a:latin typeface="Aptos"/>
                <a:ea typeface="Aptos"/>
                <a:cs typeface="Aptos"/>
              </a:rPr>
              <a:t>Pegasus run preservado</a:t>
            </a:r>
          </a:p>
          <a:p xmlns:a="http://schemas.openxmlformats.org/drawingml/2006/main">
            <a:pPr algn="ctr">
              <a:buNone/>
              <a:defRPr sz="1125" b="0">
                <a:solidFill>
                  <a:srgbClr val="142D45"/>
                </a:solidFill>
                <a:latin typeface="Aptos"/>
                <a:ea typeface="Aptos"/>
                <a:cs typeface="Aptos"/>
              </a:defRPr>
            </a:pPr>
            <a:r>
              <a:rPr sz="1125" b="0">
                <a:solidFill>
                  <a:srgbClr val="142D45"/>
                </a:solidFill>
                <a:latin typeface="Aptos"/>
                <a:ea typeface="Aptos"/>
                <a:cs typeface="Aptos"/>
              </a:rPr>
              <a:t>workflow DAG · submit · metadata</a:t>
            </a:r>
          </a:p>
        </p:txBody>
      </p:sp>
      <p:sp>
        <p:nvSpPr>
          <p:cNvPr id="13" name="parser-pegasus">
            <a:extLst xmlns:a="http://schemas.openxmlformats.org/drawingml/2006/main">
              <a:ext uri="{FF2B5EF4-FFF2-40B4-BE49-F238E27FC236}">
                <a16:creationId xmlns:a16="http://schemas.microsoft.com/office/drawing/2014/main" id="{38DD899B-DC2C-4522-9DA9-35FEE9A1F094}"/>
              </a:ext>
            </a:extLst>
          </p:cNvPr>
          <p:cNvSpPr>
            <a:spLocks xmlns:a="http://schemas.openxmlformats.org/drawingml/2006/main" noGrp="1"/>
          </p:cNvSpPr>
          <p:nvPr/>
        </p:nvSpPr>
        <p:spPr>
          <a:xfrm xmlns:a="http://schemas.openxmlformats.org/drawingml/2006/main">
            <a:off x="2971800" y="1905000"/>
            <a:ext cx="2476500" cy="723900"/>
          </a:xfrm>
          <a:prstGeom xmlns:a="http://schemas.openxmlformats.org/drawingml/2006/main" prst="rect">
            <a:avLst/>
          </a:prstGeom>
          <a:solidFill xmlns:a="http://schemas.openxmlformats.org/drawingml/2006/main">
            <a:srgbClr val="FFFFFF"/>
          </a:solidFill>
          <a:ln xmlns:a="http://schemas.openxmlformats.org/drawingml/2006/main" w="12859">
            <a:solidFill>
              <a:srgbClr val="2563EB"/>
            </a:solidFill>
            <a:prstDash val="solid"/>
          </a:ln>
        </p:spPr>
        <p:txBody>
          <a:bodyPr xmlns:a="http://schemas.openxmlformats.org/drawingml/2006/main" wrap="square" lIns="66675" tIns="38100" rIns="66675" bIns="38100" anchor="ctr">
            <a:normAutofit fontScale="100000"/>
          </a:bodyPr>
          <a:lstStyle xmlns:a="http://schemas.openxmlformats.org/drawingml/2006/main"/>
          <a:p xmlns:a="http://schemas.openxmlformats.org/drawingml/2006/main">
            <a:pPr algn="ctr">
              <a:buNone/>
              <a:defRPr sz="1125" b="0">
                <a:solidFill>
                  <a:srgbClr val="142D45"/>
                </a:solidFill>
                <a:latin typeface="Aptos"/>
                <a:ea typeface="Aptos"/>
                <a:cs typeface="Aptos"/>
              </a:defRPr>
            </a:pPr>
            <a:r>
              <a:rPr sz="1125" b="0">
                <a:solidFill>
                  <a:srgbClr val="142D45"/>
                </a:solidFill>
                <a:latin typeface="Aptos"/>
                <a:ea typeface="Aptos"/>
                <a:cs typeface="Aptos"/>
              </a:rPr>
              <a:t>Parser Pegasus</a:t>
            </a:r>
          </a:p>
          <a:p xmlns:a="http://schemas.openxmlformats.org/drawingml/2006/main">
            <a:pPr algn="ctr">
              <a:buNone/>
              <a:defRPr sz="1125" b="0">
                <a:solidFill>
                  <a:srgbClr val="142D45"/>
                </a:solidFill>
                <a:latin typeface="Aptos"/>
                <a:ea typeface="Aptos"/>
                <a:cs typeface="Aptos"/>
              </a:defRPr>
            </a:pPr>
            <a:r>
              <a:rPr sz="1125" b="0">
                <a:solidFill>
                  <a:srgbClr val="142D45"/>
                </a:solidFill>
                <a:latin typeface="Aptos"/>
                <a:ea typeface="Aptos"/>
                <a:cs typeface="Aptos"/>
              </a:rPr>
              <a:t>reconstrucción del dataflow y placement</a:t>
            </a:r>
          </a:p>
        </p:txBody>
      </p:sp>
      <p:sp>
        <p:nvSpPr>
          <p:cNvPr id="14" name="model-pegasus">
            <a:extLst xmlns:a="http://schemas.openxmlformats.org/drawingml/2006/main">
              <a:ext uri="{FF2B5EF4-FFF2-40B4-BE49-F238E27FC236}">
                <a16:creationId xmlns:a16="http://schemas.microsoft.com/office/drawing/2014/main" id="{E56106FE-EAFC-4B9B-B3FD-A0BCE97DAF72}"/>
              </a:ext>
            </a:extLst>
          </p:cNvPr>
          <p:cNvSpPr>
            <a:spLocks xmlns:a="http://schemas.openxmlformats.org/drawingml/2006/main" noGrp="1"/>
          </p:cNvSpPr>
          <p:nvPr/>
        </p:nvSpPr>
        <p:spPr>
          <a:xfrm xmlns:a="http://schemas.openxmlformats.org/drawingml/2006/main">
            <a:off x="5619750" y="1905000"/>
            <a:ext cx="2667000" cy="723900"/>
          </a:xfrm>
          <a:prstGeom xmlns:a="http://schemas.openxmlformats.org/drawingml/2006/main" prst="rect">
            <a:avLst/>
          </a:prstGeom>
          <a:solidFill xmlns:a="http://schemas.openxmlformats.org/drawingml/2006/main">
            <a:srgbClr val="FFFFFF"/>
          </a:solidFill>
          <a:ln xmlns:a="http://schemas.openxmlformats.org/drawingml/2006/main" w="12859">
            <a:solidFill>
              <a:srgbClr val="2563EB"/>
            </a:solidFill>
            <a:prstDash val="solid"/>
          </a:ln>
        </p:spPr>
        <p:txBody>
          <a:bodyPr xmlns:a="http://schemas.openxmlformats.org/drawingml/2006/main" wrap="square" lIns="66675" tIns="38100" rIns="66675" bIns="38100" anchor="ctr">
            <a:normAutofit fontScale="100000"/>
          </a:bodyPr>
          <a:lstStyle xmlns:a="http://schemas.openxmlformats.org/drawingml/2006/main"/>
          <a:p xmlns:a="http://schemas.openxmlformats.org/drawingml/2006/main">
            <a:pPr algn="ctr">
              <a:buNone/>
              <a:defRPr sz="1125" b="0">
                <a:solidFill>
                  <a:srgbClr val="142D45"/>
                </a:solidFill>
                <a:latin typeface="Aptos"/>
                <a:ea typeface="Aptos"/>
                <a:cs typeface="Aptos"/>
              </a:defRPr>
            </a:pPr>
            <a:r>
              <a:rPr sz="1125" b="0">
                <a:solidFill>
                  <a:srgbClr val="142D45"/>
                </a:solidFill>
                <a:latin typeface="Aptos"/>
                <a:ea typeface="Aptos"/>
                <a:cs typeface="Aptos"/>
              </a:rPr>
              <a:t>RunExecution · TaskExecution</a:t>
            </a:r>
          </a:p>
          <a:p xmlns:a="http://schemas.openxmlformats.org/drawingml/2006/main">
            <a:pPr algn="ctr">
              <a:buNone/>
              <a:defRPr sz="1125" b="0">
                <a:solidFill>
                  <a:srgbClr val="142D45"/>
                </a:solidFill>
                <a:latin typeface="Aptos"/>
                <a:ea typeface="Aptos"/>
                <a:cs typeface="Aptos"/>
              </a:defRPr>
            </a:pPr>
            <a:r>
              <a:rPr sz="1125" b="0">
                <a:solidFill>
                  <a:srgbClr val="142D45"/>
                </a:solidFill>
                <a:latin typeface="Aptos"/>
                <a:ea typeface="Aptos"/>
                <a:cs typeface="Aptos"/>
              </a:rPr>
              <a:t>Location · ScientificFile</a:t>
            </a:r>
          </a:p>
        </p:txBody>
      </p:sp>
      <p:sp>
        <p:nvSpPr>
          <p:cNvPr id="15" name="required-movement">
            <a:extLst xmlns:a="http://schemas.openxmlformats.org/drawingml/2006/main">
              <a:ext uri="{FF2B5EF4-FFF2-40B4-BE49-F238E27FC236}">
                <a16:creationId xmlns:a16="http://schemas.microsoft.com/office/drawing/2014/main" id="{37EE5EB7-ED3D-4739-BD0B-88619B0195AB}"/>
              </a:ext>
            </a:extLst>
          </p:cNvPr>
          <p:cNvSpPr>
            <a:spLocks xmlns:a="http://schemas.openxmlformats.org/drawingml/2006/main" noGrp="1"/>
          </p:cNvSpPr>
          <p:nvPr/>
        </p:nvSpPr>
        <p:spPr>
          <a:xfrm xmlns:a="http://schemas.openxmlformats.org/drawingml/2006/main">
            <a:off x="8591550" y="1905000"/>
            <a:ext cx="2857500" cy="723900"/>
          </a:xfrm>
          <a:prstGeom xmlns:a="http://schemas.openxmlformats.org/drawingml/2006/main" prst="rect">
            <a:avLst/>
          </a:prstGeom>
          <a:solidFill xmlns:a="http://schemas.openxmlformats.org/drawingml/2006/main">
            <a:srgbClr val="EFF6FF"/>
          </a:solidFill>
          <a:ln xmlns:a="http://schemas.openxmlformats.org/drawingml/2006/main" w="12859">
            <a:solidFill>
              <a:srgbClr val="2563EB"/>
            </a:solidFill>
            <a:prstDash val="solid"/>
          </a:ln>
        </p:spPr>
        <p:txBody>
          <a:bodyPr xmlns:a="http://schemas.openxmlformats.org/drawingml/2006/main" wrap="square" lIns="66675" tIns="38100" rIns="66675" bIns="38100" anchor="ctr">
            <a:normAutofit fontScale="100000"/>
          </a:bodyPr>
          <a:lstStyle xmlns:a="http://schemas.openxmlformats.org/drawingml/2006/main"/>
          <a:p xmlns:a="http://schemas.openxmlformats.org/drawingml/2006/main">
            <a:pPr algn="ctr">
              <a:buNone/>
              <a:defRPr sz="1125" b="0">
                <a:solidFill>
                  <a:srgbClr val="142D45"/>
                </a:solidFill>
                <a:latin typeface="Aptos"/>
                <a:ea typeface="Aptos"/>
                <a:cs typeface="Aptos"/>
              </a:defRPr>
            </a:pPr>
            <a:r>
              <a:rPr sz="1125" b="0">
                <a:solidFill>
                  <a:srgbClr val="142D45"/>
                </a:solidFill>
                <a:latin typeface="Aptos"/>
                <a:ea typeface="Aptos"/>
                <a:cs typeface="Aptos"/>
              </a:rPr>
              <a:t>RequiredMovement</a:t>
            </a:r>
          </a:p>
          <a:p xmlns:a="http://schemas.openxmlformats.org/drawingml/2006/main">
            <a:pPr algn="ctr">
              <a:buNone/>
              <a:defRPr sz="1125" b="0">
                <a:solidFill>
                  <a:srgbClr val="142D45"/>
                </a:solidFill>
                <a:latin typeface="Aptos"/>
                <a:ea typeface="Aptos"/>
                <a:cs typeface="Aptos"/>
              </a:defRPr>
            </a:pPr>
            <a:r>
              <a:rPr sz="1125" b="0">
                <a:solidFill>
                  <a:srgbClr val="142D45"/>
                </a:solidFill>
                <a:latin typeface="Aptos"/>
                <a:ea typeface="Aptos"/>
                <a:cs typeface="Aptos"/>
              </a:rPr>
              <a:t>grafo científico + placement observado</a:t>
            </a:r>
          </a:p>
        </p:txBody>
      </p:sp>
      <p:cxnSp>
        <p:nvCxnSpPr>
          <p:cNvPr id="125" name=""/>
          <p:cNvCxnSpPr>
            <a:stCxn xmlns:a="http://schemas.openxmlformats.org/drawingml/2006/main" id="12" idx="3"/>
            <a:endCxn xmlns:a="http://schemas.openxmlformats.org/drawingml/2006/main" id="13" idx="1"/>
          </p:cNvCxnSpPr>
          <p:nvPr/>
        </p:nvCxnSpPr>
        <p:spPr>
          <a:xfrm xmlns:a="http://schemas.openxmlformats.org/drawingml/2006/main">
            <a:off x="2876550" y="2266950"/>
            <a:ext cx="95250" cy="0"/>
          </a:xfrm>
          <a:prstGeom xmlns:a="http://schemas.openxmlformats.org/drawingml/2006/main" prst="straightConnector1">
            <a:avLst/>
          </a:prstGeom>
          <a:ln xmlns:a="http://schemas.openxmlformats.org/drawingml/2006/main" w="13811">
            <a:solidFill>
              <a:srgbClr val="2563EB"/>
            </a:solidFill>
            <a:prstDash val="solid"/>
            <a:tailEnd type="arrow" w="med" len="med"/>
          </a:ln>
        </p:spPr>
      </p:cxnSp>
      <p:cxnSp>
        <p:nvCxnSpPr>
          <p:cNvPr id="126" name=""/>
          <p:cNvCxnSpPr>
            <a:stCxn xmlns:a="http://schemas.openxmlformats.org/drawingml/2006/main" id="13" idx="3"/>
            <a:endCxn xmlns:a="http://schemas.openxmlformats.org/drawingml/2006/main" id="14" idx="1"/>
          </p:cNvCxnSpPr>
          <p:nvPr/>
        </p:nvCxnSpPr>
        <p:spPr>
          <a:xfrm xmlns:a="http://schemas.openxmlformats.org/drawingml/2006/main">
            <a:off x="5448300" y="2266950"/>
            <a:ext cx="171450" cy="0"/>
          </a:xfrm>
          <a:prstGeom xmlns:a="http://schemas.openxmlformats.org/drawingml/2006/main" prst="straightConnector1">
            <a:avLst/>
          </a:prstGeom>
          <a:ln xmlns:a="http://schemas.openxmlformats.org/drawingml/2006/main" w="13811">
            <a:solidFill>
              <a:srgbClr val="2563EB"/>
            </a:solidFill>
            <a:prstDash val="solid"/>
            <a:tailEnd type="arrow" w="med" len="med"/>
          </a:ln>
        </p:spPr>
      </p:cxnSp>
      <p:cxnSp>
        <p:nvCxnSpPr>
          <p:cNvPr id="127" name=""/>
          <p:cNvCxnSpPr>
            <a:stCxn xmlns:a="http://schemas.openxmlformats.org/drawingml/2006/main" id="14" idx="3"/>
            <a:endCxn xmlns:a="http://schemas.openxmlformats.org/drawingml/2006/main" id="15" idx="1"/>
          </p:cNvCxnSpPr>
          <p:nvPr/>
        </p:nvCxnSpPr>
        <p:spPr>
          <a:xfrm xmlns:a="http://schemas.openxmlformats.org/drawingml/2006/main">
            <a:off x="8286750" y="2266950"/>
            <a:ext cx="304800" cy="0"/>
          </a:xfrm>
          <a:prstGeom xmlns:a="http://schemas.openxmlformats.org/drawingml/2006/main" prst="straightConnector1">
            <a:avLst/>
          </a:prstGeom>
          <a:ln xmlns:a="http://schemas.openxmlformats.org/drawingml/2006/main" w="13811">
            <a:solidFill>
              <a:srgbClr val="2563EB"/>
            </a:solidFill>
            <a:prstDash val="solid"/>
            <a:tailEnd type="arrow" w="med" len="med"/>
          </a:ln>
        </p:spPr>
      </p:cxnSp>
      <p:sp>
        <p:nvSpPr>
          <p:cNvPr id="19" name="src-manifests">
            <a:extLst xmlns:a="http://schemas.openxmlformats.org/drawingml/2006/main">
              <a:ext uri="{FF2B5EF4-FFF2-40B4-BE49-F238E27FC236}">
                <a16:creationId xmlns:a16="http://schemas.microsoft.com/office/drawing/2014/main" id="{B97794B2-583B-4CAE-A634-E87F7F0F6A55}"/>
              </a:ext>
            </a:extLst>
          </p:cNvPr>
          <p:cNvSpPr>
            <a:spLocks xmlns:a="http://schemas.openxmlformats.org/drawingml/2006/main" noGrp="1"/>
          </p:cNvSpPr>
          <p:nvPr/>
        </p:nvSpPr>
        <p:spPr>
          <a:xfrm xmlns:a="http://schemas.openxmlformats.org/drawingml/2006/main">
            <a:off x="552450" y="2971800"/>
            <a:ext cx="2324100" cy="723900"/>
          </a:xfrm>
          <a:prstGeom xmlns:a="http://schemas.openxmlformats.org/drawingml/2006/main" prst="rect">
            <a:avLst/>
          </a:prstGeom>
          <a:solidFill xmlns:a="http://schemas.openxmlformats.org/drawingml/2006/main">
            <a:srgbClr val="FFF7ED"/>
          </a:solidFill>
          <a:ln xmlns:a="http://schemas.openxmlformats.org/drawingml/2006/main" w="12859">
            <a:solidFill>
              <a:srgbClr val="C2410C"/>
            </a:solidFill>
            <a:prstDash val="solid"/>
          </a:ln>
        </p:spPr>
        <p:txBody>
          <a:bodyPr xmlns:a="http://schemas.openxmlformats.org/drawingml/2006/main" wrap="square" lIns="66675" tIns="38100" rIns="66675" bIns="38100" anchor="ctr">
            <a:normAutofit fontScale="100000"/>
          </a:bodyPr>
          <a:lstStyle xmlns:a="http://schemas.openxmlformats.org/drawingml/2006/main"/>
          <a:p xmlns:a="http://schemas.openxmlformats.org/drawingml/2006/main">
            <a:pPr algn="ctr">
              <a:buNone/>
              <a:defRPr sz="1125" b="0">
                <a:solidFill>
                  <a:srgbClr val="142D45"/>
                </a:solidFill>
                <a:latin typeface="Aptos"/>
                <a:ea typeface="Aptos"/>
                <a:cs typeface="Aptos"/>
              </a:defRPr>
            </a:pPr>
            <a:r>
              <a:rPr sz="1125" b="0">
                <a:solidFill>
                  <a:srgbClr val="142D45"/>
                </a:solidFill>
                <a:latin typeface="Aptos"/>
                <a:ea typeface="Aptos"/>
                <a:cs typeface="Aptos"/>
              </a:rPr>
              <a:t>Perfil efectivo + manifests</a:t>
            </a:r>
          </a:p>
          <a:p xmlns:a="http://schemas.openxmlformats.org/drawingml/2006/main">
            <a:pPr algn="ctr">
              <a:buNone/>
              <a:defRPr sz="1125" b="0">
                <a:solidFill>
                  <a:srgbClr val="142D45"/>
                </a:solidFill>
                <a:latin typeface="Aptos"/>
                <a:ea typeface="Aptos"/>
                <a:cs typeface="Aptos"/>
              </a:defRPr>
            </a:pPr>
            <a:r>
              <a:rPr sz="1125" b="0">
                <a:solidFill>
                  <a:srgbClr val="142D45"/>
                </a:solidFill>
                <a:latin typeface="Aptos"/>
                <a:ea typeface="Aptos"/>
                <a:cs typeface="Aptos"/>
              </a:rPr>
              <a:t>submit · transferencias · archivos</a:t>
            </a:r>
          </a:p>
        </p:txBody>
      </p:sp>
      <p:sp>
        <p:nvSpPr>
          <p:cNvPr id="20" name="adapter-condorio">
            <a:extLst xmlns:a="http://schemas.openxmlformats.org/drawingml/2006/main">
              <a:ext uri="{FF2B5EF4-FFF2-40B4-BE49-F238E27FC236}">
                <a16:creationId xmlns:a16="http://schemas.microsoft.com/office/drawing/2014/main" id="{F78D7785-663B-4590-98E5-AA28C74CDAE5}"/>
              </a:ext>
            </a:extLst>
          </p:cNvPr>
          <p:cNvSpPr>
            <a:spLocks xmlns:a="http://schemas.openxmlformats.org/drawingml/2006/main" noGrp="1"/>
          </p:cNvSpPr>
          <p:nvPr/>
        </p:nvSpPr>
        <p:spPr>
          <a:xfrm xmlns:a="http://schemas.openxmlformats.org/drawingml/2006/main">
            <a:off x="2971800" y="2971800"/>
            <a:ext cx="2476500" cy="723900"/>
          </a:xfrm>
          <a:prstGeom xmlns:a="http://schemas.openxmlformats.org/drawingml/2006/main" prst="rect">
            <a:avLst/>
          </a:prstGeom>
          <a:solidFill xmlns:a="http://schemas.openxmlformats.org/drawingml/2006/main">
            <a:srgbClr val="FFFFFF"/>
          </a:solidFill>
          <a:ln xmlns:a="http://schemas.openxmlformats.org/drawingml/2006/main" w="12859">
            <a:solidFill>
              <a:srgbClr val="C2410C"/>
            </a:solidFill>
            <a:prstDash val="solid"/>
          </a:ln>
        </p:spPr>
        <p:txBody>
          <a:bodyPr xmlns:a="http://schemas.openxmlformats.org/drawingml/2006/main" wrap="square" lIns="66675" tIns="38100" rIns="66675" bIns="38100" anchor="ctr">
            <a:normAutofit fontScale="100000"/>
          </a:bodyPr>
          <a:lstStyle xmlns:a="http://schemas.openxmlformats.org/drawingml/2006/main"/>
          <a:p xmlns:a="http://schemas.openxmlformats.org/drawingml/2006/main">
            <a:pPr algn="ctr">
              <a:buNone/>
              <a:defRPr sz="1125" b="0">
                <a:solidFill>
                  <a:srgbClr val="142D45"/>
                </a:solidFill>
                <a:latin typeface="Aptos"/>
                <a:ea typeface="Aptos"/>
                <a:cs typeface="Aptos"/>
              </a:defRPr>
            </a:pPr>
            <a:r>
              <a:rPr sz="1125" b="0">
                <a:solidFill>
                  <a:srgbClr val="142D45"/>
                </a:solidFill>
                <a:latin typeface="Aptos"/>
                <a:ea typeface="Aptos"/>
                <a:cs typeface="Aptos"/>
              </a:rPr>
              <a:t>CondorIOStandardAdapter</a:t>
            </a:r>
          </a:p>
          <a:p xmlns:a="http://schemas.openxmlformats.org/drawingml/2006/main">
            <a:pPr algn="ctr">
              <a:buNone/>
              <a:defRPr sz="1125" b="0">
                <a:solidFill>
                  <a:srgbClr val="142D45"/>
                </a:solidFill>
                <a:latin typeface="Aptos"/>
                <a:ea typeface="Aptos"/>
                <a:cs typeface="Aptos"/>
              </a:defRPr>
            </a:pPr>
            <a:r>
              <a:rPr sz="1125" b="0">
                <a:solidFill>
                  <a:srgbClr val="142D45"/>
                </a:solidFill>
                <a:latin typeface="Aptos"/>
                <a:ea typeface="Aptos"/>
                <a:cs typeface="Aptos"/>
              </a:rPr>
              <a:t>+ manifest builder</a:t>
            </a:r>
          </a:p>
        </p:txBody>
      </p:sp>
      <p:sp>
        <p:nvSpPr>
          <p:cNvPr id="21" name="declared-records">
            <a:extLst xmlns:a="http://schemas.openxmlformats.org/drawingml/2006/main">
              <a:ext uri="{FF2B5EF4-FFF2-40B4-BE49-F238E27FC236}">
                <a16:creationId xmlns:a16="http://schemas.microsoft.com/office/drawing/2014/main" id="{3F49A450-5EB2-4841-A978-629A67B9D915}"/>
              </a:ext>
            </a:extLst>
          </p:cNvPr>
          <p:cNvSpPr>
            <a:spLocks xmlns:a="http://schemas.openxmlformats.org/drawingml/2006/main" noGrp="1"/>
          </p:cNvSpPr>
          <p:nvPr/>
        </p:nvSpPr>
        <p:spPr>
          <a:xfrm xmlns:a="http://schemas.openxmlformats.org/drawingml/2006/main">
            <a:off x="5619750" y="2971800"/>
            <a:ext cx="2667000" cy="723900"/>
          </a:xfrm>
          <a:prstGeom xmlns:a="http://schemas.openxmlformats.org/drawingml/2006/main" prst="rect">
            <a:avLst/>
          </a:prstGeom>
          <a:solidFill xmlns:a="http://schemas.openxmlformats.org/drawingml/2006/main">
            <a:srgbClr val="FFF7ED"/>
          </a:solidFill>
          <a:ln xmlns:a="http://schemas.openxmlformats.org/drawingml/2006/main" w="12859">
            <a:solidFill>
              <a:srgbClr val="C2410C"/>
            </a:solidFill>
            <a:prstDash val="solid"/>
          </a:ln>
        </p:spPr>
        <p:txBody>
          <a:bodyPr xmlns:a="http://schemas.openxmlformats.org/drawingml/2006/main" wrap="square" lIns="66675" tIns="38100" rIns="66675" bIns="38100" anchor="ctr">
            <a:normAutofit fontScale="100000"/>
          </a:bodyPr>
          <a:lstStyle xmlns:a="http://schemas.openxmlformats.org/drawingml/2006/main"/>
          <a:p xmlns:a="http://schemas.openxmlformats.org/drawingml/2006/main">
            <a:pPr algn="ctr">
              <a:buNone/>
              <a:defRPr sz="1125" b="0">
                <a:solidFill>
                  <a:srgbClr val="142D45"/>
                </a:solidFill>
                <a:latin typeface="Aptos"/>
                <a:ea typeface="Aptos"/>
                <a:cs typeface="Aptos"/>
              </a:defRPr>
            </a:pPr>
            <a:r>
              <a:rPr sz="1125" b="0">
                <a:solidFill>
                  <a:srgbClr val="142D45"/>
                </a:solidFill>
                <a:latin typeface="Aptos"/>
                <a:ea typeface="Aptos"/>
                <a:cs typeface="Aptos"/>
              </a:rPr>
              <a:t>JobTransferManifest · ManifestFile</a:t>
            </a:r>
          </a:p>
          <a:p xmlns:a="http://schemas.openxmlformats.org/drawingml/2006/main">
            <a:pPr algn="ctr">
              <a:buNone/>
              <a:defRPr sz="1125" b="0">
                <a:solidFill>
                  <a:srgbClr val="142D45"/>
                </a:solidFill>
                <a:latin typeface="Aptos"/>
                <a:ea typeface="Aptos"/>
                <a:cs typeface="Aptos"/>
              </a:defRPr>
            </a:pPr>
            <a:r>
              <a:rPr sz="1125" b="0">
                <a:solidFill>
                  <a:srgbClr val="142D45"/>
                </a:solidFill>
                <a:latin typeface="Aptos"/>
                <a:ea typeface="Aptos"/>
                <a:cs typeface="Aptos"/>
              </a:rPr>
              <a:t>DeclaredMovement (D_sci)</a:t>
            </a:r>
          </a:p>
        </p:txBody>
      </p:sp>
      <p:cxnSp>
        <p:nvCxnSpPr>
          <p:cNvPr id="131" name=""/>
          <p:cNvCxnSpPr>
            <a:stCxn xmlns:a="http://schemas.openxmlformats.org/drawingml/2006/main" id="19" idx="3"/>
            <a:endCxn xmlns:a="http://schemas.openxmlformats.org/drawingml/2006/main" id="20" idx="1"/>
          </p:cNvCxnSpPr>
          <p:nvPr/>
        </p:nvCxnSpPr>
        <p:spPr>
          <a:xfrm xmlns:a="http://schemas.openxmlformats.org/drawingml/2006/main">
            <a:off x="2876550" y="3333750"/>
            <a:ext cx="95250" cy="0"/>
          </a:xfrm>
          <a:prstGeom xmlns:a="http://schemas.openxmlformats.org/drawingml/2006/main" prst="straightConnector1">
            <a:avLst/>
          </a:prstGeom>
          <a:ln xmlns:a="http://schemas.openxmlformats.org/drawingml/2006/main" w="13811">
            <a:solidFill>
              <a:srgbClr val="C2410C"/>
            </a:solidFill>
            <a:prstDash val="solid"/>
            <a:tailEnd type="arrow" w="med" len="med"/>
          </a:ln>
        </p:spPr>
      </p:cxnSp>
      <p:cxnSp>
        <p:nvCxnSpPr>
          <p:cNvPr id="132" name=""/>
          <p:cNvCxnSpPr>
            <a:stCxn xmlns:a="http://schemas.openxmlformats.org/drawingml/2006/main" id="20" idx="3"/>
            <a:endCxn xmlns:a="http://schemas.openxmlformats.org/drawingml/2006/main" id="21" idx="1"/>
          </p:cNvCxnSpPr>
          <p:nvPr/>
        </p:nvCxnSpPr>
        <p:spPr>
          <a:xfrm xmlns:a="http://schemas.openxmlformats.org/drawingml/2006/main">
            <a:off x="5448300" y="3333750"/>
            <a:ext cx="171450" cy="0"/>
          </a:xfrm>
          <a:prstGeom xmlns:a="http://schemas.openxmlformats.org/drawingml/2006/main" prst="straightConnector1">
            <a:avLst/>
          </a:prstGeom>
          <a:ln xmlns:a="http://schemas.openxmlformats.org/drawingml/2006/main" w="13811">
            <a:solidFill>
              <a:srgbClr val="C2410C"/>
            </a:solidFill>
            <a:prstDash val="solid"/>
            <a:tailEnd type="arrow" w="med" len="med"/>
          </a:ln>
        </p:spPr>
      </p:cxnSp>
      <p:sp>
        <p:nvSpPr>
          <p:cNvPr id="24" name="src-history">
            <a:extLst xmlns:a="http://schemas.openxmlformats.org/drawingml/2006/main">
              <a:ext uri="{FF2B5EF4-FFF2-40B4-BE49-F238E27FC236}">
                <a16:creationId xmlns:a16="http://schemas.microsoft.com/office/drawing/2014/main" id="{F663C90A-D7B7-46D9-BA2F-EAED2FB24570}"/>
              </a:ext>
            </a:extLst>
          </p:cNvPr>
          <p:cNvSpPr>
            <a:spLocks xmlns:a="http://schemas.openxmlformats.org/drawingml/2006/main" noGrp="1"/>
          </p:cNvSpPr>
          <p:nvPr/>
        </p:nvSpPr>
        <p:spPr>
          <a:xfrm xmlns:a="http://schemas.openxmlformats.org/drawingml/2006/main">
            <a:off x="552450" y="4038600"/>
            <a:ext cx="2324100" cy="723900"/>
          </a:xfrm>
          <a:prstGeom xmlns:a="http://schemas.openxmlformats.org/drawingml/2006/main" prst="rect">
            <a:avLst/>
          </a:prstGeom>
          <a:solidFill xmlns:a="http://schemas.openxmlformats.org/drawingml/2006/main">
            <a:srgbClr val="F5F3FF"/>
          </a:solidFill>
          <a:ln xmlns:a="http://schemas.openxmlformats.org/drawingml/2006/main" w="12859">
            <a:solidFill>
              <a:srgbClr val="6D28D9"/>
            </a:solidFill>
            <a:prstDash val="solid"/>
          </a:ln>
        </p:spPr>
        <p:txBody>
          <a:bodyPr xmlns:a="http://schemas.openxmlformats.org/drawingml/2006/main" wrap="square" lIns="66675" tIns="38100" rIns="66675" bIns="38100" anchor="ctr">
            <a:normAutofit fontScale="100000"/>
          </a:bodyPr>
          <a:lstStyle xmlns:a="http://schemas.openxmlformats.org/drawingml/2006/main"/>
          <a:p xmlns:a="http://schemas.openxmlformats.org/drawingml/2006/main">
            <a:pPr algn="ctr">
              <a:buNone/>
              <a:defRPr sz="1125" b="0">
                <a:solidFill>
                  <a:srgbClr val="142D45"/>
                </a:solidFill>
                <a:latin typeface="Aptos"/>
                <a:ea typeface="Aptos"/>
                <a:cs typeface="Aptos"/>
              </a:defRPr>
            </a:pPr>
            <a:r>
              <a:rPr sz="1125" b="0">
                <a:solidFill>
                  <a:srgbClr val="142D45"/>
                </a:solidFill>
                <a:latin typeface="Aptos"/>
                <a:ea typeface="Aptos"/>
                <a:cs typeface="Aptos"/>
              </a:rPr>
              <a:t>HTCondor history export</a:t>
            </a:r>
          </a:p>
          <a:p xmlns:a="http://schemas.openxmlformats.org/drawingml/2006/main">
            <a:pPr algn="ctr">
              <a:buNone/>
              <a:defRPr sz="1125" b="0">
                <a:solidFill>
                  <a:srgbClr val="142D45"/>
                </a:solidFill>
                <a:latin typeface="Aptos"/>
                <a:ea typeface="Aptos"/>
                <a:cs typeface="Aptos"/>
              </a:defRPr>
            </a:pPr>
            <a:r>
              <a:rPr sz="1125" b="0">
                <a:solidFill>
                  <a:srgbClr val="142D45"/>
                </a:solidFill>
                <a:latin typeface="Aptos"/>
                <a:ea typeface="Aptos"/>
                <a:cs typeface="Aptos"/>
              </a:rPr>
              <a:t>ClassAds · job transfer statistics</a:t>
            </a:r>
          </a:p>
        </p:txBody>
      </p:sp>
      <p:sp>
        <p:nvSpPr>
          <p:cNvPr id="25" name="parser-history">
            <a:extLst xmlns:a="http://schemas.openxmlformats.org/drawingml/2006/main">
              <a:ext uri="{FF2B5EF4-FFF2-40B4-BE49-F238E27FC236}">
                <a16:creationId xmlns:a16="http://schemas.microsoft.com/office/drawing/2014/main" id="{8B2CA9F0-D537-4E9D-9AEA-92ABB651B8DE}"/>
              </a:ext>
            </a:extLst>
          </p:cNvPr>
          <p:cNvSpPr>
            <a:spLocks xmlns:a="http://schemas.openxmlformats.org/drawingml/2006/main" noGrp="1"/>
          </p:cNvSpPr>
          <p:nvPr/>
        </p:nvSpPr>
        <p:spPr>
          <a:xfrm xmlns:a="http://schemas.openxmlformats.org/drawingml/2006/main">
            <a:off x="2971800" y="4038600"/>
            <a:ext cx="2476500" cy="723900"/>
          </a:xfrm>
          <a:prstGeom xmlns:a="http://schemas.openxmlformats.org/drawingml/2006/main" prst="rect">
            <a:avLst/>
          </a:prstGeom>
          <a:solidFill xmlns:a="http://schemas.openxmlformats.org/drawingml/2006/main">
            <a:srgbClr val="FFFFFF"/>
          </a:solidFill>
          <a:ln xmlns:a="http://schemas.openxmlformats.org/drawingml/2006/main" w="12859">
            <a:solidFill>
              <a:srgbClr val="6D28D9"/>
            </a:solidFill>
            <a:prstDash val="solid"/>
          </a:ln>
        </p:spPr>
        <p:txBody>
          <a:bodyPr xmlns:a="http://schemas.openxmlformats.org/drawingml/2006/main" wrap="square" lIns="66675" tIns="38100" rIns="66675" bIns="38100" anchor="ctr">
            <a:normAutofit fontScale="100000"/>
          </a:bodyPr>
          <a:lstStyle xmlns:a="http://schemas.openxmlformats.org/drawingml/2006/main"/>
          <a:p xmlns:a="http://schemas.openxmlformats.org/drawingml/2006/main">
            <a:pPr algn="ctr">
              <a:buNone/>
              <a:defRPr sz="1125" b="0">
                <a:solidFill>
                  <a:srgbClr val="142D45"/>
                </a:solidFill>
                <a:latin typeface="Aptos"/>
                <a:ea typeface="Aptos"/>
                <a:cs typeface="Aptos"/>
              </a:defRPr>
            </a:pPr>
            <a:r>
              <a:rPr sz="1125" b="0">
                <a:solidFill>
                  <a:srgbClr val="142D45"/>
                </a:solidFill>
                <a:latin typeface="Aptos"/>
                <a:ea typeface="Aptos"/>
                <a:cs typeface="Aptos"/>
              </a:rPr>
              <a:t>History parser</a:t>
            </a:r>
          </a:p>
          <a:p xmlns:a="http://schemas.openxmlformats.org/drawingml/2006/main">
            <a:pPr algn="ctr">
              <a:buNone/>
              <a:defRPr sz="1125" b="0">
                <a:solidFill>
                  <a:srgbClr val="142D45"/>
                </a:solidFill>
                <a:latin typeface="Aptos"/>
                <a:ea typeface="Aptos"/>
                <a:cs typeface="Aptos"/>
              </a:defRPr>
            </a:pPr>
            <a:r>
              <a:rPr sz="1125" b="0">
                <a:solidFill>
                  <a:srgbClr val="142D45"/>
                </a:solidFill>
                <a:latin typeface="Aptos"/>
                <a:ea typeface="Aptos"/>
                <a:cs typeface="Aptos"/>
              </a:rPr>
              <a:t>job · worker · intento · estado</a:t>
            </a:r>
          </a:p>
        </p:txBody>
      </p:sp>
      <p:sp>
        <p:nvSpPr>
          <p:cNvPr id="26" name="transfer-evidence">
            <a:extLst xmlns:a="http://schemas.openxmlformats.org/drawingml/2006/main">
              <a:ext uri="{FF2B5EF4-FFF2-40B4-BE49-F238E27FC236}">
                <a16:creationId xmlns:a16="http://schemas.microsoft.com/office/drawing/2014/main" id="{4DA3CDBA-5E72-4EEB-AC78-9C528BC0AAC1}"/>
              </a:ext>
            </a:extLst>
          </p:cNvPr>
          <p:cNvSpPr>
            <a:spLocks xmlns:a="http://schemas.openxmlformats.org/drawingml/2006/main" noGrp="1"/>
          </p:cNvSpPr>
          <p:nvPr/>
        </p:nvSpPr>
        <p:spPr>
          <a:xfrm xmlns:a="http://schemas.openxmlformats.org/drawingml/2006/main">
            <a:off x="5619750" y="4038600"/>
            <a:ext cx="2667000" cy="723900"/>
          </a:xfrm>
          <a:prstGeom xmlns:a="http://schemas.openxmlformats.org/drawingml/2006/main" prst="rect">
            <a:avLst/>
          </a:prstGeom>
          <a:solidFill xmlns:a="http://schemas.openxmlformats.org/drawingml/2006/main">
            <a:srgbClr val="F5F3FF"/>
          </a:solidFill>
          <a:ln xmlns:a="http://schemas.openxmlformats.org/drawingml/2006/main" w="12859">
            <a:solidFill>
              <a:srgbClr val="6D28D9"/>
            </a:solidFill>
            <a:prstDash val="solid"/>
          </a:ln>
        </p:spPr>
        <p:txBody>
          <a:bodyPr xmlns:a="http://schemas.openxmlformats.org/drawingml/2006/main" wrap="square" lIns="66675" tIns="38100" rIns="66675" bIns="38100" anchor="ctr">
            <a:normAutofit fontScale="100000"/>
          </a:bodyPr>
          <a:lstStyle xmlns:a="http://schemas.openxmlformats.org/drawingml/2006/main"/>
          <a:p xmlns:a="http://schemas.openxmlformats.org/drawingml/2006/main">
            <a:pPr algn="ctr">
              <a:buNone/>
              <a:defRPr sz="1125" b="0">
                <a:solidFill>
                  <a:srgbClr val="142D45"/>
                </a:solidFill>
                <a:latin typeface="Aptos"/>
                <a:ea typeface="Aptos"/>
                <a:cs typeface="Aptos"/>
              </a:defRPr>
            </a:pPr>
            <a:r>
              <a:rPr sz="1125" b="0">
                <a:solidFill>
                  <a:srgbClr val="142D45"/>
                </a:solidFill>
                <a:latin typeface="Aptos"/>
                <a:ea typeface="Aptos"/>
                <a:cs typeface="Aptos"/>
              </a:rPr>
              <a:t>TaskExecution · TransferEvidence</a:t>
            </a:r>
          </a:p>
          <a:p xmlns:a="http://schemas.openxmlformats.org/drawingml/2006/main">
            <a:pPr algn="ctr">
              <a:buNone/>
              <a:defRPr sz="1125" b="0">
                <a:solidFill>
                  <a:srgbClr val="142D45"/>
                </a:solidFill>
                <a:latin typeface="Aptos"/>
                <a:ea typeface="Aptos"/>
                <a:cs typeface="Aptos"/>
              </a:defRPr>
            </a:pPr>
            <a:r>
              <a:rPr sz="1125" b="0">
                <a:solidFill>
                  <a:srgbClr val="142D45"/>
                </a:solidFill>
                <a:latin typeface="Aptos"/>
                <a:ea typeface="Aptos"/>
                <a:cs typeface="Aptos"/>
              </a:rPr>
              <a:t>conteos · bytes · provenance</a:t>
            </a:r>
          </a:p>
        </p:txBody>
      </p:sp>
      <p:cxnSp>
        <p:nvCxnSpPr>
          <p:cNvPr id="136" name=""/>
          <p:cNvCxnSpPr>
            <a:stCxn xmlns:a="http://schemas.openxmlformats.org/drawingml/2006/main" id="24" idx="3"/>
            <a:endCxn xmlns:a="http://schemas.openxmlformats.org/drawingml/2006/main" id="25" idx="1"/>
          </p:cNvCxnSpPr>
          <p:nvPr/>
        </p:nvCxnSpPr>
        <p:spPr>
          <a:xfrm xmlns:a="http://schemas.openxmlformats.org/drawingml/2006/main">
            <a:off x="2876550" y="4400550"/>
            <a:ext cx="95250" cy="0"/>
          </a:xfrm>
          <a:prstGeom xmlns:a="http://schemas.openxmlformats.org/drawingml/2006/main" prst="straightConnector1">
            <a:avLst/>
          </a:prstGeom>
          <a:ln xmlns:a="http://schemas.openxmlformats.org/drawingml/2006/main" w="13811">
            <a:solidFill>
              <a:srgbClr val="6D28D9"/>
            </a:solidFill>
            <a:prstDash val="solid"/>
            <a:tailEnd type="arrow" w="med" len="med"/>
          </a:ln>
        </p:spPr>
      </p:cxnSp>
      <p:cxnSp>
        <p:nvCxnSpPr>
          <p:cNvPr id="137" name=""/>
          <p:cNvCxnSpPr>
            <a:stCxn xmlns:a="http://schemas.openxmlformats.org/drawingml/2006/main" id="25" idx="3"/>
            <a:endCxn xmlns:a="http://schemas.openxmlformats.org/drawingml/2006/main" id="26" idx="1"/>
          </p:cNvCxnSpPr>
          <p:nvPr/>
        </p:nvCxnSpPr>
        <p:spPr>
          <a:xfrm xmlns:a="http://schemas.openxmlformats.org/drawingml/2006/main">
            <a:off x="5448300" y="4400550"/>
            <a:ext cx="171450" cy="0"/>
          </a:xfrm>
          <a:prstGeom xmlns:a="http://schemas.openxmlformats.org/drawingml/2006/main" prst="straightConnector1">
            <a:avLst/>
          </a:prstGeom>
          <a:ln xmlns:a="http://schemas.openxmlformats.org/drawingml/2006/main" w="13811">
            <a:solidFill>
              <a:srgbClr val="6D28D9"/>
            </a:solidFill>
            <a:prstDash val="solid"/>
            <a:tailEnd type="arrow" w="med" len="med"/>
          </a:ln>
        </p:spPr>
      </p:cxnSp>
      <p:sp>
        <p:nvSpPr>
          <p:cNvPr id="29" name="verification">
            <a:extLst xmlns:a="http://schemas.openxmlformats.org/drawingml/2006/main">
              <a:ext uri="{FF2B5EF4-FFF2-40B4-BE49-F238E27FC236}">
                <a16:creationId xmlns:a16="http://schemas.microsoft.com/office/drawing/2014/main" id="{47AF4B39-A355-4BA6-8F93-1706FB7CC9AA}"/>
              </a:ext>
            </a:extLst>
          </p:cNvPr>
          <p:cNvSpPr>
            <a:spLocks xmlns:a="http://schemas.openxmlformats.org/drawingml/2006/main" noGrp="1"/>
          </p:cNvSpPr>
          <p:nvPr/>
        </p:nvSpPr>
        <p:spPr>
          <a:xfrm xmlns:a="http://schemas.openxmlformats.org/drawingml/2006/main">
            <a:off x="8591550" y="2971800"/>
            <a:ext cx="2857500" cy="1790700"/>
          </a:xfrm>
          <a:prstGeom xmlns:a="http://schemas.openxmlformats.org/drawingml/2006/main" prst="rect">
            <a:avLst/>
          </a:prstGeom>
          <a:solidFill xmlns:a="http://schemas.openxmlformats.org/drawingml/2006/main">
            <a:srgbClr val="ECFDF5"/>
          </a:solidFill>
          <a:ln xmlns:a="http://schemas.openxmlformats.org/drawingml/2006/main" w="12859">
            <a:solidFill>
              <a:srgbClr val="0F766E"/>
            </a:solidFill>
            <a:prstDash val="solid"/>
          </a:ln>
        </p:spPr>
        <p:txBody>
          <a:bodyPr xmlns:a="http://schemas.openxmlformats.org/drawingml/2006/main" wrap="square" lIns="66675" tIns="38100" rIns="66675" bIns="38100" anchor="ctr">
            <a:normAutofit fontScale="100000"/>
          </a:bodyPr>
          <a:lstStyle xmlns:a="http://schemas.openxmlformats.org/drawingml/2006/main"/>
          <a:p xmlns:a="http://schemas.openxmlformats.org/drawingml/2006/main">
            <a:pPr algn="ctr">
              <a:buNone/>
              <a:defRPr sz="1275" b="0">
                <a:solidFill>
                  <a:srgbClr val="142D45"/>
                </a:solidFill>
                <a:latin typeface="Aptos"/>
                <a:ea typeface="Aptos"/>
                <a:cs typeface="Aptos"/>
              </a:defRPr>
            </a:pPr>
            <a:r>
              <a:rPr sz="1275" b="0">
                <a:solidFill>
                  <a:srgbClr val="142D45"/>
                </a:solidFill>
                <a:latin typeface="Aptos"/>
                <a:ea typeface="Aptos"/>
                <a:cs typeface="Aptos"/>
              </a:rPr>
              <a:t>MovementVerification</a:t>
            </a:r>
          </a:p>
          <a:p xmlns:a="http://schemas.openxmlformats.org/drawingml/2006/main">
            <a:pPr algn="ctr">
              <a:buNone/>
              <a:defRPr sz="1275" b="0">
                <a:solidFill>
                  <a:srgbClr val="142D45"/>
                </a:solidFill>
                <a:latin typeface="Aptos"/>
                <a:ea typeface="Aptos"/>
                <a:cs typeface="Aptos"/>
              </a:defRPr>
            </a:pPr>
            <a:r>
              <a:rPr sz="1275" b="0">
                <a:solidFill>
                  <a:srgbClr val="142D45"/>
                </a:solidFill>
                <a:latin typeface="Aptos"/>
                <a:ea typeface="Aptos"/>
                <a:cs typeface="Aptos"/>
              </a:rPr>
              <a:t>reconciliación por job, dirección e intento</a:t>
            </a:r>
          </a:p>
        </p:txBody>
      </p:sp>
      <p:cxnSp>
        <p:nvCxnSpPr>
          <p:cNvPr id="139" name=""/>
          <p:cNvCxnSpPr>
            <a:stCxn xmlns:a="http://schemas.openxmlformats.org/drawingml/2006/main" id="21" idx="3"/>
            <a:endCxn xmlns:a="http://schemas.openxmlformats.org/drawingml/2006/main" id="29" idx="1"/>
          </p:cNvCxnSpPr>
          <p:nvPr/>
        </p:nvCxnSpPr>
        <p:spPr>
          <a:xfrm xmlns:a="http://schemas.openxmlformats.org/drawingml/2006/main">
            <a:off x="8286750" y="3333750"/>
            <a:ext cx="304800" cy="533400"/>
          </a:xfrm>
          <a:prstGeom xmlns:a="http://schemas.openxmlformats.org/drawingml/2006/main" prst="bentConnector3">
            <a:avLst>
              <a:gd name="adj1" fmla="val 50000"/>
            </a:avLst>
          </a:prstGeom>
          <a:ln xmlns:a="http://schemas.openxmlformats.org/drawingml/2006/main" w="13811">
            <a:solidFill>
              <a:srgbClr val="C2410C"/>
            </a:solidFill>
            <a:prstDash val="solid"/>
            <a:tailEnd type="arrow" w="med" len="med"/>
          </a:ln>
        </p:spPr>
      </p:cxnSp>
      <p:cxnSp>
        <p:nvCxnSpPr>
          <p:cNvPr id="140" name=""/>
          <p:cNvCxnSpPr>
            <a:stCxn xmlns:a="http://schemas.openxmlformats.org/drawingml/2006/main" id="26" idx="3"/>
            <a:endCxn xmlns:a="http://schemas.openxmlformats.org/drawingml/2006/main" id="29" idx="1"/>
          </p:cNvCxnSpPr>
          <p:nvPr/>
        </p:nvCxnSpPr>
        <p:spPr>
          <a:xfrm xmlns:a="http://schemas.openxmlformats.org/drawingml/2006/main" flipV="1">
            <a:off x="8286750" y="3867150"/>
            <a:ext cx="304800" cy="533400"/>
          </a:xfrm>
          <a:prstGeom xmlns:a="http://schemas.openxmlformats.org/drawingml/2006/main" prst="bentConnector3">
            <a:avLst>
              <a:gd name="adj1" fmla="val 50000"/>
            </a:avLst>
          </a:prstGeom>
          <a:ln xmlns:a="http://schemas.openxmlformats.org/drawingml/2006/main" w="13811">
            <a:solidFill>
              <a:srgbClr val="6D28D9"/>
            </a:solidFill>
            <a:prstDash val="solid"/>
            <a:tailEnd type="arrow" w="med" len="med"/>
          </a:ln>
        </p:spPr>
      </p:cxnSp>
      <p:sp>
        <p:nvSpPr>
          <p:cNvPr id="32" name="coverage-gate">
            <a:extLst xmlns:a="http://schemas.openxmlformats.org/drawingml/2006/main">
              <a:ext uri="{FF2B5EF4-FFF2-40B4-BE49-F238E27FC236}">
                <a16:creationId xmlns:a16="http://schemas.microsoft.com/office/drawing/2014/main" id="{61F73AC8-7A95-456A-B947-355DD8241293}"/>
              </a:ext>
            </a:extLst>
          </p:cNvPr>
          <p:cNvSpPr>
            <a:spLocks xmlns:a="http://schemas.openxmlformats.org/drawingml/2006/main" noGrp="1"/>
          </p:cNvSpPr>
          <p:nvPr/>
        </p:nvSpPr>
        <p:spPr>
          <a:xfrm xmlns:a="http://schemas.openxmlformats.org/drawingml/2006/main">
            <a:off x="8591550" y="4914900"/>
            <a:ext cx="2857500" cy="457200"/>
          </a:xfrm>
          <a:prstGeom xmlns:a="http://schemas.openxmlformats.org/drawingml/2006/main" prst="rect">
            <a:avLst/>
          </a:prstGeom>
          <a:solidFill xmlns:a="http://schemas.openxmlformats.org/drawingml/2006/main">
            <a:srgbClr val="FFFFFF"/>
          </a:solidFill>
          <a:ln xmlns:a="http://schemas.openxmlformats.org/drawingml/2006/main" w="12859">
            <a:solidFill>
              <a:srgbClr val="0F766E"/>
            </a:solidFill>
            <a:prstDash val="solid"/>
          </a:ln>
        </p:spPr>
        <p:txBody>
          <a:bodyPr xmlns:a="http://schemas.openxmlformats.org/drawingml/2006/main" wrap="square" lIns="66675" tIns="38100" rIns="66675" bIns="38100" anchor="ctr">
            <a:normAutofit fontScale="100000"/>
          </a:bodyPr>
          <a:lstStyle xmlns:a="http://schemas.openxmlformats.org/drawingml/2006/main"/>
          <a:p xmlns:a="http://schemas.openxmlformats.org/drawingml/2006/main">
            <a:pPr algn="ctr">
              <a:buNone/>
              <a:defRPr sz="1125" b="1">
                <a:solidFill>
                  <a:srgbClr val="142D45"/>
                </a:solidFill>
                <a:latin typeface="Aptos"/>
                <a:ea typeface="Aptos"/>
                <a:cs typeface="Aptos"/>
              </a:defRPr>
            </a:pPr>
            <a:r>
              <a:rPr sz="1125" b="1">
                <a:solidFill>
                  <a:srgbClr val="142D45"/>
                </a:solidFill>
                <a:latin typeface="Aptos"/>
                <a:ea typeface="Aptos"/>
                <a:cs typeface="Aptos"/>
              </a:rPr>
              <a:t>Coverage gate · por ocurrencias</a:t>
            </a:r>
          </a:p>
        </p:txBody>
      </p:sp>
      <p:sp>
        <p:nvSpPr>
          <p:cNvPr id="33" name="metric-output">
            <a:extLst xmlns:a="http://schemas.openxmlformats.org/drawingml/2006/main">
              <a:ext uri="{FF2B5EF4-FFF2-40B4-BE49-F238E27FC236}">
                <a16:creationId xmlns:a16="http://schemas.microsoft.com/office/drawing/2014/main" id="{ABDB9896-B22C-48F3-9B2D-42438FE4677C}"/>
              </a:ext>
            </a:extLst>
          </p:cNvPr>
          <p:cNvSpPr>
            <a:spLocks xmlns:a="http://schemas.openxmlformats.org/drawingml/2006/main" noGrp="1"/>
          </p:cNvSpPr>
          <p:nvPr/>
        </p:nvSpPr>
        <p:spPr>
          <a:xfrm xmlns:a="http://schemas.openxmlformats.org/drawingml/2006/main">
            <a:off x="8591550" y="5524500"/>
            <a:ext cx="2857500" cy="590550"/>
          </a:xfrm>
          <a:prstGeom xmlns:a="http://schemas.openxmlformats.org/drawingml/2006/main" prst="rect">
            <a:avLst/>
          </a:prstGeom>
          <a:solidFill xmlns:a="http://schemas.openxmlformats.org/drawingml/2006/main">
            <a:srgbClr val="ECFDF5"/>
          </a:solidFill>
          <a:ln xmlns:a="http://schemas.openxmlformats.org/drawingml/2006/main" w="12859">
            <a:solidFill>
              <a:srgbClr val="15803D"/>
            </a:solidFill>
            <a:prstDash val="solid"/>
          </a:ln>
        </p:spPr>
        <p:txBody>
          <a:bodyPr xmlns:a="http://schemas.openxmlformats.org/drawingml/2006/main" wrap="square" lIns="66675" tIns="38100" rIns="66675" bIns="38100" anchor="ctr">
            <a:normAutofit fontScale="100000"/>
          </a:bodyPr>
          <a:lstStyle xmlns:a="http://schemas.openxmlformats.org/drawingml/2006/main"/>
          <a:p xmlns:a="http://schemas.openxmlformats.org/drawingml/2006/main">
            <a:pPr algn="ctr">
              <a:buNone/>
              <a:defRPr sz="1088" b="0">
                <a:solidFill>
                  <a:srgbClr val="142D45"/>
                </a:solidFill>
                <a:latin typeface="Aptos"/>
                <a:ea typeface="Aptos"/>
                <a:cs typeface="Aptos"/>
              </a:defRPr>
            </a:pPr>
            <a:r>
              <a:rPr sz="1088" b="0">
                <a:solidFill>
                  <a:srgbClr val="142D45"/>
                </a:solidFill>
                <a:latin typeface="Aptos"/>
                <a:ea typeface="Aptos"/>
                <a:cs typeface="Aptos"/>
              </a:rPr>
              <a:t>MetricResult + reporte + ProvenanceRef</a:t>
            </a:r>
          </a:p>
          <a:p xmlns:a="http://schemas.openxmlformats.org/drawingml/2006/main">
            <a:pPr algn="ctr">
              <a:buNone/>
              <a:defRPr sz="1088" b="0">
                <a:solidFill>
                  <a:srgbClr val="142D45"/>
                </a:solidFill>
                <a:latin typeface="Aptos"/>
                <a:ea typeface="Aptos"/>
                <a:cs typeface="Aptos"/>
              </a:defRPr>
            </a:pPr>
            <a:r>
              <a:rPr sz="1088" b="0">
                <a:solidFill>
                  <a:srgbClr val="142D45"/>
                </a:solidFill>
                <a:latin typeface="Aptos"/>
                <a:ea typeface="Aptos"/>
                <a:cs typeface="Aptos"/>
              </a:rPr>
              <a:t>M_req · M_obs · DME · estados y razones</a:t>
            </a:r>
          </a:p>
        </p:txBody>
      </p:sp>
      <p:cxnSp>
        <p:nvCxnSpPr>
          <p:cNvPr id="143" name=""/>
          <p:cNvCxnSpPr>
            <a:stCxn xmlns:a="http://schemas.openxmlformats.org/drawingml/2006/main" id="29" idx="2"/>
            <a:endCxn xmlns:a="http://schemas.openxmlformats.org/drawingml/2006/main" id="32" idx="0"/>
          </p:cNvCxnSpPr>
          <p:nvPr/>
        </p:nvCxnSpPr>
        <p:spPr>
          <a:xfrm xmlns:a="http://schemas.openxmlformats.org/drawingml/2006/main">
            <a:off x="10020300" y="4762500"/>
            <a:ext cx="0" cy="152400"/>
          </a:xfrm>
          <a:prstGeom xmlns:a="http://schemas.openxmlformats.org/drawingml/2006/main" prst="straightConnector1">
            <a:avLst/>
          </a:prstGeom>
          <a:ln xmlns:a="http://schemas.openxmlformats.org/drawingml/2006/main" w="13811">
            <a:solidFill>
              <a:srgbClr val="0F766E"/>
            </a:solidFill>
            <a:prstDash val="solid"/>
            <a:tailEnd type="arrow" w="med" len="med"/>
          </a:ln>
        </p:spPr>
      </p:cxnSp>
      <p:cxnSp>
        <p:nvCxnSpPr>
          <p:cNvPr id="144" name=""/>
          <p:cNvCxnSpPr>
            <a:stCxn xmlns:a="http://schemas.openxmlformats.org/drawingml/2006/main" id="32" idx="2"/>
            <a:endCxn xmlns:a="http://schemas.openxmlformats.org/drawingml/2006/main" id="33" idx="0"/>
          </p:cNvCxnSpPr>
          <p:nvPr/>
        </p:nvCxnSpPr>
        <p:spPr>
          <a:xfrm xmlns:a="http://schemas.openxmlformats.org/drawingml/2006/main">
            <a:off x="10020300" y="5372100"/>
            <a:ext cx="0" cy="152400"/>
          </a:xfrm>
          <a:prstGeom xmlns:a="http://schemas.openxmlformats.org/drawingml/2006/main" prst="straightConnector1">
            <a:avLst/>
          </a:prstGeom>
          <a:ln xmlns:a="http://schemas.openxmlformats.org/drawingml/2006/main" w="13811">
            <a:solidFill>
              <a:srgbClr val="15803D"/>
            </a:solidFill>
            <a:prstDash val="solid"/>
            <a:tailEnd type="arrow" w="med" len="med"/>
          </a:ln>
        </p:spPr>
      </p:cxnSp>
      <p:cxnSp>
        <p:nvCxnSpPr>
          <p:cNvPr id="145" name=""/>
          <p:cNvCxnSpPr>
            <a:stCxn xmlns:a="http://schemas.openxmlformats.org/drawingml/2006/main" id="15" idx="3"/>
            <a:endCxn xmlns:a="http://schemas.openxmlformats.org/drawingml/2006/main" id="33" idx="3"/>
          </p:cNvCxnSpPr>
          <p:nvPr/>
        </p:nvCxnSpPr>
        <p:spPr>
          <a:xfrm xmlns:a="http://schemas.openxmlformats.org/drawingml/2006/main">
            <a:off x="11449050" y="2266950"/>
            <a:ext cx="228600" cy="3552825"/>
          </a:xfrm>
          <a:prstGeom xmlns:a="http://schemas.openxmlformats.org/drawingml/2006/main" prst="bentConnector4">
            <a:avLst/>
          </a:prstGeom>
          <a:ln xmlns:a="http://schemas.openxmlformats.org/drawingml/2006/main" w="13811">
            <a:solidFill>
              <a:srgbClr val="2563EB"/>
            </a:solidFill>
            <a:prstDash val="solid"/>
            <a:tailEnd type="arrow" w="med" len="med"/>
          </a:ln>
        </p:spPr>
      </p:cxnSp>
      <p:sp>
        <p:nvSpPr>
          <p:cNvPr id="37" name="architecture-rule">
            <a:extLst xmlns:a="http://schemas.openxmlformats.org/drawingml/2006/main">
              <a:ext uri="{FF2B5EF4-FFF2-40B4-BE49-F238E27FC236}">
                <a16:creationId xmlns:a16="http://schemas.microsoft.com/office/drawing/2014/main" id="{8DD447AD-B128-43CC-9921-D72715070C0F}"/>
              </a:ext>
            </a:extLst>
          </p:cNvPr>
          <p:cNvSpPr>
            <a:spLocks xmlns:a="http://schemas.openxmlformats.org/drawingml/2006/main" noGrp="1"/>
          </p:cNvSpPr>
          <p:nvPr/>
        </p:nvSpPr>
        <p:spPr>
          <a:xfrm xmlns:a="http://schemas.openxmlformats.org/drawingml/2006/main">
            <a:off x="647700" y="6124575"/>
            <a:ext cx="1081087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buNone/>
              <a:defRPr sz="1013">
                <a:solidFill>
                  <a:srgbClr val="34485D"/>
                </a:solidFill>
                <a:latin typeface="Aptos"/>
                <a:ea typeface="Aptos"/>
                <a:cs typeface="Aptos"/>
              </a:defRPr>
            </a:pPr>
            <a:r>
              <a:rPr sz="1013">
                <a:solidFill>
                  <a:srgbClr val="34485D"/>
                </a:solidFill>
                <a:latin typeface="Aptos"/>
                <a:ea typeface="Aptos"/>
                <a:cs typeface="Aptos"/>
              </a:rPr>
              <a:t>M_obs y DME solo se emiten cuando Coverage = 1; si falta evidencia, el resultado conserva estado, razón y provenance.</a:t>
            </a:r>
          </a:p>
        </p:txBody>
      </p:sp>
    </p:spTree>
    <p:extLst>
      <p:ext uri="{BB962C8B-B14F-4D97-AF65-F5344CB8AC3E}">
        <p14:creationId xmlns:p14="http://schemas.microsoft.com/office/powerpoint/2010/main" val="1052462498"/>
      </p:ext>
    </p:extLst>
  </p:cSld>
</p:sld>
</file>

<file path=ppt/slides/slide14.xml><?xml version="1.0" encoding="utf-8"?>
<p:sld xmlns:p="http://schemas.openxmlformats.org/presentationml/2006/main">
  <p:cSld>
    <p:spTree>
      <p:nvGrpSpPr>
        <p:cNvPr id="1" name=""/>
        <p:cNvGrpSpPr/>
        <p:nvPr/>
      </p:nvGrpSpPr>
      <p:grpSpPr>
        <a:xfrm xmlns:a="http://schemas.openxmlformats.org/drawingml/2006/main"/>
      </p:grpSpPr>
      <p:sp>
        <p:nvSpPr>
          <p:cNvPr id="24" name="slide-background">
            <a:extLst xmlns:a="http://schemas.openxmlformats.org/drawingml/2006/main">
              <a:ext uri="{FF2B5EF4-FFF2-40B4-BE49-F238E27FC236}">
                <a16:creationId xmlns:a16="http://schemas.microsoft.com/office/drawing/2014/main" id="{9E117FDD-7C93-4EAB-BBD0-4BEE84A0062D}"/>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sp>
      <p:sp>
        <p:nvSpPr>
          <p:cNvPr id="2" name="top-rule">
            <a:extLst xmlns:a="http://schemas.openxmlformats.org/drawingml/2006/main">
              <a:ext uri="{FF2B5EF4-FFF2-40B4-BE49-F238E27FC236}">
                <a16:creationId xmlns:a16="http://schemas.microsoft.com/office/drawing/2014/main" id="{F5FE96A6-D974-4A8F-95C7-B274E65DF807}"/>
              </a:ext>
            </a:extLst>
          </p:cNvPr>
          <p:cNvSpPr>
            <a:spLocks xmlns:a="http://schemas.openxmlformats.org/drawingml/2006/main" noGrp="1"/>
          </p:cNvSpPr>
          <p:nvPr/>
        </p:nvSpPr>
        <p:spPr>
          <a:xfrm xmlns:a="http://schemas.openxmlformats.org/drawingml/2006/main">
            <a:off x="0" y="0"/>
            <a:ext cx="12192000" cy="114300"/>
          </a:xfrm>
          <a:prstGeom xmlns:a="http://schemas.openxmlformats.org/drawingml/2006/main" prst="rect">
            <a:avLst/>
          </a:prstGeom>
          <a:solidFill xmlns:a="http://schemas.openxmlformats.org/drawingml/2006/main">
            <a:srgbClr val="142D45"/>
          </a:solidFill>
          <a:ln xmlns:a="http://schemas.openxmlformats.org/drawingml/2006/main" w="0">
            <a:solidFill>
              <a:srgbClr val="142D45"/>
            </a:solidFill>
            <a:prstDash val="solid"/>
          </a:ln>
        </p:spPr>
      </p:sp>
      <p:sp>
        <p:nvSpPr>
          <p:cNvPr id="3" name="section-kicker">
            <a:extLst xmlns:a="http://schemas.openxmlformats.org/drawingml/2006/main">
              <a:ext uri="{FF2B5EF4-FFF2-40B4-BE49-F238E27FC236}">
                <a16:creationId xmlns:a16="http://schemas.microsoft.com/office/drawing/2014/main" id="{BD2E67C0-F254-44D0-BE30-9FF4927FEDE1}"/>
              </a:ext>
            </a:extLst>
          </p:cNvPr>
          <p:cNvSpPr>
            <a:spLocks xmlns:a="http://schemas.openxmlformats.org/drawingml/2006/main" noGrp="1"/>
          </p:cNvSpPr>
          <p:nvPr/>
        </p:nvSpPr>
        <p:spPr>
          <a:xfrm xmlns:a="http://schemas.openxmlformats.org/drawingml/2006/main">
            <a:off x="657225" y="342900"/>
            <a:ext cx="571500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buNone/>
              <a:defRPr sz="1200" b="1">
                <a:solidFill>
                  <a:srgbClr val="2563EB"/>
                </a:solidFill>
                <a:latin typeface="Aptos"/>
                <a:ea typeface="Aptos"/>
                <a:cs typeface="Aptos"/>
              </a:defRPr>
            </a:pPr>
            <a:r>
              <a:rPr sz="1200" b="1">
                <a:solidFill>
                  <a:srgbClr val="2563EB"/>
                </a:solidFill>
                <a:latin typeface="Aptos"/>
                <a:ea typeface="Aptos"/>
                <a:cs typeface="Aptos"/>
              </a:rPr>
              <a:t>MODELO DE DATOS NORMALIZADO</a:t>
            </a:r>
          </a:p>
        </p:txBody>
      </p:sp>
      <p:sp>
        <p:nvSpPr>
          <p:cNvPr id="4" name="slide-title">
            <a:extLst xmlns:a="http://schemas.openxmlformats.org/drawingml/2006/main">
              <a:ext uri="{FF2B5EF4-FFF2-40B4-BE49-F238E27FC236}">
                <a16:creationId xmlns:a16="http://schemas.microsoft.com/office/drawing/2014/main" id="{3209D4A3-DDC8-4F90-ABA2-797EC535BADC}"/>
              </a:ext>
            </a:extLst>
          </p:cNvPr>
          <p:cNvSpPr>
            <a:spLocks xmlns:a="http://schemas.openxmlformats.org/drawingml/2006/main" noGrp="1"/>
          </p:cNvSpPr>
          <p:nvPr/>
        </p:nvSpPr>
        <p:spPr>
          <a:xfrm xmlns:a="http://schemas.openxmlformats.org/drawingml/2006/main">
            <a:off x="619125" y="619125"/>
            <a:ext cx="108775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buNone/>
              <a:defRPr sz="2400" b="1">
                <a:solidFill>
                  <a:srgbClr val="142D45"/>
                </a:solidFill>
                <a:latin typeface="Aptos"/>
                <a:ea typeface="Aptos"/>
                <a:cs typeface="Aptos"/>
              </a:defRPr>
            </a:pPr>
            <a:r>
              <a:rPr sz="2400" b="1">
                <a:solidFill>
                  <a:srgbClr val="142D45"/>
                </a:solidFill>
                <a:latin typeface="Aptos"/>
                <a:ea typeface="Aptos"/>
                <a:cs typeface="Aptos"/>
              </a:rPr>
              <a:t>13. Ejecución y dataflow científico</a:t>
            </a:r>
          </a:p>
        </p:txBody>
      </p:sp>
      <p:sp>
        <p:nvSpPr>
          <p:cNvPr id="5" name="footer-rule">
            <a:extLst xmlns:a="http://schemas.openxmlformats.org/drawingml/2006/main">
              <a:ext uri="{FF2B5EF4-FFF2-40B4-BE49-F238E27FC236}">
                <a16:creationId xmlns:a16="http://schemas.microsoft.com/office/drawing/2014/main" id="{CF0D1D78-772B-4B2B-9668-6CA56B78068C}"/>
              </a:ext>
            </a:extLst>
          </p:cNvPr>
          <p:cNvSpPr>
            <a:spLocks xmlns:a="http://schemas.openxmlformats.org/drawingml/2006/main" noGrp="1"/>
          </p:cNvSpPr>
          <p:nvPr/>
        </p:nvSpPr>
        <p:spPr>
          <a:xfrm xmlns:a="http://schemas.openxmlformats.org/drawingml/2006/main">
            <a:off x="504825" y="6446520"/>
            <a:ext cx="11201400" cy="0"/>
          </a:xfrm>
          <a:prstGeom xmlns:a="http://schemas.openxmlformats.org/drawingml/2006/main" prst="line">
            <a:avLst/>
          </a:prstGeom>
          <a:noFill xmlns:a="http://schemas.openxmlformats.org/drawingml/2006/main"/>
          <a:ln xmlns:a="http://schemas.openxmlformats.org/drawingml/2006/main" w="9525">
            <a:solidFill>
              <a:srgbClr val="CAD5E1"/>
            </a:solidFill>
            <a:prstDash val="solid"/>
          </a:ln>
        </p:spPr>
      </p:sp>
      <p:sp>
        <p:nvSpPr>
          <p:cNvPr id="6" name="footer-label">
            <a:extLst xmlns:a="http://schemas.openxmlformats.org/drawingml/2006/main">
              <a:ext uri="{FF2B5EF4-FFF2-40B4-BE49-F238E27FC236}">
                <a16:creationId xmlns:a16="http://schemas.microsoft.com/office/drawing/2014/main" id="{A9B582EA-F176-452F-9514-03990C79FB3F}"/>
              </a:ext>
            </a:extLst>
          </p:cNvPr>
          <p:cNvSpPr>
            <a:spLocks xmlns:a="http://schemas.openxmlformats.org/drawingml/2006/main" noGrp="1"/>
          </p:cNvSpPr>
          <p:nvPr/>
        </p:nvSpPr>
        <p:spPr>
          <a:xfrm xmlns:a="http://schemas.openxmlformats.org/drawingml/2006/main">
            <a:off x="594360" y="6496050"/>
            <a:ext cx="8096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buNone/>
              <a:defRPr sz="900" b="0">
                <a:solidFill>
                  <a:srgbClr val="65758B"/>
                </a:solidFill>
                <a:latin typeface="Aptos"/>
                <a:ea typeface="Aptos"/>
                <a:cs typeface="Aptos"/>
              </a:defRPr>
            </a:pPr>
            <a:r>
              <a:rPr sz="900" b="0">
                <a:solidFill>
                  <a:srgbClr val="65758B"/>
                </a:solidFill>
                <a:latin typeface="Aptos"/>
                <a:ea typeface="Aptos"/>
                <a:cs typeface="Aptos"/>
              </a:rPr>
              <a:t>Modelo de dominio · Contexto, tareas, ubicaciones y archivos</a:t>
            </a:r>
          </a:p>
        </p:txBody>
      </p:sp>
      <p:sp>
        <p:nvSpPr>
          <p:cNvPr id="7" name="page-number">
            <a:extLst xmlns:a="http://schemas.openxmlformats.org/drawingml/2006/main">
              <a:ext uri="{FF2B5EF4-FFF2-40B4-BE49-F238E27FC236}">
                <a16:creationId xmlns:a16="http://schemas.microsoft.com/office/drawing/2014/main" id="{A31195D0-CE09-473B-BEB6-99D6A8C321C7}"/>
              </a:ext>
            </a:extLst>
          </p:cNvPr>
          <p:cNvSpPr>
            <a:spLocks xmlns:a="http://schemas.openxmlformats.org/drawingml/2006/main" noGrp="1"/>
          </p:cNvSpPr>
          <p:nvPr/>
        </p:nvSpPr>
        <p:spPr>
          <a:xfrm xmlns:a="http://schemas.openxmlformats.org/drawingml/2006/main">
            <a:off x="11228832" y="6492240"/>
            <a:ext cx="41148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r">
              <a:buNone/>
              <a:defRPr sz="900" b="0">
                <a:solidFill>
                  <a:srgbClr val="65758B"/>
                </a:solidFill>
                <a:latin typeface="Aptos"/>
                <a:ea typeface="Aptos"/>
                <a:cs typeface="Aptos"/>
              </a:defRPr>
            </a:pPr>
            <a:r>
              <a:rPr sz="900" b="0">
                <a:solidFill>
                  <a:srgbClr val="65758B"/>
                </a:solidFill>
                <a:latin typeface="Aptos"/>
                <a:ea typeface="Aptos"/>
                <a:cs typeface="Aptos"/>
              </a:rPr>
              <a:t>14</a:t>
            </a:r>
          </a:p>
        </p:txBody>
      </p:sp>
      <p:sp>
        <p:nvSpPr>
          <p:cNvPr id="8" name="domain-a-caption">
            <a:extLst xmlns:a="http://schemas.openxmlformats.org/drawingml/2006/main">
              <a:ext uri="{FF2B5EF4-FFF2-40B4-BE49-F238E27FC236}">
                <a16:creationId xmlns:a16="http://schemas.microsoft.com/office/drawing/2014/main" id="{7A62B522-7612-482E-83C8-82827B1D3224}"/>
              </a:ext>
            </a:extLst>
          </p:cNvPr>
          <p:cNvSpPr>
            <a:spLocks xmlns:a="http://schemas.openxmlformats.org/drawingml/2006/main" noGrp="1"/>
          </p:cNvSpPr>
          <p:nvPr/>
        </p:nvSpPr>
        <p:spPr>
          <a:xfrm xmlns:a="http://schemas.openxmlformats.org/drawingml/2006/main">
            <a:off x="742950" y="1219200"/>
            <a:ext cx="1066800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buNone/>
              <a:defRPr sz="1275" b="0">
                <a:solidFill>
                  <a:srgbClr val="34485D"/>
                </a:solidFill>
                <a:latin typeface="Aptos"/>
                <a:ea typeface="Aptos"/>
                <a:cs typeface="Aptos"/>
              </a:defRPr>
            </a:pPr>
            <a:r>
              <a:rPr sz="1275" b="0">
                <a:solidFill>
                  <a:srgbClr val="34485D"/>
                </a:solidFill>
                <a:latin typeface="Aptos"/>
                <a:ea typeface="Aptos"/>
                <a:cs typeface="Aptos"/>
              </a:rPr>
              <a:t>Claves y campos conceptuales; los registros preservan referencias a las fuentes que los originan.</a:t>
            </a:r>
          </a:p>
        </p:txBody>
      </p:sp>
      <p:sp>
        <p:nvSpPr>
          <p:cNvPr id="9" name="entity-run-execution">
            <a:extLst xmlns:a="http://schemas.openxmlformats.org/drawingml/2006/main">
              <a:ext uri="{FF2B5EF4-FFF2-40B4-BE49-F238E27FC236}">
                <a16:creationId xmlns:a16="http://schemas.microsoft.com/office/drawing/2014/main" id="{6CE0F630-EFFA-4D17-A6DE-FBD7F4BFD202}"/>
              </a:ext>
            </a:extLst>
          </p:cNvPr>
          <p:cNvSpPr>
            <a:spLocks xmlns:a="http://schemas.openxmlformats.org/drawingml/2006/main" noGrp="1"/>
          </p:cNvSpPr>
          <p:nvPr/>
        </p:nvSpPr>
        <p:spPr>
          <a:xfrm xmlns:a="http://schemas.openxmlformats.org/drawingml/2006/main">
            <a:off x="714375" y="1809750"/>
            <a:ext cx="2571750" cy="1123950"/>
          </a:xfrm>
          <a:prstGeom xmlns:a="http://schemas.openxmlformats.org/drawingml/2006/main" prst="roundRect">
            <a:avLst>
              <a:gd name="adj" fmla="val 7627"/>
            </a:avLst>
          </a:prstGeom>
          <a:solidFill xmlns:a="http://schemas.openxmlformats.org/drawingml/2006/main">
            <a:srgbClr val="EAF2FF"/>
          </a:solidFill>
          <a:ln xmlns:a="http://schemas.openxmlformats.org/drawingml/2006/main" w="14288">
            <a:solidFill>
              <a:srgbClr val="2563EB"/>
            </a:solidFill>
            <a:prstDash val="solid"/>
          </a:ln>
        </p:spPr>
        <p:txBody>
          <a:bodyPr xmlns:a="http://schemas.openxmlformats.org/drawingml/2006/main" wrap="square" lIns="85725" tIns="57150" rIns="85725" bIns="57150" anchor="ctr">
            <a:normAutofit fontScale="100000"/>
          </a:bodyPr>
          <a:lstStyle xmlns:a="http://schemas.openxmlformats.org/drawingml/2006/main"/>
          <a:p xmlns:a="http://schemas.openxmlformats.org/drawingml/2006/main">
            <a:pPr algn="ctr">
              <a:buNone/>
              <a:defRPr sz="1200" b="1">
                <a:solidFill>
                  <a:srgbClr val="142D45"/>
                </a:solidFill>
                <a:latin typeface="Aptos"/>
                <a:ea typeface="Aptos"/>
                <a:cs typeface="Aptos"/>
              </a:defRPr>
            </a:pPr>
            <a:r>
              <a:rPr sz="1200" b="1">
                <a:solidFill>
                  <a:srgbClr val="142D45"/>
                </a:solidFill>
                <a:latin typeface="Aptos"/>
                <a:ea typeface="Aptos"/>
                <a:cs typeface="Aptos"/>
              </a:rPr>
              <a:t>RunExecution</a:t>
            </a:r>
          </a:p>
          <a:p xmlns:a="http://schemas.openxmlformats.org/drawingml/2006/main">
            <a:pPr algn="ctr">
              <a:buNone/>
              <a:defRPr sz="1200" b="1">
                <a:solidFill>
                  <a:srgbClr val="142D45"/>
                </a:solidFill>
                <a:latin typeface="Aptos"/>
                <a:ea typeface="Aptos"/>
                <a:cs typeface="Aptos"/>
              </a:defRPr>
            </a:pPr>
            <a:r>
              <a:rPr sz="1200" b="1">
                <a:solidFill>
                  <a:srgbClr val="142D45"/>
                </a:solidFill>
                <a:latin typeface="Aptos"/>
                <a:ea typeface="Aptos"/>
                <a:cs typeface="Aptos"/>
              </a:rPr>
              <a:t>run ID · ruta · workflow</a:t>
            </a:r>
          </a:p>
          <a:p xmlns:a="http://schemas.openxmlformats.org/drawingml/2006/main">
            <a:pPr algn="ctr">
              <a:buNone/>
              <a:defRPr sz="1200" b="1">
                <a:solidFill>
                  <a:srgbClr val="142D45"/>
                </a:solidFill>
                <a:latin typeface="Aptos"/>
                <a:ea typeface="Aptos"/>
                <a:cs typeface="Aptos"/>
              </a:defRPr>
            </a:pPr>
            <a:r>
              <a:rPr sz="1200" b="1">
                <a:solidFill>
                  <a:srgbClr val="142D45"/>
                </a:solidFill>
                <a:latin typeface="Aptos"/>
                <a:ea typeface="Aptos"/>
                <a:cs typeface="Aptos"/>
              </a:rPr>
              <a:t>parámetros · resultado · diagnósticos</a:t>
            </a:r>
          </a:p>
        </p:txBody>
      </p:sp>
      <p:sp>
        <p:nvSpPr>
          <p:cNvPr id="10" name="entity-execution-model-profile">
            <a:extLst xmlns:a="http://schemas.openxmlformats.org/drawingml/2006/main">
              <a:ext uri="{FF2B5EF4-FFF2-40B4-BE49-F238E27FC236}">
                <a16:creationId xmlns:a16="http://schemas.microsoft.com/office/drawing/2014/main" id="{CA69E5AC-C4D3-471F-BBBA-02BEC37719F3}"/>
              </a:ext>
            </a:extLst>
          </p:cNvPr>
          <p:cNvSpPr>
            <a:spLocks xmlns:a="http://schemas.openxmlformats.org/drawingml/2006/main" noGrp="1"/>
          </p:cNvSpPr>
          <p:nvPr/>
        </p:nvSpPr>
        <p:spPr>
          <a:xfrm xmlns:a="http://schemas.openxmlformats.org/drawingml/2006/main">
            <a:off x="714375" y="3924300"/>
            <a:ext cx="2571750" cy="1219200"/>
          </a:xfrm>
          <a:prstGeom xmlns:a="http://schemas.openxmlformats.org/drawingml/2006/main" prst="roundRect">
            <a:avLst>
              <a:gd name="adj" fmla="val 7031"/>
            </a:avLst>
          </a:prstGeom>
          <a:solidFill xmlns:a="http://schemas.openxmlformats.org/drawingml/2006/main">
            <a:srgbClr val="FFF4D6"/>
          </a:solidFill>
          <a:ln xmlns:a="http://schemas.openxmlformats.org/drawingml/2006/main" w="14288">
            <a:solidFill>
              <a:srgbClr val="B45309"/>
            </a:solidFill>
            <a:prstDash val="solid"/>
          </a:ln>
        </p:spPr>
        <p:txBody>
          <a:bodyPr xmlns:a="http://schemas.openxmlformats.org/drawingml/2006/main" wrap="square" lIns="85725" tIns="57150" rIns="85725" bIns="57150" anchor="ctr">
            <a:normAutofit fontScale="100000"/>
          </a:bodyPr>
          <a:lstStyle xmlns:a="http://schemas.openxmlformats.org/drawingml/2006/main"/>
          <a:p xmlns:a="http://schemas.openxmlformats.org/drawingml/2006/main">
            <a:pPr algn="ctr">
              <a:buNone/>
              <a:defRPr sz="1125" b="1">
                <a:solidFill>
                  <a:srgbClr val="142D45"/>
                </a:solidFill>
                <a:latin typeface="Aptos"/>
                <a:ea typeface="Aptos"/>
                <a:cs typeface="Aptos"/>
              </a:defRPr>
            </a:pPr>
            <a:r>
              <a:rPr sz="1125" b="1">
                <a:solidFill>
                  <a:srgbClr val="142D45"/>
                </a:solidFill>
                <a:latin typeface="Aptos"/>
                <a:ea typeface="Aptos"/>
                <a:cs typeface="Aptos"/>
              </a:rPr>
              <a:t>ExecutionModelProfile</a:t>
            </a:r>
          </a:p>
          <a:p xmlns:a="http://schemas.openxmlformats.org/drawingml/2006/main">
            <a:pPr algn="ctr">
              <a:buNone/>
              <a:defRPr sz="1125" b="1">
                <a:solidFill>
                  <a:srgbClr val="142D45"/>
                </a:solidFill>
                <a:latin typeface="Aptos"/>
                <a:ea typeface="Aptos"/>
                <a:cs typeface="Aptos"/>
              </a:defRPr>
            </a:pPr>
            <a:r>
              <a:rPr sz="1125" b="1">
                <a:solidFill>
                  <a:srgbClr val="142D45"/>
                </a:solidFill>
                <a:latin typeface="Aptos"/>
                <a:ea typeface="Aptos"/>
                <a:cs typeface="Aptos"/>
              </a:rPr>
              <a:t>versiones · universe · submit host</a:t>
            </a:r>
          </a:p>
          <a:p xmlns:a="http://schemas.openxmlformats.org/drawingml/2006/main">
            <a:pPr algn="ctr">
              <a:buNone/>
              <a:defRPr sz="1125" b="1">
                <a:solidFill>
                  <a:srgbClr val="142D45"/>
                </a:solidFill>
                <a:latin typeface="Aptos"/>
                <a:ea typeface="Aptos"/>
                <a:cs typeface="Aptos"/>
              </a:defRPr>
            </a:pPr>
            <a:r>
              <a:rPr sz="1125" b="1">
                <a:solidFill>
                  <a:srgbClr val="142D45"/>
                </a:solidFill>
                <a:latin typeface="Aptos"/>
                <a:ea typeface="Aptos"/>
                <a:cs typeface="Aptos"/>
              </a:rPr>
              <a:t>políticas · plugins · soporte/razones</a:t>
            </a:r>
          </a:p>
        </p:txBody>
      </p:sp>
      <p:sp>
        <p:nvSpPr>
          <p:cNvPr id="11" name="entity-task-execution">
            <a:extLst xmlns:a="http://schemas.openxmlformats.org/drawingml/2006/main">
              <a:ext uri="{FF2B5EF4-FFF2-40B4-BE49-F238E27FC236}">
                <a16:creationId xmlns:a16="http://schemas.microsoft.com/office/drawing/2014/main" id="{0FCEEF61-5559-43CE-94B3-D3A4579384BD}"/>
              </a:ext>
            </a:extLst>
          </p:cNvPr>
          <p:cNvSpPr>
            <a:spLocks xmlns:a="http://schemas.openxmlformats.org/drawingml/2006/main" noGrp="1"/>
          </p:cNvSpPr>
          <p:nvPr/>
        </p:nvSpPr>
        <p:spPr>
          <a:xfrm xmlns:a="http://schemas.openxmlformats.org/drawingml/2006/main">
            <a:off x="4143375" y="1809750"/>
            <a:ext cx="2857500" cy="1123950"/>
          </a:xfrm>
          <a:prstGeom xmlns:a="http://schemas.openxmlformats.org/drawingml/2006/main" prst="roundRect">
            <a:avLst>
              <a:gd name="adj" fmla="val 7627"/>
            </a:avLst>
          </a:prstGeom>
          <a:solidFill xmlns:a="http://schemas.openxmlformats.org/drawingml/2006/main">
            <a:srgbClr val="FFFFFF"/>
          </a:solidFill>
          <a:ln xmlns:a="http://schemas.openxmlformats.org/drawingml/2006/main" w="14288">
            <a:solidFill>
              <a:srgbClr val="2563EB"/>
            </a:solidFill>
            <a:prstDash val="solid"/>
          </a:ln>
        </p:spPr>
        <p:txBody>
          <a:bodyPr xmlns:a="http://schemas.openxmlformats.org/drawingml/2006/main" wrap="square" lIns="85725" tIns="57150" rIns="85725" bIns="57150" anchor="ctr">
            <a:normAutofit fontScale="100000"/>
          </a:bodyPr>
          <a:lstStyle xmlns:a="http://schemas.openxmlformats.org/drawingml/2006/main"/>
          <a:p xmlns:a="http://schemas.openxmlformats.org/drawingml/2006/main">
            <a:pPr algn="ctr">
              <a:buNone/>
              <a:defRPr sz="1200" b="1">
                <a:solidFill>
                  <a:srgbClr val="142D45"/>
                </a:solidFill>
                <a:latin typeface="Aptos"/>
                <a:ea typeface="Aptos"/>
                <a:cs typeface="Aptos"/>
              </a:defRPr>
            </a:pPr>
            <a:r>
              <a:rPr sz="1200" b="1">
                <a:solidFill>
                  <a:srgbClr val="142D45"/>
                </a:solidFill>
                <a:latin typeface="Aptos"/>
                <a:ea typeface="Aptos"/>
                <a:cs typeface="Aptos"/>
              </a:rPr>
              <a:t>TaskExecution</a:t>
            </a:r>
          </a:p>
          <a:p xmlns:a="http://schemas.openxmlformats.org/drawingml/2006/main">
            <a:pPr algn="ctr">
              <a:buNone/>
              <a:defRPr sz="1200" b="1">
                <a:solidFill>
                  <a:srgbClr val="142D45"/>
                </a:solidFill>
                <a:latin typeface="Aptos"/>
                <a:ea typeface="Aptos"/>
                <a:cs typeface="Aptos"/>
              </a:defRPr>
            </a:pPr>
            <a:r>
              <a:rPr sz="1200" b="1">
                <a:solidFill>
                  <a:srgbClr val="142D45"/>
                </a:solidFill>
                <a:latin typeface="Aptos"/>
                <a:ea typeface="Aptos"/>
                <a:cs typeface="Aptos"/>
              </a:rPr>
              <a:t>ID Pegasus/DAG + job HTCondor</a:t>
            </a:r>
          </a:p>
          <a:p xmlns:a="http://schemas.openxmlformats.org/drawingml/2006/main">
            <a:pPr algn="ctr">
              <a:buNone/>
              <a:defRPr sz="1200" b="1">
                <a:solidFill>
                  <a:srgbClr val="142D45"/>
                </a:solidFill>
                <a:latin typeface="Aptos"/>
                <a:ea typeface="Aptos"/>
                <a:cs typeface="Aptos"/>
              </a:defRPr>
            </a:pPr>
            <a:r>
              <a:rPr sz="1200" b="1">
                <a:solidFill>
                  <a:srgbClr val="142D45"/>
                </a:solidFill>
                <a:latin typeface="Aptos"/>
                <a:ea typeface="Aptos"/>
                <a:cs typeface="Aptos"/>
              </a:rPr>
              <a:t>worker · estado · exit · intentos</a:t>
            </a:r>
          </a:p>
        </p:txBody>
      </p:sp>
      <p:sp>
        <p:nvSpPr>
          <p:cNvPr id="12" name="entity-location">
            <a:extLst xmlns:a="http://schemas.openxmlformats.org/drawingml/2006/main">
              <a:ext uri="{FF2B5EF4-FFF2-40B4-BE49-F238E27FC236}">
                <a16:creationId xmlns:a16="http://schemas.microsoft.com/office/drawing/2014/main" id="{BAA0779A-F92C-4BCD-B811-C58055B327D2}"/>
              </a:ext>
            </a:extLst>
          </p:cNvPr>
          <p:cNvSpPr>
            <a:spLocks xmlns:a="http://schemas.openxmlformats.org/drawingml/2006/main" noGrp="1"/>
          </p:cNvSpPr>
          <p:nvPr/>
        </p:nvSpPr>
        <p:spPr>
          <a:xfrm xmlns:a="http://schemas.openxmlformats.org/drawingml/2006/main">
            <a:off x="4143375" y="3924300"/>
            <a:ext cx="2857500" cy="1066800"/>
          </a:xfrm>
          <a:prstGeom xmlns:a="http://schemas.openxmlformats.org/drawingml/2006/main" prst="roundRect">
            <a:avLst>
              <a:gd name="adj" fmla="val 8036"/>
            </a:avLst>
          </a:prstGeom>
          <a:solidFill xmlns:a="http://schemas.openxmlformats.org/drawingml/2006/main">
            <a:srgbClr val="FFFFFF"/>
          </a:solidFill>
          <a:ln xmlns:a="http://schemas.openxmlformats.org/drawingml/2006/main" w="14288">
            <a:solidFill>
              <a:srgbClr val="0F766E"/>
            </a:solidFill>
            <a:prstDash val="solid"/>
          </a:ln>
        </p:spPr>
        <p:txBody>
          <a:bodyPr xmlns:a="http://schemas.openxmlformats.org/drawingml/2006/main" wrap="square" lIns="85725" tIns="57150" rIns="85725" bIns="57150" anchor="ctr">
            <a:normAutofit fontScale="100000"/>
          </a:bodyPr>
          <a:lstStyle xmlns:a="http://schemas.openxmlformats.org/drawingml/2006/main"/>
          <a:p xmlns:a="http://schemas.openxmlformats.org/drawingml/2006/main">
            <a:pPr algn="ctr">
              <a:buNone/>
              <a:defRPr sz="1200" b="1">
                <a:solidFill>
                  <a:srgbClr val="142D45"/>
                </a:solidFill>
                <a:latin typeface="Aptos"/>
                <a:ea typeface="Aptos"/>
                <a:cs typeface="Aptos"/>
              </a:defRPr>
            </a:pPr>
            <a:r>
              <a:rPr sz="1200" b="1">
                <a:solidFill>
                  <a:srgbClr val="142D45"/>
                </a:solidFill>
                <a:latin typeface="Aptos"/>
                <a:ea typeface="Aptos"/>
                <a:cs typeface="Aptos"/>
              </a:rPr>
              <a:t>Location</a:t>
            </a:r>
          </a:p>
          <a:p xmlns:a="http://schemas.openxmlformats.org/drawingml/2006/main">
            <a:pPr algn="ctr">
              <a:buNone/>
              <a:defRPr sz="1200" b="1">
                <a:solidFill>
                  <a:srgbClr val="142D45"/>
                </a:solidFill>
                <a:latin typeface="Aptos"/>
                <a:ea typeface="Aptos"/>
                <a:cs typeface="Aptos"/>
              </a:defRPr>
            </a:pPr>
            <a:r>
              <a:rPr sz="1200" b="1">
                <a:solidFill>
                  <a:srgbClr val="142D45"/>
                </a:solidFill>
                <a:latin typeface="Aptos"/>
                <a:ea typeface="Aptos"/>
                <a:cs typeface="Aptos"/>
              </a:rPr>
              <a:t>ID · tipo de ubicación</a:t>
            </a:r>
          </a:p>
          <a:p xmlns:a="http://schemas.openxmlformats.org/drawingml/2006/main">
            <a:pPr algn="ctr">
              <a:buNone/>
              <a:defRPr sz="1200" b="1">
                <a:solidFill>
                  <a:srgbClr val="142D45"/>
                </a:solidFill>
                <a:latin typeface="Aptos"/>
                <a:ea typeface="Aptos"/>
                <a:cs typeface="Aptos"/>
              </a:defRPr>
            </a:pPr>
            <a:r>
              <a:rPr sz="1200" b="1">
                <a:solidFill>
                  <a:srgbClr val="142D45"/>
                </a:solidFill>
                <a:latin typeface="Aptos"/>
                <a:ea typeface="Aptos"/>
                <a:cs typeface="Aptos"/>
              </a:rPr>
              <a:t>valores crudos · procedencia</a:t>
            </a:r>
          </a:p>
        </p:txBody>
      </p:sp>
      <p:sp>
        <p:nvSpPr>
          <p:cNvPr id="13" name="entity-scientific-file">
            <a:extLst xmlns:a="http://schemas.openxmlformats.org/drawingml/2006/main">
              <a:ext uri="{FF2B5EF4-FFF2-40B4-BE49-F238E27FC236}">
                <a16:creationId xmlns:a16="http://schemas.microsoft.com/office/drawing/2014/main" id="{9FD6B2B4-195B-43D9-AF1B-1AB91F38EF9C}"/>
              </a:ext>
            </a:extLst>
          </p:cNvPr>
          <p:cNvSpPr>
            <a:spLocks xmlns:a="http://schemas.openxmlformats.org/drawingml/2006/main" noGrp="1"/>
          </p:cNvSpPr>
          <p:nvPr/>
        </p:nvSpPr>
        <p:spPr>
          <a:xfrm xmlns:a="http://schemas.openxmlformats.org/drawingml/2006/main">
            <a:off x="7858125" y="1809750"/>
            <a:ext cx="3429000" cy="1123950"/>
          </a:xfrm>
          <a:prstGeom xmlns:a="http://schemas.openxmlformats.org/drawingml/2006/main" prst="roundRect">
            <a:avLst>
              <a:gd name="adj" fmla="val 7627"/>
            </a:avLst>
          </a:prstGeom>
          <a:solidFill xmlns:a="http://schemas.openxmlformats.org/drawingml/2006/main">
            <a:srgbClr val="EAF7EE"/>
          </a:solidFill>
          <a:ln xmlns:a="http://schemas.openxmlformats.org/drawingml/2006/main" w="14288">
            <a:solidFill>
              <a:srgbClr val="15803D"/>
            </a:solidFill>
            <a:prstDash val="solid"/>
          </a:ln>
        </p:spPr>
        <p:txBody>
          <a:bodyPr xmlns:a="http://schemas.openxmlformats.org/drawingml/2006/main" wrap="square" lIns="85725" tIns="57150" rIns="85725" bIns="57150" anchor="ctr">
            <a:normAutofit fontScale="100000"/>
          </a:bodyPr>
          <a:lstStyle xmlns:a="http://schemas.openxmlformats.org/drawingml/2006/main"/>
          <a:p xmlns:a="http://schemas.openxmlformats.org/drawingml/2006/main">
            <a:pPr algn="ctr">
              <a:buNone/>
              <a:defRPr sz="1200" b="1">
                <a:solidFill>
                  <a:srgbClr val="142D45"/>
                </a:solidFill>
                <a:latin typeface="Aptos"/>
                <a:ea typeface="Aptos"/>
                <a:cs typeface="Aptos"/>
              </a:defRPr>
            </a:pPr>
            <a:r>
              <a:rPr sz="1200" b="1">
                <a:solidFill>
                  <a:srgbClr val="142D45"/>
                </a:solidFill>
                <a:latin typeface="Aptos"/>
                <a:ea typeface="Aptos"/>
                <a:cs typeface="Aptos"/>
              </a:rPr>
              <a:t>ScientificFile</a:t>
            </a:r>
          </a:p>
          <a:p xmlns:a="http://schemas.openxmlformats.org/drawingml/2006/main">
            <a:pPr algn="ctr">
              <a:buNone/>
              <a:defRPr sz="1200" b="1">
                <a:solidFill>
                  <a:srgbClr val="142D45"/>
                </a:solidFill>
                <a:latin typeface="Aptos"/>
                <a:ea typeface="Aptos"/>
                <a:cs typeface="Aptos"/>
              </a:defRPr>
            </a:pPr>
            <a:r>
              <a:rPr sz="1200" b="1">
                <a:solidFill>
                  <a:srgbClr val="142D45"/>
                </a:solidFill>
                <a:latin typeface="Aptos"/>
                <a:ea typeface="Aptos"/>
                <a:cs typeface="Aptos"/>
              </a:rPr>
              <a:t>LFN · referencias físicas · roles</a:t>
            </a:r>
          </a:p>
          <a:p xmlns:a="http://schemas.openxmlformats.org/drawingml/2006/main">
            <a:pPr algn="ctr">
              <a:buNone/>
              <a:defRPr sz="1200" b="1">
                <a:solidFill>
                  <a:srgbClr val="142D45"/>
                </a:solidFill>
                <a:latin typeface="Aptos"/>
                <a:ea typeface="Aptos"/>
                <a:cs typeface="Aptos"/>
              </a:defRPr>
            </a:pPr>
            <a:r>
              <a:rPr sz="1200" b="1">
                <a:solidFill>
                  <a:srgbClr val="142D45"/>
                </a:solidFill>
                <a:latin typeface="Aptos"/>
                <a:ea typeface="Aptos"/>
                <a:cs typeface="Aptos"/>
              </a:rPr>
              <a:t>tamaño · productor · consumers</a:t>
            </a:r>
          </a:p>
        </p:txBody>
      </p:sp>
      <p:cxnSp>
        <p:nvCxnSpPr>
          <p:cNvPr id="105" name=""/>
          <p:cNvCxnSpPr>
            <a:stCxn xmlns:a="http://schemas.openxmlformats.org/drawingml/2006/main" id="9" idx="3"/>
            <a:endCxn xmlns:a="http://schemas.openxmlformats.org/drawingml/2006/main" id="11" idx="1"/>
          </p:cNvCxnSpPr>
          <p:nvPr/>
        </p:nvCxnSpPr>
        <p:spPr>
          <a:xfrm xmlns:a="http://schemas.openxmlformats.org/drawingml/2006/main">
            <a:off x="3286125" y="2371725"/>
            <a:ext cx="857250" cy="0"/>
          </a:xfrm>
          <a:prstGeom xmlns:a="http://schemas.openxmlformats.org/drawingml/2006/main" prst="straightConnector1">
            <a:avLst/>
          </a:prstGeom>
          <a:ln xmlns:a="http://schemas.openxmlformats.org/drawingml/2006/main" w="17145">
            <a:solidFill>
              <a:srgbClr val="2563EB"/>
            </a:solidFill>
            <a:prstDash val="solid"/>
            <a:tailEnd type="triangle" w="sm" len="sm"/>
          </a:ln>
        </p:spPr>
      </p:cxnSp>
      <p:cxnSp>
        <p:nvCxnSpPr>
          <p:cNvPr id="106" name=""/>
          <p:cNvCxnSpPr>
            <a:stCxn xmlns:a="http://schemas.openxmlformats.org/drawingml/2006/main" id="9" idx="2"/>
            <a:endCxn xmlns:a="http://schemas.openxmlformats.org/drawingml/2006/main" id="10" idx="0"/>
          </p:cNvCxnSpPr>
          <p:nvPr/>
        </p:nvCxnSpPr>
        <p:spPr>
          <a:xfrm xmlns:a="http://schemas.openxmlformats.org/drawingml/2006/main">
            <a:off x="2000250" y="2933700"/>
            <a:ext cx="0" cy="990600"/>
          </a:xfrm>
          <a:prstGeom xmlns:a="http://schemas.openxmlformats.org/drawingml/2006/main" prst="straightConnector1">
            <a:avLst/>
          </a:prstGeom>
          <a:ln xmlns:a="http://schemas.openxmlformats.org/drawingml/2006/main" w="17145">
            <a:solidFill>
              <a:srgbClr val="B45309"/>
            </a:solidFill>
            <a:prstDash val="solid"/>
            <a:tailEnd type="triangle" w="sm" len="sm"/>
          </a:ln>
        </p:spPr>
      </p:cxnSp>
      <p:cxnSp>
        <p:nvCxnSpPr>
          <p:cNvPr id="107" name=""/>
          <p:cNvCxnSpPr>
            <a:stCxn xmlns:a="http://schemas.openxmlformats.org/drawingml/2006/main" id="11" idx="2"/>
            <a:endCxn xmlns:a="http://schemas.openxmlformats.org/drawingml/2006/main" id="12" idx="0"/>
          </p:cNvCxnSpPr>
          <p:nvPr/>
        </p:nvCxnSpPr>
        <p:spPr>
          <a:xfrm xmlns:a="http://schemas.openxmlformats.org/drawingml/2006/main">
            <a:off x="5572125" y="2933700"/>
            <a:ext cx="0" cy="990600"/>
          </a:xfrm>
          <a:prstGeom xmlns:a="http://schemas.openxmlformats.org/drawingml/2006/main" prst="straightConnector1">
            <a:avLst/>
          </a:prstGeom>
          <a:ln xmlns:a="http://schemas.openxmlformats.org/drawingml/2006/main" w="17145">
            <a:solidFill>
              <a:srgbClr val="0F766E"/>
            </a:solidFill>
            <a:prstDash val="solid"/>
            <a:tailEnd type="triangle" w="sm" len="sm"/>
          </a:ln>
        </p:spPr>
      </p:cxnSp>
      <p:cxnSp>
        <p:nvCxnSpPr>
          <p:cNvPr id="108" name=""/>
          <p:cNvCxnSpPr>
            <a:stCxn xmlns:a="http://schemas.openxmlformats.org/drawingml/2006/main" id="11" idx="3"/>
            <a:endCxn xmlns:a="http://schemas.openxmlformats.org/drawingml/2006/main" id="13" idx="1"/>
          </p:cNvCxnSpPr>
          <p:nvPr/>
        </p:nvCxnSpPr>
        <p:spPr>
          <a:xfrm xmlns:a="http://schemas.openxmlformats.org/drawingml/2006/main">
            <a:off x="7000875" y="2371725"/>
            <a:ext cx="857250" cy="0"/>
          </a:xfrm>
          <a:prstGeom xmlns:a="http://schemas.openxmlformats.org/drawingml/2006/main" prst="straightConnector1">
            <a:avLst/>
          </a:prstGeom>
          <a:ln xmlns:a="http://schemas.openxmlformats.org/drawingml/2006/main" w="17145">
            <a:solidFill>
              <a:srgbClr val="15803D"/>
            </a:solidFill>
            <a:prstDash val="solid"/>
            <a:tailEnd type="triangle" w="sm" len="sm"/>
          </a:ln>
        </p:spPr>
      </p:cxnSp>
      <p:sp>
        <p:nvSpPr>
          <p:cNvPr id="18" name="rel-run-tasks">
            <a:extLst xmlns:a="http://schemas.openxmlformats.org/drawingml/2006/main">
              <a:ext uri="{FF2B5EF4-FFF2-40B4-BE49-F238E27FC236}">
                <a16:creationId xmlns:a16="http://schemas.microsoft.com/office/drawing/2014/main" id="{0D00D41D-F094-4893-9209-AF1878B32E1A}"/>
              </a:ext>
            </a:extLst>
          </p:cNvPr>
          <p:cNvSpPr>
            <a:spLocks xmlns:a="http://schemas.openxmlformats.org/drawingml/2006/main" noGrp="1"/>
          </p:cNvSpPr>
          <p:nvPr/>
        </p:nvSpPr>
        <p:spPr>
          <a:xfrm xmlns:a="http://schemas.openxmlformats.org/drawingml/2006/main">
            <a:off x="3371850" y="2019300"/>
            <a:ext cx="685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buNone/>
              <a:defRPr sz="900" b="0">
                <a:solidFill>
                  <a:srgbClr val="65758B"/>
                </a:solidFill>
                <a:latin typeface="Aptos"/>
                <a:ea typeface="Aptos"/>
                <a:cs typeface="Aptos"/>
              </a:defRPr>
            </a:pPr>
            <a:r>
              <a:rPr sz="900" b="0">
                <a:solidFill>
                  <a:srgbClr val="65758B"/>
                </a:solidFill>
                <a:latin typeface="Aptos"/>
                <a:ea typeface="Aptos"/>
                <a:cs typeface="Aptos"/>
              </a:rPr>
              <a:t>1 : N</a:t>
            </a:r>
          </a:p>
        </p:txBody>
      </p:sp>
      <p:sp>
        <p:nvSpPr>
          <p:cNvPr id="19" name="rel-run-profile">
            <a:extLst xmlns:a="http://schemas.openxmlformats.org/drawingml/2006/main">
              <a:ext uri="{FF2B5EF4-FFF2-40B4-BE49-F238E27FC236}">
                <a16:creationId xmlns:a16="http://schemas.microsoft.com/office/drawing/2014/main" id="{E7CD877F-E7BA-4EDB-BE9C-0FCDA45B0CDA}"/>
              </a:ext>
            </a:extLst>
          </p:cNvPr>
          <p:cNvSpPr>
            <a:spLocks xmlns:a="http://schemas.openxmlformats.org/drawingml/2006/main" noGrp="1"/>
          </p:cNvSpPr>
          <p:nvPr/>
        </p:nvSpPr>
        <p:spPr>
          <a:xfrm xmlns:a="http://schemas.openxmlformats.org/drawingml/2006/main">
            <a:off x="857250" y="3286125"/>
            <a:ext cx="100012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buNone/>
              <a:defRPr sz="900" b="0">
                <a:solidFill>
                  <a:srgbClr val="65758B"/>
                </a:solidFill>
                <a:latin typeface="Aptos"/>
                <a:ea typeface="Aptos"/>
                <a:cs typeface="Aptos"/>
              </a:defRPr>
            </a:pPr>
            <a:r>
              <a:rPr sz="900" b="0">
                <a:solidFill>
                  <a:srgbClr val="65758B"/>
                </a:solidFill>
                <a:latin typeface="Aptos"/>
                <a:ea typeface="Aptos"/>
                <a:cs typeface="Aptos"/>
              </a:rPr>
              <a:t>1 : 1 perfil</a:t>
            </a:r>
          </a:p>
        </p:txBody>
      </p:sp>
      <p:sp>
        <p:nvSpPr>
          <p:cNvPr id="20" name="rel-task-location">
            <a:extLst xmlns:a="http://schemas.openxmlformats.org/drawingml/2006/main">
              <a:ext uri="{FF2B5EF4-FFF2-40B4-BE49-F238E27FC236}">
                <a16:creationId xmlns:a16="http://schemas.microsoft.com/office/drawing/2014/main" id="{B0FEBF5A-86ED-4851-A168-52D4EAF3623D}"/>
              </a:ext>
            </a:extLst>
          </p:cNvPr>
          <p:cNvSpPr>
            <a:spLocks xmlns:a="http://schemas.openxmlformats.org/drawingml/2006/main" noGrp="1"/>
          </p:cNvSpPr>
          <p:nvPr/>
        </p:nvSpPr>
        <p:spPr>
          <a:xfrm xmlns:a="http://schemas.openxmlformats.org/drawingml/2006/main">
            <a:off x="4333875" y="3286125"/>
            <a:ext cx="1066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buNone/>
              <a:defRPr sz="900" b="0">
                <a:solidFill>
                  <a:srgbClr val="65758B"/>
                </a:solidFill>
                <a:latin typeface="Aptos"/>
                <a:ea typeface="Aptos"/>
                <a:cs typeface="Aptos"/>
              </a:defRPr>
            </a:pPr>
            <a:r>
              <a:rPr sz="900" b="0">
                <a:solidFill>
                  <a:srgbClr val="65758B"/>
                </a:solidFill>
                <a:latin typeface="Aptos"/>
                <a:ea typeface="Aptos"/>
                <a:cs typeface="Aptos"/>
              </a:rPr>
              <a:t>worker / placement</a:t>
            </a:r>
          </a:p>
        </p:txBody>
      </p:sp>
      <p:sp>
        <p:nvSpPr>
          <p:cNvPr id="21" name="rel-task-file">
            <a:extLst xmlns:a="http://schemas.openxmlformats.org/drawingml/2006/main">
              <a:ext uri="{FF2B5EF4-FFF2-40B4-BE49-F238E27FC236}">
                <a16:creationId xmlns:a16="http://schemas.microsoft.com/office/drawing/2014/main" id="{EFBE69FC-2071-4898-8EDA-76E12FCC628A}"/>
              </a:ext>
            </a:extLst>
          </p:cNvPr>
          <p:cNvSpPr>
            <a:spLocks xmlns:a="http://schemas.openxmlformats.org/drawingml/2006/main" noGrp="1"/>
          </p:cNvSpPr>
          <p:nvPr/>
        </p:nvSpPr>
        <p:spPr>
          <a:xfrm xmlns:a="http://schemas.openxmlformats.org/drawingml/2006/main">
            <a:off x="7115175" y="2009775"/>
            <a:ext cx="7239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buNone/>
              <a:defRPr sz="825" b="0">
                <a:solidFill>
                  <a:srgbClr val="65758B"/>
                </a:solidFill>
                <a:latin typeface="Aptos"/>
                <a:ea typeface="Aptos"/>
                <a:cs typeface="Aptos"/>
              </a:defRPr>
            </a:pPr>
            <a:r>
              <a:rPr sz="825" b="0">
                <a:solidFill>
                  <a:srgbClr val="65758B"/>
                </a:solidFill>
                <a:latin typeface="Aptos"/>
                <a:ea typeface="Aptos"/>
                <a:cs typeface="Aptos"/>
              </a:rPr>
              <a:t>productor / consumer</a:t>
            </a:r>
          </a:p>
        </p:txBody>
      </p:sp>
      <p:sp>
        <p:nvSpPr>
          <p:cNvPr id="22" name="entity-provenance-crosscut">
            <a:extLst xmlns:a="http://schemas.openxmlformats.org/drawingml/2006/main">
              <a:ext uri="{FF2B5EF4-FFF2-40B4-BE49-F238E27FC236}">
                <a16:creationId xmlns:a16="http://schemas.microsoft.com/office/drawing/2014/main" id="{0BB5ED96-DD1F-4871-87B0-9CB4257DF787}"/>
              </a:ext>
            </a:extLst>
          </p:cNvPr>
          <p:cNvSpPr>
            <a:spLocks xmlns:a="http://schemas.openxmlformats.org/drawingml/2006/main" noGrp="1"/>
          </p:cNvSpPr>
          <p:nvPr/>
        </p:nvSpPr>
        <p:spPr>
          <a:xfrm xmlns:a="http://schemas.openxmlformats.org/drawingml/2006/main">
            <a:off x="714375" y="5314950"/>
            <a:ext cx="10572750" cy="457200"/>
          </a:xfrm>
          <a:prstGeom xmlns:a="http://schemas.openxmlformats.org/drawingml/2006/main" prst="roundRect">
            <a:avLst>
              <a:gd name="adj" fmla="val 18750"/>
            </a:avLst>
          </a:prstGeom>
          <a:solidFill xmlns:a="http://schemas.openxmlformats.org/drawingml/2006/main">
            <a:srgbClr val="F1ECFF"/>
          </a:solidFill>
          <a:ln xmlns:a="http://schemas.openxmlformats.org/drawingml/2006/main" w="14288">
            <a:solidFill>
              <a:srgbClr val="6D28D9"/>
            </a:solidFill>
            <a:prstDash val="solid"/>
          </a:ln>
        </p:spPr>
        <p:txBody>
          <a:bodyPr xmlns:a="http://schemas.openxmlformats.org/drawingml/2006/main" wrap="square" lIns="85725" tIns="57150" rIns="85725" bIns="57150" anchor="ctr">
            <a:normAutofit fontScale="100000"/>
          </a:bodyPr>
          <a:lstStyle xmlns:a="http://schemas.openxmlformats.org/drawingml/2006/main"/>
          <a:p xmlns:a="http://schemas.openxmlformats.org/drawingml/2006/main">
            <a:pPr algn="ctr">
              <a:buNone/>
              <a:defRPr sz="1125" b="1">
                <a:solidFill>
                  <a:srgbClr val="142D45"/>
                </a:solidFill>
                <a:latin typeface="Aptos"/>
                <a:ea typeface="Aptos"/>
                <a:cs typeface="Aptos"/>
              </a:defRPr>
            </a:pPr>
            <a:r>
              <a:rPr sz="1125" b="1">
                <a:solidFill>
                  <a:srgbClr val="142D45"/>
                </a:solidFill>
                <a:latin typeface="Aptos"/>
                <a:ea typeface="Aptos"/>
                <a:cs typeface="Aptos"/>
              </a:rPr>
              <a:t>ProvenanceRef · tipo de fuente · ruta · atributo opcional · hash opcional · notas</a:t>
            </a:r>
          </a:p>
        </p:txBody>
      </p:sp>
      <p:sp>
        <p:nvSpPr>
          <p:cNvPr id="23" name="domain-a-source-note">
            <a:extLst xmlns:a="http://schemas.openxmlformats.org/drawingml/2006/main">
              <a:ext uri="{FF2B5EF4-FFF2-40B4-BE49-F238E27FC236}">
                <a16:creationId xmlns:a16="http://schemas.microsoft.com/office/drawing/2014/main" id="{2289D33E-F0A9-4A72-AD8D-19043C9419BE}"/>
              </a:ext>
            </a:extLst>
          </p:cNvPr>
          <p:cNvSpPr>
            <a:spLocks xmlns:a="http://schemas.openxmlformats.org/drawingml/2006/main" noGrp="1"/>
          </p:cNvSpPr>
          <p:nvPr/>
        </p:nvSpPr>
        <p:spPr>
          <a:xfrm xmlns:a="http://schemas.openxmlformats.org/drawingml/2006/main">
            <a:off x="876300" y="5838825"/>
            <a:ext cx="10439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buNone/>
              <a:defRPr sz="1050" b="0">
                <a:solidFill>
                  <a:srgbClr val="65758B"/>
                </a:solidFill>
                <a:latin typeface="Aptos"/>
                <a:ea typeface="Aptos"/>
                <a:cs typeface="Aptos"/>
              </a:defRPr>
            </a:pPr>
            <a:r>
              <a:rPr sz="1050" b="0">
                <a:solidFill>
                  <a:srgbClr val="65758B"/>
                </a:solidFill>
                <a:latin typeface="Aptos"/>
                <a:ea typeface="Aptos"/>
                <a:cs typeface="Aptos"/>
              </a:rPr>
              <a:t>Referencias asociables al run y a las entidades derivadas; respaldan auditoría de la extracción y de las inferencias.</a:t>
            </a:r>
          </a:p>
        </p:txBody>
      </p:sp>
    </p:spTree>
    <p:extLst>
      <p:ext uri="{BB962C8B-B14F-4D97-AF65-F5344CB8AC3E}">
        <p14:creationId xmlns:p14="http://schemas.microsoft.com/office/powerpoint/2010/main" val="1601332490"/>
      </p:ext>
    </p:extLst>
  </p:cSld>
</p:sld>
</file>

<file path=ppt/slides/slide15.xml><?xml version="1.0" encoding="utf-8"?>
<p:sld xmlns:p="http://schemas.openxmlformats.org/presentationml/2006/main">
  <p:cSld>
    <p:spTree>
      <p:nvGrpSpPr>
        <p:cNvPr id="1" name=""/>
        <p:cNvGrpSpPr/>
        <p:nvPr/>
      </p:nvGrpSpPr>
      <p:grpSpPr>
        <a:xfrm xmlns:a="http://schemas.openxmlformats.org/drawingml/2006/main"/>
      </p:grpSpPr>
      <p:sp>
        <p:nvSpPr>
          <p:cNvPr id="20" name="section-accent">
            <a:extLst xmlns:a="http://schemas.openxmlformats.org/drawingml/2006/main">
              <a:ext uri="{FF2B5EF4-FFF2-40B4-BE49-F238E27FC236}">
                <a16:creationId xmlns:a16="http://schemas.microsoft.com/office/drawing/2014/main" id="{50A8EACE-5609-4CB5-A77C-9D17613CE398}"/>
              </a:ext>
            </a:extLst>
          </p:cNvPr>
          <p:cNvSpPr>
            <a:spLocks xmlns:a="http://schemas.openxmlformats.org/drawingml/2006/main" noGrp="1"/>
          </p:cNvSpPr>
          <p:nvPr/>
        </p:nvSpPr>
        <p:spPr>
          <a:xfrm xmlns:a="http://schemas.openxmlformats.org/drawingml/2006/main">
            <a:off x="0" y="0"/>
            <a:ext cx="12192000" cy="114300"/>
          </a:xfrm>
          <a:prstGeom xmlns:a="http://schemas.openxmlformats.org/drawingml/2006/main" prst="rect">
            <a:avLst/>
          </a:prstGeom>
          <a:solidFill xmlns:a="http://schemas.openxmlformats.org/drawingml/2006/main">
            <a:srgbClr val="2563EB"/>
          </a:solidFill>
          <a:ln xmlns:a="http://schemas.openxmlformats.org/drawingml/2006/main" w="0">
            <a:solidFill>
              <a:srgbClr val="2563EB"/>
            </a:solidFill>
            <a:prstDash val="solid"/>
          </a:ln>
        </p:spPr>
      </p:sp>
      <p:sp>
        <p:nvSpPr>
          <p:cNvPr id="2" name="section-label">
            <a:extLst xmlns:a="http://schemas.openxmlformats.org/drawingml/2006/main">
              <a:ext uri="{FF2B5EF4-FFF2-40B4-BE49-F238E27FC236}">
                <a16:creationId xmlns:a16="http://schemas.microsoft.com/office/drawing/2014/main" id="{2C939FC3-F892-4C9B-A3B4-3A976402262A}"/>
              </a:ext>
            </a:extLst>
          </p:cNvPr>
          <p:cNvSpPr>
            <a:spLocks xmlns:a="http://schemas.openxmlformats.org/drawingml/2006/main" noGrp="1"/>
          </p:cNvSpPr>
          <p:nvPr/>
        </p:nvSpPr>
        <p:spPr>
          <a:xfrm xmlns:a="http://schemas.openxmlformats.org/drawingml/2006/main">
            <a:off x="647700" y="352425"/>
            <a:ext cx="10668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buNone/>
              <a:defRPr sz="825" b="1">
                <a:solidFill>
                  <a:srgbClr val="2563EB"/>
                </a:solidFill>
                <a:latin typeface="Aptos"/>
                <a:ea typeface="Aptos"/>
                <a:cs typeface="Aptos"/>
              </a:defRPr>
            </a:pPr>
            <a:r>
              <a:rPr sz="825" b="1">
                <a:solidFill>
                  <a:srgbClr val="2563EB"/>
                </a:solidFill>
                <a:latin typeface="Aptos"/>
                <a:ea typeface="Aptos"/>
                <a:cs typeface="Aptos"/>
              </a:rPr>
              <a:t>INFRAESTRUCTURA</a:t>
            </a:r>
          </a:p>
        </p:txBody>
      </p:sp>
      <p:sp>
        <p:nvSpPr>
          <p:cNvPr id="3" name="slide-heading">
            <a:extLst xmlns:a="http://schemas.openxmlformats.org/drawingml/2006/main">
              <a:ext uri="{FF2B5EF4-FFF2-40B4-BE49-F238E27FC236}">
                <a16:creationId xmlns:a16="http://schemas.microsoft.com/office/drawing/2014/main" id="{C36B2456-0410-4413-937E-59F0F277746D}"/>
              </a:ext>
            </a:extLst>
          </p:cNvPr>
          <p:cNvSpPr>
            <a:spLocks xmlns:a="http://schemas.openxmlformats.org/drawingml/2006/main" noGrp="1"/>
          </p:cNvSpPr>
          <p:nvPr/>
        </p:nvSpPr>
        <p:spPr>
          <a:xfrm xmlns:a="http://schemas.openxmlformats.org/drawingml/2006/main">
            <a:off x="609600" y="619125"/>
            <a:ext cx="109537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buNone/>
              <a:defRPr sz="2250" b="1">
                <a:solidFill>
                  <a:srgbClr val="142D45"/>
                </a:solidFill>
                <a:latin typeface="Aptos"/>
                <a:ea typeface="Aptos"/>
                <a:cs typeface="Aptos"/>
              </a:defRPr>
            </a:pPr>
            <a:r>
              <a:rPr sz="2250" b="1">
                <a:solidFill>
                  <a:srgbClr val="142D45"/>
                </a:solidFill>
                <a:latin typeface="Aptos"/>
                <a:ea typeface="Aptos"/>
                <a:cs typeface="Aptos"/>
              </a:rPr>
              <a:t>14. Modelo de despliegue del pool Pegasus/HTCondor</a:t>
            </a:r>
          </a:p>
        </p:txBody>
      </p:sp>
      <p:sp>
        <p:nvSpPr>
          <p:cNvPr id="4" name="slide-subtitle">
            <a:extLst xmlns:a="http://schemas.openxmlformats.org/drawingml/2006/main">
              <a:ext uri="{FF2B5EF4-FFF2-40B4-BE49-F238E27FC236}">
                <a16:creationId xmlns:a16="http://schemas.microsoft.com/office/drawing/2014/main" id="{20B26B8C-8E1D-4823-8AB9-1BC3542A391F}"/>
              </a:ext>
            </a:extLst>
          </p:cNvPr>
          <p:cNvSpPr>
            <a:spLocks xmlns:a="http://schemas.openxmlformats.org/drawingml/2006/main" noGrp="1"/>
          </p:cNvSpPr>
          <p:nvPr/>
        </p:nvSpPr>
        <p:spPr>
          <a:xfrm xmlns:a="http://schemas.openxmlformats.org/drawingml/2006/main">
            <a:off x="647700" y="1219200"/>
            <a:ext cx="10858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buNone/>
              <a:defRPr sz="1163">
                <a:solidFill>
                  <a:srgbClr val="34485D"/>
                </a:solidFill>
                <a:latin typeface="Aptos"/>
                <a:ea typeface="Aptos"/>
                <a:cs typeface="Aptos"/>
              </a:defRPr>
            </a:pPr>
            <a:r>
              <a:rPr sz="1163">
                <a:solidFill>
                  <a:srgbClr val="34485D"/>
                </a:solidFill>
                <a:latin typeface="Aptos"/>
                <a:ea typeface="Aptos"/>
                <a:cs typeface="Aptos"/>
              </a:rPr>
              <a:t>Pool virtualizado observado · Pegasus 5.1.2 · HTCondor 25.12.2 · condorio · jobs vanilla.</a:t>
            </a:r>
          </a:p>
        </p:txBody>
      </p:sp>
      <p:sp>
        <p:nvSpPr>
          <p:cNvPr id="5" name="rule-677-52">
            <a:extLst xmlns:a="http://schemas.openxmlformats.org/drawingml/2006/main">
              <a:ext uri="{FF2B5EF4-FFF2-40B4-BE49-F238E27FC236}">
                <a16:creationId xmlns:a16="http://schemas.microsoft.com/office/drawing/2014/main" id="{AC35B1E6-7D83-487F-BCDE-F4CEAD886FBF}"/>
              </a:ext>
            </a:extLst>
          </p:cNvPr>
          <p:cNvSpPr>
            <a:spLocks xmlns:a="http://schemas.openxmlformats.org/drawingml/2006/main" noGrp="1"/>
          </p:cNvSpPr>
          <p:nvPr/>
        </p:nvSpPr>
        <p:spPr>
          <a:xfrm xmlns:a="http://schemas.openxmlformats.org/drawingml/2006/main">
            <a:off x="495300" y="6448425"/>
            <a:ext cx="11201400" cy="9525"/>
          </a:xfrm>
          <a:prstGeom xmlns:a="http://schemas.openxmlformats.org/drawingml/2006/main" prst="rect">
            <a:avLst/>
          </a:prstGeom>
          <a:solidFill xmlns:a="http://schemas.openxmlformats.org/drawingml/2006/main">
            <a:srgbClr val="CBD5E1"/>
          </a:solidFill>
          <a:ln xmlns:a="http://schemas.openxmlformats.org/drawingml/2006/main" w="0">
            <a:solidFill>
              <a:srgbClr val="CBD5E1"/>
            </a:solidFill>
            <a:prstDash val="solid"/>
          </a:ln>
        </p:spPr>
      </p:sp>
      <p:sp>
        <p:nvSpPr>
          <p:cNvPr id="6" name="footer-label">
            <a:extLst xmlns:a="http://schemas.openxmlformats.org/drawingml/2006/main">
              <a:ext uri="{FF2B5EF4-FFF2-40B4-BE49-F238E27FC236}">
                <a16:creationId xmlns:a16="http://schemas.microsoft.com/office/drawing/2014/main" id="{2953B153-7D83-462E-B88A-47A1B7E8E409}"/>
              </a:ext>
            </a:extLst>
          </p:cNvPr>
          <p:cNvSpPr>
            <a:spLocks xmlns:a="http://schemas.openxmlformats.org/drawingml/2006/main" noGrp="1"/>
          </p:cNvSpPr>
          <p:nvPr/>
        </p:nvSpPr>
        <p:spPr>
          <a:xfrm xmlns:a="http://schemas.openxmlformats.org/drawingml/2006/main">
            <a:off x="590550" y="6496050"/>
            <a:ext cx="9620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buNone/>
              <a:defRPr sz="750">
                <a:solidFill>
                  <a:srgbClr val="64748B"/>
                </a:solidFill>
                <a:latin typeface="Aptos"/>
                <a:ea typeface="Aptos"/>
                <a:cs typeface="Aptos"/>
              </a:defRPr>
            </a:pPr>
            <a:r>
              <a:rPr sz="750">
                <a:solidFill>
                  <a:srgbClr val="64748B"/>
                </a:solidFill>
                <a:latin typeface="Aptos"/>
                <a:ea typeface="Aptos"/>
                <a:cs typeface="Aptos"/>
              </a:rPr>
              <a:t>Infraestructura · relaciones de despliegue</a:t>
            </a:r>
          </a:p>
        </p:txBody>
      </p:sp>
      <p:sp>
        <p:nvSpPr>
          <p:cNvPr id="7" name="folio">
            <a:extLst xmlns:a="http://schemas.openxmlformats.org/drawingml/2006/main">
              <a:ext uri="{FF2B5EF4-FFF2-40B4-BE49-F238E27FC236}">
                <a16:creationId xmlns:a16="http://schemas.microsoft.com/office/drawing/2014/main" id="{0D9183EF-DFA8-4A87-956C-FF15E58DCCD9}"/>
              </a:ext>
            </a:extLst>
          </p:cNvPr>
          <p:cNvSpPr>
            <a:spLocks xmlns:a="http://schemas.openxmlformats.org/drawingml/2006/main" noGrp="1"/>
          </p:cNvSpPr>
          <p:nvPr/>
        </p:nvSpPr>
        <p:spPr>
          <a:xfrm xmlns:a="http://schemas.openxmlformats.org/drawingml/2006/main">
            <a:off x="11201400" y="6496050"/>
            <a:ext cx="4572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r">
              <a:buNone/>
              <a:defRPr sz="750">
                <a:solidFill>
                  <a:srgbClr val="64748B"/>
                </a:solidFill>
                <a:latin typeface="Aptos"/>
                <a:ea typeface="Aptos"/>
                <a:cs typeface="Aptos"/>
              </a:defRPr>
            </a:pPr>
            <a:r>
              <a:rPr sz="750">
                <a:solidFill>
                  <a:srgbClr val="64748B"/>
                </a:solidFill>
                <a:latin typeface="Aptos"/>
                <a:ea typeface="Aptos"/>
                <a:cs typeface="Aptos"/>
              </a:rPr>
              <a:t>15</a:t>
            </a:r>
          </a:p>
        </p:txBody>
      </p:sp>
      <p:sp>
        <p:nvSpPr>
          <p:cNvPr id="8" name="pool-boundary">
            <a:extLst xmlns:a="http://schemas.openxmlformats.org/drawingml/2006/main">
              <a:ext uri="{FF2B5EF4-FFF2-40B4-BE49-F238E27FC236}">
                <a16:creationId xmlns:a16="http://schemas.microsoft.com/office/drawing/2014/main" id="{CCA536C3-117E-4DA3-B0B0-698F9A04647B}"/>
              </a:ext>
            </a:extLst>
          </p:cNvPr>
          <p:cNvSpPr>
            <a:spLocks xmlns:a="http://schemas.openxmlformats.org/drawingml/2006/main" noGrp="1"/>
          </p:cNvSpPr>
          <p:nvPr/>
        </p:nvSpPr>
        <p:spPr>
          <a:xfrm xmlns:a="http://schemas.openxmlformats.org/drawingml/2006/main">
            <a:off x="609600" y="1809750"/>
            <a:ext cx="10972800" cy="2819400"/>
          </a:xfrm>
          <a:prstGeom xmlns:a="http://schemas.openxmlformats.org/drawingml/2006/main" prst="rect">
            <a:avLst/>
          </a:prstGeom>
          <a:noFill xmlns:a="http://schemas.openxmlformats.org/drawingml/2006/main"/>
          <a:ln xmlns:a="http://schemas.openxmlformats.org/drawingml/2006/main" w="11430">
            <a:solidFill>
              <a:srgbClr val="94A3B8"/>
            </a:solidFill>
            <a:prstDash val="solid"/>
          </a:ln>
        </p:spPr>
      </p:sp>
      <p:sp>
        <p:nvSpPr>
          <p:cNvPr id="9" name="pool-label">
            <a:extLst xmlns:a="http://schemas.openxmlformats.org/drawingml/2006/main">
              <a:ext uri="{FF2B5EF4-FFF2-40B4-BE49-F238E27FC236}">
                <a16:creationId xmlns:a16="http://schemas.microsoft.com/office/drawing/2014/main" id="{18476D83-E9A4-4451-9BEF-D2F05E09C432}"/>
              </a:ext>
            </a:extLst>
          </p:cNvPr>
          <p:cNvSpPr>
            <a:spLocks xmlns:a="http://schemas.openxmlformats.org/drawingml/2006/main" noGrp="1"/>
          </p:cNvSpPr>
          <p:nvPr/>
        </p:nvSpPr>
        <p:spPr>
          <a:xfrm xmlns:a="http://schemas.openxmlformats.org/drawingml/2006/main">
            <a:off x="781050" y="1752600"/>
            <a:ext cx="495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buNone/>
              <a:defRPr sz="975" b="1">
                <a:solidFill>
                  <a:srgbClr val="64748B"/>
                </a:solidFill>
                <a:latin typeface="Aptos"/>
                <a:ea typeface="Aptos"/>
                <a:cs typeface="Aptos"/>
              </a:defRPr>
            </a:pPr>
            <a:r>
              <a:rPr sz="975" b="1">
                <a:solidFill>
                  <a:srgbClr val="64748B"/>
                </a:solidFill>
                <a:latin typeface="Aptos"/>
                <a:ea typeface="Aptos"/>
                <a:cs typeface="Aptos"/>
              </a:rPr>
              <a:t>«Pool HTCondor» · red virtual 192.168.79.0/24</a:t>
            </a:r>
          </a:p>
        </p:txBody>
      </p:sp>
      <p:sp>
        <p:nvSpPr>
          <p:cNvPr id="10" name="deploy-master">
            <a:extLst xmlns:a="http://schemas.openxmlformats.org/drawingml/2006/main">
              <a:ext uri="{FF2B5EF4-FFF2-40B4-BE49-F238E27FC236}">
                <a16:creationId xmlns:a16="http://schemas.microsoft.com/office/drawing/2014/main" id="{9828E3BC-1D33-4ECA-88A6-CD95CFA27D64}"/>
              </a:ext>
            </a:extLst>
          </p:cNvPr>
          <p:cNvSpPr>
            <a:spLocks xmlns:a="http://schemas.openxmlformats.org/drawingml/2006/main" noGrp="1"/>
          </p:cNvSpPr>
          <p:nvPr/>
        </p:nvSpPr>
        <p:spPr>
          <a:xfrm xmlns:a="http://schemas.openxmlformats.org/drawingml/2006/main">
            <a:off x="4286250" y="2076450"/>
            <a:ext cx="3619500" cy="1104900"/>
          </a:xfrm>
          <a:prstGeom xmlns:a="http://schemas.openxmlformats.org/drawingml/2006/main" prst="rect">
            <a:avLst/>
          </a:prstGeom>
          <a:solidFill xmlns:a="http://schemas.openxmlformats.org/drawingml/2006/main">
            <a:srgbClr val="FFFFFF"/>
          </a:solidFill>
          <a:ln xmlns:a="http://schemas.openxmlformats.org/drawingml/2006/main" w="15240">
            <a:solidFill>
              <a:srgbClr val="142D45"/>
            </a:solidFill>
            <a:prstDash val="solid"/>
          </a:ln>
        </p:spPr>
        <p:txBody>
          <a:bodyPr xmlns:a="http://schemas.openxmlformats.org/drawingml/2006/main" wrap="square" lIns="66675" tIns="38100" rIns="66675" bIns="38100" anchor="ctr">
            <a:normAutofit fontScale="100000"/>
          </a:bodyPr>
          <a:lstStyle xmlns:a="http://schemas.openxmlformats.org/drawingml/2006/main"/>
          <a:p xmlns:a="http://schemas.openxmlformats.org/drawingml/2006/main">
            <a:pPr algn="ctr">
              <a:buNone/>
              <a:defRPr sz="1163" b="0">
                <a:solidFill>
                  <a:srgbClr val="142D45"/>
                </a:solidFill>
                <a:latin typeface="Aptos"/>
                <a:ea typeface="Aptos"/>
                <a:cs typeface="Aptos"/>
              </a:defRPr>
            </a:pPr>
            <a:r>
              <a:rPr sz="1163" b="0">
                <a:solidFill>
                  <a:srgbClr val="142D45"/>
                </a:solidFill>
                <a:latin typeface="Aptos"/>
                <a:ea typeface="Aptos"/>
                <a:cs typeface="Aptos"/>
              </a:rPr>
              <a:t>«device»  pegasus-master · 192.168.79.135</a:t>
            </a:r>
          </a:p>
          <a:p xmlns:a="http://schemas.openxmlformats.org/drawingml/2006/main">
            <a:pPr algn="ctr">
              <a:buNone/>
              <a:defRPr sz="1163" b="0">
                <a:solidFill>
                  <a:srgbClr val="142D45"/>
                </a:solidFill>
                <a:latin typeface="Aptos"/>
                <a:ea typeface="Aptos"/>
                <a:cs typeface="Aptos"/>
              </a:defRPr>
            </a:pPr>
            <a:r>
              <a:rPr sz="1163" b="0">
                <a:solidFill>
                  <a:srgbClr val="142D45"/>
                </a:solidFill>
                <a:latin typeface="Aptos"/>
                <a:ea typeface="Aptos"/>
                <a:cs typeface="Aptos"/>
              </a:rPr>
              <a:t>Pegasus WMS 5.1.2</a:t>
            </a:r>
          </a:p>
          <a:p xmlns:a="http://schemas.openxmlformats.org/drawingml/2006/main">
            <a:pPr algn="ctr">
              <a:buNone/>
              <a:defRPr sz="1163" b="0">
                <a:solidFill>
                  <a:srgbClr val="142D45"/>
                </a:solidFill>
                <a:latin typeface="Aptos"/>
                <a:ea typeface="Aptos"/>
                <a:cs typeface="Aptos"/>
              </a:defRPr>
            </a:pPr>
            <a:r>
              <a:rPr sz="1163" b="0">
                <a:solidFill>
                  <a:srgbClr val="142D45"/>
                </a:solidFill>
                <a:latin typeface="Aptos"/>
                <a:ea typeface="Aptos"/>
                <a:cs typeface="Aptos"/>
              </a:rPr>
              <a:t>HTCondor MASTER · COLLECTOR · NEGOTIATOR · SCHEDD</a:t>
            </a:r>
          </a:p>
          <a:p xmlns:a="http://schemas.openxmlformats.org/drawingml/2006/main">
            <a:pPr algn="ctr">
              <a:buNone/>
              <a:defRPr sz="1163" b="0">
                <a:solidFill>
                  <a:srgbClr val="142D45"/>
                </a:solidFill>
                <a:latin typeface="Aptos"/>
                <a:ea typeface="Aptos"/>
                <a:cs typeface="Aptos"/>
              </a:defRPr>
            </a:pPr>
            <a:r>
              <a:rPr sz="1163" b="0">
                <a:solidFill>
                  <a:srgbClr val="142D45"/>
                </a:solidFill>
                <a:latin typeface="Aptos"/>
                <a:ea typeface="Aptos"/>
                <a:cs typeface="Aptos"/>
              </a:rPr>
              <a:t>submit host · Access Point</a:t>
            </a:r>
          </a:p>
        </p:txBody>
      </p:sp>
      <p:sp>
        <p:nvSpPr>
          <p:cNvPr id="11" name="deploy-worker1">
            <a:extLst xmlns:a="http://schemas.openxmlformats.org/drawingml/2006/main">
              <a:ext uri="{FF2B5EF4-FFF2-40B4-BE49-F238E27FC236}">
                <a16:creationId xmlns:a16="http://schemas.microsoft.com/office/drawing/2014/main" id="{2F34F93B-A539-4C2E-9A25-F3AA6E5F80DD}"/>
              </a:ext>
            </a:extLst>
          </p:cNvPr>
          <p:cNvSpPr>
            <a:spLocks xmlns:a="http://schemas.openxmlformats.org/drawingml/2006/main" noGrp="1"/>
          </p:cNvSpPr>
          <p:nvPr/>
        </p:nvSpPr>
        <p:spPr>
          <a:xfrm xmlns:a="http://schemas.openxmlformats.org/drawingml/2006/main">
            <a:off x="1066800" y="3476625"/>
            <a:ext cx="4191000" cy="933450"/>
          </a:xfrm>
          <a:prstGeom xmlns:a="http://schemas.openxmlformats.org/drawingml/2006/main" prst="rect">
            <a:avLst/>
          </a:prstGeom>
          <a:solidFill xmlns:a="http://schemas.openxmlformats.org/drawingml/2006/main">
            <a:srgbClr val="FFFFFF"/>
          </a:solidFill>
          <a:ln xmlns:a="http://schemas.openxmlformats.org/drawingml/2006/main" w="12859">
            <a:solidFill>
              <a:srgbClr val="142D45"/>
            </a:solidFill>
            <a:prstDash val="solid"/>
          </a:ln>
        </p:spPr>
        <p:txBody>
          <a:bodyPr xmlns:a="http://schemas.openxmlformats.org/drawingml/2006/main" wrap="square" lIns="66675" tIns="38100" rIns="66675" bIns="38100" anchor="ctr">
            <a:normAutofit fontScale="100000"/>
          </a:bodyPr>
          <a:lstStyle xmlns:a="http://schemas.openxmlformats.org/drawingml/2006/main"/>
          <a:p xmlns:a="http://schemas.openxmlformats.org/drawingml/2006/main">
            <a:pPr algn="ctr">
              <a:buNone/>
              <a:defRPr sz="1125" b="0">
                <a:solidFill>
                  <a:srgbClr val="142D45"/>
                </a:solidFill>
                <a:latin typeface="Aptos"/>
                <a:ea typeface="Aptos"/>
                <a:cs typeface="Aptos"/>
              </a:defRPr>
            </a:pPr>
            <a:r>
              <a:rPr sz="1125" b="0">
                <a:solidFill>
                  <a:srgbClr val="142D45"/>
                </a:solidFill>
                <a:latin typeface="Aptos"/>
                <a:ea typeface="Aptos"/>
                <a:cs typeface="Aptos"/>
              </a:rPr>
              <a:t>«device»  pegasus-worker1 · 192.168.79.137</a:t>
            </a:r>
          </a:p>
          <a:p xmlns:a="http://schemas.openxmlformats.org/drawingml/2006/main">
            <a:pPr algn="ctr">
              <a:buNone/>
              <a:defRPr sz="1125" b="0">
                <a:solidFill>
                  <a:srgbClr val="142D45"/>
                </a:solidFill>
                <a:latin typeface="Aptos"/>
                <a:ea typeface="Aptos"/>
                <a:cs typeface="Aptos"/>
              </a:defRPr>
            </a:pPr>
            <a:r>
              <a:rPr sz="1125" b="0">
                <a:solidFill>
                  <a:srgbClr val="142D45"/>
                </a:solidFill>
                <a:latin typeface="Aptos"/>
                <a:ea typeface="Aptos"/>
                <a:cs typeface="Aptos"/>
              </a:rPr>
              <a:t>HTCondor STARTD · slot1</a:t>
            </a:r>
          </a:p>
          <a:p xmlns:a="http://schemas.openxmlformats.org/drawingml/2006/main">
            <a:pPr algn="ctr">
              <a:buNone/>
              <a:defRPr sz="1125" b="0">
                <a:solidFill>
                  <a:srgbClr val="142D45"/>
                </a:solidFill>
                <a:latin typeface="Aptos"/>
                <a:ea typeface="Aptos"/>
                <a:cs typeface="Aptos"/>
              </a:defRPr>
            </a:pPr>
            <a:r>
              <a:rPr sz="1125" b="0">
                <a:solidFill>
                  <a:srgbClr val="142D45"/>
                </a:solidFill>
                <a:latin typeface="Aptos"/>
                <a:ea typeface="Aptos"/>
                <a:cs typeface="Aptos"/>
              </a:rPr>
              <a:t>1 CPU · 1410 MiB (ClassAd) · ejecución vanilla</a:t>
            </a:r>
          </a:p>
        </p:txBody>
      </p:sp>
      <p:sp>
        <p:nvSpPr>
          <p:cNvPr id="12" name="deploy-worker2">
            <a:extLst xmlns:a="http://schemas.openxmlformats.org/drawingml/2006/main">
              <a:ext uri="{FF2B5EF4-FFF2-40B4-BE49-F238E27FC236}">
                <a16:creationId xmlns:a16="http://schemas.microsoft.com/office/drawing/2014/main" id="{313AE070-835D-4558-BC09-5E6F69B874EF}"/>
              </a:ext>
            </a:extLst>
          </p:cNvPr>
          <p:cNvSpPr>
            <a:spLocks xmlns:a="http://schemas.openxmlformats.org/drawingml/2006/main" noGrp="1"/>
          </p:cNvSpPr>
          <p:nvPr/>
        </p:nvSpPr>
        <p:spPr>
          <a:xfrm xmlns:a="http://schemas.openxmlformats.org/drawingml/2006/main">
            <a:off x="6934200" y="3476625"/>
            <a:ext cx="4191000" cy="933450"/>
          </a:xfrm>
          <a:prstGeom xmlns:a="http://schemas.openxmlformats.org/drawingml/2006/main" prst="rect">
            <a:avLst/>
          </a:prstGeom>
          <a:solidFill xmlns:a="http://schemas.openxmlformats.org/drawingml/2006/main">
            <a:srgbClr val="FFFFFF"/>
          </a:solidFill>
          <a:ln xmlns:a="http://schemas.openxmlformats.org/drawingml/2006/main" w="12859">
            <a:solidFill>
              <a:srgbClr val="142D45"/>
            </a:solidFill>
            <a:prstDash val="solid"/>
          </a:ln>
        </p:spPr>
        <p:txBody>
          <a:bodyPr xmlns:a="http://schemas.openxmlformats.org/drawingml/2006/main" wrap="square" lIns="66675" tIns="38100" rIns="66675" bIns="38100" anchor="ctr">
            <a:normAutofit fontScale="100000"/>
          </a:bodyPr>
          <a:lstStyle xmlns:a="http://schemas.openxmlformats.org/drawingml/2006/main"/>
          <a:p xmlns:a="http://schemas.openxmlformats.org/drawingml/2006/main">
            <a:pPr algn="ctr">
              <a:buNone/>
              <a:defRPr sz="1125" b="0">
                <a:solidFill>
                  <a:srgbClr val="142D45"/>
                </a:solidFill>
                <a:latin typeface="Aptos"/>
                <a:ea typeface="Aptos"/>
                <a:cs typeface="Aptos"/>
              </a:defRPr>
            </a:pPr>
            <a:r>
              <a:rPr sz="1125" b="0">
                <a:solidFill>
                  <a:srgbClr val="142D45"/>
                </a:solidFill>
                <a:latin typeface="Aptos"/>
                <a:ea typeface="Aptos"/>
                <a:cs typeface="Aptos"/>
              </a:rPr>
              <a:t>«device»  pegasus-worker2 · 192.168.79.139</a:t>
            </a:r>
          </a:p>
          <a:p xmlns:a="http://schemas.openxmlformats.org/drawingml/2006/main">
            <a:pPr algn="ctr">
              <a:buNone/>
              <a:defRPr sz="1125" b="0">
                <a:solidFill>
                  <a:srgbClr val="142D45"/>
                </a:solidFill>
                <a:latin typeface="Aptos"/>
                <a:ea typeface="Aptos"/>
                <a:cs typeface="Aptos"/>
              </a:defRPr>
            </a:pPr>
            <a:r>
              <a:rPr sz="1125" b="0">
                <a:solidFill>
                  <a:srgbClr val="142D45"/>
                </a:solidFill>
                <a:latin typeface="Aptos"/>
                <a:ea typeface="Aptos"/>
                <a:cs typeface="Aptos"/>
              </a:rPr>
              <a:t>HTCondor STARTD · slot1</a:t>
            </a:r>
          </a:p>
          <a:p xmlns:a="http://schemas.openxmlformats.org/drawingml/2006/main">
            <a:pPr algn="ctr">
              <a:buNone/>
              <a:defRPr sz="1125" b="0">
                <a:solidFill>
                  <a:srgbClr val="142D45"/>
                </a:solidFill>
                <a:latin typeface="Aptos"/>
                <a:ea typeface="Aptos"/>
                <a:cs typeface="Aptos"/>
              </a:defRPr>
            </a:pPr>
            <a:r>
              <a:rPr sz="1125" b="0">
                <a:solidFill>
                  <a:srgbClr val="142D45"/>
                </a:solidFill>
                <a:latin typeface="Aptos"/>
                <a:ea typeface="Aptos"/>
                <a:cs typeface="Aptos"/>
              </a:rPr>
              <a:t>1 CPU · 1410 MiB (ClassAd) · ejecución vanilla</a:t>
            </a:r>
          </a:p>
        </p:txBody>
      </p:sp>
      <p:cxnSp>
        <p:nvCxnSpPr>
          <p:cNvPr id="60" name=""/>
          <p:cNvCxnSpPr>
            <a:stCxn xmlns:a="http://schemas.openxmlformats.org/drawingml/2006/main" id="10" idx="2"/>
            <a:endCxn xmlns:a="http://schemas.openxmlformats.org/drawingml/2006/main" id="11" idx="0"/>
          </p:cNvCxnSpPr>
          <p:nvPr/>
        </p:nvCxnSpPr>
        <p:spPr>
          <a:xfrm xmlns:a="http://schemas.openxmlformats.org/drawingml/2006/main" flipH="1">
            <a:off x="3162300" y="3181350"/>
            <a:ext cx="2933700" cy="295275"/>
          </a:xfrm>
          <a:prstGeom xmlns:a="http://schemas.openxmlformats.org/drawingml/2006/main" prst="bentConnector4">
            <a:avLst>
              <a:gd name="adj1" fmla="val 0"/>
              <a:gd name="adj2" fmla="val 50000"/>
            </a:avLst>
          </a:prstGeom>
          <a:ln xmlns:a="http://schemas.openxmlformats.org/drawingml/2006/main" w="17145">
            <a:solidFill>
              <a:srgbClr val="2563EB"/>
            </a:solidFill>
            <a:prstDash val="solid"/>
            <a:tailEnd type="arrow" w="med" len="med"/>
          </a:ln>
        </p:spPr>
      </p:cxnSp>
      <p:cxnSp>
        <p:nvCxnSpPr>
          <p:cNvPr id="61" name=""/>
          <p:cNvCxnSpPr>
            <a:stCxn xmlns:a="http://schemas.openxmlformats.org/drawingml/2006/main" id="10" idx="2"/>
            <a:endCxn xmlns:a="http://schemas.openxmlformats.org/drawingml/2006/main" id="12" idx="0"/>
          </p:cNvCxnSpPr>
          <p:nvPr/>
        </p:nvCxnSpPr>
        <p:spPr>
          <a:xfrm xmlns:a="http://schemas.openxmlformats.org/drawingml/2006/main">
            <a:off x="6096000" y="3181350"/>
            <a:ext cx="2933700" cy="295275"/>
          </a:xfrm>
          <a:prstGeom xmlns:a="http://schemas.openxmlformats.org/drawingml/2006/main" prst="bentConnector4">
            <a:avLst>
              <a:gd name="adj1" fmla="val 0"/>
              <a:gd name="adj2" fmla="val 50000"/>
            </a:avLst>
          </a:prstGeom>
          <a:ln xmlns:a="http://schemas.openxmlformats.org/drawingml/2006/main" w="17145">
            <a:solidFill>
              <a:srgbClr val="2563EB"/>
            </a:solidFill>
            <a:prstDash val="solid"/>
            <a:tailEnd type="arrow" w="med" len="med"/>
          </a:ln>
        </p:spPr>
      </p:cxnSp>
      <p:sp>
        <p:nvSpPr>
          <p:cNvPr id="15" name="control-label">
            <a:extLst xmlns:a="http://schemas.openxmlformats.org/drawingml/2006/main">
              <a:ext uri="{FF2B5EF4-FFF2-40B4-BE49-F238E27FC236}">
                <a16:creationId xmlns:a16="http://schemas.microsoft.com/office/drawing/2014/main" id="{37A80DAE-3CF4-4927-96C3-81C53826B36B}"/>
              </a:ext>
            </a:extLst>
          </p:cNvPr>
          <p:cNvSpPr>
            <a:spLocks xmlns:a="http://schemas.openxmlformats.org/drawingml/2006/main" noGrp="1"/>
          </p:cNvSpPr>
          <p:nvPr/>
        </p:nvSpPr>
        <p:spPr>
          <a:xfrm xmlns:a="http://schemas.openxmlformats.org/drawingml/2006/main">
            <a:off x="781050" y="1857375"/>
            <a:ext cx="1062037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buNone/>
              <a:defRPr sz="863" b="1">
                <a:solidFill>
                  <a:srgbClr val="2563EB"/>
                </a:solidFill>
                <a:latin typeface="Aptos"/>
                <a:ea typeface="Aptos"/>
                <a:cs typeface="Aptos"/>
              </a:defRPr>
            </a:pPr>
            <a:r>
              <a:rPr sz="863" b="1">
                <a:solidFill>
                  <a:srgbClr val="2563EB"/>
                </a:solidFill>
                <a:latin typeface="Aptos"/>
                <a:ea typeface="Aptos"/>
                <a:cs typeface="Aptos"/>
              </a:rPr>
              <a:t>HTCondor · control y negociación</a:t>
            </a:r>
          </a:p>
        </p:txBody>
      </p:sp>
      <p:sp>
        <p:nvSpPr>
          <p:cNvPr id="16" name="staging-heading">
            <a:extLst xmlns:a="http://schemas.openxmlformats.org/drawingml/2006/main">
              <a:ext uri="{FF2B5EF4-FFF2-40B4-BE49-F238E27FC236}">
                <a16:creationId xmlns:a16="http://schemas.microsoft.com/office/drawing/2014/main" id="{9148229B-85C4-4683-BB6D-42F2E74FC75C}"/>
              </a:ext>
            </a:extLst>
          </p:cNvPr>
          <p:cNvSpPr>
            <a:spLocks xmlns:a="http://schemas.openxmlformats.org/drawingml/2006/main" noGrp="1"/>
          </p:cNvSpPr>
          <p:nvPr/>
        </p:nvSpPr>
        <p:spPr>
          <a:xfrm xmlns:a="http://schemas.openxmlformats.org/drawingml/2006/main">
            <a:off x="685800" y="4762500"/>
            <a:ext cx="10810875"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buNone/>
              <a:defRPr sz="825" b="1">
                <a:solidFill>
                  <a:srgbClr val="0F766E"/>
                </a:solidFill>
                <a:latin typeface="Aptos"/>
                <a:ea typeface="Aptos"/>
                <a:cs typeface="Aptos"/>
              </a:defRPr>
            </a:pPr>
            <a:r>
              <a:rPr sz="825" b="1">
                <a:solidFill>
                  <a:srgbClr val="0F766E"/>
                </a:solidFill>
                <a:latin typeface="Aptos"/>
                <a:ea typeface="Aptos"/>
                <a:cs typeface="Aptos"/>
              </a:rPr>
              <a:t>STAGING LÓGICO OBSERVADO EN PIPELINE CROSS</a:t>
            </a:r>
          </a:p>
        </p:txBody>
      </p:sp>
      <p:sp>
        <p:nvSpPr>
          <p:cNvPr id="17" name="staging-stage1">
            <a:extLst xmlns:a="http://schemas.openxmlformats.org/drawingml/2006/main">
              <a:ext uri="{FF2B5EF4-FFF2-40B4-BE49-F238E27FC236}">
                <a16:creationId xmlns:a16="http://schemas.microsoft.com/office/drawing/2014/main" id="{686FD0F6-BE88-4ECA-A1CC-571BC1EDB643}"/>
              </a:ext>
            </a:extLst>
          </p:cNvPr>
          <p:cNvSpPr>
            <a:spLocks xmlns:a="http://schemas.openxmlformats.org/drawingml/2006/main" noGrp="1"/>
          </p:cNvSpPr>
          <p:nvPr/>
        </p:nvSpPr>
        <p:spPr>
          <a:xfrm xmlns:a="http://schemas.openxmlformats.org/drawingml/2006/main">
            <a:off x="781050" y="4991100"/>
            <a:ext cx="1062037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buNone/>
              <a:defRPr sz="1275">
                <a:solidFill>
                  <a:srgbClr val="142D45"/>
                </a:solidFill>
                <a:latin typeface="Aptos"/>
                <a:ea typeface="Aptos"/>
                <a:cs typeface="Aptos"/>
              </a:defRPr>
            </a:pPr>
            <a:r>
              <a:rPr sz="1275">
                <a:solidFill>
                  <a:srgbClr val="142D45"/>
                </a:solidFill>
                <a:latin typeface="Aptos"/>
                <a:ea typeface="Aptos"/>
                <a:cs typeface="Aptos"/>
              </a:rPr>
              <a:t>pipeline.stage1.dat     worker1 scratch     ─────→     master Access Point     ─────→     worker2 scratch</a:t>
            </a:r>
          </a:p>
        </p:txBody>
      </p:sp>
      <p:sp>
        <p:nvSpPr>
          <p:cNvPr id="18" name="staging-stage2">
            <a:extLst xmlns:a="http://schemas.openxmlformats.org/drawingml/2006/main">
              <a:ext uri="{FF2B5EF4-FFF2-40B4-BE49-F238E27FC236}">
                <a16:creationId xmlns:a16="http://schemas.microsoft.com/office/drawing/2014/main" id="{16214667-0DE5-4961-A152-2F1D436B3C6B}"/>
              </a:ext>
            </a:extLst>
          </p:cNvPr>
          <p:cNvSpPr>
            <a:spLocks xmlns:a="http://schemas.openxmlformats.org/drawingml/2006/main" noGrp="1"/>
          </p:cNvSpPr>
          <p:nvPr/>
        </p:nvSpPr>
        <p:spPr>
          <a:xfrm xmlns:a="http://schemas.openxmlformats.org/drawingml/2006/main">
            <a:off x="781050" y="5314950"/>
            <a:ext cx="1062037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buNone/>
              <a:defRPr sz="1275">
                <a:solidFill>
                  <a:srgbClr val="142D45"/>
                </a:solidFill>
                <a:latin typeface="Aptos"/>
                <a:ea typeface="Aptos"/>
                <a:cs typeface="Aptos"/>
              </a:defRPr>
            </a:pPr>
            <a:r>
              <a:rPr sz="1275">
                <a:solidFill>
                  <a:srgbClr val="142D45"/>
                </a:solidFill>
                <a:latin typeface="Aptos"/>
                <a:ea typeface="Aptos"/>
                <a:cs typeface="Aptos"/>
              </a:rPr>
              <a:t>pipeline.stage2.dat     worker2 scratch     ─────→     master Access Point     ─────→     worker1 scratch</a:t>
            </a:r>
          </a:p>
        </p:txBody>
      </p:sp>
      <p:sp>
        <p:nvSpPr>
          <p:cNvPr id="19" name="deployment-boundary-note">
            <a:extLst xmlns:a="http://schemas.openxmlformats.org/drawingml/2006/main">
              <a:ext uri="{FF2B5EF4-FFF2-40B4-BE49-F238E27FC236}">
                <a16:creationId xmlns:a16="http://schemas.microsoft.com/office/drawing/2014/main" id="{BD38651C-EC00-464C-84F9-9B02B613E9FB}"/>
              </a:ext>
            </a:extLst>
          </p:cNvPr>
          <p:cNvSpPr>
            <a:spLocks xmlns:a="http://schemas.openxmlformats.org/drawingml/2006/main" noGrp="1"/>
          </p:cNvSpPr>
          <p:nvPr/>
        </p:nvSpPr>
        <p:spPr>
          <a:xfrm xmlns:a="http://schemas.openxmlformats.org/drawingml/2006/main">
            <a:off x="781050" y="5791200"/>
            <a:ext cx="10620375"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buNone/>
              <a:defRPr sz="975">
                <a:solidFill>
                  <a:srgbClr val="64748B"/>
                </a:solidFill>
                <a:latin typeface="Aptos"/>
                <a:ea typeface="Aptos"/>
                <a:cs typeface="Aptos"/>
              </a:defRPr>
            </a:pPr>
            <a:r>
              <a:rPr sz="975">
                <a:solidFill>
                  <a:srgbClr val="64748B"/>
                </a:solidFill>
                <a:latin typeface="Aptos"/>
                <a:ea typeface="Aptos"/>
                <a:cs typeface="Aptos"/>
              </a:rPr>
              <a:t>Las flechas muestran relaciones de control y staging lógico por job; no representan rutas físicas medidas. Analyzer consume el workflow preservado y el history exportado, fuera del pool.</a:t>
            </a:r>
          </a:p>
        </p:txBody>
      </p:sp>
    </p:spTree>
    <p:extLst>
      <p:ext uri="{BB962C8B-B14F-4D97-AF65-F5344CB8AC3E}">
        <p14:creationId xmlns:p14="http://schemas.microsoft.com/office/powerpoint/2010/main" val="937710093"/>
      </p:ext>
    </p:extLst>
  </p:cSld>
</p:sld>
</file>

<file path=ppt/slides/slide16.xml><?xml version="1.0" encoding="utf-8"?>
<p:sld xmlns:p="http://schemas.openxmlformats.org/presentationml/2006/main">
  <p:cSld>
    <p:spTree>
      <p:nvGrpSpPr>
        <p:cNvPr id="1" name=""/>
        <p:cNvGrpSpPr/>
        <p:nvPr/>
      </p:nvGrpSpPr>
      <p:grpSpPr>
        <a:xfrm xmlns:a="http://schemas.openxmlformats.org/drawingml/2006/main"/>
      </p:grpSpPr>
      <p:sp>
        <p:nvSpPr>
          <p:cNvPr id="78" name="section-accent">
            <a:extLst xmlns:a="http://schemas.openxmlformats.org/drawingml/2006/main">
              <a:ext uri="{FF2B5EF4-FFF2-40B4-BE49-F238E27FC236}">
                <a16:creationId xmlns:a16="http://schemas.microsoft.com/office/drawing/2014/main" id="{9E497E4F-B827-4FC7-A5D1-190B3C0204DA}"/>
              </a:ext>
            </a:extLst>
          </p:cNvPr>
          <p:cNvSpPr>
            <a:spLocks xmlns:a="http://schemas.openxmlformats.org/drawingml/2006/main" noGrp="1"/>
          </p:cNvSpPr>
          <p:nvPr/>
        </p:nvSpPr>
        <p:spPr>
          <a:xfrm xmlns:a="http://schemas.openxmlformats.org/drawingml/2006/main">
            <a:off x="0" y="0"/>
            <a:ext cx="12192000" cy="114300"/>
          </a:xfrm>
          <a:prstGeom xmlns:a="http://schemas.openxmlformats.org/drawingml/2006/main" prst="rect">
            <a:avLst/>
          </a:prstGeom>
          <a:solidFill xmlns:a="http://schemas.openxmlformats.org/drawingml/2006/main">
            <a:srgbClr val="6D28D9"/>
          </a:solidFill>
          <a:ln xmlns:a="http://schemas.openxmlformats.org/drawingml/2006/main" w="0">
            <a:solidFill>
              <a:srgbClr val="6D28D9"/>
            </a:solidFill>
            <a:prstDash val="solid"/>
          </a:ln>
        </p:spPr>
      </p:sp>
      <p:sp>
        <p:nvSpPr>
          <p:cNvPr id="2" name="section-label">
            <a:extLst xmlns:a="http://schemas.openxmlformats.org/drawingml/2006/main">
              <a:ext uri="{FF2B5EF4-FFF2-40B4-BE49-F238E27FC236}">
                <a16:creationId xmlns:a16="http://schemas.microsoft.com/office/drawing/2014/main" id="{87B832F8-4539-4C85-B8B1-7AF656115E70}"/>
              </a:ext>
            </a:extLst>
          </p:cNvPr>
          <p:cNvSpPr>
            <a:spLocks xmlns:a="http://schemas.openxmlformats.org/drawingml/2006/main" noGrp="1"/>
          </p:cNvSpPr>
          <p:nvPr/>
        </p:nvSpPr>
        <p:spPr>
          <a:xfrm xmlns:a="http://schemas.openxmlformats.org/drawingml/2006/main">
            <a:off x="647700" y="352425"/>
            <a:ext cx="10668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buNone/>
              <a:defRPr sz="825" b="1">
                <a:solidFill>
                  <a:srgbClr val="6D28D9"/>
                </a:solidFill>
                <a:latin typeface="Aptos"/>
                <a:ea typeface="Aptos"/>
                <a:cs typeface="Aptos"/>
              </a:defRPr>
            </a:pPr>
            <a:r>
              <a:rPr sz="825" b="1">
                <a:solidFill>
                  <a:srgbClr val="6D28D9"/>
                </a:solidFill>
                <a:latin typeface="Aptos"/>
                <a:ea typeface="Aptos"/>
                <a:cs typeface="Aptos"/>
              </a:rPr>
              <a:t>VALIDACIÓN</a:t>
            </a:r>
          </a:p>
        </p:txBody>
      </p:sp>
      <p:sp>
        <p:nvSpPr>
          <p:cNvPr id="3" name="slide-heading">
            <a:extLst xmlns:a="http://schemas.openxmlformats.org/drawingml/2006/main">
              <a:ext uri="{FF2B5EF4-FFF2-40B4-BE49-F238E27FC236}">
                <a16:creationId xmlns:a16="http://schemas.microsoft.com/office/drawing/2014/main" id="{F655CE4B-93C1-4564-93AA-57AC576FEB36}"/>
              </a:ext>
            </a:extLst>
          </p:cNvPr>
          <p:cNvSpPr>
            <a:spLocks xmlns:a="http://schemas.openxmlformats.org/drawingml/2006/main" noGrp="1"/>
          </p:cNvSpPr>
          <p:nvPr/>
        </p:nvSpPr>
        <p:spPr>
          <a:xfrm xmlns:a="http://schemas.openxmlformats.org/drawingml/2006/main">
            <a:off x="609600" y="619125"/>
            <a:ext cx="109537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buNone/>
              <a:defRPr sz="2250" b="1">
                <a:solidFill>
                  <a:srgbClr val="142D45"/>
                </a:solidFill>
                <a:latin typeface="Aptos"/>
                <a:ea typeface="Aptos"/>
                <a:cs typeface="Aptos"/>
              </a:defRPr>
            </a:pPr>
            <a:r>
              <a:rPr sz="2250" b="1">
                <a:solidFill>
                  <a:srgbClr val="142D45"/>
                </a:solidFill>
                <a:latin typeface="Aptos"/>
                <a:ea typeface="Aptos"/>
                <a:cs typeface="Aptos"/>
              </a:rPr>
              <a:t>15. Topologías de los workflows evaluados</a:t>
            </a:r>
          </a:p>
        </p:txBody>
      </p:sp>
      <p:sp>
        <p:nvSpPr>
          <p:cNvPr id="4" name="slide-subtitle">
            <a:extLst xmlns:a="http://schemas.openxmlformats.org/drawingml/2006/main">
              <a:ext uri="{FF2B5EF4-FFF2-40B4-BE49-F238E27FC236}">
                <a16:creationId xmlns:a16="http://schemas.microsoft.com/office/drawing/2014/main" id="{3EE37597-06A9-4318-AA14-6866C90B326A}"/>
              </a:ext>
            </a:extLst>
          </p:cNvPr>
          <p:cNvSpPr>
            <a:spLocks xmlns:a="http://schemas.openxmlformats.org/drawingml/2006/main" noGrp="1"/>
          </p:cNvSpPr>
          <p:nvPr/>
        </p:nvSpPr>
        <p:spPr>
          <a:xfrm xmlns:a="http://schemas.openxmlformats.org/drawingml/2006/main">
            <a:off x="647700" y="1219200"/>
            <a:ext cx="10858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buNone/>
              <a:defRPr sz="1163">
                <a:solidFill>
                  <a:srgbClr val="34485D"/>
                </a:solidFill>
                <a:latin typeface="Aptos"/>
                <a:ea typeface="Aptos"/>
                <a:cs typeface="Aptos"/>
              </a:defRPr>
            </a:pPr>
            <a:r>
              <a:rPr sz="1163">
                <a:solidFill>
                  <a:srgbClr val="34485D"/>
                </a:solidFill>
                <a:latin typeface="Aptos"/>
                <a:ea typeface="Aptos"/>
                <a:cs typeface="Aptos"/>
              </a:rPr>
              <a:t>Cada patrón fija tareas, archivos y dependencias; el placement se controla aparte en same-w1 y cross.</a:t>
            </a:r>
          </a:p>
        </p:txBody>
      </p:sp>
      <p:sp>
        <p:nvSpPr>
          <p:cNvPr id="5" name="rule-677-52">
            <a:extLst xmlns:a="http://schemas.openxmlformats.org/drawingml/2006/main">
              <a:ext uri="{FF2B5EF4-FFF2-40B4-BE49-F238E27FC236}">
                <a16:creationId xmlns:a16="http://schemas.microsoft.com/office/drawing/2014/main" id="{74AD15C3-2F9E-4039-97BE-A8F16919948C}"/>
              </a:ext>
            </a:extLst>
          </p:cNvPr>
          <p:cNvSpPr>
            <a:spLocks xmlns:a="http://schemas.openxmlformats.org/drawingml/2006/main" noGrp="1"/>
          </p:cNvSpPr>
          <p:nvPr/>
        </p:nvSpPr>
        <p:spPr>
          <a:xfrm xmlns:a="http://schemas.openxmlformats.org/drawingml/2006/main">
            <a:off x="495300" y="6448425"/>
            <a:ext cx="11201400" cy="9525"/>
          </a:xfrm>
          <a:prstGeom xmlns:a="http://schemas.openxmlformats.org/drawingml/2006/main" prst="rect">
            <a:avLst/>
          </a:prstGeom>
          <a:solidFill xmlns:a="http://schemas.openxmlformats.org/drawingml/2006/main">
            <a:srgbClr val="CBD5E1"/>
          </a:solidFill>
          <a:ln xmlns:a="http://schemas.openxmlformats.org/drawingml/2006/main" w="0">
            <a:solidFill>
              <a:srgbClr val="CBD5E1"/>
            </a:solidFill>
            <a:prstDash val="solid"/>
          </a:ln>
        </p:spPr>
      </p:sp>
      <p:sp>
        <p:nvSpPr>
          <p:cNvPr id="6" name="footer-label">
            <a:extLst xmlns:a="http://schemas.openxmlformats.org/drawingml/2006/main">
              <a:ext uri="{FF2B5EF4-FFF2-40B4-BE49-F238E27FC236}">
                <a16:creationId xmlns:a16="http://schemas.microsoft.com/office/drawing/2014/main" id="{783B5267-F9D9-4271-8A82-80225234D579}"/>
              </a:ext>
            </a:extLst>
          </p:cNvPr>
          <p:cNvSpPr>
            <a:spLocks xmlns:a="http://schemas.openxmlformats.org/drawingml/2006/main" noGrp="1"/>
          </p:cNvSpPr>
          <p:nvPr/>
        </p:nvSpPr>
        <p:spPr>
          <a:xfrm xmlns:a="http://schemas.openxmlformats.org/drawingml/2006/main">
            <a:off x="590550" y="6496050"/>
            <a:ext cx="9620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buNone/>
              <a:defRPr sz="750">
                <a:solidFill>
                  <a:srgbClr val="64748B"/>
                </a:solidFill>
                <a:latin typeface="Aptos"/>
                <a:ea typeface="Aptos"/>
                <a:cs typeface="Aptos"/>
              </a:defRPr>
            </a:pPr>
            <a:r>
              <a:rPr sz="750">
                <a:solidFill>
                  <a:srgbClr val="64748B"/>
                </a:solidFill>
                <a:latin typeface="Aptos"/>
                <a:ea typeface="Aptos"/>
                <a:cs typeface="Aptos"/>
              </a:rPr>
              <a:t>Validación · DAGs y oráculos</a:t>
            </a:r>
          </a:p>
        </p:txBody>
      </p:sp>
      <p:sp>
        <p:nvSpPr>
          <p:cNvPr id="7" name="folio">
            <a:extLst xmlns:a="http://schemas.openxmlformats.org/drawingml/2006/main">
              <a:ext uri="{FF2B5EF4-FFF2-40B4-BE49-F238E27FC236}">
                <a16:creationId xmlns:a16="http://schemas.microsoft.com/office/drawing/2014/main" id="{80D57567-2689-4173-884E-890DCFED9C0B}"/>
              </a:ext>
            </a:extLst>
          </p:cNvPr>
          <p:cNvSpPr>
            <a:spLocks xmlns:a="http://schemas.openxmlformats.org/drawingml/2006/main" noGrp="1"/>
          </p:cNvSpPr>
          <p:nvPr/>
        </p:nvSpPr>
        <p:spPr>
          <a:xfrm xmlns:a="http://schemas.openxmlformats.org/drawingml/2006/main">
            <a:off x="11201400" y="6496050"/>
            <a:ext cx="4572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r">
              <a:buNone/>
              <a:defRPr sz="750">
                <a:solidFill>
                  <a:srgbClr val="64748B"/>
                </a:solidFill>
                <a:latin typeface="Aptos"/>
                <a:ea typeface="Aptos"/>
                <a:cs typeface="Aptos"/>
              </a:defRPr>
            </a:pPr>
            <a:r>
              <a:rPr sz="750">
                <a:solidFill>
                  <a:srgbClr val="64748B"/>
                </a:solidFill>
                <a:latin typeface="Aptos"/>
                <a:ea typeface="Aptos"/>
                <a:cs typeface="Aptos"/>
              </a:rPr>
              <a:t>16</a:t>
            </a:r>
          </a:p>
        </p:txBody>
      </p:sp>
      <p:sp>
        <p:nvSpPr>
          <p:cNvPr id="8" name="workflow-legend">
            <a:extLst xmlns:a="http://schemas.openxmlformats.org/drawingml/2006/main">
              <a:ext uri="{FF2B5EF4-FFF2-40B4-BE49-F238E27FC236}">
                <a16:creationId xmlns:a16="http://schemas.microsoft.com/office/drawing/2014/main" id="{2D45563F-81F9-4FCF-AC7F-F1CCF24F0BAF}"/>
              </a:ext>
            </a:extLst>
          </p:cNvPr>
          <p:cNvSpPr>
            <a:spLocks xmlns:a="http://schemas.openxmlformats.org/drawingml/2006/main" noGrp="1"/>
          </p:cNvSpPr>
          <p:nvPr/>
        </p:nvSpPr>
        <p:spPr>
          <a:xfrm xmlns:a="http://schemas.openxmlformats.org/drawingml/2006/main">
            <a:off x="723900" y="1628775"/>
            <a:ext cx="107442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buNone/>
              <a:defRPr sz="1013">
                <a:solidFill>
                  <a:srgbClr val="64748B"/>
                </a:solidFill>
                <a:latin typeface="Aptos"/>
                <a:ea typeface="Aptos"/>
                <a:cs typeface="Aptos"/>
              </a:defRPr>
            </a:pPr>
            <a:r>
              <a:rPr sz="1013">
                <a:solidFill>
                  <a:srgbClr val="64748B"/>
                </a:solidFill>
                <a:latin typeface="Aptos"/>
                <a:ea typeface="Aptos"/>
                <a:cs typeface="Aptos"/>
              </a:rPr>
              <a:t>Rectángulo = tarea Pegasus · óvalo = archivo científico · flecha = dependencia productor–consumidor</a:t>
            </a:r>
          </a:p>
        </p:txBody>
      </p:sp>
      <p:sp>
        <p:nvSpPr>
          <p:cNvPr id="9" name="Process-pattern-title">
            <a:extLst xmlns:a="http://schemas.openxmlformats.org/drawingml/2006/main">
              <a:ext uri="{FF2B5EF4-FFF2-40B4-BE49-F238E27FC236}">
                <a16:creationId xmlns:a16="http://schemas.microsoft.com/office/drawing/2014/main" id="{8522A3D8-6E15-47EA-BAB8-787518093F06}"/>
              </a:ext>
            </a:extLst>
          </p:cNvPr>
          <p:cNvSpPr>
            <a:spLocks xmlns:a="http://schemas.openxmlformats.org/drawingml/2006/main" noGrp="1"/>
          </p:cNvSpPr>
          <p:nvPr/>
        </p:nvSpPr>
        <p:spPr>
          <a:xfrm xmlns:a="http://schemas.openxmlformats.org/drawingml/2006/main">
            <a:off x="590550" y="1885950"/>
            <a:ext cx="3286125"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buNone/>
              <a:defRPr sz="1350" b="1">
                <a:solidFill>
                  <a:srgbClr val="142D45"/>
                </a:solidFill>
                <a:latin typeface="Aptos"/>
                <a:ea typeface="Aptos"/>
                <a:cs typeface="Aptos"/>
              </a:defRPr>
            </a:pPr>
            <a:r>
              <a:rPr sz="1350" b="1">
                <a:solidFill>
                  <a:srgbClr val="142D45"/>
                </a:solidFill>
                <a:latin typeface="Aptos"/>
                <a:ea typeface="Aptos"/>
                <a:cs typeface="Aptos"/>
              </a:rPr>
              <a:t>Process</a:t>
            </a:r>
          </a:p>
        </p:txBody>
      </p:sp>
      <p:sp>
        <p:nvSpPr>
          <p:cNvPr id="10" name="Process-pattern-subtitle">
            <a:extLst xmlns:a="http://schemas.openxmlformats.org/drawingml/2006/main">
              <a:ext uri="{FF2B5EF4-FFF2-40B4-BE49-F238E27FC236}">
                <a16:creationId xmlns:a16="http://schemas.microsoft.com/office/drawing/2014/main" id="{71705E69-EB09-49D0-8998-F8E623D32ED1}"/>
              </a:ext>
            </a:extLst>
          </p:cNvPr>
          <p:cNvSpPr>
            <a:spLocks xmlns:a="http://schemas.openxmlformats.org/drawingml/2006/main" noGrp="1"/>
          </p:cNvSpPr>
          <p:nvPr/>
        </p:nvSpPr>
        <p:spPr>
          <a:xfrm xmlns:a="http://schemas.openxmlformats.org/drawingml/2006/main">
            <a:off x="590550" y="2143125"/>
            <a:ext cx="3286125"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buNone/>
              <a:defRPr sz="938">
                <a:solidFill>
                  <a:srgbClr val="64748B"/>
                </a:solidFill>
                <a:latin typeface="Aptos"/>
                <a:ea typeface="Aptos"/>
                <a:cs typeface="Aptos"/>
              </a:defRPr>
            </a:pPr>
            <a:r>
              <a:rPr sz="938">
                <a:solidFill>
                  <a:srgbClr val="64748B"/>
                </a:solidFill>
                <a:latin typeface="Aptos"/>
                <a:ea typeface="Aptos"/>
                <a:cs typeface="Aptos"/>
              </a:rPr>
              <a:t>1 job · una tarea independiente</a:t>
            </a:r>
          </a:p>
        </p:txBody>
      </p:sp>
      <p:sp>
        <p:nvSpPr>
          <p:cNvPr id="11" name="process-input">
            <a:extLst xmlns:a="http://schemas.openxmlformats.org/drawingml/2006/main">
              <a:ext uri="{FF2B5EF4-FFF2-40B4-BE49-F238E27FC236}">
                <a16:creationId xmlns:a16="http://schemas.microsoft.com/office/drawing/2014/main" id="{51590BA4-6B76-406F-A209-AE58E3662A5A}"/>
              </a:ext>
            </a:extLst>
          </p:cNvPr>
          <p:cNvSpPr>
            <a:spLocks xmlns:a="http://schemas.openxmlformats.org/drawingml/2006/main" noGrp="1"/>
          </p:cNvSpPr>
          <p:nvPr/>
        </p:nvSpPr>
        <p:spPr>
          <a:xfrm xmlns:a="http://schemas.openxmlformats.org/drawingml/2006/main">
            <a:off x="876300" y="2505075"/>
            <a:ext cx="438150" cy="285750"/>
          </a:xfrm>
          <a:prstGeom xmlns:a="http://schemas.openxmlformats.org/drawingml/2006/main" prst="ellipse">
            <a:avLst/>
          </a:prstGeom>
          <a:solidFill xmlns:a="http://schemas.openxmlformats.org/drawingml/2006/main">
            <a:srgbClr val="FFFFFF"/>
          </a:solidFill>
          <a:ln xmlns:a="http://schemas.openxmlformats.org/drawingml/2006/main" w="10954">
            <a:solidFill>
              <a:srgbClr val="0F766E"/>
            </a:solidFill>
            <a:prstDash val="solid"/>
          </a:ln>
        </p:spPr>
        <p:txBody>
          <a:bodyPr xmlns:a="http://schemas.openxmlformats.org/drawingml/2006/main" wrap="square" lIns="9525" tIns="9525" rIns="9525" bIns="38100" anchor="ctr">
            <a:normAutofit fontScale="100000"/>
          </a:bodyPr>
          <a:lstStyle xmlns:a="http://schemas.openxmlformats.org/drawingml/2006/main"/>
          <a:p xmlns:a="http://schemas.openxmlformats.org/drawingml/2006/main">
            <a:pPr algn="ctr">
              <a:buNone/>
              <a:defRPr sz="863" b="0">
                <a:solidFill>
                  <a:srgbClr val="142D45"/>
                </a:solidFill>
                <a:latin typeface="Aptos"/>
                <a:ea typeface="Aptos"/>
                <a:cs typeface="Aptos"/>
              </a:defRPr>
            </a:pPr>
            <a:r>
              <a:rPr sz="863" b="0">
                <a:solidFill>
                  <a:srgbClr val="142D45"/>
                </a:solidFill>
                <a:latin typeface="Aptos"/>
                <a:ea typeface="Aptos"/>
                <a:cs typeface="Aptos"/>
              </a:rPr>
              <a:t>in</a:t>
            </a:r>
          </a:p>
        </p:txBody>
      </p:sp>
      <p:sp>
        <p:nvSpPr>
          <p:cNvPr id="12" name="process-job">
            <a:extLst xmlns:a="http://schemas.openxmlformats.org/drawingml/2006/main">
              <a:ext uri="{FF2B5EF4-FFF2-40B4-BE49-F238E27FC236}">
                <a16:creationId xmlns:a16="http://schemas.microsoft.com/office/drawing/2014/main" id="{D8ABCF9D-33C6-4C04-AF1E-63507EC77BA9}"/>
              </a:ext>
            </a:extLst>
          </p:cNvPr>
          <p:cNvSpPr>
            <a:spLocks xmlns:a="http://schemas.openxmlformats.org/drawingml/2006/main" noGrp="1"/>
          </p:cNvSpPr>
          <p:nvPr/>
        </p:nvSpPr>
        <p:spPr>
          <a:xfrm xmlns:a="http://schemas.openxmlformats.org/drawingml/2006/main">
            <a:off x="1781175" y="2438400"/>
            <a:ext cx="742950" cy="419100"/>
          </a:xfrm>
          <a:prstGeom xmlns:a="http://schemas.openxmlformats.org/drawingml/2006/main" prst="rect">
            <a:avLst/>
          </a:prstGeom>
          <a:solidFill xmlns:a="http://schemas.openxmlformats.org/drawingml/2006/main">
            <a:srgbClr val="FFFFFF"/>
          </a:solidFill>
          <a:ln xmlns:a="http://schemas.openxmlformats.org/drawingml/2006/main" w="10954">
            <a:solidFill>
              <a:srgbClr val="142D45"/>
            </a:solidFill>
            <a:prstDash val="solid"/>
          </a:ln>
        </p:spPr>
        <p:txBody>
          <a:bodyPr xmlns:a="http://schemas.openxmlformats.org/drawingml/2006/main" wrap="square" lIns="19050" tIns="19050" rIns="19050" bIns="38100" anchor="ctr">
            <a:normAutofit fontScale="100000"/>
          </a:bodyPr>
          <a:lstStyle xmlns:a="http://schemas.openxmlformats.org/drawingml/2006/main"/>
          <a:p xmlns:a="http://schemas.openxmlformats.org/drawingml/2006/main">
            <a:pPr algn="ctr">
              <a:buNone/>
              <a:defRPr sz="1125" b="0">
                <a:solidFill>
                  <a:srgbClr val="142D45"/>
                </a:solidFill>
                <a:latin typeface="Aptos"/>
                <a:ea typeface="Aptos"/>
                <a:cs typeface="Aptos"/>
              </a:defRPr>
            </a:pPr>
            <a:r>
              <a:rPr sz="1125" b="0">
                <a:solidFill>
                  <a:srgbClr val="142D45"/>
                </a:solidFill>
                <a:latin typeface="Aptos"/>
                <a:ea typeface="Aptos"/>
                <a:cs typeface="Aptos"/>
              </a:rPr>
              <a:t>P</a:t>
            </a:r>
          </a:p>
        </p:txBody>
      </p:sp>
      <p:sp>
        <p:nvSpPr>
          <p:cNvPr id="13" name="process-output">
            <a:extLst xmlns:a="http://schemas.openxmlformats.org/drawingml/2006/main">
              <a:ext uri="{FF2B5EF4-FFF2-40B4-BE49-F238E27FC236}">
                <a16:creationId xmlns:a16="http://schemas.microsoft.com/office/drawing/2014/main" id="{44B0B941-AA22-4B7F-9050-B5D7C7CA8CE4}"/>
              </a:ext>
            </a:extLst>
          </p:cNvPr>
          <p:cNvSpPr>
            <a:spLocks xmlns:a="http://schemas.openxmlformats.org/drawingml/2006/main" noGrp="1"/>
          </p:cNvSpPr>
          <p:nvPr/>
        </p:nvSpPr>
        <p:spPr>
          <a:xfrm xmlns:a="http://schemas.openxmlformats.org/drawingml/2006/main">
            <a:off x="3000375" y="2505075"/>
            <a:ext cx="438150" cy="285750"/>
          </a:xfrm>
          <a:prstGeom xmlns:a="http://schemas.openxmlformats.org/drawingml/2006/main" prst="ellipse">
            <a:avLst/>
          </a:prstGeom>
          <a:solidFill xmlns:a="http://schemas.openxmlformats.org/drawingml/2006/main">
            <a:srgbClr val="FFFFFF"/>
          </a:solidFill>
          <a:ln xmlns:a="http://schemas.openxmlformats.org/drawingml/2006/main" w="10954">
            <a:solidFill>
              <a:srgbClr val="0F766E"/>
            </a:solidFill>
            <a:prstDash val="solid"/>
          </a:ln>
        </p:spPr>
        <p:txBody>
          <a:bodyPr xmlns:a="http://schemas.openxmlformats.org/drawingml/2006/main" wrap="square" lIns="9525" tIns="9525" rIns="9525" bIns="38100" anchor="ctr">
            <a:normAutofit fontScale="100000"/>
          </a:bodyPr>
          <a:lstStyle xmlns:a="http://schemas.openxmlformats.org/drawingml/2006/main"/>
          <a:p xmlns:a="http://schemas.openxmlformats.org/drawingml/2006/main">
            <a:pPr algn="ctr">
              <a:buNone/>
              <a:defRPr sz="863" b="0">
                <a:solidFill>
                  <a:srgbClr val="142D45"/>
                </a:solidFill>
                <a:latin typeface="Aptos"/>
                <a:ea typeface="Aptos"/>
                <a:cs typeface="Aptos"/>
              </a:defRPr>
            </a:pPr>
            <a:r>
              <a:rPr sz="863" b="0">
                <a:solidFill>
                  <a:srgbClr val="142D45"/>
                </a:solidFill>
                <a:latin typeface="Aptos"/>
                <a:ea typeface="Aptos"/>
                <a:cs typeface="Aptos"/>
              </a:rPr>
              <a:t>out</a:t>
            </a:r>
          </a:p>
        </p:txBody>
      </p:sp>
      <p:cxnSp>
        <p:nvCxnSpPr>
          <p:cNvPr id="237" name=""/>
          <p:cNvCxnSpPr>
            <a:stCxn xmlns:a="http://schemas.openxmlformats.org/drawingml/2006/main" id="11" idx="6"/>
            <a:endCxn xmlns:a="http://schemas.openxmlformats.org/drawingml/2006/main" id="12" idx="1"/>
          </p:cNvCxnSpPr>
          <p:nvPr/>
        </p:nvCxnSpPr>
        <p:spPr>
          <a:xfrm xmlns:a="http://schemas.openxmlformats.org/drawingml/2006/main">
            <a:off x="1314450" y="2647950"/>
            <a:ext cx="466725" cy="0"/>
          </a:xfrm>
          <a:prstGeom xmlns:a="http://schemas.openxmlformats.org/drawingml/2006/main" prst="straightConnector1">
            <a:avLst/>
          </a:prstGeom>
          <a:ln xmlns:a="http://schemas.openxmlformats.org/drawingml/2006/main" w="11430">
            <a:solidFill>
              <a:srgbClr val="23364A"/>
            </a:solidFill>
            <a:prstDash val="solid"/>
            <a:tailEnd type="arrow" w="med" len="med"/>
          </a:ln>
        </p:spPr>
      </p:cxnSp>
      <p:cxnSp>
        <p:nvCxnSpPr>
          <p:cNvPr id="238" name=""/>
          <p:cNvCxnSpPr>
            <a:stCxn xmlns:a="http://schemas.openxmlformats.org/drawingml/2006/main" id="12" idx="3"/>
            <a:endCxn xmlns:a="http://schemas.openxmlformats.org/drawingml/2006/main" id="13" idx="2"/>
          </p:cNvCxnSpPr>
          <p:nvPr/>
        </p:nvCxnSpPr>
        <p:spPr>
          <a:xfrm xmlns:a="http://schemas.openxmlformats.org/drawingml/2006/main">
            <a:off x="2524125" y="2647950"/>
            <a:ext cx="476250" cy="0"/>
          </a:xfrm>
          <a:prstGeom xmlns:a="http://schemas.openxmlformats.org/drawingml/2006/main" prst="straightConnector1">
            <a:avLst/>
          </a:prstGeom>
          <a:ln xmlns:a="http://schemas.openxmlformats.org/drawingml/2006/main" w="11430">
            <a:solidFill>
              <a:srgbClr val="23364A"/>
            </a:solidFill>
            <a:prstDash val="solid"/>
            <a:tailEnd type="arrow" w="med" len="med"/>
          </a:ln>
        </p:spPr>
      </p:cxnSp>
      <p:sp>
        <p:nvSpPr>
          <p:cNvPr id="16" name="Pipeline-pattern-title">
            <a:extLst xmlns:a="http://schemas.openxmlformats.org/drawingml/2006/main">
              <a:ext uri="{FF2B5EF4-FFF2-40B4-BE49-F238E27FC236}">
                <a16:creationId xmlns:a16="http://schemas.microsoft.com/office/drawing/2014/main" id="{86FC9BD1-0DD6-431D-BA90-BBD3DCE64B85}"/>
              </a:ext>
            </a:extLst>
          </p:cNvPr>
          <p:cNvSpPr>
            <a:spLocks xmlns:a="http://schemas.openxmlformats.org/drawingml/2006/main" noGrp="1"/>
          </p:cNvSpPr>
          <p:nvPr/>
        </p:nvSpPr>
        <p:spPr>
          <a:xfrm xmlns:a="http://schemas.openxmlformats.org/drawingml/2006/main">
            <a:off x="4057650" y="1885950"/>
            <a:ext cx="37147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buNone/>
              <a:defRPr sz="1350" b="1">
                <a:solidFill>
                  <a:srgbClr val="142D45"/>
                </a:solidFill>
                <a:latin typeface="Aptos"/>
                <a:ea typeface="Aptos"/>
                <a:cs typeface="Aptos"/>
              </a:defRPr>
            </a:pPr>
            <a:r>
              <a:rPr sz="1350" b="1">
                <a:solidFill>
                  <a:srgbClr val="142D45"/>
                </a:solidFill>
                <a:latin typeface="Aptos"/>
                <a:ea typeface="Aptos"/>
                <a:cs typeface="Aptos"/>
              </a:rPr>
              <a:t>Pipeline</a:t>
            </a:r>
          </a:p>
        </p:txBody>
      </p:sp>
      <p:sp>
        <p:nvSpPr>
          <p:cNvPr id="17" name="Pipeline-pattern-subtitle">
            <a:extLst xmlns:a="http://schemas.openxmlformats.org/drawingml/2006/main">
              <a:ext uri="{FF2B5EF4-FFF2-40B4-BE49-F238E27FC236}">
                <a16:creationId xmlns:a16="http://schemas.microsoft.com/office/drawing/2014/main" id="{C982B156-DC34-4927-B2D7-EE3F685D25E7}"/>
              </a:ext>
            </a:extLst>
          </p:cNvPr>
          <p:cNvSpPr>
            <a:spLocks xmlns:a="http://schemas.openxmlformats.org/drawingml/2006/main" noGrp="1"/>
          </p:cNvSpPr>
          <p:nvPr/>
        </p:nvSpPr>
        <p:spPr>
          <a:xfrm xmlns:a="http://schemas.openxmlformats.org/drawingml/2006/main">
            <a:off x="4057650" y="2143125"/>
            <a:ext cx="3714750"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buNone/>
              <a:defRPr sz="938">
                <a:solidFill>
                  <a:srgbClr val="64748B"/>
                </a:solidFill>
                <a:latin typeface="Aptos"/>
                <a:ea typeface="Aptos"/>
                <a:cs typeface="Aptos"/>
              </a:defRPr>
            </a:pPr>
            <a:r>
              <a:rPr sz="938">
                <a:solidFill>
                  <a:srgbClr val="64748B"/>
                </a:solidFill>
                <a:latin typeface="Aptos"/>
                <a:ea typeface="Aptos"/>
                <a:cs typeface="Aptos"/>
              </a:rPr>
              <a:t>3 jobs · salida de una etapa alimenta la siguiente</a:t>
            </a:r>
          </a:p>
        </p:txBody>
      </p:sp>
      <p:sp>
        <p:nvSpPr>
          <p:cNvPr id="18" name="pipeline-input">
            <a:extLst xmlns:a="http://schemas.openxmlformats.org/drawingml/2006/main">
              <a:ext uri="{FF2B5EF4-FFF2-40B4-BE49-F238E27FC236}">
                <a16:creationId xmlns:a16="http://schemas.microsoft.com/office/drawing/2014/main" id="{4F5B695B-F8B8-463E-AF38-D14E8C1E4B3B}"/>
              </a:ext>
            </a:extLst>
          </p:cNvPr>
          <p:cNvSpPr>
            <a:spLocks xmlns:a="http://schemas.openxmlformats.org/drawingml/2006/main" noGrp="1"/>
          </p:cNvSpPr>
          <p:nvPr/>
        </p:nvSpPr>
        <p:spPr>
          <a:xfrm xmlns:a="http://schemas.openxmlformats.org/drawingml/2006/main">
            <a:off x="4105275" y="2505075"/>
            <a:ext cx="323850" cy="266700"/>
          </a:xfrm>
          <a:prstGeom xmlns:a="http://schemas.openxmlformats.org/drawingml/2006/main" prst="ellipse">
            <a:avLst/>
          </a:prstGeom>
          <a:solidFill xmlns:a="http://schemas.openxmlformats.org/drawingml/2006/main">
            <a:srgbClr val="FFFFFF"/>
          </a:solidFill>
          <a:ln xmlns:a="http://schemas.openxmlformats.org/drawingml/2006/main" w="10954">
            <a:solidFill>
              <a:srgbClr val="0F766E"/>
            </a:solidFill>
            <a:prstDash val="solid"/>
          </a:ln>
        </p:spPr>
        <p:txBody>
          <a:bodyPr xmlns:a="http://schemas.openxmlformats.org/drawingml/2006/main" wrap="square" lIns="9525" tIns="9525" rIns="9525" bIns="38100" anchor="ctr">
            <a:normAutofit fontScale="100000"/>
          </a:bodyPr>
          <a:lstStyle xmlns:a="http://schemas.openxmlformats.org/drawingml/2006/main"/>
          <a:p xmlns:a="http://schemas.openxmlformats.org/drawingml/2006/main">
            <a:pPr algn="ctr">
              <a:buNone/>
              <a:defRPr sz="788" b="0">
                <a:solidFill>
                  <a:srgbClr val="142D45"/>
                </a:solidFill>
                <a:latin typeface="Aptos"/>
                <a:ea typeface="Aptos"/>
                <a:cs typeface="Aptos"/>
              </a:defRPr>
            </a:pPr>
            <a:r>
              <a:rPr sz="788" b="0">
                <a:solidFill>
                  <a:srgbClr val="142D45"/>
                </a:solidFill>
                <a:latin typeface="Aptos"/>
                <a:ea typeface="Aptos"/>
                <a:cs typeface="Aptos"/>
              </a:rPr>
              <a:t>in</a:t>
            </a:r>
          </a:p>
        </p:txBody>
      </p:sp>
      <p:sp>
        <p:nvSpPr>
          <p:cNvPr id="19" name="pipeline-t1">
            <a:extLst xmlns:a="http://schemas.openxmlformats.org/drawingml/2006/main">
              <a:ext uri="{FF2B5EF4-FFF2-40B4-BE49-F238E27FC236}">
                <a16:creationId xmlns:a16="http://schemas.microsoft.com/office/drawing/2014/main" id="{60B7287F-5B32-4A8B-9F1E-57EF55055056}"/>
              </a:ext>
            </a:extLst>
          </p:cNvPr>
          <p:cNvSpPr>
            <a:spLocks xmlns:a="http://schemas.openxmlformats.org/drawingml/2006/main" noGrp="1"/>
          </p:cNvSpPr>
          <p:nvPr/>
        </p:nvSpPr>
        <p:spPr>
          <a:xfrm xmlns:a="http://schemas.openxmlformats.org/drawingml/2006/main">
            <a:off x="4514850" y="2438400"/>
            <a:ext cx="419100" cy="400050"/>
          </a:xfrm>
          <a:prstGeom xmlns:a="http://schemas.openxmlformats.org/drawingml/2006/main" prst="rect">
            <a:avLst/>
          </a:prstGeom>
          <a:solidFill xmlns:a="http://schemas.openxmlformats.org/drawingml/2006/main">
            <a:srgbClr val="FFFFFF"/>
          </a:solidFill>
          <a:ln xmlns:a="http://schemas.openxmlformats.org/drawingml/2006/main" w="10954">
            <a:solidFill>
              <a:srgbClr val="142D45"/>
            </a:solidFill>
            <a:prstDash val="solid"/>
          </a:ln>
        </p:spPr>
        <p:txBody>
          <a:bodyPr xmlns:a="http://schemas.openxmlformats.org/drawingml/2006/main" wrap="square" lIns="19050" tIns="19050" rIns="19050" bIns="38100" anchor="ctr">
            <a:normAutofit fontScale="100000"/>
          </a:bodyPr>
          <a:lstStyle xmlns:a="http://schemas.openxmlformats.org/drawingml/2006/main"/>
          <a:p xmlns:a="http://schemas.openxmlformats.org/drawingml/2006/main">
            <a:pPr algn="ctr">
              <a:buNone/>
              <a:defRPr sz="900" b="0">
                <a:solidFill>
                  <a:srgbClr val="142D45"/>
                </a:solidFill>
                <a:latin typeface="Aptos"/>
                <a:ea typeface="Aptos"/>
                <a:cs typeface="Aptos"/>
              </a:defRPr>
            </a:pPr>
            <a:r>
              <a:rPr sz="900" b="0">
                <a:solidFill>
                  <a:srgbClr val="142D45"/>
                </a:solidFill>
                <a:latin typeface="Aptos"/>
                <a:ea typeface="Aptos"/>
                <a:cs typeface="Aptos"/>
              </a:rPr>
              <a:t>T1</a:t>
            </a:r>
          </a:p>
        </p:txBody>
      </p:sp>
      <p:sp>
        <p:nvSpPr>
          <p:cNvPr id="20" name="pipeline-f1">
            <a:extLst xmlns:a="http://schemas.openxmlformats.org/drawingml/2006/main">
              <a:ext uri="{FF2B5EF4-FFF2-40B4-BE49-F238E27FC236}">
                <a16:creationId xmlns:a16="http://schemas.microsoft.com/office/drawing/2014/main" id="{8FC5B2A0-E132-4B0B-AF86-D95628EEB8D4}"/>
              </a:ext>
            </a:extLst>
          </p:cNvPr>
          <p:cNvSpPr>
            <a:spLocks xmlns:a="http://schemas.openxmlformats.org/drawingml/2006/main" noGrp="1"/>
          </p:cNvSpPr>
          <p:nvPr/>
        </p:nvSpPr>
        <p:spPr>
          <a:xfrm xmlns:a="http://schemas.openxmlformats.org/drawingml/2006/main">
            <a:off x="5010150" y="2505075"/>
            <a:ext cx="323850" cy="266700"/>
          </a:xfrm>
          <a:prstGeom xmlns:a="http://schemas.openxmlformats.org/drawingml/2006/main" prst="ellipse">
            <a:avLst/>
          </a:prstGeom>
          <a:solidFill xmlns:a="http://schemas.openxmlformats.org/drawingml/2006/main">
            <a:srgbClr val="FFFFFF"/>
          </a:solidFill>
          <a:ln xmlns:a="http://schemas.openxmlformats.org/drawingml/2006/main" w="10954">
            <a:solidFill>
              <a:srgbClr val="0F766E"/>
            </a:solidFill>
            <a:prstDash val="solid"/>
          </a:ln>
        </p:spPr>
        <p:txBody>
          <a:bodyPr xmlns:a="http://schemas.openxmlformats.org/drawingml/2006/main" wrap="square" lIns="9525" tIns="9525" rIns="9525" bIns="38100" anchor="ctr">
            <a:normAutofit fontScale="100000"/>
          </a:bodyPr>
          <a:lstStyle xmlns:a="http://schemas.openxmlformats.org/drawingml/2006/main"/>
          <a:p xmlns:a="http://schemas.openxmlformats.org/drawingml/2006/main">
            <a:pPr algn="ctr">
              <a:buNone/>
              <a:defRPr sz="788" b="0">
                <a:solidFill>
                  <a:srgbClr val="142D45"/>
                </a:solidFill>
                <a:latin typeface="Aptos"/>
                <a:ea typeface="Aptos"/>
                <a:cs typeface="Aptos"/>
              </a:defRPr>
            </a:pPr>
            <a:r>
              <a:rPr sz="788" b="0">
                <a:solidFill>
                  <a:srgbClr val="142D45"/>
                </a:solidFill>
                <a:latin typeface="Aptos"/>
                <a:ea typeface="Aptos"/>
                <a:cs typeface="Aptos"/>
              </a:rPr>
              <a:t>f1</a:t>
            </a:r>
          </a:p>
        </p:txBody>
      </p:sp>
      <p:sp>
        <p:nvSpPr>
          <p:cNvPr id="21" name="pipeline-t2">
            <a:extLst xmlns:a="http://schemas.openxmlformats.org/drawingml/2006/main">
              <a:ext uri="{FF2B5EF4-FFF2-40B4-BE49-F238E27FC236}">
                <a16:creationId xmlns:a16="http://schemas.microsoft.com/office/drawing/2014/main" id="{EEF144C3-31A2-4A8A-9EF4-8CF8BE5397C0}"/>
              </a:ext>
            </a:extLst>
          </p:cNvPr>
          <p:cNvSpPr>
            <a:spLocks xmlns:a="http://schemas.openxmlformats.org/drawingml/2006/main" noGrp="1"/>
          </p:cNvSpPr>
          <p:nvPr/>
        </p:nvSpPr>
        <p:spPr>
          <a:xfrm xmlns:a="http://schemas.openxmlformats.org/drawingml/2006/main">
            <a:off x="5419725" y="2438400"/>
            <a:ext cx="419100" cy="400050"/>
          </a:xfrm>
          <a:prstGeom xmlns:a="http://schemas.openxmlformats.org/drawingml/2006/main" prst="rect">
            <a:avLst/>
          </a:prstGeom>
          <a:solidFill xmlns:a="http://schemas.openxmlformats.org/drawingml/2006/main">
            <a:srgbClr val="FFFFFF"/>
          </a:solidFill>
          <a:ln xmlns:a="http://schemas.openxmlformats.org/drawingml/2006/main" w="10954">
            <a:solidFill>
              <a:srgbClr val="142D45"/>
            </a:solidFill>
            <a:prstDash val="solid"/>
          </a:ln>
        </p:spPr>
        <p:txBody>
          <a:bodyPr xmlns:a="http://schemas.openxmlformats.org/drawingml/2006/main" wrap="square" lIns="19050" tIns="19050" rIns="19050" bIns="38100" anchor="ctr">
            <a:normAutofit fontScale="100000"/>
          </a:bodyPr>
          <a:lstStyle xmlns:a="http://schemas.openxmlformats.org/drawingml/2006/main"/>
          <a:p xmlns:a="http://schemas.openxmlformats.org/drawingml/2006/main">
            <a:pPr algn="ctr">
              <a:buNone/>
              <a:defRPr sz="900" b="0">
                <a:solidFill>
                  <a:srgbClr val="142D45"/>
                </a:solidFill>
                <a:latin typeface="Aptos"/>
                <a:ea typeface="Aptos"/>
                <a:cs typeface="Aptos"/>
              </a:defRPr>
            </a:pPr>
            <a:r>
              <a:rPr sz="900" b="0">
                <a:solidFill>
                  <a:srgbClr val="142D45"/>
                </a:solidFill>
                <a:latin typeface="Aptos"/>
                <a:ea typeface="Aptos"/>
                <a:cs typeface="Aptos"/>
              </a:rPr>
              <a:t>T2</a:t>
            </a:r>
          </a:p>
        </p:txBody>
      </p:sp>
      <p:sp>
        <p:nvSpPr>
          <p:cNvPr id="22" name="pipeline-f2">
            <a:extLst xmlns:a="http://schemas.openxmlformats.org/drawingml/2006/main">
              <a:ext uri="{FF2B5EF4-FFF2-40B4-BE49-F238E27FC236}">
                <a16:creationId xmlns:a16="http://schemas.microsoft.com/office/drawing/2014/main" id="{69756250-3F5C-4D65-B1C9-F567A968A8AB}"/>
              </a:ext>
            </a:extLst>
          </p:cNvPr>
          <p:cNvSpPr>
            <a:spLocks xmlns:a="http://schemas.openxmlformats.org/drawingml/2006/main" noGrp="1"/>
          </p:cNvSpPr>
          <p:nvPr/>
        </p:nvSpPr>
        <p:spPr>
          <a:xfrm xmlns:a="http://schemas.openxmlformats.org/drawingml/2006/main">
            <a:off x="5915025" y="2505075"/>
            <a:ext cx="323850" cy="266700"/>
          </a:xfrm>
          <a:prstGeom xmlns:a="http://schemas.openxmlformats.org/drawingml/2006/main" prst="ellipse">
            <a:avLst/>
          </a:prstGeom>
          <a:solidFill xmlns:a="http://schemas.openxmlformats.org/drawingml/2006/main">
            <a:srgbClr val="FFFFFF"/>
          </a:solidFill>
          <a:ln xmlns:a="http://schemas.openxmlformats.org/drawingml/2006/main" w="10954">
            <a:solidFill>
              <a:srgbClr val="0F766E"/>
            </a:solidFill>
            <a:prstDash val="solid"/>
          </a:ln>
        </p:spPr>
        <p:txBody>
          <a:bodyPr xmlns:a="http://schemas.openxmlformats.org/drawingml/2006/main" wrap="square" lIns="9525" tIns="9525" rIns="9525" bIns="38100" anchor="ctr">
            <a:normAutofit fontScale="100000"/>
          </a:bodyPr>
          <a:lstStyle xmlns:a="http://schemas.openxmlformats.org/drawingml/2006/main"/>
          <a:p xmlns:a="http://schemas.openxmlformats.org/drawingml/2006/main">
            <a:pPr algn="ctr">
              <a:buNone/>
              <a:defRPr sz="788" b="0">
                <a:solidFill>
                  <a:srgbClr val="142D45"/>
                </a:solidFill>
                <a:latin typeface="Aptos"/>
                <a:ea typeface="Aptos"/>
                <a:cs typeface="Aptos"/>
              </a:defRPr>
            </a:pPr>
            <a:r>
              <a:rPr sz="788" b="0">
                <a:solidFill>
                  <a:srgbClr val="142D45"/>
                </a:solidFill>
                <a:latin typeface="Aptos"/>
                <a:ea typeface="Aptos"/>
                <a:cs typeface="Aptos"/>
              </a:rPr>
              <a:t>f2</a:t>
            </a:r>
          </a:p>
        </p:txBody>
      </p:sp>
      <p:sp>
        <p:nvSpPr>
          <p:cNvPr id="23" name="pipeline-t3">
            <a:extLst xmlns:a="http://schemas.openxmlformats.org/drawingml/2006/main">
              <a:ext uri="{FF2B5EF4-FFF2-40B4-BE49-F238E27FC236}">
                <a16:creationId xmlns:a16="http://schemas.microsoft.com/office/drawing/2014/main" id="{9A8B9409-9733-484F-8511-E8E029CC254E}"/>
              </a:ext>
            </a:extLst>
          </p:cNvPr>
          <p:cNvSpPr>
            <a:spLocks xmlns:a="http://schemas.openxmlformats.org/drawingml/2006/main" noGrp="1"/>
          </p:cNvSpPr>
          <p:nvPr/>
        </p:nvSpPr>
        <p:spPr>
          <a:xfrm xmlns:a="http://schemas.openxmlformats.org/drawingml/2006/main">
            <a:off x="6324600" y="2438400"/>
            <a:ext cx="419100" cy="400050"/>
          </a:xfrm>
          <a:prstGeom xmlns:a="http://schemas.openxmlformats.org/drawingml/2006/main" prst="rect">
            <a:avLst/>
          </a:prstGeom>
          <a:solidFill xmlns:a="http://schemas.openxmlformats.org/drawingml/2006/main">
            <a:srgbClr val="FFFFFF"/>
          </a:solidFill>
          <a:ln xmlns:a="http://schemas.openxmlformats.org/drawingml/2006/main" w="10954">
            <a:solidFill>
              <a:srgbClr val="142D45"/>
            </a:solidFill>
            <a:prstDash val="solid"/>
          </a:ln>
        </p:spPr>
        <p:txBody>
          <a:bodyPr xmlns:a="http://schemas.openxmlformats.org/drawingml/2006/main" wrap="square" lIns="19050" tIns="19050" rIns="19050" bIns="38100" anchor="ctr">
            <a:normAutofit fontScale="100000"/>
          </a:bodyPr>
          <a:lstStyle xmlns:a="http://schemas.openxmlformats.org/drawingml/2006/main"/>
          <a:p xmlns:a="http://schemas.openxmlformats.org/drawingml/2006/main">
            <a:pPr algn="ctr">
              <a:buNone/>
              <a:defRPr sz="900" b="0">
                <a:solidFill>
                  <a:srgbClr val="142D45"/>
                </a:solidFill>
                <a:latin typeface="Aptos"/>
                <a:ea typeface="Aptos"/>
                <a:cs typeface="Aptos"/>
              </a:defRPr>
            </a:pPr>
            <a:r>
              <a:rPr sz="900" b="0">
                <a:solidFill>
                  <a:srgbClr val="142D45"/>
                </a:solidFill>
                <a:latin typeface="Aptos"/>
                <a:ea typeface="Aptos"/>
                <a:cs typeface="Aptos"/>
              </a:rPr>
              <a:t>T3</a:t>
            </a:r>
          </a:p>
        </p:txBody>
      </p:sp>
      <p:sp>
        <p:nvSpPr>
          <p:cNvPr id="24" name="pipeline-output">
            <a:extLst xmlns:a="http://schemas.openxmlformats.org/drawingml/2006/main">
              <a:ext uri="{FF2B5EF4-FFF2-40B4-BE49-F238E27FC236}">
                <a16:creationId xmlns:a16="http://schemas.microsoft.com/office/drawing/2014/main" id="{9195D844-2587-4BC4-AB34-B3A035ECC3D6}"/>
              </a:ext>
            </a:extLst>
          </p:cNvPr>
          <p:cNvSpPr>
            <a:spLocks xmlns:a="http://schemas.openxmlformats.org/drawingml/2006/main" noGrp="1"/>
          </p:cNvSpPr>
          <p:nvPr/>
        </p:nvSpPr>
        <p:spPr>
          <a:xfrm xmlns:a="http://schemas.openxmlformats.org/drawingml/2006/main">
            <a:off x="6819900" y="2505075"/>
            <a:ext cx="400050" cy="266700"/>
          </a:xfrm>
          <a:prstGeom xmlns:a="http://schemas.openxmlformats.org/drawingml/2006/main" prst="ellipse">
            <a:avLst/>
          </a:prstGeom>
          <a:solidFill xmlns:a="http://schemas.openxmlformats.org/drawingml/2006/main">
            <a:srgbClr val="FFFFFF"/>
          </a:solidFill>
          <a:ln xmlns:a="http://schemas.openxmlformats.org/drawingml/2006/main" w="10954">
            <a:solidFill>
              <a:srgbClr val="0F766E"/>
            </a:solidFill>
            <a:prstDash val="solid"/>
          </a:ln>
        </p:spPr>
        <p:txBody>
          <a:bodyPr xmlns:a="http://schemas.openxmlformats.org/drawingml/2006/main" wrap="square" lIns="9525" tIns="9525" rIns="9525" bIns="38100" anchor="ctr">
            <a:normAutofit fontScale="100000"/>
          </a:bodyPr>
          <a:lstStyle xmlns:a="http://schemas.openxmlformats.org/drawingml/2006/main"/>
          <a:p xmlns:a="http://schemas.openxmlformats.org/drawingml/2006/main">
            <a:pPr algn="ctr">
              <a:buNone/>
              <a:defRPr sz="788" b="0">
                <a:solidFill>
                  <a:srgbClr val="142D45"/>
                </a:solidFill>
                <a:latin typeface="Aptos"/>
                <a:ea typeface="Aptos"/>
                <a:cs typeface="Aptos"/>
              </a:defRPr>
            </a:pPr>
            <a:r>
              <a:rPr sz="788" b="0">
                <a:solidFill>
                  <a:srgbClr val="142D45"/>
                </a:solidFill>
                <a:latin typeface="Aptos"/>
                <a:ea typeface="Aptos"/>
                <a:cs typeface="Aptos"/>
              </a:rPr>
              <a:t>out</a:t>
            </a:r>
          </a:p>
        </p:txBody>
      </p:sp>
      <p:cxnSp>
        <p:nvCxnSpPr>
          <p:cNvPr id="248" name=""/>
          <p:cNvCxnSpPr>
            <a:stCxn xmlns:a="http://schemas.openxmlformats.org/drawingml/2006/main" id="18" idx="6"/>
            <a:endCxn xmlns:a="http://schemas.openxmlformats.org/drawingml/2006/main" id="19" idx="1"/>
          </p:cNvCxnSpPr>
          <p:nvPr/>
        </p:nvCxnSpPr>
        <p:spPr>
          <a:xfrm xmlns:a="http://schemas.openxmlformats.org/drawingml/2006/main">
            <a:off x="4429125" y="2638425"/>
            <a:ext cx="85725" cy="0"/>
          </a:xfrm>
          <a:prstGeom xmlns:a="http://schemas.openxmlformats.org/drawingml/2006/main" prst="straightConnector1">
            <a:avLst/>
          </a:prstGeom>
          <a:ln xmlns:a="http://schemas.openxmlformats.org/drawingml/2006/main" w="11430">
            <a:solidFill>
              <a:srgbClr val="23364A"/>
            </a:solidFill>
            <a:prstDash val="solid"/>
            <a:tailEnd type="arrow" w="med" len="med"/>
          </a:ln>
        </p:spPr>
      </p:cxnSp>
      <p:cxnSp>
        <p:nvCxnSpPr>
          <p:cNvPr id="249" name=""/>
          <p:cNvCxnSpPr>
            <a:stCxn xmlns:a="http://schemas.openxmlformats.org/drawingml/2006/main" id="19" idx="3"/>
            <a:endCxn xmlns:a="http://schemas.openxmlformats.org/drawingml/2006/main" id="20" idx="2"/>
          </p:cNvCxnSpPr>
          <p:nvPr/>
        </p:nvCxnSpPr>
        <p:spPr>
          <a:xfrm xmlns:a="http://schemas.openxmlformats.org/drawingml/2006/main">
            <a:off x="4933950" y="2638425"/>
            <a:ext cx="76200" cy="0"/>
          </a:xfrm>
          <a:prstGeom xmlns:a="http://schemas.openxmlformats.org/drawingml/2006/main" prst="straightConnector1">
            <a:avLst/>
          </a:prstGeom>
          <a:ln xmlns:a="http://schemas.openxmlformats.org/drawingml/2006/main" w="11430">
            <a:solidFill>
              <a:srgbClr val="23364A"/>
            </a:solidFill>
            <a:prstDash val="solid"/>
            <a:tailEnd type="arrow" w="med" len="med"/>
          </a:ln>
        </p:spPr>
      </p:cxnSp>
      <p:cxnSp>
        <p:nvCxnSpPr>
          <p:cNvPr id="250" name=""/>
          <p:cNvCxnSpPr>
            <a:stCxn xmlns:a="http://schemas.openxmlformats.org/drawingml/2006/main" id="20" idx="6"/>
            <a:endCxn xmlns:a="http://schemas.openxmlformats.org/drawingml/2006/main" id="21" idx="1"/>
          </p:cNvCxnSpPr>
          <p:nvPr/>
        </p:nvCxnSpPr>
        <p:spPr>
          <a:xfrm xmlns:a="http://schemas.openxmlformats.org/drawingml/2006/main">
            <a:off x="5334000" y="2638425"/>
            <a:ext cx="85725" cy="0"/>
          </a:xfrm>
          <a:prstGeom xmlns:a="http://schemas.openxmlformats.org/drawingml/2006/main" prst="straightConnector1">
            <a:avLst/>
          </a:prstGeom>
          <a:ln xmlns:a="http://schemas.openxmlformats.org/drawingml/2006/main" w="11430">
            <a:solidFill>
              <a:srgbClr val="23364A"/>
            </a:solidFill>
            <a:prstDash val="solid"/>
            <a:tailEnd type="arrow" w="med" len="med"/>
          </a:ln>
        </p:spPr>
      </p:cxnSp>
      <p:cxnSp>
        <p:nvCxnSpPr>
          <p:cNvPr id="251" name=""/>
          <p:cNvCxnSpPr>
            <a:stCxn xmlns:a="http://schemas.openxmlformats.org/drawingml/2006/main" id="21" idx="3"/>
            <a:endCxn xmlns:a="http://schemas.openxmlformats.org/drawingml/2006/main" id="22" idx="2"/>
          </p:cNvCxnSpPr>
          <p:nvPr/>
        </p:nvCxnSpPr>
        <p:spPr>
          <a:xfrm xmlns:a="http://schemas.openxmlformats.org/drawingml/2006/main">
            <a:off x="5838825" y="2638425"/>
            <a:ext cx="76200" cy="0"/>
          </a:xfrm>
          <a:prstGeom xmlns:a="http://schemas.openxmlformats.org/drawingml/2006/main" prst="straightConnector1">
            <a:avLst/>
          </a:prstGeom>
          <a:ln xmlns:a="http://schemas.openxmlformats.org/drawingml/2006/main" w="11430">
            <a:solidFill>
              <a:srgbClr val="23364A"/>
            </a:solidFill>
            <a:prstDash val="solid"/>
            <a:tailEnd type="arrow" w="med" len="med"/>
          </a:ln>
        </p:spPr>
      </p:cxnSp>
      <p:cxnSp>
        <p:nvCxnSpPr>
          <p:cNvPr id="252" name=""/>
          <p:cNvCxnSpPr>
            <a:stCxn xmlns:a="http://schemas.openxmlformats.org/drawingml/2006/main" id="22" idx="6"/>
            <a:endCxn xmlns:a="http://schemas.openxmlformats.org/drawingml/2006/main" id="23" idx="1"/>
          </p:cNvCxnSpPr>
          <p:nvPr/>
        </p:nvCxnSpPr>
        <p:spPr>
          <a:xfrm xmlns:a="http://schemas.openxmlformats.org/drawingml/2006/main">
            <a:off x="6238875" y="2638425"/>
            <a:ext cx="85725" cy="0"/>
          </a:xfrm>
          <a:prstGeom xmlns:a="http://schemas.openxmlformats.org/drawingml/2006/main" prst="straightConnector1">
            <a:avLst/>
          </a:prstGeom>
          <a:ln xmlns:a="http://schemas.openxmlformats.org/drawingml/2006/main" w="11430">
            <a:solidFill>
              <a:srgbClr val="23364A"/>
            </a:solidFill>
            <a:prstDash val="solid"/>
            <a:tailEnd type="arrow" w="med" len="med"/>
          </a:ln>
        </p:spPr>
      </p:cxnSp>
      <p:cxnSp>
        <p:nvCxnSpPr>
          <p:cNvPr id="253" name=""/>
          <p:cNvCxnSpPr>
            <a:stCxn xmlns:a="http://schemas.openxmlformats.org/drawingml/2006/main" id="23" idx="3"/>
            <a:endCxn xmlns:a="http://schemas.openxmlformats.org/drawingml/2006/main" id="24" idx="2"/>
          </p:cNvCxnSpPr>
          <p:nvPr/>
        </p:nvCxnSpPr>
        <p:spPr>
          <a:xfrm xmlns:a="http://schemas.openxmlformats.org/drawingml/2006/main">
            <a:off x="6743700" y="2638425"/>
            <a:ext cx="76200" cy="0"/>
          </a:xfrm>
          <a:prstGeom xmlns:a="http://schemas.openxmlformats.org/drawingml/2006/main" prst="straightConnector1">
            <a:avLst/>
          </a:prstGeom>
          <a:ln xmlns:a="http://schemas.openxmlformats.org/drawingml/2006/main" w="11430">
            <a:solidFill>
              <a:srgbClr val="23364A"/>
            </a:solidFill>
            <a:prstDash val="solid"/>
            <a:tailEnd type="arrow" w="med" len="med"/>
          </a:ln>
        </p:spPr>
      </p:cxnSp>
      <p:sp>
        <p:nvSpPr>
          <p:cNvPr id="31" name="Data distribution-pattern-title">
            <a:extLst xmlns:a="http://schemas.openxmlformats.org/drawingml/2006/main">
              <a:ext uri="{FF2B5EF4-FFF2-40B4-BE49-F238E27FC236}">
                <a16:creationId xmlns:a16="http://schemas.microsoft.com/office/drawing/2014/main" id="{1F8AA886-56D5-49FD-9C31-4681A9E6E15F}"/>
              </a:ext>
            </a:extLst>
          </p:cNvPr>
          <p:cNvSpPr>
            <a:spLocks xmlns:a="http://schemas.openxmlformats.org/drawingml/2006/main" noGrp="1"/>
          </p:cNvSpPr>
          <p:nvPr/>
        </p:nvSpPr>
        <p:spPr>
          <a:xfrm xmlns:a="http://schemas.openxmlformats.org/drawingml/2006/main">
            <a:off x="7924800" y="1885950"/>
            <a:ext cx="3667125"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buNone/>
              <a:defRPr sz="1350" b="1">
                <a:solidFill>
                  <a:srgbClr val="142D45"/>
                </a:solidFill>
                <a:latin typeface="Aptos"/>
                <a:ea typeface="Aptos"/>
                <a:cs typeface="Aptos"/>
              </a:defRPr>
            </a:pPr>
            <a:r>
              <a:rPr sz="1350" b="1">
                <a:solidFill>
                  <a:srgbClr val="142D45"/>
                </a:solidFill>
                <a:latin typeface="Aptos"/>
                <a:ea typeface="Aptos"/>
                <a:cs typeface="Aptos"/>
              </a:rPr>
              <a:t>Data distribution</a:t>
            </a:r>
          </a:p>
        </p:txBody>
      </p:sp>
      <p:sp>
        <p:nvSpPr>
          <p:cNvPr id="32" name="Data distribution-pattern-subtitle">
            <a:extLst xmlns:a="http://schemas.openxmlformats.org/drawingml/2006/main">
              <a:ext uri="{FF2B5EF4-FFF2-40B4-BE49-F238E27FC236}">
                <a16:creationId xmlns:a16="http://schemas.microsoft.com/office/drawing/2014/main" id="{6B98DC67-673E-412B-9A20-9DA8AA3F1683}"/>
              </a:ext>
            </a:extLst>
          </p:cNvPr>
          <p:cNvSpPr>
            <a:spLocks xmlns:a="http://schemas.openxmlformats.org/drawingml/2006/main" noGrp="1"/>
          </p:cNvSpPr>
          <p:nvPr/>
        </p:nvSpPr>
        <p:spPr>
          <a:xfrm xmlns:a="http://schemas.openxmlformats.org/drawingml/2006/main">
            <a:off x="7924800" y="2143125"/>
            <a:ext cx="3667125"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buNone/>
              <a:defRPr sz="938">
                <a:solidFill>
                  <a:srgbClr val="64748B"/>
                </a:solidFill>
                <a:latin typeface="Aptos"/>
                <a:ea typeface="Aptos"/>
                <a:cs typeface="Aptos"/>
              </a:defRPr>
            </a:pPr>
            <a:r>
              <a:rPr sz="938">
                <a:solidFill>
                  <a:srgbClr val="64748B"/>
                </a:solidFill>
                <a:latin typeface="Aptos"/>
                <a:ea typeface="Aptos"/>
                <a:cs typeface="Aptos"/>
              </a:rPr>
              <a:t>5 jobs · 1 split + 4 consumers</a:t>
            </a:r>
          </a:p>
        </p:txBody>
      </p:sp>
      <p:sp>
        <p:nvSpPr>
          <p:cNvPr id="33" name="distribution-input">
            <a:extLst xmlns:a="http://schemas.openxmlformats.org/drawingml/2006/main">
              <a:ext uri="{FF2B5EF4-FFF2-40B4-BE49-F238E27FC236}">
                <a16:creationId xmlns:a16="http://schemas.microsoft.com/office/drawing/2014/main" id="{ED2C5463-0654-422B-8EDB-19454000687F}"/>
              </a:ext>
            </a:extLst>
          </p:cNvPr>
          <p:cNvSpPr>
            <a:spLocks xmlns:a="http://schemas.openxmlformats.org/drawingml/2006/main" noGrp="1"/>
          </p:cNvSpPr>
          <p:nvPr/>
        </p:nvSpPr>
        <p:spPr>
          <a:xfrm xmlns:a="http://schemas.openxmlformats.org/drawingml/2006/main">
            <a:off x="7943850" y="2571750"/>
            <a:ext cx="323850" cy="257175"/>
          </a:xfrm>
          <a:prstGeom xmlns:a="http://schemas.openxmlformats.org/drawingml/2006/main" prst="ellipse">
            <a:avLst/>
          </a:prstGeom>
          <a:solidFill xmlns:a="http://schemas.openxmlformats.org/drawingml/2006/main">
            <a:srgbClr val="FFFFFF"/>
          </a:solidFill>
          <a:ln xmlns:a="http://schemas.openxmlformats.org/drawingml/2006/main" w="10954">
            <a:solidFill>
              <a:srgbClr val="0F766E"/>
            </a:solidFill>
            <a:prstDash val="solid"/>
          </a:ln>
        </p:spPr>
        <p:txBody>
          <a:bodyPr xmlns:a="http://schemas.openxmlformats.org/drawingml/2006/main" wrap="square" lIns="9525" tIns="9525" rIns="9525" bIns="38100" anchor="ctr">
            <a:normAutofit fontScale="100000"/>
          </a:bodyPr>
          <a:lstStyle xmlns:a="http://schemas.openxmlformats.org/drawingml/2006/main"/>
          <a:p xmlns:a="http://schemas.openxmlformats.org/drawingml/2006/main">
            <a:pPr algn="ctr">
              <a:buNone/>
              <a:defRPr sz="788" b="0">
                <a:solidFill>
                  <a:srgbClr val="142D45"/>
                </a:solidFill>
                <a:latin typeface="Aptos"/>
                <a:ea typeface="Aptos"/>
                <a:cs typeface="Aptos"/>
              </a:defRPr>
            </a:pPr>
            <a:r>
              <a:rPr sz="788" b="0">
                <a:solidFill>
                  <a:srgbClr val="142D45"/>
                </a:solidFill>
                <a:latin typeface="Aptos"/>
                <a:ea typeface="Aptos"/>
                <a:cs typeface="Aptos"/>
              </a:rPr>
              <a:t>in</a:t>
            </a:r>
          </a:p>
        </p:txBody>
      </p:sp>
      <p:sp>
        <p:nvSpPr>
          <p:cNvPr id="34" name="distribution-split">
            <a:extLst xmlns:a="http://schemas.openxmlformats.org/drawingml/2006/main">
              <a:ext uri="{FF2B5EF4-FFF2-40B4-BE49-F238E27FC236}">
                <a16:creationId xmlns:a16="http://schemas.microsoft.com/office/drawing/2014/main" id="{446C2819-D547-4B0A-B596-425C7CB14EE5}"/>
              </a:ext>
            </a:extLst>
          </p:cNvPr>
          <p:cNvSpPr>
            <a:spLocks xmlns:a="http://schemas.openxmlformats.org/drawingml/2006/main" noGrp="1"/>
          </p:cNvSpPr>
          <p:nvPr/>
        </p:nvSpPr>
        <p:spPr>
          <a:xfrm xmlns:a="http://schemas.openxmlformats.org/drawingml/2006/main">
            <a:off x="8353425" y="2505075"/>
            <a:ext cx="590550" cy="381000"/>
          </a:xfrm>
          <a:prstGeom xmlns:a="http://schemas.openxmlformats.org/drawingml/2006/main" prst="rect">
            <a:avLst/>
          </a:prstGeom>
          <a:solidFill xmlns:a="http://schemas.openxmlformats.org/drawingml/2006/main">
            <a:srgbClr val="FFFFFF"/>
          </a:solidFill>
          <a:ln xmlns:a="http://schemas.openxmlformats.org/drawingml/2006/main" w="10954">
            <a:solidFill>
              <a:srgbClr val="142D45"/>
            </a:solidFill>
            <a:prstDash val="solid"/>
          </a:ln>
        </p:spPr>
        <p:txBody>
          <a:bodyPr xmlns:a="http://schemas.openxmlformats.org/drawingml/2006/main" wrap="square" lIns="19050" tIns="19050" rIns="19050" bIns="38100" anchor="ctr">
            <a:normAutofit fontScale="100000"/>
          </a:bodyPr>
          <a:lstStyle xmlns:a="http://schemas.openxmlformats.org/drawingml/2006/main"/>
          <a:p xmlns:a="http://schemas.openxmlformats.org/drawingml/2006/main">
            <a:pPr algn="ctr">
              <a:buNone/>
              <a:defRPr sz="863" b="0">
                <a:solidFill>
                  <a:srgbClr val="142D45"/>
                </a:solidFill>
                <a:latin typeface="Aptos"/>
                <a:ea typeface="Aptos"/>
                <a:cs typeface="Aptos"/>
              </a:defRPr>
            </a:pPr>
            <a:r>
              <a:rPr sz="863" b="0">
                <a:solidFill>
                  <a:srgbClr val="142D45"/>
                </a:solidFill>
                <a:latin typeface="Aptos"/>
                <a:ea typeface="Aptos"/>
                <a:cs typeface="Aptos"/>
              </a:rPr>
              <a:t>SPLIT</a:t>
            </a:r>
          </a:p>
        </p:txBody>
      </p:sp>
      <p:cxnSp>
        <p:nvCxnSpPr>
          <p:cNvPr id="258" name=""/>
          <p:cNvCxnSpPr>
            <a:stCxn xmlns:a="http://schemas.openxmlformats.org/drawingml/2006/main" id="33" idx="6"/>
            <a:endCxn xmlns:a="http://schemas.openxmlformats.org/drawingml/2006/main" id="34" idx="1"/>
          </p:cNvCxnSpPr>
          <p:nvPr/>
        </p:nvCxnSpPr>
        <p:spPr>
          <a:xfrm xmlns:a="http://schemas.openxmlformats.org/drawingml/2006/main" flipV="1">
            <a:off x="8267700" y="2695575"/>
            <a:ext cx="85725" cy="4763"/>
          </a:xfrm>
          <a:prstGeom xmlns:a="http://schemas.openxmlformats.org/drawingml/2006/main" prst="straightConnector1">
            <a:avLst/>
          </a:prstGeom>
          <a:ln xmlns:a="http://schemas.openxmlformats.org/drawingml/2006/main" w="11430">
            <a:solidFill>
              <a:srgbClr val="23364A"/>
            </a:solidFill>
            <a:prstDash val="solid"/>
            <a:tailEnd type="arrow" w="med" len="med"/>
          </a:ln>
        </p:spPr>
      </p:cxnSp>
      <p:sp>
        <p:nvSpPr>
          <p:cNvPr id="36" name="distribution-consumer-0">
            <a:extLst xmlns:a="http://schemas.openxmlformats.org/drawingml/2006/main">
              <a:ext uri="{FF2B5EF4-FFF2-40B4-BE49-F238E27FC236}">
                <a16:creationId xmlns:a16="http://schemas.microsoft.com/office/drawing/2014/main" id="{2B1437B1-18F8-46EE-9580-32C02428EB43}"/>
              </a:ext>
            </a:extLst>
          </p:cNvPr>
          <p:cNvSpPr>
            <a:spLocks xmlns:a="http://schemas.openxmlformats.org/drawingml/2006/main" noGrp="1"/>
          </p:cNvSpPr>
          <p:nvPr/>
        </p:nvSpPr>
        <p:spPr>
          <a:xfrm xmlns:a="http://schemas.openxmlformats.org/drawingml/2006/main">
            <a:off x="9324975" y="2371725"/>
            <a:ext cx="466725" cy="238125"/>
          </a:xfrm>
          <a:prstGeom xmlns:a="http://schemas.openxmlformats.org/drawingml/2006/main" prst="rect">
            <a:avLst/>
          </a:prstGeom>
          <a:solidFill xmlns:a="http://schemas.openxmlformats.org/drawingml/2006/main">
            <a:srgbClr val="FFFFFF"/>
          </a:solidFill>
          <a:ln xmlns:a="http://schemas.openxmlformats.org/drawingml/2006/main" w="10954">
            <a:solidFill>
              <a:srgbClr val="142D45"/>
            </a:solidFill>
            <a:prstDash val="solid"/>
          </a:ln>
        </p:spPr>
        <p:txBody>
          <a:bodyPr xmlns:a="http://schemas.openxmlformats.org/drawingml/2006/main" wrap="square" lIns="19050" tIns="19050" rIns="19050" bIns="38100" anchor="ctr">
            <a:normAutofit fontScale="100000"/>
          </a:bodyPr>
          <a:lstStyle xmlns:a="http://schemas.openxmlformats.org/drawingml/2006/main"/>
          <a:p xmlns:a="http://schemas.openxmlformats.org/drawingml/2006/main">
            <a:pPr algn="ctr">
              <a:buNone/>
              <a:defRPr sz="863" b="0">
                <a:solidFill>
                  <a:srgbClr val="142D45"/>
                </a:solidFill>
                <a:latin typeface="Aptos"/>
                <a:ea typeface="Aptos"/>
                <a:cs typeface="Aptos"/>
              </a:defRPr>
            </a:pPr>
            <a:r>
              <a:rPr sz="863" b="0">
                <a:solidFill>
                  <a:srgbClr val="142D45"/>
                </a:solidFill>
                <a:latin typeface="Aptos"/>
                <a:ea typeface="Aptos"/>
                <a:cs typeface="Aptos"/>
              </a:rPr>
              <a:t>P0</a:t>
            </a:r>
          </a:p>
        </p:txBody>
      </p:sp>
      <p:sp>
        <p:nvSpPr>
          <p:cNvPr id="37" name="distribution-output-0">
            <a:extLst xmlns:a="http://schemas.openxmlformats.org/drawingml/2006/main">
              <a:ext uri="{FF2B5EF4-FFF2-40B4-BE49-F238E27FC236}">
                <a16:creationId xmlns:a16="http://schemas.microsoft.com/office/drawing/2014/main" id="{58FE0EBC-13CD-489C-A2CD-344EEAE438FB}"/>
              </a:ext>
            </a:extLst>
          </p:cNvPr>
          <p:cNvSpPr>
            <a:spLocks xmlns:a="http://schemas.openxmlformats.org/drawingml/2006/main" noGrp="1"/>
          </p:cNvSpPr>
          <p:nvPr/>
        </p:nvSpPr>
        <p:spPr>
          <a:xfrm xmlns:a="http://schemas.openxmlformats.org/drawingml/2006/main">
            <a:off x="10201275" y="2381250"/>
            <a:ext cx="352425" cy="219075"/>
          </a:xfrm>
          <a:prstGeom xmlns:a="http://schemas.openxmlformats.org/drawingml/2006/main" prst="ellipse">
            <a:avLst/>
          </a:prstGeom>
          <a:solidFill xmlns:a="http://schemas.openxmlformats.org/drawingml/2006/main">
            <a:srgbClr val="FFFFFF"/>
          </a:solidFill>
          <a:ln xmlns:a="http://schemas.openxmlformats.org/drawingml/2006/main" w="10954">
            <a:solidFill>
              <a:srgbClr val="0F766E"/>
            </a:solidFill>
            <a:prstDash val="solid"/>
          </a:ln>
        </p:spPr>
        <p:txBody>
          <a:bodyPr xmlns:a="http://schemas.openxmlformats.org/drawingml/2006/main" wrap="square" lIns="9525" tIns="9525" rIns="9525" bIns="38100" anchor="ctr">
            <a:normAutofit fontScale="93862"/>
          </a:bodyPr>
          <a:lstStyle xmlns:a="http://schemas.openxmlformats.org/drawingml/2006/main"/>
          <a:p xmlns:a="http://schemas.openxmlformats.org/drawingml/2006/main">
            <a:pPr algn="ctr">
              <a:buNone/>
              <a:defRPr sz="750" b="0">
                <a:solidFill>
                  <a:srgbClr val="142D45"/>
                </a:solidFill>
                <a:latin typeface="Aptos"/>
                <a:ea typeface="Aptos"/>
                <a:cs typeface="Aptos"/>
              </a:defRPr>
            </a:pPr>
            <a:r>
              <a:rPr sz="750" b="0">
                <a:solidFill>
                  <a:srgbClr val="142D45"/>
                </a:solidFill>
                <a:latin typeface="Aptos"/>
                <a:ea typeface="Aptos"/>
                <a:cs typeface="Aptos"/>
              </a:rPr>
              <a:t>o0</a:t>
            </a:r>
          </a:p>
        </p:txBody>
      </p:sp>
      <p:cxnSp>
        <p:nvCxnSpPr>
          <p:cNvPr id="261" name=""/>
          <p:cNvCxnSpPr>
            <a:stCxn xmlns:a="http://schemas.openxmlformats.org/drawingml/2006/main" id="34" idx="3"/>
            <a:endCxn xmlns:a="http://schemas.openxmlformats.org/drawingml/2006/main" id="36" idx="1"/>
          </p:cNvCxnSpPr>
          <p:nvPr/>
        </p:nvCxnSpPr>
        <p:spPr>
          <a:xfrm xmlns:a="http://schemas.openxmlformats.org/drawingml/2006/main" flipV="1">
            <a:off x="8943975" y="2490788"/>
            <a:ext cx="381000" cy="204788"/>
          </a:xfrm>
          <a:prstGeom xmlns:a="http://schemas.openxmlformats.org/drawingml/2006/main" prst="bentConnector3">
            <a:avLst>
              <a:gd name="adj1" fmla="val 50000"/>
            </a:avLst>
          </a:prstGeom>
          <a:ln xmlns:a="http://schemas.openxmlformats.org/drawingml/2006/main" w="11430">
            <a:solidFill>
              <a:srgbClr val="23364A"/>
            </a:solidFill>
            <a:prstDash val="solid"/>
            <a:tailEnd type="arrow" w="med" len="med"/>
          </a:ln>
        </p:spPr>
      </p:cxnSp>
      <p:cxnSp>
        <p:nvCxnSpPr>
          <p:cNvPr id="262" name=""/>
          <p:cNvCxnSpPr>
            <a:stCxn xmlns:a="http://schemas.openxmlformats.org/drawingml/2006/main" id="36" idx="3"/>
            <a:endCxn xmlns:a="http://schemas.openxmlformats.org/drawingml/2006/main" id="37" idx="2"/>
          </p:cNvCxnSpPr>
          <p:nvPr/>
        </p:nvCxnSpPr>
        <p:spPr>
          <a:xfrm xmlns:a="http://schemas.openxmlformats.org/drawingml/2006/main">
            <a:off x="9791700" y="2490788"/>
            <a:ext cx="409575" cy="0"/>
          </a:xfrm>
          <a:prstGeom xmlns:a="http://schemas.openxmlformats.org/drawingml/2006/main" prst="straightConnector1">
            <a:avLst/>
          </a:prstGeom>
          <a:ln xmlns:a="http://schemas.openxmlformats.org/drawingml/2006/main" w="11430">
            <a:solidFill>
              <a:srgbClr val="23364A"/>
            </a:solidFill>
            <a:prstDash val="solid"/>
            <a:tailEnd type="arrow" w="med" len="med"/>
          </a:ln>
        </p:spPr>
      </p:cxnSp>
      <p:sp>
        <p:nvSpPr>
          <p:cNvPr id="40" name="distribution-consumer-1">
            <a:extLst xmlns:a="http://schemas.openxmlformats.org/drawingml/2006/main">
              <a:ext uri="{FF2B5EF4-FFF2-40B4-BE49-F238E27FC236}">
                <a16:creationId xmlns:a16="http://schemas.microsoft.com/office/drawing/2014/main" id="{051D2EF5-461F-42C2-871E-D5E83DFB0D64}"/>
              </a:ext>
            </a:extLst>
          </p:cNvPr>
          <p:cNvSpPr>
            <a:spLocks xmlns:a="http://schemas.openxmlformats.org/drawingml/2006/main" noGrp="1"/>
          </p:cNvSpPr>
          <p:nvPr/>
        </p:nvSpPr>
        <p:spPr>
          <a:xfrm xmlns:a="http://schemas.openxmlformats.org/drawingml/2006/main">
            <a:off x="9324975" y="2609850"/>
            <a:ext cx="466725" cy="238125"/>
          </a:xfrm>
          <a:prstGeom xmlns:a="http://schemas.openxmlformats.org/drawingml/2006/main" prst="rect">
            <a:avLst/>
          </a:prstGeom>
          <a:solidFill xmlns:a="http://schemas.openxmlformats.org/drawingml/2006/main">
            <a:srgbClr val="FFFFFF"/>
          </a:solidFill>
          <a:ln xmlns:a="http://schemas.openxmlformats.org/drawingml/2006/main" w="10954">
            <a:solidFill>
              <a:srgbClr val="142D45"/>
            </a:solidFill>
            <a:prstDash val="solid"/>
          </a:ln>
        </p:spPr>
        <p:txBody>
          <a:bodyPr xmlns:a="http://schemas.openxmlformats.org/drawingml/2006/main" wrap="square" lIns="19050" tIns="19050" rIns="19050" bIns="38100" anchor="ctr">
            <a:normAutofit fontScale="100000"/>
          </a:bodyPr>
          <a:lstStyle xmlns:a="http://schemas.openxmlformats.org/drawingml/2006/main"/>
          <a:p xmlns:a="http://schemas.openxmlformats.org/drawingml/2006/main">
            <a:pPr algn="ctr">
              <a:buNone/>
              <a:defRPr sz="863" b="0">
                <a:solidFill>
                  <a:srgbClr val="142D45"/>
                </a:solidFill>
                <a:latin typeface="Aptos"/>
                <a:ea typeface="Aptos"/>
                <a:cs typeface="Aptos"/>
              </a:defRPr>
            </a:pPr>
            <a:r>
              <a:rPr sz="863" b="0">
                <a:solidFill>
                  <a:srgbClr val="142D45"/>
                </a:solidFill>
                <a:latin typeface="Aptos"/>
                <a:ea typeface="Aptos"/>
                <a:cs typeface="Aptos"/>
              </a:rPr>
              <a:t>P1</a:t>
            </a:r>
          </a:p>
        </p:txBody>
      </p:sp>
      <p:sp>
        <p:nvSpPr>
          <p:cNvPr id="41" name="distribution-output-1">
            <a:extLst xmlns:a="http://schemas.openxmlformats.org/drawingml/2006/main">
              <a:ext uri="{FF2B5EF4-FFF2-40B4-BE49-F238E27FC236}">
                <a16:creationId xmlns:a16="http://schemas.microsoft.com/office/drawing/2014/main" id="{E282AE9F-E903-4A5F-AADE-B3CF389F3841}"/>
              </a:ext>
            </a:extLst>
          </p:cNvPr>
          <p:cNvSpPr>
            <a:spLocks xmlns:a="http://schemas.openxmlformats.org/drawingml/2006/main" noGrp="1"/>
          </p:cNvSpPr>
          <p:nvPr/>
        </p:nvSpPr>
        <p:spPr>
          <a:xfrm xmlns:a="http://schemas.openxmlformats.org/drawingml/2006/main">
            <a:off x="10201275" y="2619375"/>
            <a:ext cx="352425" cy="219075"/>
          </a:xfrm>
          <a:prstGeom xmlns:a="http://schemas.openxmlformats.org/drawingml/2006/main" prst="ellipse">
            <a:avLst/>
          </a:prstGeom>
          <a:solidFill xmlns:a="http://schemas.openxmlformats.org/drawingml/2006/main">
            <a:srgbClr val="FFFFFF"/>
          </a:solidFill>
          <a:ln xmlns:a="http://schemas.openxmlformats.org/drawingml/2006/main" w="10954">
            <a:solidFill>
              <a:srgbClr val="0F766E"/>
            </a:solidFill>
            <a:prstDash val="solid"/>
          </a:ln>
        </p:spPr>
        <p:txBody>
          <a:bodyPr xmlns:a="http://schemas.openxmlformats.org/drawingml/2006/main" wrap="square" lIns="9525" tIns="9525" rIns="9525" bIns="38100" anchor="ctr">
            <a:normAutofit fontScale="93862"/>
          </a:bodyPr>
          <a:lstStyle xmlns:a="http://schemas.openxmlformats.org/drawingml/2006/main"/>
          <a:p xmlns:a="http://schemas.openxmlformats.org/drawingml/2006/main">
            <a:pPr algn="ctr">
              <a:buNone/>
              <a:defRPr sz="750" b="0">
                <a:solidFill>
                  <a:srgbClr val="142D45"/>
                </a:solidFill>
                <a:latin typeface="Aptos"/>
                <a:ea typeface="Aptos"/>
                <a:cs typeface="Aptos"/>
              </a:defRPr>
            </a:pPr>
            <a:r>
              <a:rPr sz="750" b="0">
                <a:solidFill>
                  <a:srgbClr val="142D45"/>
                </a:solidFill>
                <a:latin typeface="Aptos"/>
                <a:ea typeface="Aptos"/>
                <a:cs typeface="Aptos"/>
              </a:rPr>
              <a:t>o1</a:t>
            </a:r>
          </a:p>
        </p:txBody>
      </p:sp>
      <p:cxnSp>
        <p:nvCxnSpPr>
          <p:cNvPr id="265" name=""/>
          <p:cNvCxnSpPr>
            <a:stCxn xmlns:a="http://schemas.openxmlformats.org/drawingml/2006/main" id="34" idx="3"/>
            <a:endCxn xmlns:a="http://schemas.openxmlformats.org/drawingml/2006/main" id="40" idx="1"/>
          </p:cNvCxnSpPr>
          <p:nvPr/>
        </p:nvCxnSpPr>
        <p:spPr>
          <a:xfrm xmlns:a="http://schemas.openxmlformats.org/drawingml/2006/main">
            <a:off x="8943975" y="2695575"/>
            <a:ext cx="381000" cy="33338"/>
          </a:xfrm>
          <a:prstGeom xmlns:a="http://schemas.openxmlformats.org/drawingml/2006/main" prst="bentConnector3">
            <a:avLst>
              <a:gd name="adj1" fmla="val 50000"/>
            </a:avLst>
          </a:prstGeom>
          <a:ln xmlns:a="http://schemas.openxmlformats.org/drawingml/2006/main" w="11430">
            <a:solidFill>
              <a:srgbClr val="23364A"/>
            </a:solidFill>
            <a:prstDash val="solid"/>
            <a:tailEnd type="arrow" w="med" len="med"/>
          </a:ln>
        </p:spPr>
      </p:cxnSp>
      <p:cxnSp>
        <p:nvCxnSpPr>
          <p:cNvPr id="266" name=""/>
          <p:cNvCxnSpPr>
            <a:stCxn xmlns:a="http://schemas.openxmlformats.org/drawingml/2006/main" id="40" idx="3"/>
            <a:endCxn xmlns:a="http://schemas.openxmlformats.org/drawingml/2006/main" id="41" idx="2"/>
          </p:cNvCxnSpPr>
          <p:nvPr/>
        </p:nvCxnSpPr>
        <p:spPr>
          <a:xfrm xmlns:a="http://schemas.openxmlformats.org/drawingml/2006/main">
            <a:off x="9791700" y="2728913"/>
            <a:ext cx="409575" cy="0"/>
          </a:xfrm>
          <a:prstGeom xmlns:a="http://schemas.openxmlformats.org/drawingml/2006/main" prst="straightConnector1">
            <a:avLst/>
          </a:prstGeom>
          <a:ln xmlns:a="http://schemas.openxmlformats.org/drawingml/2006/main" w="11430">
            <a:solidFill>
              <a:srgbClr val="23364A"/>
            </a:solidFill>
            <a:prstDash val="solid"/>
            <a:tailEnd type="arrow" w="med" len="med"/>
          </a:ln>
        </p:spPr>
      </p:cxnSp>
      <p:sp>
        <p:nvSpPr>
          <p:cNvPr id="44" name="distribution-consumer-2">
            <a:extLst xmlns:a="http://schemas.openxmlformats.org/drawingml/2006/main">
              <a:ext uri="{FF2B5EF4-FFF2-40B4-BE49-F238E27FC236}">
                <a16:creationId xmlns:a16="http://schemas.microsoft.com/office/drawing/2014/main" id="{9C6C4F6E-296E-400F-ABF8-65957FF6E77B}"/>
              </a:ext>
            </a:extLst>
          </p:cNvPr>
          <p:cNvSpPr>
            <a:spLocks xmlns:a="http://schemas.openxmlformats.org/drawingml/2006/main" noGrp="1"/>
          </p:cNvSpPr>
          <p:nvPr/>
        </p:nvSpPr>
        <p:spPr>
          <a:xfrm xmlns:a="http://schemas.openxmlformats.org/drawingml/2006/main">
            <a:off x="9324975" y="2847975"/>
            <a:ext cx="466725" cy="238125"/>
          </a:xfrm>
          <a:prstGeom xmlns:a="http://schemas.openxmlformats.org/drawingml/2006/main" prst="rect">
            <a:avLst/>
          </a:prstGeom>
          <a:solidFill xmlns:a="http://schemas.openxmlformats.org/drawingml/2006/main">
            <a:srgbClr val="FFFFFF"/>
          </a:solidFill>
          <a:ln xmlns:a="http://schemas.openxmlformats.org/drawingml/2006/main" w="10954">
            <a:solidFill>
              <a:srgbClr val="142D45"/>
            </a:solidFill>
            <a:prstDash val="solid"/>
          </a:ln>
        </p:spPr>
        <p:txBody>
          <a:bodyPr xmlns:a="http://schemas.openxmlformats.org/drawingml/2006/main" wrap="square" lIns="19050" tIns="19050" rIns="19050" bIns="38100" anchor="ctr">
            <a:normAutofit fontScale="100000"/>
          </a:bodyPr>
          <a:lstStyle xmlns:a="http://schemas.openxmlformats.org/drawingml/2006/main"/>
          <a:p xmlns:a="http://schemas.openxmlformats.org/drawingml/2006/main">
            <a:pPr algn="ctr">
              <a:buNone/>
              <a:defRPr sz="863" b="0">
                <a:solidFill>
                  <a:srgbClr val="142D45"/>
                </a:solidFill>
                <a:latin typeface="Aptos"/>
                <a:ea typeface="Aptos"/>
                <a:cs typeface="Aptos"/>
              </a:defRPr>
            </a:pPr>
            <a:r>
              <a:rPr sz="863" b="0">
                <a:solidFill>
                  <a:srgbClr val="142D45"/>
                </a:solidFill>
                <a:latin typeface="Aptos"/>
                <a:ea typeface="Aptos"/>
                <a:cs typeface="Aptos"/>
              </a:rPr>
              <a:t>P2</a:t>
            </a:r>
          </a:p>
        </p:txBody>
      </p:sp>
      <p:sp>
        <p:nvSpPr>
          <p:cNvPr id="45" name="distribution-output-2">
            <a:extLst xmlns:a="http://schemas.openxmlformats.org/drawingml/2006/main">
              <a:ext uri="{FF2B5EF4-FFF2-40B4-BE49-F238E27FC236}">
                <a16:creationId xmlns:a16="http://schemas.microsoft.com/office/drawing/2014/main" id="{988A7B66-2AC3-442D-BEA0-3EA513A835BE}"/>
              </a:ext>
            </a:extLst>
          </p:cNvPr>
          <p:cNvSpPr>
            <a:spLocks xmlns:a="http://schemas.openxmlformats.org/drawingml/2006/main" noGrp="1"/>
          </p:cNvSpPr>
          <p:nvPr/>
        </p:nvSpPr>
        <p:spPr>
          <a:xfrm xmlns:a="http://schemas.openxmlformats.org/drawingml/2006/main">
            <a:off x="10201275" y="2857500"/>
            <a:ext cx="352425" cy="219075"/>
          </a:xfrm>
          <a:prstGeom xmlns:a="http://schemas.openxmlformats.org/drawingml/2006/main" prst="ellipse">
            <a:avLst/>
          </a:prstGeom>
          <a:solidFill xmlns:a="http://schemas.openxmlformats.org/drawingml/2006/main">
            <a:srgbClr val="FFFFFF"/>
          </a:solidFill>
          <a:ln xmlns:a="http://schemas.openxmlformats.org/drawingml/2006/main" w="10954">
            <a:solidFill>
              <a:srgbClr val="0F766E"/>
            </a:solidFill>
            <a:prstDash val="solid"/>
          </a:ln>
        </p:spPr>
        <p:txBody>
          <a:bodyPr xmlns:a="http://schemas.openxmlformats.org/drawingml/2006/main" wrap="square" lIns="9525" tIns="9525" rIns="9525" bIns="38100" anchor="ctr">
            <a:normAutofit fontScale="93862"/>
          </a:bodyPr>
          <a:lstStyle xmlns:a="http://schemas.openxmlformats.org/drawingml/2006/main"/>
          <a:p xmlns:a="http://schemas.openxmlformats.org/drawingml/2006/main">
            <a:pPr algn="ctr">
              <a:buNone/>
              <a:defRPr sz="750" b="0">
                <a:solidFill>
                  <a:srgbClr val="142D45"/>
                </a:solidFill>
                <a:latin typeface="Aptos"/>
                <a:ea typeface="Aptos"/>
                <a:cs typeface="Aptos"/>
              </a:defRPr>
            </a:pPr>
            <a:r>
              <a:rPr sz="750" b="0">
                <a:solidFill>
                  <a:srgbClr val="142D45"/>
                </a:solidFill>
                <a:latin typeface="Aptos"/>
                <a:ea typeface="Aptos"/>
                <a:cs typeface="Aptos"/>
              </a:rPr>
              <a:t>o2</a:t>
            </a:r>
          </a:p>
        </p:txBody>
      </p:sp>
      <p:cxnSp>
        <p:nvCxnSpPr>
          <p:cNvPr id="269" name=""/>
          <p:cNvCxnSpPr>
            <a:stCxn xmlns:a="http://schemas.openxmlformats.org/drawingml/2006/main" id="34" idx="3"/>
            <a:endCxn xmlns:a="http://schemas.openxmlformats.org/drawingml/2006/main" id="44" idx="1"/>
          </p:cNvCxnSpPr>
          <p:nvPr/>
        </p:nvCxnSpPr>
        <p:spPr>
          <a:xfrm xmlns:a="http://schemas.openxmlformats.org/drawingml/2006/main">
            <a:off x="8943975" y="2695575"/>
            <a:ext cx="381000" cy="271463"/>
          </a:xfrm>
          <a:prstGeom xmlns:a="http://schemas.openxmlformats.org/drawingml/2006/main" prst="bentConnector3">
            <a:avLst>
              <a:gd name="adj1" fmla="val 50000"/>
            </a:avLst>
          </a:prstGeom>
          <a:ln xmlns:a="http://schemas.openxmlformats.org/drawingml/2006/main" w="11430">
            <a:solidFill>
              <a:srgbClr val="23364A"/>
            </a:solidFill>
            <a:prstDash val="solid"/>
            <a:tailEnd type="arrow" w="med" len="med"/>
          </a:ln>
        </p:spPr>
      </p:cxnSp>
      <p:cxnSp>
        <p:nvCxnSpPr>
          <p:cNvPr id="270" name=""/>
          <p:cNvCxnSpPr>
            <a:stCxn xmlns:a="http://schemas.openxmlformats.org/drawingml/2006/main" id="44" idx="3"/>
            <a:endCxn xmlns:a="http://schemas.openxmlformats.org/drawingml/2006/main" id="45" idx="2"/>
          </p:cNvCxnSpPr>
          <p:nvPr/>
        </p:nvCxnSpPr>
        <p:spPr>
          <a:xfrm xmlns:a="http://schemas.openxmlformats.org/drawingml/2006/main">
            <a:off x="9791700" y="2967038"/>
            <a:ext cx="409575" cy="0"/>
          </a:xfrm>
          <a:prstGeom xmlns:a="http://schemas.openxmlformats.org/drawingml/2006/main" prst="straightConnector1">
            <a:avLst/>
          </a:prstGeom>
          <a:ln xmlns:a="http://schemas.openxmlformats.org/drawingml/2006/main" w="11430">
            <a:solidFill>
              <a:srgbClr val="23364A"/>
            </a:solidFill>
            <a:prstDash val="solid"/>
            <a:tailEnd type="arrow" w="med" len="med"/>
          </a:ln>
        </p:spPr>
      </p:cxnSp>
      <p:sp>
        <p:nvSpPr>
          <p:cNvPr id="48" name="distribution-consumer-3">
            <a:extLst xmlns:a="http://schemas.openxmlformats.org/drawingml/2006/main">
              <a:ext uri="{FF2B5EF4-FFF2-40B4-BE49-F238E27FC236}">
                <a16:creationId xmlns:a16="http://schemas.microsoft.com/office/drawing/2014/main" id="{65BF09D6-DEC4-4F6C-B6C4-A50FBF74E1D8}"/>
              </a:ext>
            </a:extLst>
          </p:cNvPr>
          <p:cNvSpPr>
            <a:spLocks xmlns:a="http://schemas.openxmlformats.org/drawingml/2006/main" noGrp="1"/>
          </p:cNvSpPr>
          <p:nvPr/>
        </p:nvSpPr>
        <p:spPr>
          <a:xfrm xmlns:a="http://schemas.openxmlformats.org/drawingml/2006/main">
            <a:off x="9324975" y="3086100"/>
            <a:ext cx="466725" cy="238125"/>
          </a:xfrm>
          <a:prstGeom xmlns:a="http://schemas.openxmlformats.org/drawingml/2006/main" prst="rect">
            <a:avLst/>
          </a:prstGeom>
          <a:solidFill xmlns:a="http://schemas.openxmlformats.org/drawingml/2006/main">
            <a:srgbClr val="FFFFFF"/>
          </a:solidFill>
          <a:ln xmlns:a="http://schemas.openxmlformats.org/drawingml/2006/main" w="10954">
            <a:solidFill>
              <a:srgbClr val="142D45"/>
            </a:solidFill>
            <a:prstDash val="solid"/>
          </a:ln>
        </p:spPr>
        <p:txBody>
          <a:bodyPr xmlns:a="http://schemas.openxmlformats.org/drawingml/2006/main" wrap="square" lIns="19050" tIns="19050" rIns="19050" bIns="38100" anchor="ctr">
            <a:normAutofit fontScale="100000"/>
          </a:bodyPr>
          <a:lstStyle xmlns:a="http://schemas.openxmlformats.org/drawingml/2006/main"/>
          <a:p xmlns:a="http://schemas.openxmlformats.org/drawingml/2006/main">
            <a:pPr algn="ctr">
              <a:buNone/>
              <a:defRPr sz="863" b="0">
                <a:solidFill>
                  <a:srgbClr val="142D45"/>
                </a:solidFill>
                <a:latin typeface="Aptos"/>
                <a:ea typeface="Aptos"/>
                <a:cs typeface="Aptos"/>
              </a:defRPr>
            </a:pPr>
            <a:r>
              <a:rPr sz="863" b="0">
                <a:solidFill>
                  <a:srgbClr val="142D45"/>
                </a:solidFill>
                <a:latin typeface="Aptos"/>
                <a:ea typeface="Aptos"/>
                <a:cs typeface="Aptos"/>
              </a:rPr>
              <a:t>P3</a:t>
            </a:r>
          </a:p>
        </p:txBody>
      </p:sp>
      <p:sp>
        <p:nvSpPr>
          <p:cNvPr id="49" name="distribution-output-3">
            <a:extLst xmlns:a="http://schemas.openxmlformats.org/drawingml/2006/main">
              <a:ext uri="{FF2B5EF4-FFF2-40B4-BE49-F238E27FC236}">
                <a16:creationId xmlns:a16="http://schemas.microsoft.com/office/drawing/2014/main" id="{7763C008-4FF0-45B3-A3EC-5CD6A1F93F6A}"/>
              </a:ext>
            </a:extLst>
          </p:cNvPr>
          <p:cNvSpPr>
            <a:spLocks xmlns:a="http://schemas.openxmlformats.org/drawingml/2006/main" noGrp="1"/>
          </p:cNvSpPr>
          <p:nvPr/>
        </p:nvSpPr>
        <p:spPr>
          <a:xfrm xmlns:a="http://schemas.openxmlformats.org/drawingml/2006/main">
            <a:off x="10201275" y="3095625"/>
            <a:ext cx="352425" cy="219075"/>
          </a:xfrm>
          <a:prstGeom xmlns:a="http://schemas.openxmlformats.org/drawingml/2006/main" prst="ellipse">
            <a:avLst/>
          </a:prstGeom>
          <a:solidFill xmlns:a="http://schemas.openxmlformats.org/drawingml/2006/main">
            <a:srgbClr val="FFFFFF"/>
          </a:solidFill>
          <a:ln xmlns:a="http://schemas.openxmlformats.org/drawingml/2006/main" w="10954">
            <a:solidFill>
              <a:srgbClr val="0F766E"/>
            </a:solidFill>
            <a:prstDash val="solid"/>
          </a:ln>
        </p:spPr>
        <p:txBody>
          <a:bodyPr xmlns:a="http://schemas.openxmlformats.org/drawingml/2006/main" wrap="square" lIns="9525" tIns="9525" rIns="9525" bIns="38100" anchor="ctr">
            <a:normAutofit fontScale="93862"/>
          </a:bodyPr>
          <a:lstStyle xmlns:a="http://schemas.openxmlformats.org/drawingml/2006/main"/>
          <a:p xmlns:a="http://schemas.openxmlformats.org/drawingml/2006/main">
            <a:pPr algn="ctr">
              <a:buNone/>
              <a:defRPr sz="750" b="0">
                <a:solidFill>
                  <a:srgbClr val="142D45"/>
                </a:solidFill>
                <a:latin typeface="Aptos"/>
                <a:ea typeface="Aptos"/>
                <a:cs typeface="Aptos"/>
              </a:defRPr>
            </a:pPr>
            <a:r>
              <a:rPr sz="750" b="0">
                <a:solidFill>
                  <a:srgbClr val="142D45"/>
                </a:solidFill>
                <a:latin typeface="Aptos"/>
                <a:ea typeface="Aptos"/>
                <a:cs typeface="Aptos"/>
              </a:rPr>
              <a:t>o3</a:t>
            </a:r>
          </a:p>
        </p:txBody>
      </p:sp>
      <p:cxnSp>
        <p:nvCxnSpPr>
          <p:cNvPr id="273" name=""/>
          <p:cNvCxnSpPr>
            <a:stCxn xmlns:a="http://schemas.openxmlformats.org/drawingml/2006/main" id="34" idx="3"/>
            <a:endCxn xmlns:a="http://schemas.openxmlformats.org/drawingml/2006/main" id="48" idx="1"/>
          </p:cNvCxnSpPr>
          <p:nvPr/>
        </p:nvCxnSpPr>
        <p:spPr>
          <a:xfrm xmlns:a="http://schemas.openxmlformats.org/drawingml/2006/main">
            <a:off x="8943975" y="2695575"/>
            <a:ext cx="381000" cy="509588"/>
          </a:xfrm>
          <a:prstGeom xmlns:a="http://schemas.openxmlformats.org/drawingml/2006/main" prst="bentConnector3">
            <a:avLst>
              <a:gd name="adj1" fmla="val 50000"/>
            </a:avLst>
          </a:prstGeom>
          <a:ln xmlns:a="http://schemas.openxmlformats.org/drawingml/2006/main" w="11430">
            <a:solidFill>
              <a:srgbClr val="23364A"/>
            </a:solidFill>
            <a:prstDash val="solid"/>
            <a:tailEnd type="arrow" w="med" len="med"/>
          </a:ln>
        </p:spPr>
      </p:cxnSp>
      <p:cxnSp>
        <p:nvCxnSpPr>
          <p:cNvPr id="274" name=""/>
          <p:cNvCxnSpPr>
            <a:stCxn xmlns:a="http://schemas.openxmlformats.org/drawingml/2006/main" id="48" idx="3"/>
            <a:endCxn xmlns:a="http://schemas.openxmlformats.org/drawingml/2006/main" id="49" idx="2"/>
          </p:cNvCxnSpPr>
          <p:nvPr/>
        </p:nvCxnSpPr>
        <p:spPr>
          <a:xfrm xmlns:a="http://schemas.openxmlformats.org/drawingml/2006/main">
            <a:off x="9791700" y="3205163"/>
            <a:ext cx="409575" cy="0"/>
          </a:xfrm>
          <a:prstGeom xmlns:a="http://schemas.openxmlformats.org/drawingml/2006/main" prst="straightConnector1">
            <a:avLst/>
          </a:prstGeom>
          <a:ln xmlns:a="http://schemas.openxmlformats.org/drawingml/2006/main" w="11430">
            <a:solidFill>
              <a:srgbClr val="23364A"/>
            </a:solidFill>
            <a:prstDash val="solid"/>
            <a:tailEnd type="arrow" w="med" len="med"/>
          </a:ln>
        </p:spPr>
      </p:cxnSp>
      <p:sp>
        <p:nvSpPr>
          <p:cNvPr id="52" name="Data aggregation-pattern-title">
            <a:extLst xmlns:a="http://schemas.openxmlformats.org/drawingml/2006/main">
              <a:ext uri="{FF2B5EF4-FFF2-40B4-BE49-F238E27FC236}">
                <a16:creationId xmlns:a16="http://schemas.microsoft.com/office/drawing/2014/main" id="{64E9C4D0-5FBC-4F78-9228-DCAD6B3F7A87}"/>
              </a:ext>
            </a:extLst>
          </p:cNvPr>
          <p:cNvSpPr>
            <a:spLocks xmlns:a="http://schemas.openxmlformats.org/drawingml/2006/main" noGrp="1"/>
          </p:cNvSpPr>
          <p:nvPr/>
        </p:nvSpPr>
        <p:spPr>
          <a:xfrm xmlns:a="http://schemas.openxmlformats.org/drawingml/2006/main">
            <a:off x="628650" y="3543300"/>
            <a:ext cx="521970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buNone/>
              <a:defRPr sz="1350" b="1">
                <a:solidFill>
                  <a:srgbClr val="142D45"/>
                </a:solidFill>
                <a:latin typeface="Aptos"/>
                <a:ea typeface="Aptos"/>
                <a:cs typeface="Aptos"/>
              </a:defRPr>
            </a:pPr>
            <a:r>
              <a:rPr sz="1350" b="1">
                <a:solidFill>
                  <a:srgbClr val="142D45"/>
                </a:solidFill>
                <a:latin typeface="Aptos"/>
                <a:ea typeface="Aptos"/>
                <a:cs typeface="Aptos"/>
              </a:rPr>
              <a:t>Data aggregation</a:t>
            </a:r>
          </a:p>
        </p:txBody>
      </p:sp>
      <p:sp>
        <p:nvSpPr>
          <p:cNvPr id="53" name="Data aggregation-pattern-subtitle">
            <a:extLst xmlns:a="http://schemas.openxmlformats.org/drawingml/2006/main">
              <a:ext uri="{FF2B5EF4-FFF2-40B4-BE49-F238E27FC236}">
                <a16:creationId xmlns:a16="http://schemas.microsoft.com/office/drawing/2014/main" id="{9345766B-910F-4BAF-B7C0-423E715D90C0}"/>
              </a:ext>
            </a:extLst>
          </p:cNvPr>
          <p:cNvSpPr>
            <a:spLocks xmlns:a="http://schemas.openxmlformats.org/drawingml/2006/main" noGrp="1"/>
          </p:cNvSpPr>
          <p:nvPr/>
        </p:nvSpPr>
        <p:spPr>
          <a:xfrm xmlns:a="http://schemas.openxmlformats.org/drawingml/2006/main">
            <a:off x="628650" y="3800475"/>
            <a:ext cx="5219700"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buNone/>
              <a:defRPr sz="938">
                <a:solidFill>
                  <a:srgbClr val="64748B"/>
                </a:solidFill>
                <a:latin typeface="Aptos"/>
                <a:ea typeface="Aptos"/>
                <a:cs typeface="Aptos"/>
              </a:defRPr>
            </a:pPr>
            <a:r>
              <a:rPr sz="938">
                <a:solidFill>
                  <a:srgbClr val="64748B"/>
                </a:solidFill>
                <a:latin typeface="Aptos"/>
                <a:ea typeface="Aptos"/>
                <a:cs typeface="Aptos"/>
              </a:rPr>
              <a:t>5 jobs · 4 productores → 1 agregador</a:t>
            </a:r>
          </a:p>
        </p:txBody>
      </p:sp>
      <p:sp>
        <p:nvSpPr>
          <p:cNvPr id="54" name="aggregation-producer-0">
            <a:extLst xmlns:a="http://schemas.openxmlformats.org/drawingml/2006/main">
              <a:ext uri="{FF2B5EF4-FFF2-40B4-BE49-F238E27FC236}">
                <a16:creationId xmlns:a16="http://schemas.microsoft.com/office/drawing/2014/main" id="{D657EBE4-6B30-4DEB-AB56-635C68AFD663}"/>
              </a:ext>
            </a:extLst>
          </p:cNvPr>
          <p:cNvSpPr>
            <a:spLocks xmlns:a="http://schemas.openxmlformats.org/drawingml/2006/main" noGrp="1"/>
          </p:cNvSpPr>
          <p:nvPr/>
        </p:nvSpPr>
        <p:spPr>
          <a:xfrm xmlns:a="http://schemas.openxmlformats.org/drawingml/2006/main">
            <a:off x="1085850" y="4010025"/>
            <a:ext cx="552450" cy="276225"/>
          </a:xfrm>
          <a:prstGeom xmlns:a="http://schemas.openxmlformats.org/drawingml/2006/main" prst="rect">
            <a:avLst/>
          </a:prstGeom>
          <a:solidFill xmlns:a="http://schemas.openxmlformats.org/drawingml/2006/main">
            <a:srgbClr val="FFFFFF"/>
          </a:solidFill>
          <a:ln xmlns:a="http://schemas.openxmlformats.org/drawingml/2006/main" w="10954">
            <a:solidFill>
              <a:srgbClr val="142D45"/>
            </a:solidFill>
            <a:prstDash val="solid"/>
          </a:ln>
        </p:spPr>
        <p:txBody>
          <a:bodyPr xmlns:a="http://schemas.openxmlformats.org/drawingml/2006/main" wrap="square" lIns="19050" tIns="19050" rIns="19050" bIns="38100" anchor="ctr">
            <a:normAutofit fontScale="100000"/>
          </a:bodyPr>
          <a:lstStyle xmlns:a="http://schemas.openxmlformats.org/drawingml/2006/main"/>
          <a:p xmlns:a="http://schemas.openxmlformats.org/drawingml/2006/main">
            <a:pPr algn="ctr">
              <a:buNone/>
              <a:defRPr sz="863" b="0">
                <a:solidFill>
                  <a:srgbClr val="142D45"/>
                </a:solidFill>
                <a:latin typeface="Aptos"/>
                <a:ea typeface="Aptos"/>
                <a:cs typeface="Aptos"/>
              </a:defRPr>
            </a:pPr>
            <a:r>
              <a:rPr sz="863" b="0">
                <a:solidFill>
                  <a:srgbClr val="142D45"/>
                </a:solidFill>
                <a:latin typeface="Aptos"/>
                <a:ea typeface="Aptos"/>
                <a:cs typeface="Aptos"/>
              </a:rPr>
              <a:t>P0</a:t>
            </a:r>
          </a:p>
        </p:txBody>
      </p:sp>
      <p:sp>
        <p:nvSpPr>
          <p:cNvPr id="55" name="aggregation-producer-1">
            <a:extLst xmlns:a="http://schemas.openxmlformats.org/drawingml/2006/main">
              <a:ext uri="{FF2B5EF4-FFF2-40B4-BE49-F238E27FC236}">
                <a16:creationId xmlns:a16="http://schemas.microsoft.com/office/drawing/2014/main" id="{B46B70B2-25D8-4688-A2F1-4F00980FBE0B}"/>
              </a:ext>
            </a:extLst>
          </p:cNvPr>
          <p:cNvSpPr>
            <a:spLocks xmlns:a="http://schemas.openxmlformats.org/drawingml/2006/main" noGrp="1"/>
          </p:cNvSpPr>
          <p:nvPr/>
        </p:nvSpPr>
        <p:spPr>
          <a:xfrm xmlns:a="http://schemas.openxmlformats.org/drawingml/2006/main">
            <a:off x="1085850" y="4381500"/>
            <a:ext cx="552450" cy="276225"/>
          </a:xfrm>
          <a:prstGeom xmlns:a="http://schemas.openxmlformats.org/drawingml/2006/main" prst="rect">
            <a:avLst/>
          </a:prstGeom>
          <a:solidFill xmlns:a="http://schemas.openxmlformats.org/drawingml/2006/main">
            <a:srgbClr val="FFFFFF"/>
          </a:solidFill>
          <a:ln xmlns:a="http://schemas.openxmlformats.org/drawingml/2006/main" w="10954">
            <a:solidFill>
              <a:srgbClr val="142D45"/>
            </a:solidFill>
            <a:prstDash val="solid"/>
          </a:ln>
        </p:spPr>
        <p:txBody>
          <a:bodyPr xmlns:a="http://schemas.openxmlformats.org/drawingml/2006/main" wrap="square" lIns="19050" tIns="19050" rIns="19050" bIns="38100" anchor="ctr">
            <a:normAutofit fontScale="100000"/>
          </a:bodyPr>
          <a:lstStyle xmlns:a="http://schemas.openxmlformats.org/drawingml/2006/main"/>
          <a:p xmlns:a="http://schemas.openxmlformats.org/drawingml/2006/main">
            <a:pPr algn="ctr">
              <a:buNone/>
              <a:defRPr sz="863" b="0">
                <a:solidFill>
                  <a:srgbClr val="142D45"/>
                </a:solidFill>
                <a:latin typeface="Aptos"/>
                <a:ea typeface="Aptos"/>
                <a:cs typeface="Aptos"/>
              </a:defRPr>
            </a:pPr>
            <a:r>
              <a:rPr sz="863" b="0">
                <a:solidFill>
                  <a:srgbClr val="142D45"/>
                </a:solidFill>
                <a:latin typeface="Aptos"/>
                <a:ea typeface="Aptos"/>
                <a:cs typeface="Aptos"/>
              </a:rPr>
              <a:t>P1</a:t>
            </a:r>
          </a:p>
        </p:txBody>
      </p:sp>
      <p:sp>
        <p:nvSpPr>
          <p:cNvPr id="56" name="aggregation-producer-2">
            <a:extLst xmlns:a="http://schemas.openxmlformats.org/drawingml/2006/main">
              <a:ext uri="{FF2B5EF4-FFF2-40B4-BE49-F238E27FC236}">
                <a16:creationId xmlns:a16="http://schemas.microsoft.com/office/drawing/2014/main" id="{8C8B4AA2-B957-42C2-B69C-9D04C1476C3B}"/>
              </a:ext>
            </a:extLst>
          </p:cNvPr>
          <p:cNvSpPr>
            <a:spLocks xmlns:a="http://schemas.openxmlformats.org/drawingml/2006/main" noGrp="1"/>
          </p:cNvSpPr>
          <p:nvPr/>
        </p:nvSpPr>
        <p:spPr>
          <a:xfrm xmlns:a="http://schemas.openxmlformats.org/drawingml/2006/main">
            <a:off x="1085850" y="4752975"/>
            <a:ext cx="552450" cy="276225"/>
          </a:xfrm>
          <a:prstGeom xmlns:a="http://schemas.openxmlformats.org/drawingml/2006/main" prst="rect">
            <a:avLst/>
          </a:prstGeom>
          <a:solidFill xmlns:a="http://schemas.openxmlformats.org/drawingml/2006/main">
            <a:srgbClr val="FFFFFF"/>
          </a:solidFill>
          <a:ln xmlns:a="http://schemas.openxmlformats.org/drawingml/2006/main" w="10954">
            <a:solidFill>
              <a:srgbClr val="142D45"/>
            </a:solidFill>
            <a:prstDash val="solid"/>
          </a:ln>
        </p:spPr>
        <p:txBody>
          <a:bodyPr xmlns:a="http://schemas.openxmlformats.org/drawingml/2006/main" wrap="square" lIns="19050" tIns="19050" rIns="19050" bIns="38100" anchor="ctr">
            <a:normAutofit fontScale="100000"/>
          </a:bodyPr>
          <a:lstStyle xmlns:a="http://schemas.openxmlformats.org/drawingml/2006/main"/>
          <a:p xmlns:a="http://schemas.openxmlformats.org/drawingml/2006/main">
            <a:pPr algn="ctr">
              <a:buNone/>
              <a:defRPr sz="863" b="0">
                <a:solidFill>
                  <a:srgbClr val="142D45"/>
                </a:solidFill>
                <a:latin typeface="Aptos"/>
                <a:ea typeface="Aptos"/>
                <a:cs typeface="Aptos"/>
              </a:defRPr>
            </a:pPr>
            <a:r>
              <a:rPr sz="863" b="0">
                <a:solidFill>
                  <a:srgbClr val="142D45"/>
                </a:solidFill>
                <a:latin typeface="Aptos"/>
                <a:ea typeface="Aptos"/>
                <a:cs typeface="Aptos"/>
              </a:rPr>
              <a:t>P2</a:t>
            </a:r>
          </a:p>
        </p:txBody>
      </p:sp>
      <p:sp>
        <p:nvSpPr>
          <p:cNvPr id="57" name="aggregation-producer-3">
            <a:extLst xmlns:a="http://schemas.openxmlformats.org/drawingml/2006/main">
              <a:ext uri="{FF2B5EF4-FFF2-40B4-BE49-F238E27FC236}">
                <a16:creationId xmlns:a16="http://schemas.microsoft.com/office/drawing/2014/main" id="{69D349AB-89F7-4A2D-BCBD-05D27C06F791}"/>
              </a:ext>
            </a:extLst>
          </p:cNvPr>
          <p:cNvSpPr>
            <a:spLocks xmlns:a="http://schemas.openxmlformats.org/drawingml/2006/main" noGrp="1"/>
          </p:cNvSpPr>
          <p:nvPr/>
        </p:nvSpPr>
        <p:spPr>
          <a:xfrm xmlns:a="http://schemas.openxmlformats.org/drawingml/2006/main">
            <a:off x="1085850" y="5124450"/>
            <a:ext cx="552450" cy="276225"/>
          </a:xfrm>
          <a:prstGeom xmlns:a="http://schemas.openxmlformats.org/drawingml/2006/main" prst="rect">
            <a:avLst/>
          </a:prstGeom>
          <a:solidFill xmlns:a="http://schemas.openxmlformats.org/drawingml/2006/main">
            <a:srgbClr val="FFFFFF"/>
          </a:solidFill>
          <a:ln xmlns:a="http://schemas.openxmlformats.org/drawingml/2006/main" w="10954">
            <a:solidFill>
              <a:srgbClr val="142D45"/>
            </a:solidFill>
            <a:prstDash val="solid"/>
          </a:ln>
        </p:spPr>
        <p:txBody>
          <a:bodyPr xmlns:a="http://schemas.openxmlformats.org/drawingml/2006/main" wrap="square" lIns="19050" tIns="19050" rIns="19050" bIns="38100" anchor="ctr">
            <a:normAutofit fontScale="100000"/>
          </a:bodyPr>
          <a:lstStyle xmlns:a="http://schemas.openxmlformats.org/drawingml/2006/main"/>
          <a:p xmlns:a="http://schemas.openxmlformats.org/drawingml/2006/main">
            <a:pPr algn="ctr">
              <a:buNone/>
              <a:defRPr sz="863" b="0">
                <a:solidFill>
                  <a:srgbClr val="142D45"/>
                </a:solidFill>
                <a:latin typeface="Aptos"/>
                <a:ea typeface="Aptos"/>
                <a:cs typeface="Aptos"/>
              </a:defRPr>
            </a:pPr>
            <a:r>
              <a:rPr sz="863" b="0">
                <a:solidFill>
                  <a:srgbClr val="142D45"/>
                </a:solidFill>
                <a:latin typeface="Aptos"/>
                <a:ea typeface="Aptos"/>
                <a:cs typeface="Aptos"/>
              </a:rPr>
              <a:t>P3</a:t>
            </a:r>
          </a:p>
        </p:txBody>
      </p:sp>
      <p:sp>
        <p:nvSpPr>
          <p:cNvPr id="58" name="aggregation-job">
            <a:extLst xmlns:a="http://schemas.openxmlformats.org/drawingml/2006/main">
              <a:ext uri="{FF2B5EF4-FFF2-40B4-BE49-F238E27FC236}">
                <a16:creationId xmlns:a16="http://schemas.microsoft.com/office/drawing/2014/main" id="{4ED12D3D-DB0C-4141-99F4-46896986C575}"/>
              </a:ext>
            </a:extLst>
          </p:cNvPr>
          <p:cNvSpPr>
            <a:spLocks xmlns:a="http://schemas.openxmlformats.org/drawingml/2006/main" noGrp="1"/>
          </p:cNvSpPr>
          <p:nvPr/>
        </p:nvSpPr>
        <p:spPr>
          <a:xfrm xmlns:a="http://schemas.openxmlformats.org/drawingml/2006/main">
            <a:off x="3190875" y="4467225"/>
            <a:ext cx="819150" cy="400050"/>
          </a:xfrm>
          <a:prstGeom xmlns:a="http://schemas.openxmlformats.org/drawingml/2006/main" prst="rect">
            <a:avLst/>
          </a:prstGeom>
          <a:solidFill xmlns:a="http://schemas.openxmlformats.org/drawingml/2006/main">
            <a:srgbClr val="FFFFFF"/>
          </a:solidFill>
          <a:ln xmlns:a="http://schemas.openxmlformats.org/drawingml/2006/main" w="10954">
            <a:solidFill>
              <a:srgbClr val="142D45"/>
            </a:solidFill>
            <a:prstDash val="solid"/>
          </a:ln>
        </p:spPr>
        <p:txBody>
          <a:bodyPr xmlns:a="http://schemas.openxmlformats.org/drawingml/2006/main" wrap="square" lIns="19050" tIns="19050" rIns="19050" bIns="38100" anchor="ctr">
            <a:normAutofit fontScale="100000"/>
          </a:bodyPr>
          <a:lstStyle xmlns:a="http://schemas.openxmlformats.org/drawingml/2006/main"/>
          <a:p xmlns:a="http://schemas.openxmlformats.org/drawingml/2006/main">
            <a:pPr algn="ctr">
              <a:buNone/>
              <a:defRPr sz="975" b="0">
                <a:solidFill>
                  <a:srgbClr val="142D45"/>
                </a:solidFill>
                <a:latin typeface="Aptos"/>
                <a:ea typeface="Aptos"/>
                <a:cs typeface="Aptos"/>
              </a:defRPr>
            </a:pPr>
            <a:r>
              <a:rPr sz="975" b="0">
                <a:solidFill>
                  <a:srgbClr val="142D45"/>
                </a:solidFill>
                <a:latin typeface="Aptos"/>
                <a:ea typeface="Aptos"/>
                <a:cs typeface="Aptos"/>
              </a:rPr>
              <a:t>AGG</a:t>
            </a:r>
          </a:p>
        </p:txBody>
      </p:sp>
      <p:sp>
        <p:nvSpPr>
          <p:cNvPr id="59" name="aggregation-output">
            <a:extLst xmlns:a="http://schemas.openxmlformats.org/drawingml/2006/main">
              <a:ext uri="{FF2B5EF4-FFF2-40B4-BE49-F238E27FC236}">
                <a16:creationId xmlns:a16="http://schemas.microsoft.com/office/drawing/2014/main" id="{3E453F88-F223-4023-9062-778878D9A529}"/>
              </a:ext>
            </a:extLst>
          </p:cNvPr>
          <p:cNvSpPr>
            <a:spLocks xmlns:a="http://schemas.openxmlformats.org/drawingml/2006/main" noGrp="1"/>
          </p:cNvSpPr>
          <p:nvPr/>
        </p:nvSpPr>
        <p:spPr>
          <a:xfrm xmlns:a="http://schemas.openxmlformats.org/drawingml/2006/main">
            <a:off x="4981575" y="4533900"/>
            <a:ext cx="428625" cy="266700"/>
          </a:xfrm>
          <a:prstGeom xmlns:a="http://schemas.openxmlformats.org/drawingml/2006/main" prst="ellipse">
            <a:avLst/>
          </a:prstGeom>
          <a:solidFill xmlns:a="http://schemas.openxmlformats.org/drawingml/2006/main">
            <a:srgbClr val="FFFFFF"/>
          </a:solidFill>
          <a:ln xmlns:a="http://schemas.openxmlformats.org/drawingml/2006/main" w="10954">
            <a:solidFill>
              <a:srgbClr val="0F766E"/>
            </a:solidFill>
            <a:prstDash val="solid"/>
          </a:ln>
        </p:spPr>
        <p:txBody>
          <a:bodyPr xmlns:a="http://schemas.openxmlformats.org/drawingml/2006/main" wrap="square" lIns="9525" tIns="9525" rIns="9525" bIns="38100" anchor="ctr">
            <a:normAutofit fontScale="100000"/>
          </a:bodyPr>
          <a:lstStyle xmlns:a="http://schemas.openxmlformats.org/drawingml/2006/main"/>
          <a:p xmlns:a="http://schemas.openxmlformats.org/drawingml/2006/main">
            <a:pPr algn="ctr">
              <a:buNone/>
              <a:defRPr sz="788" b="0">
                <a:solidFill>
                  <a:srgbClr val="142D45"/>
                </a:solidFill>
                <a:latin typeface="Aptos"/>
                <a:ea typeface="Aptos"/>
                <a:cs typeface="Aptos"/>
              </a:defRPr>
            </a:pPr>
            <a:r>
              <a:rPr sz="788" b="0">
                <a:solidFill>
                  <a:srgbClr val="142D45"/>
                </a:solidFill>
                <a:latin typeface="Aptos"/>
                <a:ea typeface="Aptos"/>
                <a:cs typeface="Aptos"/>
              </a:rPr>
              <a:t>out</a:t>
            </a:r>
          </a:p>
        </p:txBody>
      </p:sp>
      <p:cxnSp>
        <p:nvCxnSpPr>
          <p:cNvPr id="283" name=""/>
          <p:cNvCxnSpPr>
            <a:stCxn xmlns:a="http://schemas.openxmlformats.org/drawingml/2006/main" id="54" idx="3"/>
            <a:endCxn xmlns:a="http://schemas.openxmlformats.org/drawingml/2006/main" id="58" idx="1"/>
          </p:cNvCxnSpPr>
          <p:nvPr/>
        </p:nvCxnSpPr>
        <p:spPr>
          <a:xfrm xmlns:a="http://schemas.openxmlformats.org/drawingml/2006/main">
            <a:off x="1638300" y="4148138"/>
            <a:ext cx="1552575" cy="519113"/>
          </a:xfrm>
          <a:prstGeom xmlns:a="http://schemas.openxmlformats.org/drawingml/2006/main" prst="bentConnector3">
            <a:avLst>
              <a:gd name="adj1" fmla="val 50000"/>
            </a:avLst>
          </a:prstGeom>
          <a:ln xmlns:a="http://schemas.openxmlformats.org/drawingml/2006/main" w="11430">
            <a:solidFill>
              <a:srgbClr val="23364A"/>
            </a:solidFill>
            <a:prstDash val="solid"/>
            <a:tailEnd type="arrow" w="med" len="med"/>
          </a:ln>
        </p:spPr>
      </p:cxnSp>
      <p:cxnSp>
        <p:nvCxnSpPr>
          <p:cNvPr id="284" name=""/>
          <p:cNvCxnSpPr>
            <a:stCxn xmlns:a="http://schemas.openxmlformats.org/drawingml/2006/main" id="55" idx="3"/>
            <a:endCxn xmlns:a="http://schemas.openxmlformats.org/drawingml/2006/main" id="58" idx="1"/>
          </p:cNvCxnSpPr>
          <p:nvPr/>
        </p:nvCxnSpPr>
        <p:spPr>
          <a:xfrm xmlns:a="http://schemas.openxmlformats.org/drawingml/2006/main">
            <a:off x="1638300" y="4519613"/>
            <a:ext cx="1552575" cy="147638"/>
          </a:xfrm>
          <a:prstGeom xmlns:a="http://schemas.openxmlformats.org/drawingml/2006/main" prst="bentConnector3">
            <a:avLst>
              <a:gd name="adj1" fmla="val 50000"/>
            </a:avLst>
          </a:prstGeom>
          <a:ln xmlns:a="http://schemas.openxmlformats.org/drawingml/2006/main" w="11430">
            <a:solidFill>
              <a:srgbClr val="23364A"/>
            </a:solidFill>
            <a:prstDash val="solid"/>
            <a:tailEnd type="arrow" w="med" len="med"/>
          </a:ln>
        </p:spPr>
      </p:cxnSp>
      <p:cxnSp>
        <p:nvCxnSpPr>
          <p:cNvPr id="285" name=""/>
          <p:cNvCxnSpPr>
            <a:stCxn xmlns:a="http://schemas.openxmlformats.org/drawingml/2006/main" id="56" idx="3"/>
            <a:endCxn xmlns:a="http://schemas.openxmlformats.org/drawingml/2006/main" id="58" idx="1"/>
          </p:cNvCxnSpPr>
          <p:nvPr/>
        </p:nvCxnSpPr>
        <p:spPr>
          <a:xfrm xmlns:a="http://schemas.openxmlformats.org/drawingml/2006/main" flipV="1">
            <a:off x="1638300" y="4667250"/>
            <a:ext cx="1552575" cy="223838"/>
          </a:xfrm>
          <a:prstGeom xmlns:a="http://schemas.openxmlformats.org/drawingml/2006/main" prst="bentConnector3">
            <a:avLst>
              <a:gd name="adj1" fmla="val 50000"/>
            </a:avLst>
          </a:prstGeom>
          <a:ln xmlns:a="http://schemas.openxmlformats.org/drawingml/2006/main" w="11430">
            <a:solidFill>
              <a:srgbClr val="23364A"/>
            </a:solidFill>
            <a:prstDash val="solid"/>
            <a:tailEnd type="arrow" w="med" len="med"/>
          </a:ln>
        </p:spPr>
      </p:cxnSp>
      <p:cxnSp>
        <p:nvCxnSpPr>
          <p:cNvPr id="286" name=""/>
          <p:cNvCxnSpPr>
            <a:stCxn xmlns:a="http://schemas.openxmlformats.org/drawingml/2006/main" id="57" idx="3"/>
            <a:endCxn xmlns:a="http://schemas.openxmlformats.org/drawingml/2006/main" id="58" idx="1"/>
          </p:cNvCxnSpPr>
          <p:nvPr/>
        </p:nvCxnSpPr>
        <p:spPr>
          <a:xfrm xmlns:a="http://schemas.openxmlformats.org/drawingml/2006/main" flipV="1">
            <a:off x="1638300" y="4667250"/>
            <a:ext cx="1552575" cy="595313"/>
          </a:xfrm>
          <a:prstGeom xmlns:a="http://schemas.openxmlformats.org/drawingml/2006/main" prst="bentConnector3">
            <a:avLst>
              <a:gd name="adj1" fmla="val 50000"/>
            </a:avLst>
          </a:prstGeom>
          <a:ln xmlns:a="http://schemas.openxmlformats.org/drawingml/2006/main" w="11430">
            <a:solidFill>
              <a:srgbClr val="23364A"/>
            </a:solidFill>
            <a:prstDash val="solid"/>
            <a:tailEnd type="arrow" w="med" len="med"/>
          </a:ln>
        </p:spPr>
      </p:cxnSp>
      <p:cxnSp>
        <p:nvCxnSpPr>
          <p:cNvPr id="287" name=""/>
          <p:cNvCxnSpPr>
            <a:stCxn xmlns:a="http://schemas.openxmlformats.org/drawingml/2006/main" id="58" idx="3"/>
            <a:endCxn xmlns:a="http://schemas.openxmlformats.org/drawingml/2006/main" id="59" idx="2"/>
          </p:cNvCxnSpPr>
          <p:nvPr/>
        </p:nvCxnSpPr>
        <p:spPr>
          <a:xfrm xmlns:a="http://schemas.openxmlformats.org/drawingml/2006/main">
            <a:off x="4010025" y="4667250"/>
            <a:ext cx="971550" cy="0"/>
          </a:xfrm>
          <a:prstGeom xmlns:a="http://schemas.openxmlformats.org/drawingml/2006/main" prst="straightConnector1">
            <a:avLst/>
          </a:prstGeom>
          <a:ln xmlns:a="http://schemas.openxmlformats.org/drawingml/2006/main" w="11430">
            <a:solidFill>
              <a:srgbClr val="23364A"/>
            </a:solidFill>
            <a:prstDash val="solid"/>
            <a:tailEnd type="arrow" w="med" len="med"/>
          </a:ln>
        </p:spPr>
      </p:cxnSp>
      <p:sp>
        <p:nvSpPr>
          <p:cNvPr id="65" name="Data redistribution-pattern-title">
            <a:extLst xmlns:a="http://schemas.openxmlformats.org/drawingml/2006/main">
              <a:ext uri="{FF2B5EF4-FFF2-40B4-BE49-F238E27FC236}">
                <a16:creationId xmlns:a16="http://schemas.microsoft.com/office/drawing/2014/main" id="{5E409EAC-F142-425A-8C62-C1689AC1DF1C}"/>
              </a:ext>
            </a:extLst>
          </p:cNvPr>
          <p:cNvSpPr>
            <a:spLocks xmlns:a="http://schemas.openxmlformats.org/drawingml/2006/main" noGrp="1"/>
          </p:cNvSpPr>
          <p:nvPr/>
        </p:nvSpPr>
        <p:spPr>
          <a:xfrm xmlns:a="http://schemas.openxmlformats.org/drawingml/2006/main">
            <a:off x="6238875" y="3543300"/>
            <a:ext cx="533400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buNone/>
              <a:defRPr sz="1350" b="1">
                <a:solidFill>
                  <a:srgbClr val="142D45"/>
                </a:solidFill>
                <a:latin typeface="Aptos"/>
                <a:ea typeface="Aptos"/>
                <a:cs typeface="Aptos"/>
              </a:defRPr>
            </a:pPr>
            <a:r>
              <a:rPr sz="1350" b="1">
                <a:solidFill>
                  <a:srgbClr val="142D45"/>
                </a:solidFill>
                <a:latin typeface="Aptos"/>
                <a:ea typeface="Aptos"/>
                <a:cs typeface="Aptos"/>
              </a:rPr>
              <a:t>Data redistribution</a:t>
            </a:r>
          </a:p>
        </p:txBody>
      </p:sp>
      <p:sp>
        <p:nvSpPr>
          <p:cNvPr id="66" name="Data redistribution-pattern-subtitle">
            <a:extLst xmlns:a="http://schemas.openxmlformats.org/drawingml/2006/main">
              <a:ext uri="{FF2B5EF4-FFF2-40B4-BE49-F238E27FC236}">
                <a16:creationId xmlns:a16="http://schemas.microsoft.com/office/drawing/2014/main" id="{35973D2A-2B42-4E53-A45E-2870C7B9D5F7}"/>
              </a:ext>
            </a:extLst>
          </p:cNvPr>
          <p:cNvSpPr>
            <a:spLocks xmlns:a="http://schemas.openxmlformats.org/drawingml/2006/main" noGrp="1"/>
          </p:cNvSpPr>
          <p:nvPr/>
        </p:nvSpPr>
        <p:spPr>
          <a:xfrm xmlns:a="http://schemas.openxmlformats.org/drawingml/2006/main">
            <a:off x="6238875" y="3800475"/>
            <a:ext cx="5334000"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buNone/>
              <a:defRPr sz="938">
                <a:solidFill>
                  <a:srgbClr val="64748B"/>
                </a:solidFill>
                <a:latin typeface="Aptos"/>
                <a:ea typeface="Aptos"/>
                <a:cs typeface="Aptos"/>
              </a:defRPr>
            </a:pPr>
            <a:r>
              <a:rPr sz="938">
                <a:solidFill>
                  <a:srgbClr val="64748B"/>
                </a:solidFill>
                <a:latin typeface="Aptos"/>
                <a:ea typeface="Aptos"/>
                <a:cs typeface="Aptos"/>
              </a:rPr>
              <a:t>10 jobs · 4 productores → aggregate → split → 4 consumidores</a:t>
            </a:r>
          </a:p>
        </p:txBody>
      </p:sp>
      <p:sp>
        <p:nvSpPr>
          <p:cNvPr id="67" name="redistribution-producers">
            <a:extLst xmlns:a="http://schemas.openxmlformats.org/drawingml/2006/main">
              <a:ext uri="{FF2B5EF4-FFF2-40B4-BE49-F238E27FC236}">
                <a16:creationId xmlns:a16="http://schemas.microsoft.com/office/drawing/2014/main" id="{39E36C3D-603C-4C40-8AB4-9B29D3D54D61}"/>
              </a:ext>
            </a:extLst>
          </p:cNvPr>
          <p:cNvSpPr>
            <a:spLocks xmlns:a="http://schemas.openxmlformats.org/drawingml/2006/main" noGrp="1"/>
          </p:cNvSpPr>
          <p:nvPr/>
        </p:nvSpPr>
        <p:spPr>
          <a:xfrm xmlns:a="http://schemas.openxmlformats.org/drawingml/2006/main">
            <a:off x="6496050" y="4038600"/>
            <a:ext cx="685800" cy="1028700"/>
          </a:xfrm>
          <a:prstGeom xmlns:a="http://schemas.openxmlformats.org/drawingml/2006/main" prst="rect">
            <a:avLst/>
          </a:prstGeom>
          <a:solidFill xmlns:a="http://schemas.openxmlformats.org/drawingml/2006/main">
            <a:srgbClr val="FFFFFF"/>
          </a:solidFill>
          <a:ln xmlns:a="http://schemas.openxmlformats.org/drawingml/2006/main" w="10954">
            <a:solidFill>
              <a:srgbClr val="142D45"/>
            </a:solidFill>
            <a:prstDash val="solid"/>
          </a:ln>
        </p:spPr>
        <p:txBody>
          <a:bodyPr xmlns:a="http://schemas.openxmlformats.org/drawingml/2006/main" wrap="square" lIns="28575" tIns="38100" rIns="28575" bIns="38100" anchor="ctr">
            <a:normAutofit fontScale="100000"/>
          </a:bodyPr>
          <a:lstStyle xmlns:a="http://schemas.openxmlformats.org/drawingml/2006/main"/>
          <a:p xmlns:a="http://schemas.openxmlformats.org/drawingml/2006/main">
            <a:pPr algn="ctr">
              <a:buNone/>
              <a:defRPr sz="900" b="0">
                <a:solidFill>
                  <a:srgbClr val="142D45"/>
                </a:solidFill>
                <a:latin typeface="Aptos"/>
                <a:ea typeface="Aptos"/>
                <a:cs typeface="Aptos"/>
              </a:defRPr>
            </a:pPr>
            <a:r>
              <a:rPr sz="900" b="0">
                <a:solidFill>
                  <a:srgbClr val="142D45"/>
                </a:solidFill>
                <a:latin typeface="Aptos"/>
                <a:ea typeface="Aptos"/>
                <a:cs typeface="Aptos"/>
              </a:rPr>
              <a:t>P0</a:t>
            </a:r>
          </a:p>
          <a:p xmlns:a="http://schemas.openxmlformats.org/drawingml/2006/main">
            <a:pPr algn="ctr">
              <a:buNone/>
              <a:defRPr sz="900" b="0">
                <a:solidFill>
                  <a:srgbClr val="142D45"/>
                </a:solidFill>
                <a:latin typeface="Aptos"/>
                <a:ea typeface="Aptos"/>
                <a:cs typeface="Aptos"/>
              </a:defRPr>
            </a:pPr>
            <a:r>
              <a:rPr sz="900" b="0">
                <a:solidFill>
                  <a:srgbClr val="142D45"/>
                </a:solidFill>
                <a:latin typeface="Aptos"/>
                <a:ea typeface="Aptos"/>
                <a:cs typeface="Aptos"/>
              </a:rPr>
              <a:t>P1</a:t>
            </a:r>
          </a:p>
          <a:p xmlns:a="http://schemas.openxmlformats.org/drawingml/2006/main">
            <a:pPr algn="ctr">
              <a:buNone/>
              <a:defRPr sz="900" b="0">
                <a:solidFill>
                  <a:srgbClr val="142D45"/>
                </a:solidFill>
                <a:latin typeface="Aptos"/>
                <a:ea typeface="Aptos"/>
                <a:cs typeface="Aptos"/>
              </a:defRPr>
            </a:pPr>
            <a:r>
              <a:rPr sz="900" b="0">
                <a:solidFill>
                  <a:srgbClr val="142D45"/>
                </a:solidFill>
                <a:latin typeface="Aptos"/>
                <a:ea typeface="Aptos"/>
                <a:cs typeface="Aptos"/>
              </a:rPr>
              <a:t>P2</a:t>
            </a:r>
          </a:p>
          <a:p xmlns:a="http://schemas.openxmlformats.org/drawingml/2006/main">
            <a:pPr algn="ctr">
              <a:buNone/>
              <a:defRPr sz="900" b="0">
                <a:solidFill>
                  <a:srgbClr val="142D45"/>
                </a:solidFill>
                <a:latin typeface="Aptos"/>
                <a:ea typeface="Aptos"/>
                <a:cs typeface="Aptos"/>
              </a:defRPr>
            </a:pPr>
            <a:r>
              <a:rPr sz="900" b="0">
                <a:solidFill>
                  <a:srgbClr val="142D45"/>
                </a:solidFill>
                <a:latin typeface="Aptos"/>
                <a:ea typeface="Aptos"/>
                <a:cs typeface="Aptos"/>
              </a:rPr>
              <a:t>P3</a:t>
            </a:r>
          </a:p>
        </p:txBody>
      </p:sp>
      <p:sp>
        <p:nvSpPr>
          <p:cNvPr id="68" name="redistribution-aggregate">
            <a:extLst xmlns:a="http://schemas.openxmlformats.org/drawingml/2006/main">
              <a:ext uri="{FF2B5EF4-FFF2-40B4-BE49-F238E27FC236}">
                <a16:creationId xmlns:a16="http://schemas.microsoft.com/office/drawing/2014/main" id="{DF5A3B43-77FB-4495-9F9E-315AA1A097A9}"/>
              </a:ext>
            </a:extLst>
          </p:cNvPr>
          <p:cNvSpPr>
            <a:spLocks xmlns:a="http://schemas.openxmlformats.org/drawingml/2006/main" noGrp="1"/>
          </p:cNvSpPr>
          <p:nvPr/>
        </p:nvSpPr>
        <p:spPr>
          <a:xfrm xmlns:a="http://schemas.openxmlformats.org/drawingml/2006/main">
            <a:off x="7677150" y="4343400"/>
            <a:ext cx="723900" cy="419100"/>
          </a:xfrm>
          <a:prstGeom xmlns:a="http://schemas.openxmlformats.org/drawingml/2006/main" prst="rect">
            <a:avLst/>
          </a:prstGeom>
          <a:solidFill xmlns:a="http://schemas.openxmlformats.org/drawingml/2006/main">
            <a:srgbClr val="FFFFFF"/>
          </a:solidFill>
          <a:ln xmlns:a="http://schemas.openxmlformats.org/drawingml/2006/main" w="10954">
            <a:solidFill>
              <a:srgbClr val="142D45"/>
            </a:solidFill>
            <a:prstDash val="solid"/>
          </a:ln>
        </p:spPr>
        <p:txBody>
          <a:bodyPr xmlns:a="http://schemas.openxmlformats.org/drawingml/2006/main" wrap="square" lIns="19050" tIns="19050" rIns="19050" bIns="38100" anchor="ctr">
            <a:normAutofit fontScale="100000"/>
          </a:bodyPr>
          <a:lstStyle xmlns:a="http://schemas.openxmlformats.org/drawingml/2006/main"/>
          <a:p xmlns:a="http://schemas.openxmlformats.org/drawingml/2006/main">
            <a:pPr algn="ctr">
              <a:buNone/>
              <a:defRPr sz="938" b="0">
                <a:solidFill>
                  <a:srgbClr val="142D45"/>
                </a:solidFill>
                <a:latin typeface="Aptos"/>
                <a:ea typeface="Aptos"/>
                <a:cs typeface="Aptos"/>
              </a:defRPr>
            </a:pPr>
            <a:r>
              <a:rPr sz="938" b="0">
                <a:solidFill>
                  <a:srgbClr val="142D45"/>
                </a:solidFill>
                <a:latin typeface="Aptos"/>
                <a:ea typeface="Aptos"/>
                <a:cs typeface="Aptos"/>
              </a:rPr>
              <a:t>AGG</a:t>
            </a:r>
          </a:p>
        </p:txBody>
      </p:sp>
      <p:sp>
        <p:nvSpPr>
          <p:cNvPr id="69" name="redistribution-split">
            <a:extLst xmlns:a="http://schemas.openxmlformats.org/drawingml/2006/main">
              <a:ext uri="{FF2B5EF4-FFF2-40B4-BE49-F238E27FC236}">
                <a16:creationId xmlns:a16="http://schemas.microsoft.com/office/drawing/2014/main" id="{EEC5D238-4782-4464-835E-E760E9286FF9}"/>
              </a:ext>
            </a:extLst>
          </p:cNvPr>
          <p:cNvSpPr>
            <a:spLocks xmlns:a="http://schemas.openxmlformats.org/drawingml/2006/main" noGrp="1"/>
          </p:cNvSpPr>
          <p:nvPr/>
        </p:nvSpPr>
        <p:spPr>
          <a:xfrm xmlns:a="http://schemas.openxmlformats.org/drawingml/2006/main">
            <a:off x="8763000" y="4343400"/>
            <a:ext cx="723900" cy="419100"/>
          </a:xfrm>
          <a:prstGeom xmlns:a="http://schemas.openxmlformats.org/drawingml/2006/main" prst="rect">
            <a:avLst/>
          </a:prstGeom>
          <a:solidFill xmlns:a="http://schemas.openxmlformats.org/drawingml/2006/main">
            <a:srgbClr val="FFFFFF"/>
          </a:solidFill>
          <a:ln xmlns:a="http://schemas.openxmlformats.org/drawingml/2006/main" w="10954">
            <a:solidFill>
              <a:srgbClr val="142D45"/>
            </a:solidFill>
            <a:prstDash val="solid"/>
          </a:ln>
        </p:spPr>
        <p:txBody>
          <a:bodyPr xmlns:a="http://schemas.openxmlformats.org/drawingml/2006/main" wrap="square" lIns="19050" tIns="19050" rIns="19050" bIns="38100" anchor="ctr">
            <a:normAutofit fontScale="100000"/>
          </a:bodyPr>
          <a:lstStyle xmlns:a="http://schemas.openxmlformats.org/drawingml/2006/main"/>
          <a:p xmlns:a="http://schemas.openxmlformats.org/drawingml/2006/main">
            <a:pPr algn="ctr">
              <a:buNone/>
              <a:defRPr sz="938" b="0">
                <a:solidFill>
                  <a:srgbClr val="142D45"/>
                </a:solidFill>
                <a:latin typeface="Aptos"/>
                <a:ea typeface="Aptos"/>
                <a:cs typeface="Aptos"/>
              </a:defRPr>
            </a:pPr>
            <a:r>
              <a:rPr sz="938" b="0">
                <a:solidFill>
                  <a:srgbClr val="142D45"/>
                </a:solidFill>
                <a:latin typeface="Aptos"/>
                <a:ea typeface="Aptos"/>
                <a:cs typeface="Aptos"/>
              </a:rPr>
              <a:t>SPLIT</a:t>
            </a:r>
          </a:p>
        </p:txBody>
      </p:sp>
      <p:sp>
        <p:nvSpPr>
          <p:cNvPr id="70" name="redistribution-consumers">
            <a:extLst xmlns:a="http://schemas.openxmlformats.org/drawingml/2006/main">
              <a:ext uri="{FF2B5EF4-FFF2-40B4-BE49-F238E27FC236}">
                <a16:creationId xmlns:a16="http://schemas.microsoft.com/office/drawing/2014/main" id="{2D6CE340-18A4-41F8-8033-F5F93542CAEB}"/>
              </a:ext>
            </a:extLst>
          </p:cNvPr>
          <p:cNvSpPr>
            <a:spLocks xmlns:a="http://schemas.openxmlformats.org/drawingml/2006/main" noGrp="1"/>
          </p:cNvSpPr>
          <p:nvPr/>
        </p:nvSpPr>
        <p:spPr>
          <a:xfrm xmlns:a="http://schemas.openxmlformats.org/drawingml/2006/main">
            <a:off x="10077450" y="4038600"/>
            <a:ext cx="685800" cy="1028700"/>
          </a:xfrm>
          <a:prstGeom xmlns:a="http://schemas.openxmlformats.org/drawingml/2006/main" prst="rect">
            <a:avLst/>
          </a:prstGeom>
          <a:solidFill xmlns:a="http://schemas.openxmlformats.org/drawingml/2006/main">
            <a:srgbClr val="FFFFFF"/>
          </a:solidFill>
          <a:ln xmlns:a="http://schemas.openxmlformats.org/drawingml/2006/main" w="10954">
            <a:solidFill>
              <a:srgbClr val="142D45"/>
            </a:solidFill>
            <a:prstDash val="solid"/>
          </a:ln>
        </p:spPr>
        <p:txBody>
          <a:bodyPr xmlns:a="http://schemas.openxmlformats.org/drawingml/2006/main" wrap="square" lIns="28575" tIns="38100" rIns="28575" bIns="38100" anchor="ctr">
            <a:normAutofit fontScale="100000"/>
          </a:bodyPr>
          <a:lstStyle xmlns:a="http://schemas.openxmlformats.org/drawingml/2006/main"/>
          <a:p xmlns:a="http://schemas.openxmlformats.org/drawingml/2006/main">
            <a:pPr algn="ctr">
              <a:buNone/>
              <a:defRPr sz="900" b="0">
                <a:solidFill>
                  <a:srgbClr val="142D45"/>
                </a:solidFill>
                <a:latin typeface="Aptos"/>
                <a:ea typeface="Aptos"/>
                <a:cs typeface="Aptos"/>
              </a:defRPr>
            </a:pPr>
            <a:r>
              <a:rPr sz="900" b="0">
                <a:solidFill>
                  <a:srgbClr val="142D45"/>
                </a:solidFill>
                <a:latin typeface="Aptos"/>
                <a:ea typeface="Aptos"/>
                <a:cs typeface="Aptos"/>
              </a:rPr>
              <a:t>C0</a:t>
            </a:r>
          </a:p>
          <a:p xmlns:a="http://schemas.openxmlformats.org/drawingml/2006/main">
            <a:pPr algn="ctr">
              <a:buNone/>
              <a:defRPr sz="900" b="0">
                <a:solidFill>
                  <a:srgbClr val="142D45"/>
                </a:solidFill>
                <a:latin typeface="Aptos"/>
                <a:ea typeface="Aptos"/>
                <a:cs typeface="Aptos"/>
              </a:defRPr>
            </a:pPr>
            <a:r>
              <a:rPr sz="900" b="0">
                <a:solidFill>
                  <a:srgbClr val="142D45"/>
                </a:solidFill>
                <a:latin typeface="Aptos"/>
                <a:ea typeface="Aptos"/>
                <a:cs typeface="Aptos"/>
              </a:rPr>
              <a:t>C1</a:t>
            </a:r>
          </a:p>
          <a:p xmlns:a="http://schemas.openxmlformats.org/drawingml/2006/main">
            <a:pPr algn="ctr">
              <a:buNone/>
              <a:defRPr sz="900" b="0">
                <a:solidFill>
                  <a:srgbClr val="142D45"/>
                </a:solidFill>
                <a:latin typeface="Aptos"/>
                <a:ea typeface="Aptos"/>
                <a:cs typeface="Aptos"/>
              </a:defRPr>
            </a:pPr>
            <a:r>
              <a:rPr sz="900" b="0">
                <a:solidFill>
                  <a:srgbClr val="142D45"/>
                </a:solidFill>
                <a:latin typeface="Aptos"/>
                <a:ea typeface="Aptos"/>
                <a:cs typeface="Aptos"/>
              </a:rPr>
              <a:t>C2</a:t>
            </a:r>
          </a:p>
          <a:p xmlns:a="http://schemas.openxmlformats.org/drawingml/2006/main">
            <a:pPr algn="ctr">
              <a:buNone/>
              <a:defRPr sz="900" b="0">
                <a:solidFill>
                  <a:srgbClr val="142D45"/>
                </a:solidFill>
                <a:latin typeface="Aptos"/>
                <a:ea typeface="Aptos"/>
                <a:cs typeface="Aptos"/>
              </a:defRPr>
            </a:pPr>
            <a:r>
              <a:rPr sz="900" b="0">
                <a:solidFill>
                  <a:srgbClr val="142D45"/>
                </a:solidFill>
                <a:latin typeface="Aptos"/>
                <a:ea typeface="Aptos"/>
                <a:cs typeface="Aptos"/>
              </a:rPr>
              <a:t>C3</a:t>
            </a:r>
          </a:p>
        </p:txBody>
      </p:sp>
      <p:cxnSp>
        <p:nvCxnSpPr>
          <p:cNvPr id="294" name=""/>
          <p:cNvCxnSpPr>
            <a:stCxn xmlns:a="http://schemas.openxmlformats.org/drawingml/2006/main" id="67" idx="3"/>
            <a:endCxn xmlns:a="http://schemas.openxmlformats.org/drawingml/2006/main" id="68" idx="1"/>
          </p:cNvCxnSpPr>
          <p:nvPr/>
        </p:nvCxnSpPr>
        <p:spPr>
          <a:xfrm xmlns:a="http://schemas.openxmlformats.org/drawingml/2006/main">
            <a:off x="7181850" y="4552950"/>
            <a:ext cx="495300" cy="0"/>
          </a:xfrm>
          <a:prstGeom xmlns:a="http://schemas.openxmlformats.org/drawingml/2006/main" prst="straightConnector1">
            <a:avLst/>
          </a:prstGeom>
          <a:ln xmlns:a="http://schemas.openxmlformats.org/drawingml/2006/main" w="11430">
            <a:solidFill>
              <a:srgbClr val="23364A"/>
            </a:solidFill>
            <a:prstDash val="solid"/>
            <a:tailEnd type="arrow" w="med" len="med"/>
          </a:ln>
        </p:spPr>
      </p:cxnSp>
      <p:cxnSp>
        <p:nvCxnSpPr>
          <p:cNvPr id="295" name=""/>
          <p:cNvCxnSpPr>
            <a:stCxn xmlns:a="http://schemas.openxmlformats.org/drawingml/2006/main" id="68" idx="3"/>
            <a:endCxn xmlns:a="http://schemas.openxmlformats.org/drawingml/2006/main" id="69" idx="1"/>
          </p:cNvCxnSpPr>
          <p:nvPr/>
        </p:nvCxnSpPr>
        <p:spPr>
          <a:xfrm xmlns:a="http://schemas.openxmlformats.org/drawingml/2006/main">
            <a:off x="8401050" y="4552950"/>
            <a:ext cx="361950" cy="0"/>
          </a:xfrm>
          <a:prstGeom xmlns:a="http://schemas.openxmlformats.org/drawingml/2006/main" prst="straightConnector1">
            <a:avLst/>
          </a:prstGeom>
          <a:ln xmlns:a="http://schemas.openxmlformats.org/drawingml/2006/main" w="11430">
            <a:solidFill>
              <a:srgbClr val="23364A"/>
            </a:solidFill>
            <a:prstDash val="solid"/>
            <a:tailEnd type="arrow" w="med" len="med"/>
          </a:ln>
        </p:spPr>
      </p:cxnSp>
      <p:cxnSp>
        <p:nvCxnSpPr>
          <p:cNvPr id="296" name=""/>
          <p:cNvCxnSpPr>
            <a:stCxn xmlns:a="http://schemas.openxmlformats.org/drawingml/2006/main" id="69" idx="3"/>
            <a:endCxn xmlns:a="http://schemas.openxmlformats.org/drawingml/2006/main" id="70" idx="1"/>
          </p:cNvCxnSpPr>
          <p:nvPr/>
        </p:nvCxnSpPr>
        <p:spPr>
          <a:xfrm xmlns:a="http://schemas.openxmlformats.org/drawingml/2006/main">
            <a:off x="9486900" y="4552950"/>
            <a:ext cx="590550" cy="0"/>
          </a:xfrm>
          <a:prstGeom xmlns:a="http://schemas.openxmlformats.org/drawingml/2006/main" prst="straightConnector1">
            <a:avLst/>
          </a:prstGeom>
          <a:ln xmlns:a="http://schemas.openxmlformats.org/drawingml/2006/main" w="11430">
            <a:solidFill>
              <a:srgbClr val="23364A"/>
            </a:solidFill>
            <a:prstDash val="solid"/>
            <a:tailEnd type="arrow" w="med" len="med"/>
          </a:ln>
        </p:spPr>
      </p:cxnSp>
      <p:sp>
        <p:nvSpPr>
          <p:cNvPr id="74" name="redist-edge-label-a">
            <a:extLst xmlns:a="http://schemas.openxmlformats.org/drawingml/2006/main">
              <a:ext uri="{FF2B5EF4-FFF2-40B4-BE49-F238E27FC236}">
                <a16:creationId xmlns:a16="http://schemas.microsoft.com/office/drawing/2014/main" id="{E40D7F4F-1136-4F52-81EB-277DACCCD8E3}"/>
              </a:ext>
            </a:extLst>
          </p:cNvPr>
          <p:cNvSpPr>
            <a:spLocks xmlns:a="http://schemas.openxmlformats.org/drawingml/2006/main" noGrp="1"/>
          </p:cNvSpPr>
          <p:nvPr/>
        </p:nvSpPr>
        <p:spPr>
          <a:xfrm xmlns:a="http://schemas.openxmlformats.org/drawingml/2006/main">
            <a:off x="7181850" y="4095750"/>
            <a:ext cx="523875"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buNone/>
              <a:defRPr sz="788">
                <a:solidFill>
                  <a:srgbClr val="64748B"/>
                </a:solidFill>
                <a:latin typeface="Aptos"/>
                <a:ea typeface="Aptos"/>
                <a:cs typeface="Aptos"/>
              </a:defRPr>
            </a:pPr>
            <a:r>
              <a:rPr sz="788">
                <a:solidFill>
                  <a:srgbClr val="64748B"/>
                </a:solidFill>
                <a:latin typeface="Aptos"/>
                <a:ea typeface="Aptos"/>
                <a:cs typeface="Aptos"/>
              </a:rPr>
              <a:t>4 ramas</a:t>
            </a:r>
          </a:p>
        </p:txBody>
      </p:sp>
      <p:sp>
        <p:nvSpPr>
          <p:cNvPr id="75" name="redist-edge-label-b">
            <a:extLst xmlns:a="http://schemas.openxmlformats.org/drawingml/2006/main">
              <a:ext uri="{FF2B5EF4-FFF2-40B4-BE49-F238E27FC236}">
                <a16:creationId xmlns:a16="http://schemas.microsoft.com/office/drawing/2014/main" id="{3271F4FB-2F9E-4C35-98C4-9FFC5D4ABD6A}"/>
              </a:ext>
            </a:extLst>
          </p:cNvPr>
          <p:cNvSpPr>
            <a:spLocks xmlns:a="http://schemas.openxmlformats.org/drawingml/2006/main" noGrp="1"/>
          </p:cNvSpPr>
          <p:nvPr/>
        </p:nvSpPr>
        <p:spPr>
          <a:xfrm xmlns:a="http://schemas.openxmlformats.org/drawingml/2006/main">
            <a:off x="8334375" y="4095750"/>
            <a:ext cx="523875"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buNone/>
              <a:defRPr sz="788">
                <a:solidFill>
                  <a:srgbClr val="64748B"/>
                </a:solidFill>
                <a:latin typeface="Aptos"/>
                <a:ea typeface="Aptos"/>
                <a:cs typeface="Aptos"/>
              </a:defRPr>
            </a:pPr>
            <a:r>
              <a:rPr sz="788">
                <a:solidFill>
                  <a:srgbClr val="64748B"/>
                </a:solidFill>
                <a:latin typeface="Aptos"/>
                <a:ea typeface="Aptos"/>
                <a:cs typeface="Aptos"/>
              </a:rPr>
              <a:t>1 archivo</a:t>
            </a:r>
          </a:p>
        </p:txBody>
      </p:sp>
      <p:sp>
        <p:nvSpPr>
          <p:cNvPr id="76" name="redist-edge-label-c">
            <a:extLst xmlns:a="http://schemas.openxmlformats.org/drawingml/2006/main">
              <a:ext uri="{FF2B5EF4-FFF2-40B4-BE49-F238E27FC236}">
                <a16:creationId xmlns:a16="http://schemas.microsoft.com/office/drawing/2014/main" id="{8BDC24B1-14FA-4CB7-B638-94FB1F927191}"/>
              </a:ext>
            </a:extLst>
          </p:cNvPr>
          <p:cNvSpPr>
            <a:spLocks xmlns:a="http://schemas.openxmlformats.org/drawingml/2006/main" noGrp="1"/>
          </p:cNvSpPr>
          <p:nvPr/>
        </p:nvSpPr>
        <p:spPr>
          <a:xfrm xmlns:a="http://schemas.openxmlformats.org/drawingml/2006/main">
            <a:off x="9477375" y="4095750"/>
            <a:ext cx="561975"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buNone/>
              <a:defRPr sz="788">
                <a:solidFill>
                  <a:srgbClr val="64748B"/>
                </a:solidFill>
                <a:latin typeface="Aptos"/>
                <a:ea typeface="Aptos"/>
                <a:cs typeface="Aptos"/>
              </a:defRPr>
            </a:pPr>
            <a:r>
              <a:rPr sz="788">
                <a:solidFill>
                  <a:srgbClr val="64748B"/>
                </a:solidFill>
                <a:latin typeface="Aptos"/>
                <a:ea typeface="Aptos"/>
                <a:cs typeface="Aptos"/>
              </a:rPr>
              <a:t>4 chunks</a:t>
            </a:r>
          </a:p>
        </p:txBody>
      </p:sp>
      <p:sp>
        <p:nvSpPr>
          <p:cNvPr id="77" name="workflow-note">
            <a:extLst xmlns:a="http://schemas.openxmlformats.org/drawingml/2006/main">
              <a:ext uri="{FF2B5EF4-FFF2-40B4-BE49-F238E27FC236}">
                <a16:creationId xmlns:a16="http://schemas.microsoft.com/office/drawing/2014/main" id="{54EC6185-65DA-4789-831B-CD52B3700CDB}"/>
              </a:ext>
            </a:extLst>
          </p:cNvPr>
          <p:cNvSpPr>
            <a:spLocks xmlns:a="http://schemas.openxmlformats.org/drawingml/2006/main" noGrp="1"/>
          </p:cNvSpPr>
          <p:nvPr/>
        </p:nvSpPr>
        <p:spPr>
          <a:xfrm xmlns:a="http://schemas.openxmlformats.org/drawingml/2006/main">
            <a:off x="762000" y="5953125"/>
            <a:ext cx="10668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buNone/>
              <a:defRPr sz="938">
                <a:solidFill>
                  <a:srgbClr val="64748B"/>
                </a:solidFill>
                <a:latin typeface="Aptos"/>
                <a:ea typeface="Aptos"/>
                <a:cs typeface="Aptos"/>
              </a:defRPr>
            </a:pPr>
            <a:r>
              <a:rPr sz="938">
                <a:solidFill>
                  <a:srgbClr val="64748B"/>
                </a:solidFill>
                <a:latin typeface="Aptos"/>
                <a:ea typeface="Aptos"/>
                <a:cs typeface="Aptos"/>
              </a:rPr>
              <a:t>Topologías tomadas de los workflows preservados; las elipses y tareas condensan archivos y jobs del DAG para facilitar la lectura.</a:t>
            </a:r>
          </a:p>
        </p:txBody>
      </p:sp>
    </p:spTree>
    <p:extLst>
      <p:ext uri="{BB962C8B-B14F-4D97-AF65-F5344CB8AC3E}">
        <p14:creationId xmlns:p14="http://schemas.microsoft.com/office/powerpoint/2010/main" val="1182838188"/>
      </p:ext>
    </p:extLst>
  </p:cSld>
</p:sld>
</file>

<file path=ppt/slides/slide17.xml><?xml version="1.0" encoding="utf-8"?>
<p:sld xmlns:p="http://schemas.openxmlformats.org/presentationml/2006/main">
  <p:cSld>
    <p:spTree>
      <p:nvGrpSpPr>
        <p:cNvPr id="1" name=""/>
        <p:cNvGrpSpPr/>
        <p:nvPr/>
      </p:nvGrpSpPr>
      <p:grpSpPr>
        <a:xfrm xmlns:a="http://schemas.openxmlformats.org/drawingml/2006/main"/>
      </p:grpSpPr>
      <p:sp>
        <p:nvSpPr>
          <p:cNvPr id="11" name="section-accent">
            <a:extLst xmlns:a="http://schemas.openxmlformats.org/drawingml/2006/main">
              <a:ext uri="{FF2B5EF4-FFF2-40B4-BE49-F238E27FC236}">
                <a16:creationId xmlns:a16="http://schemas.microsoft.com/office/drawing/2014/main" id="{B232B60D-9B78-481D-BD33-9D0843E287F5}"/>
              </a:ext>
            </a:extLst>
          </p:cNvPr>
          <p:cNvSpPr>
            <a:spLocks xmlns:a="http://schemas.openxmlformats.org/drawingml/2006/main" noGrp="1"/>
          </p:cNvSpPr>
          <p:nvPr/>
        </p:nvSpPr>
        <p:spPr>
          <a:xfrm xmlns:a="http://schemas.openxmlformats.org/drawingml/2006/main">
            <a:off x="0" y="0"/>
            <a:ext cx="12192000" cy="114300"/>
          </a:xfrm>
          <a:prstGeom xmlns:a="http://schemas.openxmlformats.org/drawingml/2006/main" prst="rect">
            <a:avLst/>
          </a:prstGeom>
          <a:solidFill xmlns:a="http://schemas.openxmlformats.org/drawingml/2006/main">
            <a:srgbClr val="6D28D9"/>
          </a:solidFill>
          <a:ln xmlns:a="http://schemas.openxmlformats.org/drawingml/2006/main" w="0">
            <a:solidFill>
              <a:srgbClr val="6D28D9"/>
            </a:solidFill>
            <a:prstDash val="solid"/>
          </a:ln>
        </p:spPr>
      </p:sp>
      <p:sp>
        <p:nvSpPr>
          <p:cNvPr id="2" name="section-label">
            <a:extLst xmlns:a="http://schemas.openxmlformats.org/drawingml/2006/main">
              <a:ext uri="{FF2B5EF4-FFF2-40B4-BE49-F238E27FC236}">
                <a16:creationId xmlns:a16="http://schemas.microsoft.com/office/drawing/2014/main" id="{0073F799-126E-4F80-A6BE-6327A5584A93}"/>
              </a:ext>
            </a:extLst>
          </p:cNvPr>
          <p:cNvSpPr>
            <a:spLocks xmlns:a="http://schemas.openxmlformats.org/drawingml/2006/main" noGrp="1"/>
          </p:cNvSpPr>
          <p:nvPr/>
        </p:nvSpPr>
        <p:spPr>
          <a:xfrm xmlns:a="http://schemas.openxmlformats.org/drawingml/2006/main">
            <a:off x="647700" y="352425"/>
            <a:ext cx="10668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buNone/>
              <a:defRPr sz="825" b="1">
                <a:solidFill>
                  <a:srgbClr val="6D28D9"/>
                </a:solidFill>
                <a:latin typeface="Aptos"/>
                <a:ea typeface="Aptos"/>
                <a:cs typeface="Aptos"/>
              </a:defRPr>
            </a:pPr>
            <a:r>
              <a:rPr sz="825" b="1">
                <a:solidFill>
                  <a:srgbClr val="6D28D9"/>
                </a:solidFill>
                <a:latin typeface="Aptos"/>
                <a:ea typeface="Aptos"/>
                <a:cs typeface="Aptos"/>
              </a:rPr>
              <a:t>VALIDACIÓN · RESULTADOS REPLICADOS</a:t>
            </a:r>
          </a:p>
        </p:txBody>
      </p:sp>
      <p:sp>
        <p:nvSpPr>
          <p:cNvPr id="3" name="slide-heading">
            <a:extLst xmlns:a="http://schemas.openxmlformats.org/drawingml/2006/main">
              <a:ext uri="{FF2B5EF4-FFF2-40B4-BE49-F238E27FC236}">
                <a16:creationId xmlns:a16="http://schemas.microsoft.com/office/drawing/2014/main" id="{CF9D5047-263D-40FF-B951-FF1931AC42B1}"/>
              </a:ext>
            </a:extLst>
          </p:cNvPr>
          <p:cNvSpPr>
            <a:spLocks xmlns:a="http://schemas.openxmlformats.org/drawingml/2006/main" noGrp="1"/>
          </p:cNvSpPr>
          <p:nvPr/>
        </p:nvSpPr>
        <p:spPr>
          <a:xfrm xmlns:a="http://schemas.openxmlformats.org/drawingml/2006/main">
            <a:off x="609600" y="619125"/>
            <a:ext cx="109537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buNone/>
              <a:defRPr sz="2250" b="1">
                <a:solidFill>
                  <a:srgbClr val="142D45"/>
                </a:solidFill>
                <a:latin typeface="Aptos"/>
                <a:ea typeface="Aptos"/>
                <a:cs typeface="Aptos"/>
              </a:defRPr>
            </a:pPr>
            <a:r>
              <a:rPr sz="2250" b="1">
                <a:solidFill>
                  <a:srgbClr val="142D45"/>
                </a:solidFill>
                <a:latin typeface="Aptos"/>
                <a:ea typeface="Aptos"/>
                <a:cs typeface="Aptos"/>
              </a:rPr>
              <a:t>16. Cinco patrones: matriz base replicada</a:t>
            </a:r>
          </a:p>
        </p:txBody>
      </p:sp>
      <p:sp>
        <p:nvSpPr>
          <p:cNvPr id="4" name="slide-subtitle">
            <a:extLst xmlns:a="http://schemas.openxmlformats.org/drawingml/2006/main">
              <a:ext uri="{FF2B5EF4-FFF2-40B4-BE49-F238E27FC236}">
                <a16:creationId xmlns:a16="http://schemas.microsoft.com/office/drawing/2014/main" id="{DC3F23DA-58F3-402C-ACCA-8917E41A087F}"/>
              </a:ext>
            </a:extLst>
          </p:cNvPr>
          <p:cNvSpPr>
            <a:spLocks xmlns:a="http://schemas.openxmlformats.org/drawingml/2006/main" noGrp="1"/>
          </p:cNvSpPr>
          <p:nvPr/>
        </p:nvSpPr>
        <p:spPr>
          <a:xfrm xmlns:a="http://schemas.openxmlformats.org/drawingml/2006/main">
            <a:off x="647700" y="1219200"/>
            <a:ext cx="10858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buNone/>
              <a:defRPr sz="1200">
                <a:solidFill>
                  <a:srgbClr val="34485D"/>
                </a:solidFill>
                <a:latin typeface="Aptos"/>
                <a:ea typeface="Aptos"/>
                <a:cs typeface="Aptos"/>
              </a:defRPr>
            </a:pPr>
            <a:r>
              <a:rPr sz="1200">
                <a:solidFill>
                  <a:srgbClr val="34485D"/>
                </a:solidFill>
                <a:latin typeface="Aptos"/>
                <a:ea typeface="Aptos"/>
                <a:cs typeface="Aptos"/>
              </a:rPr>
              <a:t>Valores same-w1 de 10 MiB · métricas estables entre workflows independientes.</a:t>
            </a:r>
          </a:p>
        </p:txBody>
      </p:sp>
      <p:sp>
        <p:nvSpPr>
          <p:cNvPr id="5" name="editorial-rule">
            <a:extLst xmlns:a="http://schemas.openxmlformats.org/drawingml/2006/main">
              <a:ext uri="{FF2B5EF4-FFF2-40B4-BE49-F238E27FC236}">
                <a16:creationId xmlns:a16="http://schemas.microsoft.com/office/drawing/2014/main" id="{260BAC5B-5730-45AD-9A12-263E1A842BE1}"/>
              </a:ext>
            </a:extLst>
          </p:cNvPr>
          <p:cNvSpPr>
            <a:spLocks xmlns:a="http://schemas.openxmlformats.org/drawingml/2006/main" noGrp="1"/>
          </p:cNvSpPr>
          <p:nvPr/>
        </p:nvSpPr>
        <p:spPr>
          <a:xfrm xmlns:a="http://schemas.openxmlformats.org/drawingml/2006/main">
            <a:off x="495300" y="6448425"/>
            <a:ext cx="11201400" cy="11430"/>
          </a:xfrm>
          <a:prstGeom xmlns:a="http://schemas.openxmlformats.org/drawingml/2006/main" prst="rect">
            <a:avLst/>
          </a:prstGeom>
          <a:solidFill xmlns:a="http://schemas.openxmlformats.org/drawingml/2006/main">
            <a:srgbClr val="CBD5E1"/>
          </a:solidFill>
          <a:ln xmlns:a="http://schemas.openxmlformats.org/drawingml/2006/main" w="0">
            <a:solidFill>
              <a:srgbClr val="CBD5E1"/>
            </a:solidFill>
            <a:prstDash val="solid"/>
          </a:ln>
        </p:spPr>
      </p:sp>
      <p:sp>
        <p:nvSpPr>
          <p:cNvPr id="6" name="footer-label">
            <a:extLst xmlns:a="http://schemas.openxmlformats.org/drawingml/2006/main">
              <a:ext uri="{FF2B5EF4-FFF2-40B4-BE49-F238E27FC236}">
                <a16:creationId xmlns:a16="http://schemas.microsoft.com/office/drawing/2014/main" id="{D1430C70-D439-475D-BCF1-CC12C9E5B432}"/>
              </a:ext>
            </a:extLst>
          </p:cNvPr>
          <p:cNvSpPr>
            <a:spLocks xmlns:a="http://schemas.openxmlformats.org/drawingml/2006/main" noGrp="1"/>
          </p:cNvSpPr>
          <p:nvPr/>
        </p:nvSpPr>
        <p:spPr>
          <a:xfrm xmlns:a="http://schemas.openxmlformats.org/drawingml/2006/main">
            <a:off x="590550" y="6496050"/>
            <a:ext cx="9620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buNone/>
              <a:defRPr sz="750">
                <a:solidFill>
                  <a:srgbClr val="64748B"/>
                </a:solidFill>
                <a:latin typeface="Aptos"/>
                <a:ea typeface="Aptos"/>
                <a:cs typeface="Aptos"/>
              </a:defRPr>
            </a:pPr>
            <a:r>
              <a:rPr sz="750">
                <a:solidFill>
                  <a:srgbClr val="64748B"/>
                </a:solidFill>
                <a:latin typeface="Aptos"/>
                <a:ea typeface="Aptos"/>
                <a:cs typeface="Aptos"/>
              </a:rPr>
              <a:t>Validación · evidencia controlada</a:t>
            </a:r>
          </a:p>
        </p:txBody>
      </p:sp>
      <p:sp>
        <p:nvSpPr>
          <p:cNvPr id="7" name="folio">
            <a:extLst xmlns:a="http://schemas.openxmlformats.org/drawingml/2006/main">
              <a:ext uri="{FF2B5EF4-FFF2-40B4-BE49-F238E27FC236}">
                <a16:creationId xmlns:a16="http://schemas.microsoft.com/office/drawing/2014/main" id="{00BFD538-675C-459A-8E5D-57AE86E0A6C9}"/>
              </a:ext>
            </a:extLst>
          </p:cNvPr>
          <p:cNvSpPr>
            <a:spLocks xmlns:a="http://schemas.openxmlformats.org/drawingml/2006/main" noGrp="1"/>
          </p:cNvSpPr>
          <p:nvPr/>
        </p:nvSpPr>
        <p:spPr>
          <a:xfrm xmlns:a="http://schemas.openxmlformats.org/drawingml/2006/main">
            <a:off x="11201400" y="6496050"/>
            <a:ext cx="4572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r">
              <a:buNone/>
              <a:defRPr sz="750">
                <a:solidFill>
                  <a:srgbClr val="64748B"/>
                </a:solidFill>
                <a:latin typeface="Aptos"/>
                <a:ea typeface="Aptos"/>
                <a:cs typeface="Aptos"/>
              </a:defRPr>
            </a:pPr>
            <a:r>
              <a:rPr sz="750">
                <a:solidFill>
                  <a:srgbClr val="64748B"/>
                </a:solidFill>
                <a:latin typeface="Aptos"/>
                <a:ea typeface="Aptos"/>
                <a:cs typeface="Aptos"/>
              </a:rPr>
              <a:t>17</a:t>
            </a:r>
          </a:p>
        </p:txBody>
      </p:sp>
      <p:graphicFrame>
        <p:nvGraphicFramePr>
          <p:cNvPr id="20" name=""/>
          <p:cNvGraphicFramePr/>
          <p:nvPr/>
        </p:nvGraphicFramePr>
        <p:xfrm>
          <a:off xmlns:a="http://schemas.openxmlformats.org/drawingml/2006/main" x="762000" y="1885950"/>
          <a:ext xmlns:a="http://schemas.openxmlformats.org/drawingml/2006/main" cx="10668000" cy="3124200"/>
        </p:xfrm>
        <a:graphic xmlns:a="http://schemas.openxmlformats.org/drawingml/2006/main">
          <a:graphicData uri="http://schemas.openxmlformats.org/drawingml/2006/table">
            <a:tbl>
              <a:tblPr firstRow="1" bandRow="1"/>
              <a:tblGrid>
                <a:gridCol w="1047750"/>
                <a:gridCol w="2095500"/>
                <a:gridCol w="762000"/>
                <a:gridCol w="1619250"/>
                <a:gridCol w="1619250"/>
                <a:gridCol w="1619250"/>
                <a:gridCol w="1905000"/>
              </a:tblGrid>
              <a:tr h="520700">
                <a:tc>
                  <a:txBody>
                    <a:bodyPr wrap="square">
                      <a:normAutofit/>
                    </a:bodyPr>
                    <a:lstStyle/>
                    <a:p>
                      <a:pPr algn="l">
                        <a:buNone/>
                      </a:pPr>
                      <a:r>
                        <a:rPr sz="1088" b="1">
                          <a:solidFill>
                            <a:srgbClr val="FFFFFF"/>
                          </a:solidFill>
                          <a:latin typeface="Aptos"/>
                          <a:ea typeface="Aptos"/>
                          <a:cs typeface="Aptos"/>
                        </a:rPr>
                        <a:t>Caso</a:t>
                      </a:r>
                    </a:p>
                  </a:txBody>
                  <a:tcPr marL="91440" marR="91440" marT="45720" marB="45720" anchor="ctr">
                    <a:solidFill>
                      <a:srgbClr val="6D28D9"/>
                    </a:solidFill>
                  </a:tcPr>
                </a:tc>
                <a:tc>
                  <a:txBody>
                    <a:bodyPr wrap="square">
                      <a:normAutofit/>
                    </a:bodyPr>
                    <a:lstStyle/>
                    <a:p>
                      <a:pPr algn="ctr">
                        <a:buNone/>
                      </a:pPr>
                      <a:r>
                        <a:rPr sz="1088" b="1">
                          <a:solidFill>
                            <a:srgbClr val="FFFFFF"/>
                          </a:solidFill>
                          <a:latin typeface="Aptos"/>
                          <a:ea typeface="Aptos"/>
                          <a:cs typeface="Aptos"/>
                        </a:rPr>
                        <a:t>Patrón</a:t>
                      </a:r>
                    </a:p>
                  </a:txBody>
                  <a:tcPr marL="91440" marR="91440" marT="45720" marB="45720" anchor="ctr">
                    <a:solidFill>
                      <a:srgbClr val="6D28D9"/>
                    </a:solidFill>
                  </a:tcPr>
                </a:tc>
                <a:tc>
                  <a:txBody>
                    <a:bodyPr wrap="square">
                      <a:normAutofit/>
                    </a:bodyPr>
                    <a:lstStyle/>
                    <a:p>
                      <a:pPr algn="ctr">
                        <a:buNone/>
                      </a:pPr>
                      <a:r>
                        <a:rPr sz="1088" b="1">
                          <a:solidFill>
                            <a:srgbClr val="FFFFFF"/>
                          </a:solidFill>
                          <a:latin typeface="Aptos"/>
                          <a:ea typeface="Aptos"/>
                          <a:cs typeface="Aptos"/>
                        </a:rPr>
                        <a:t>n</a:t>
                      </a:r>
                    </a:p>
                  </a:txBody>
                  <a:tcPr marL="91440" marR="91440" marT="45720" marB="45720" anchor="ctr">
                    <a:solidFill>
                      <a:srgbClr val="6D28D9"/>
                    </a:solidFill>
                  </a:tcPr>
                </a:tc>
                <a:tc>
                  <a:txBody>
                    <a:bodyPr wrap="square">
                      <a:normAutofit/>
                    </a:bodyPr>
                    <a:lstStyle/>
                    <a:p>
                      <a:pPr algn="ctr">
                        <a:buNone/>
                      </a:pPr>
                      <a:r>
                        <a:rPr sz="1088" b="1">
                          <a:solidFill>
                            <a:srgbClr val="FFFFFF"/>
                          </a:solidFill>
                          <a:latin typeface="Aptos"/>
                          <a:ea typeface="Aptos"/>
                          <a:cs typeface="Aptos"/>
                        </a:rPr>
                        <a:t>Mreq (MiB)</a:t>
                      </a:r>
                    </a:p>
                  </a:txBody>
                  <a:tcPr marL="91440" marR="91440" marT="45720" marB="45720" anchor="ctr">
                    <a:solidFill>
                      <a:srgbClr val="6D28D9"/>
                    </a:solidFill>
                  </a:tcPr>
                </a:tc>
                <a:tc>
                  <a:txBody>
                    <a:bodyPr wrap="square">
                      <a:normAutofit/>
                    </a:bodyPr>
                    <a:lstStyle/>
                    <a:p>
                      <a:pPr algn="ctr">
                        <a:buNone/>
                      </a:pPr>
                      <a:r>
                        <a:rPr sz="1088" b="1">
                          <a:solidFill>
                            <a:srgbClr val="FFFFFF"/>
                          </a:solidFill>
                          <a:latin typeface="Aptos"/>
                          <a:ea typeface="Aptos"/>
                          <a:cs typeface="Aptos"/>
                        </a:rPr>
                        <a:t>Mrec (MiB)</a:t>
                      </a:r>
                    </a:p>
                  </a:txBody>
                  <a:tcPr marL="91440" marR="91440" marT="45720" marB="45720" anchor="ctr">
                    <a:solidFill>
                      <a:srgbClr val="6D28D9"/>
                    </a:solidFill>
                  </a:tcPr>
                </a:tc>
                <a:tc>
                  <a:txBody>
                    <a:bodyPr wrap="square">
                      <a:normAutofit/>
                    </a:bodyPr>
                    <a:lstStyle/>
                    <a:p>
                      <a:pPr algn="ctr">
                        <a:buNone/>
                      </a:pPr>
                      <a:r>
                        <a:rPr sz="1088" b="1">
                          <a:solidFill>
                            <a:srgbClr val="FFFFFF"/>
                          </a:solidFill>
                          <a:latin typeface="Aptos"/>
                          <a:ea typeface="Aptos"/>
                          <a:cs typeface="Aptos"/>
                        </a:rPr>
                        <a:t>Mobs (MiB)</a:t>
                      </a:r>
                    </a:p>
                  </a:txBody>
                  <a:tcPr marL="91440" marR="91440" marT="45720" marB="45720" anchor="ctr">
                    <a:solidFill>
                      <a:srgbClr val="6D28D9"/>
                    </a:solidFill>
                  </a:tcPr>
                </a:tc>
                <a:tc>
                  <a:txBody>
                    <a:bodyPr wrap="square">
                      <a:normAutofit/>
                    </a:bodyPr>
                    <a:lstStyle/>
                    <a:p>
                      <a:pPr algn="ctr">
                        <a:buNone/>
                      </a:pPr>
                      <a:r>
                        <a:rPr sz="1088" b="1">
                          <a:solidFill>
                            <a:srgbClr val="FFFFFF"/>
                          </a:solidFill>
                          <a:latin typeface="Aptos"/>
                          <a:ea typeface="Aptos"/>
                          <a:cs typeface="Aptos"/>
                        </a:rPr>
                        <a:t>DME</a:t>
                      </a:r>
                    </a:p>
                  </a:txBody>
                  <a:tcPr marL="91440" marR="91440" marT="45720" marB="45720" anchor="ctr">
                    <a:solidFill>
                      <a:srgbClr val="6D28D9"/>
                    </a:solidFill>
                  </a:tcPr>
                </a:tc>
              </a:tr>
              <a:tr h="520700">
                <a:tc>
                  <a:txBody>
                    <a:bodyPr wrap="square">
                      <a:normAutofit/>
                    </a:bodyPr>
                    <a:lstStyle/>
                    <a:p>
                      <a:pPr algn="l">
                        <a:buNone/>
                      </a:pPr>
                      <a:r>
                        <a:rPr sz="1088" b="1">
                          <a:solidFill>
                            <a:srgbClr val="142D45"/>
                          </a:solidFill>
                          <a:latin typeface="Aptos"/>
                          <a:ea typeface="Aptos"/>
                          <a:cs typeface="Aptos"/>
                        </a:rPr>
                        <a:t>P10-S</a:t>
                      </a:r>
                    </a:p>
                  </a:txBody>
                  <a:tcPr marL="91440" marR="91440" marT="45720" marB="45720" anchor="ctr">
                    <a:solidFill>
                      <a:srgbClr val="FFFFFF"/>
                    </a:solidFill>
                  </a:tcPr>
                </a:tc>
                <a:tc>
                  <a:txBody>
                    <a:bodyPr wrap="square">
                      <a:normAutofit/>
                    </a:bodyPr>
                    <a:lstStyle/>
                    <a:p>
                      <a:pPr algn="ctr">
                        <a:buNone/>
                      </a:pPr>
                      <a:r>
                        <a:rPr sz="1088" b="0">
                          <a:solidFill>
                            <a:srgbClr val="142D45"/>
                          </a:solidFill>
                          <a:latin typeface="Aptos"/>
                          <a:ea typeface="Aptos"/>
                          <a:cs typeface="Aptos"/>
                        </a:rPr>
                        <a:t>Process</a:t>
                      </a:r>
                    </a:p>
                  </a:txBody>
                  <a:tcPr marL="91440" marR="91440" marT="45720" marB="45720" anchor="ctr">
                    <a:solidFill>
                      <a:srgbClr val="FFFFFF"/>
                    </a:solidFill>
                  </a:tcPr>
                </a:tc>
                <a:tc>
                  <a:txBody>
                    <a:bodyPr wrap="square">
                      <a:normAutofit/>
                    </a:bodyPr>
                    <a:lstStyle/>
                    <a:p>
                      <a:pPr algn="ctr">
                        <a:buNone/>
                      </a:pPr>
                      <a:r>
                        <a:rPr sz="1088" b="0">
                          <a:solidFill>
                            <a:srgbClr val="142D45"/>
                          </a:solidFill>
                          <a:latin typeface="Aptos"/>
                          <a:ea typeface="Aptos"/>
                          <a:cs typeface="Aptos"/>
                        </a:rPr>
                        <a:t>4</a:t>
                      </a:r>
                    </a:p>
                  </a:txBody>
                  <a:tcPr marL="91440" marR="91440" marT="45720" marB="45720" anchor="ctr">
                    <a:solidFill>
                      <a:srgbClr val="FFFFFF"/>
                    </a:solidFill>
                  </a:tcPr>
                </a:tc>
                <a:tc>
                  <a:txBody>
                    <a:bodyPr wrap="square">
                      <a:normAutofit/>
                    </a:bodyPr>
                    <a:lstStyle/>
                    <a:p>
                      <a:pPr algn="ctr">
                        <a:buNone/>
                      </a:pPr>
                      <a:r>
                        <a:rPr sz="1088" b="0">
                          <a:solidFill>
                            <a:srgbClr val="142D45"/>
                          </a:solidFill>
                          <a:latin typeface="Aptos"/>
                          <a:ea typeface="Aptos"/>
                          <a:cs typeface="Aptos"/>
                        </a:rPr>
                        <a:t>20</a:t>
                      </a:r>
                    </a:p>
                  </a:txBody>
                  <a:tcPr marL="91440" marR="91440" marT="45720" marB="45720" anchor="ctr">
                    <a:solidFill>
                      <a:srgbClr val="FFFFFF"/>
                    </a:solidFill>
                  </a:tcPr>
                </a:tc>
                <a:tc>
                  <a:txBody>
                    <a:bodyPr wrap="square">
                      <a:normAutofit/>
                    </a:bodyPr>
                    <a:lstStyle/>
                    <a:p>
                      <a:pPr algn="ctr">
                        <a:buNone/>
                      </a:pPr>
                      <a:r>
                        <a:rPr sz="1088" b="0">
                          <a:solidFill>
                            <a:srgbClr val="142D45"/>
                          </a:solidFill>
                          <a:latin typeface="Aptos"/>
                          <a:ea typeface="Aptos"/>
                          <a:cs typeface="Aptos"/>
                        </a:rPr>
                        <a:t>20</a:t>
                      </a:r>
                    </a:p>
                  </a:txBody>
                  <a:tcPr marL="91440" marR="91440" marT="45720" marB="45720" anchor="ctr">
                    <a:solidFill>
                      <a:srgbClr val="FFFFFF"/>
                    </a:solidFill>
                  </a:tcPr>
                </a:tc>
                <a:tc>
                  <a:txBody>
                    <a:bodyPr wrap="square">
                      <a:normAutofit/>
                    </a:bodyPr>
                    <a:lstStyle/>
                    <a:p>
                      <a:pPr algn="ctr">
                        <a:buNone/>
                      </a:pPr>
                      <a:r>
                        <a:rPr sz="1088" b="0">
                          <a:solidFill>
                            <a:srgbClr val="142D45"/>
                          </a:solidFill>
                          <a:latin typeface="Aptos"/>
                          <a:ea typeface="Aptos"/>
                          <a:cs typeface="Aptos"/>
                        </a:rPr>
                        <a:t>20</a:t>
                      </a:r>
                    </a:p>
                  </a:txBody>
                  <a:tcPr marL="91440" marR="91440" marT="45720" marB="45720" anchor="ctr">
                    <a:solidFill>
                      <a:srgbClr val="FFFFFF"/>
                    </a:solidFill>
                  </a:tcPr>
                </a:tc>
                <a:tc>
                  <a:txBody>
                    <a:bodyPr wrap="square">
                      <a:normAutofit/>
                    </a:bodyPr>
                    <a:lstStyle/>
                    <a:p>
                      <a:pPr algn="ctr">
                        <a:buNone/>
                      </a:pPr>
                      <a:r>
                        <a:rPr sz="1088" b="0">
                          <a:solidFill>
                            <a:srgbClr val="142D45"/>
                          </a:solidFill>
                          <a:latin typeface="Aptos"/>
                          <a:ea typeface="Aptos"/>
                          <a:cs typeface="Aptos"/>
                        </a:rPr>
                        <a:t>1.000</a:t>
                      </a:r>
                    </a:p>
                  </a:txBody>
                  <a:tcPr marL="91440" marR="91440" marT="45720" marB="45720" anchor="ctr">
                    <a:solidFill>
                      <a:srgbClr val="FFFFFF"/>
                    </a:solidFill>
                  </a:tcPr>
                </a:tc>
              </a:tr>
              <a:tr h="520700">
                <a:tc>
                  <a:txBody>
                    <a:bodyPr wrap="square">
                      <a:normAutofit/>
                    </a:bodyPr>
                    <a:lstStyle/>
                    <a:p>
                      <a:pPr algn="l">
                        <a:buNone/>
                      </a:pPr>
                      <a:r>
                        <a:rPr sz="1088" b="1">
                          <a:solidFill>
                            <a:srgbClr val="142D45"/>
                          </a:solidFill>
                          <a:latin typeface="Aptos"/>
                          <a:ea typeface="Aptos"/>
                          <a:cs typeface="Aptos"/>
                        </a:rPr>
                        <a:t>PL10-S</a:t>
                      </a:r>
                    </a:p>
                  </a:txBody>
                  <a:tcPr marL="91440" marR="91440" marT="45720" marB="45720" anchor="ctr">
                    <a:solidFill>
                      <a:srgbClr val="F1F5F9"/>
                    </a:solidFill>
                  </a:tcPr>
                </a:tc>
                <a:tc>
                  <a:txBody>
                    <a:bodyPr wrap="square">
                      <a:normAutofit/>
                    </a:bodyPr>
                    <a:lstStyle/>
                    <a:p>
                      <a:pPr algn="ctr">
                        <a:buNone/>
                      </a:pPr>
                      <a:r>
                        <a:rPr sz="1088" b="0">
                          <a:solidFill>
                            <a:srgbClr val="142D45"/>
                          </a:solidFill>
                          <a:latin typeface="Aptos"/>
                          <a:ea typeface="Aptos"/>
                          <a:cs typeface="Aptos"/>
                        </a:rPr>
                        <a:t>Pipeline</a:t>
                      </a:r>
                    </a:p>
                  </a:txBody>
                  <a:tcPr marL="91440" marR="91440" marT="45720" marB="45720" anchor="ctr">
                    <a:solidFill>
                      <a:srgbClr val="F1F5F9"/>
                    </a:solidFill>
                  </a:tcPr>
                </a:tc>
                <a:tc>
                  <a:txBody>
                    <a:bodyPr wrap="square">
                      <a:normAutofit/>
                    </a:bodyPr>
                    <a:lstStyle/>
                    <a:p>
                      <a:pPr algn="ctr">
                        <a:buNone/>
                      </a:pPr>
                      <a:r>
                        <a:rPr sz="1088" b="0">
                          <a:solidFill>
                            <a:srgbClr val="142D45"/>
                          </a:solidFill>
                          <a:latin typeface="Aptos"/>
                          <a:ea typeface="Aptos"/>
                          <a:cs typeface="Aptos"/>
                        </a:rPr>
                        <a:t>3</a:t>
                      </a:r>
                    </a:p>
                  </a:txBody>
                  <a:tcPr marL="91440" marR="91440" marT="45720" marB="45720" anchor="ctr">
                    <a:solidFill>
                      <a:srgbClr val="F1F5F9"/>
                    </a:solidFill>
                  </a:tcPr>
                </a:tc>
                <a:tc>
                  <a:txBody>
                    <a:bodyPr wrap="square">
                      <a:normAutofit/>
                    </a:bodyPr>
                    <a:lstStyle/>
                    <a:p>
                      <a:pPr algn="ctr">
                        <a:buNone/>
                      </a:pPr>
                      <a:r>
                        <a:rPr sz="1088" b="0">
                          <a:solidFill>
                            <a:srgbClr val="142D45"/>
                          </a:solidFill>
                          <a:latin typeface="Aptos"/>
                          <a:ea typeface="Aptos"/>
                          <a:cs typeface="Aptos"/>
                        </a:rPr>
                        <a:t>20</a:t>
                      </a:r>
                    </a:p>
                  </a:txBody>
                  <a:tcPr marL="91440" marR="91440" marT="45720" marB="45720" anchor="ctr">
                    <a:solidFill>
                      <a:srgbClr val="F1F5F9"/>
                    </a:solidFill>
                  </a:tcPr>
                </a:tc>
                <a:tc>
                  <a:txBody>
                    <a:bodyPr wrap="square">
                      <a:normAutofit/>
                    </a:bodyPr>
                    <a:lstStyle/>
                    <a:p>
                      <a:pPr algn="ctr">
                        <a:buNone/>
                      </a:pPr>
                      <a:r>
                        <a:rPr sz="1088" b="0">
                          <a:solidFill>
                            <a:srgbClr val="142D45"/>
                          </a:solidFill>
                          <a:latin typeface="Aptos"/>
                          <a:ea typeface="Aptos"/>
                          <a:cs typeface="Aptos"/>
                        </a:rPr>
                        <a:t>60</a:t>
                      </a:r>
                    </a:p>
                  </a:txBody>
                  <a:tcPr marL="91440" marR="91440" marT="45720" marB="45720" anchor="ctr">
                    <a:solidFill>
                      <a:srgbClr val="F1F5F9"/>
                    </a:solidFill>
                  </a:tcPr>
                </a:tc>
                <a:tc>
                  <a:txBody>
                    <a:bodyPr wrap="square">
                      <a:normAutofit/>
                    </a:bodyPr>
                    <a:lstStyle/>
                    <a:p>
                      <a:pPr algn="ctr">
                        <a:buNone/>
                      </a:pPr>
                      <a:r>
                        <a:rPr sz="1088" b="0">
                          <a:solidFill>
                            <a:srgbClr val="142D45"/>
                          </a:solidFill>
                          <a:latin typeface="Aptos"/>
                          <a:ea typeface="Aptos"/>
                          <a:cs typeface="Aptos"/>
                        </a:rPr>
                        <a:t>60</a:t>
                      </a:r>
                    </a:p>
                  </a:txBody>
                  <a:tcPr marL="91440" marR="91440" marT="45720" marB="45720" anchor="ctr">
                    <a:solidFill>
                      <a:srgbClr val="F1F5F9"/>
                    </a:solidFill>
                  </a:tcPr>
                </a:tc>
                <a:tc>
                  <a:txBody>
                    <a:bodyPr wrap="square">
                      <a:normAutofit/>
                    </a:bodyPr>
                    <a:lstStyle/>
                    <a:p>
                      <a:pPr algn="ctr">
                        <a:buNone/>
                      </a:pPr>
                      <a:r>
                        <a:rPr sz="1088" b="0">
                          <a:solidFill>
                            <a:srgbClr val="142D45"/>
                          </a:solidFill>
                          <a:latin typeface="Aptos"/>
                          <a:ea typeface="Aptos"/>
                          <a:cs typeface="Aptos"/>
                        </a:rPr>
                        <a:t>0.333</a:t>
                      </a:r>
                    </a:p>
                  </a:txBody>
                  <a:tcPr marL="91440" marR="91440" marT="45720" marB="45720" anchor="ctr">
                    <a:solidFill>
                      <a:srgbClr val="F1F5F9"/>
                    </a:solidFill>
                  </a:tcPr>
                </a:tc>
              </a:tr>
              <a:tr h="520700">
                <a:tc>
                  <a:txBody>
                    <a:bodyPr wrap="square">
                      <a:normAutofit/>
                    </a:bodyPr>
                    <a:lstStyle/>
                    <a:p>
                      <a:pPr algn="l">
                        <a:buNone/>
                      </a:pPr>
                      <a:r>
                        <a:rPr sz="1088" b="1">
                          <a:solidFill>
                            <a:srgbClr val="142D45"/>
                          </a:solidFill>
                          <a:latin typeface="Aptos"/>
                          <a:ea typeface="Aptos"/>
                          <a:cs typeface="Aptos"/>
                        </a:rPr>
                        <a:t>D10-S</a:t>
                      </a:r>
                    </a:p>
                  </a:txBody>
                  <a:tcPr marL="91440" marR="91440" marT="45720" marB="45720" anchor="ctr">
                    <a:solidFill>
                      <a:srgbClr val="FFFFFF"/>
                    </a:solidFill>
                  </a:tcPr>
                </a:tc>
                <a:tc>
                  <a:txBody>
                    <a:bodyPr wrap="square">
                      <a:normAutofit/>
                    </a:bodyPr>
                    <a:lstStyle/>
                    <a:p>
                      <a:pPr algn="ctr">
                        <a:buNone/>
                      </a:pPr>
                      <a:r>
                        <a:rPr sz="1088" b="0">
                          <a:solidFill>
                            <a:srgbClr val="142D45"/>
                          </a:solidFill>
                          <a:latin typeface="Aptos"/>
                          <a:ea typeface="Aptos"/>
                          <a:cs typeface="Aptos"/>
                        </a:rPr>
                        <a:t>Data distribution</a:t>
                      </a:r>
                    </a:p>
                  </a:txBody>
                  <a:tcPr marL="91440" marR="91440" marT="45720" marB="45720" anchor="ctr">
                    <a:solidFill>
                      <a:srgbClr val="FFFFFF"/>
                    </a:solidFill>
                  </a:tcPr>
                </a:tc>
                <a:tc>
                  <a:txBody>
                    <a:bodyPr wrap="square">
                      <a:normAutofit/>
                    </a:bodyPr>
                    <a:lstStyle/>
                    <a:p>
                      <a:pPr algn="ctr">
                        <a:buNone/>
                      </a:pPr>
                      <a:r>
                        <a:rPr sz="1088" b="0">
                          <a:solidFill>
                            <a:srgbClr val="142D45"/>
                          </a:solidFill>
                          <a:latin typeface="Aptos"/>
                          <a:ea typeface="Aptos"/>
                          <a:cs typeface="Aptos"/>
                        </a:rPr>
                        <a:t>3</a:t>
                      </a:r>
                    </a:p>
                  </a:txBody>
                  <a:tcPr marL="91440" marR="91440" marT="45720" marB="45720" anchor="ctr">
                    <a:solidFill>
                      <a:srgbClr val="FFFFFF"/>
                    </a:solidFill>
                  </a:tcPr>
                </a:tc>
                <a:tc>
                  <a:txBody>
                    <a:bodyPr wrap="square">
                      <a:normAutofit/>
                    </a:bodyPr>
                    <a:lstStyle/>
                    <a:p>
                      <a:pPr algn="ctr">
                        <a:buNone/>
                      </a:pPr>
                      <a:r>
                        <a:rPr sz="1088" b="0">
                          <a:solidFill>
                            <a:srgbClr val="142D45"/>
                          </a:solidFill>
                          <a:latin typeface="Aptos"/>
                          <a:ea typeface="Aptos"/>
                          <a:cs typeface="Aptos"/>
                        </a:rPr>
                        <a:t>20</a:t>
                      </a:r>
                    </a:p>
                  </a:txBody>
                  <a:tcPr marL="91440" marR="91440" marT="45720" marB="45720" anchor="ctr">
                    <a:solidFill>
                      <a:srgbClr val="FFFFFF"/>
                    </a:solidFill>
                  </a:tcPr>
                </a:tc>
                <a:tc>
                  <a:txBody>
                    <a:bodyPr wrap="square">
                      <a:normAutofit/>
                    </a:bodyPr>
                    <a:lstStyle/>
                    <a:p>
                      <a:pPr algn="ctr">
                        <a:buNone/>
                      </a:pPr>
                      <a:r>
                        <a:rPr sz="1088" b="0">
                          <a:solidFill>
                            <a:srgbClr val="142D45"/>
                          </a:solidFill>
                          <a:latin typeface="Aptos"/>
                          <a:ea typeface="Aptos"/>
                          <a:cs typeface="Aptos"/>
                        </a:rPr>
                        <a:t>40</a:t>
                      </a:r>
                    </a:p>
                  </a:txBody>
                  <a:tcPr marL="91440" marR="91440" marT="45720" marB="45720" anchor="ctr">
                    <a:solidFill>
                      <a:srgbClr val="FFFFFF"/>
                    </a:solidFill>
                  </a:tcPr>
                </a:tc>
                <a:tc>
                  <a:txBody>
                    <a:bodyPr wrap="square">
                      <a:normAutofit/>
                    </a:bodyPr>
                    <a:lstStyle/>
                    <a:p>
                      <a:pPr algn="ctr">
                        <a:buNone/>
                      </a:pPr>
                      <a:r>
                        <a:rPr sz="1088" b="0">
                          <a:solidFill>
                            <a:srgbClr val="142D45"/>
                          </a:solidFill>
                          <a:latin typeface="Aptos"/>
                          <a:ea typeface="Aptos"/>
                          <a:cs typeface="Aptos"/>
                        </a:rPr>
                        <a:t>40</a:t>
                      </a:r>
                    </a:p>
                  </a:txBody>
                  <a:tcPr marL="91440" marR="91440" marT="45720" marB="45720" anchor="ctr">
                    <a:solidFill>
                      <a:srgbClr val="FFFFFF"/>
                    </a:solidFill>
                  </a:tcPr>
                </a:tc>
                <a:tc>
                  <a:txBody>
                    <a:bodyPr wrap="square">
                      <a:normAutofit/>
                    </a:bodyPr>
                    <a:lstStyle/>
                    <a:p>
                      <a:pPr algn="ctr">
                        <a:buNone/>
                      </a:pPr>
                      <a:r>
                        <a:rPr sz="1088" b="0">
                          <a:solidFill>
                            <a:srgbClr val="142D45"/>
                          </a:solidFill>
                          <a:latin typeface="Aptos"/>
                          <a:ea typeface="Aptos"/>
                          <a:cs typeface="Aptos"/>
                        </a:rPr>
                        <a:t>0.500</a:t>
                      </a:r>
                    </a:p>
                  </a:txBody>
                  <a:tcPr marL="91440" marR="91440" marT="45720" marB="45720" anchor="ctr">
                    <a:solidFill>
                      <a:srgbClr val="FFFFFF"/>
                    </a:solidFill>
                  </a:tcPr>
                </a:tc>
              </a:tr>
              <a:tr h="520700">
                <a:tc>
                  <a:txBody>
                    <a:bodyPr wrap="square">
                      <a:normAutofit/>
                    </a:bodyPr>
                    <a:lstStyle/>
                    <a:p>
                      <a:pPr algn="l">
                        <a:buNone/>
                      </a:pPr>
                      <a:r>
                        <a:rPr sz="1088" b="1">
                          <a:solidFill>
                            <a:srgbClr val="142D45"/>
                          </a:solidFill>
                          <a:latin typeface="Aptos"/>
                          <a:ea typeface="Aptos"/>
                          <a:cs typeface="Aptos"/>
                        </a:rPr>
                        <a:t>A10-S</a:t>
                      </a:r>
                    </a:p>
                  </a:txBody>
                  <a:tcPr marL="91440" marR="91440" marT="45720" marB="45720" anchor="ctr">
                    <a:solidFill>
                      <a:srgbClr val="F1F5F9"/>
                    </a:solidFill>
                  </a:tcPr>
                </a:tc>
                <a:tc>
                  <a:txBody>
                    <a:bodyPr wrap="square">
                      <a:normAutofit/>
                    </a:bodyPr>
                    <a:lstStyle/>
                    <a:p>
                      <a:pPr algn="ctr">
                        <a:buNone/>
                      </a:pPr>
                      <a:r>
                        <a:rPr sz="1088" b="0">
                          <a:solidFill>
                            <a:srgbClr val="142D45"/>
                          </a:solidFill>
                          <a:latin typeface="Aptos"/>
                          <a:ea typeface="Aptos"/>
                          <a:cs typeface="Aptos"/>
                        </a:rPr>
                        <a:t>Data aggregation</a:t>
                      </a:r>
                    </a:p>
                  </a:txBody>
                  <a:tcPr marL="91440" marR="91440" marT="45720" marB="45720" anchor="ctr">
                    <a:solidFill>
                      <a:srgbClr val="F1F5F9"/>
                    </a:solidFill>
                  </a:tcPr>
                </a:tc>
                <a:tc>
                  <a:txBody>
                    <a:bodyPr wrap="square">
                      <a:normAutofit/>
                    </a:bodyPr>
                    <a:lstStyle/>
                    <a:p>
                      <a:pPr algn="ctr">
                        <a:buNone/>
                      </a:pPr>
                      <a:r>
                        <a:rPr sz="1088" b="0">
                          <a:solidFill>
                            <a:srgbClr val="142D45"/>
                          </a:solidFill>
                          <a:latin typeface="Aptos"/>
                          <a:ea typeface="Aptos"/>
                          <a:cs typeface="Aptos"/>
                        </a:rPr>
                        <a:t>3</a:t>
                      </a:r>
                    </a:p>
                  </a:txBody>
                  <a:tcPr marL="91440" marR="91440" marT="45720" marB="45720" anchor="ctr">
                    <a:solidFill>
                      <a:srgbClr val="F1F5F9"/>
                    </a:solidFill>
                  </a:tcPr>
                </a:tc>
                <a:tc>
                  <a:txBody>
                    <a:bodyPr wrap="square">
                      <a:normAutofit/>
                    </a:bodyPr>
                    <a:lstStyle/>
                    <a:p>
                      <a:pPr algn="ctr">
                        <a:buNone/>
                      </a:pPr>
                      <a:r>
                        <a:rPr sz="1088" b="0">
                          <a:solidFill>
                            <a:srgbClr val="142D45"/>
                          </a:solidFill>
                          <a:latin typeface="Aptos"/>
                          <a:ea typeface="Aptos"/>
                          <a:cs typeface="Aptos"/>
                        </a:rPr>
                        <a:t>80</a:t>
                      </a:r>
                    </a:p>
                  </a:txBody>
                  <a:tcPr marL="91440" marR="91440" marT="45720" marB="45720" anchor="ctr">
                    <a:solidFill>
                      <a:srgbClr val="F1F5F9"/>
                    </a:solidFill>
                  </a:tcPr>
                </a:tc>
                <a:tc>
                  <a:txBody>
                    <a:bodyPr wrap="square">
                      <a:normAutofit/>
                    </a:bodyPr>
                    <a:lstStyle/>
                    <a:p>
                      <a:pPr algn="ctr">
                        <a:buNone/>
                      </a:pPr>
                      <a:r>
                        <a:rPr sz="1088" b="0">
                          <a:solidFill>
                            <a:srgbClr val="142D45"/>
                          </a:solidFill>
                          <a:latin typeface="Aptos"/>
                          <a:ea typeface="Aptos"/>
                          <a:cs typeface="Aptos"/>
                        </a:rPr>
                        <a:t>160</a:t>
                      </a:r>
                    </a:p>
                  </a:txBody>
                  <a:tcPr marL="91440" marR="91440" marT="45720" marB="45720" anchor="ctr">
                    <a:solidFill>
                      <a:srgbClr val="F1F5F9"/>
                    </a:solidFill>
                  </a:tcPr>
                </a:tc>
                <a:tc>
                  <a:txBody>
                    <a:bodyPr wrap="square">
                      <a:normAutofit/>
                    </a:bodyPr>
                    <a:lstStyle/>
                    <a:p>
                      <a:pPr algn="ctr">
                        <a:buNone/>
                      </a:pPr>
                      <a:r>
                        <a:rPr sz="1088" b="0">
                          <a:solidFill>
                            <a:srgbClr val="142D45"/>
                          </a:solidFill>
                          <a:latin typeface="Aptos"/>
                          <a:ea typeface="Aptos"/>
                          <a:cs typeface="Aptos"/>
                        </a:rPr>
                        <a:t>160</a:t>
                      </a:r>
                    </a:p>
                  </a:txBody>
                  <a:tcPr marL="91440" marR="91440" marT="45720" marB="45720" anchor="ctr">
                    <a:solidFill>
                      <a:srgbClr val="F1F5F9"/>
                    </a:solidFill>
                  </a:tcPr>
                </a:tc>
                <a:tc>
                  <a:txBody>
                    <a:bodyPr wrap="square">
                      <a:normAutofit/>
                    </a:bodyPr>
                    <a:lstStyle/>
                    <a:p>
                      <a:pPr algn="ctr">
                        <a:buNone/>
                      </a:pPr>
                      <a:r>
                        <a:rPr sz="1088" b="0">
                          <a:solidFill>
                            <a:srgbClr val="142D45"/>
                          </a:solidFill>
                          <a:latin typeface="Aptos"/>
                          <a:ea typeface="Aptos"/>
                          <a:cs typeface="Aptos"/>
                        </a:rPr>
                        <a:t>0.500</a:t>
                      </a:r>
                    </a:p>
                  </a:txBody>
                  <a:tcPr marL="91440" marR="91440" marT="45720" marB="45720" anchor="ctr">
                    <a:solidFill>
                      <a:srgbClr val="F1F5F9"/>
                    </a:solidFill>
                  </a:tcPr>
                </a:tc>
              </a:tr>
              <a:tr h="520700">
                <a:tc>
                  <a:txBody>
                    <a:bodyPr wrap="square">
                      <a:normAutofit/>
                    </a:bodyPr>
                    <a:lstStyle/>
                    <a:p>
                      <a:pPr algn="l">
                        <a:buNone/>
                      </a:pPr>
                      <a:r>
                        <a:rPr sz="1088" b="1">
                          <a:solidFill>
                            <a:srgbClr val="142D45"/>
                          </a:solidFill>
                          <a:latin typeface="Aptos"/>
                          <a:ea typeface="Aptos"/>
                          <a:cs typeface="Aptos"/>
                        </a:rPr>
                        <a:t>R10-S</a:t>
                      </a:r>
                    </a:p>
                  </a:txBody>
                  <a:tcPr marL="91440" marR="91440" marT="45720" marB="45720" anchor="ctr">
                    <a:solidFill>
                      <a:srgbClr val="FFFFFF"/>
                    </a:solidFill>
                  </a:tcPr>
                </a:tc>
                <a:tc>
                  <a:txBody>
                    <a:bodyPr wrap="square">
                      <a:normAutofit/>
                    </a:bodyPr>
                    <a:lstStyle/>
                    <a:p>
                      <a:pPr algn="ctr">
                        <a:buNone/>
                      </a:pPr>
                      <a:r>
                        <a:rPr sz="1088" b="0">
                          <a:solidFill>
                            <a:srgbClr val="142D45"/>
                          </a:solidFill>
                          <a:latin typeface="Aptos"/>
                          <a:ea typeface="Aptos"/>
                          <a:cs typeface="Aptos"/>
                        </a:rPr>
                        <a:t>Data redistribution</a:t>
                      </a:r>
                    </a:p>
                  </a:txBody>
                  <a:tcPr marL="91440" marR="91440" marT="45720" marB="45720" anchor="ctr">
                    <a:solidFill>
                      <a:srgbClr val="FFFFFF"/>
                    </a:solidFill>
                  </a:tcPr>
                </a:tc>
                <a:tc>
                  <a:txBody>
                    <a:bodyPr wrap="square">
                      <a:normAutofit/>
                    </a:bodyPr>
                    <a:lstStyle/>
                    <a:p>
                      <a:pPr algn="ctr">
                        <a:buNone/>
                      </a:pPr>
                      <a:r>
                        <a:rPr sz="1088" b="0">
                          <a:solidFill>
                            <a:srgbClr val="142D45"/>
                          </a:solidFill>
                          <a:latin typeface="Aptos"/>
                          <a:ea typeface="Aptos"/>
                          <a:cs typeface="Aptos"/>
                        </a:rPr>
                        <a:t>3</a:t>
                      </a:r>
                    </a:p>
                  </a:txBody>
                  <a:tcPr marL="91440" marR="91440" marT="45720" marB="45720" anchor="ctr">
                    <a:solidFill>
                      <a:srgbClr val="FFFFFF"/>
                    </a:solidFill>
                  </a:tcPr>
                </a:tc>
                <a:tc>
                  <a:txBody>
                    <a:bodyPr wrap="square">
                      <a:normAutofit/>
                    </a:bodyPr>
                    <a:lstStyle/>
                    <a:p>
                      <a:pPr algn="ctr">
                        <a:buNone/>
                      </a:pPr>
                      <a:r>
                        <a:rPr sz="1088" b="0">
                          <a:solidFill>
                            <a:srgbClr val="142D45"/>
                          </a:solidFill>
                          <a:latin typeface="Aptos"/>
                          <a:ea typeface="Aptos"/>
                          <a:cs typeface="Aptos"/>
                        </a:rPr>
                        <a:t>80</a:t>
                      </a:r>
                    </a:p>
                  </a:txBody>
                  <a:tcPr marL="91440" marR="91440" marT="45720" marB="45720" anchor="ctr">
                    <a:solidFill>
                      <a:srgbClr val="FFFFFF"/>
                    </a:solidFill>
                  </a:tcPr>
                </a:tc>
                <a:tc>
                  <a:txBody>
                    <a:bodyPr wrap="square">
                      <a:normAutofit/>
                    </a:bodyPr>
                    <a:lstStyle/>
                    <a:p>
                      <a:pPr algn="ctr">
                        <a:buNone/>
                      </a:pPr>
                      <a:r>
                        <a:rPr sz="1088" b="0">
                          <a:solidFill>
                            <a:srgbClr val="142D45"/>
                          </a:solidFill>
                          <a:latin typeface="Aptos"/>
                          <a:ea typeface="Aptos"/>
                          <a:cs typeface="Aptos"/>
                        </a:rPr>
                        <a:t>320</a:t>
                      </a:r>
                    </a:p>
                  </a:txBody>
                  <a:tcPr marL="91440" marR="91440" marT="45720" marB="45720" anchor="ctr">
                    <a:solidFill>
                      <a:srgbClr val="FFFFFF"/>
                    </a:solidFill>
                  </a:tcPr>
                </a:tc>
                <a:tc>
                  <a:txBody>
                    <a:bodyPr wrap="square">
                      <a:normAutofit/>
                    </a:bodyPr>
                    <a:lstStyle/>
                    <a:p>
                      <a:pPr algn="ctr">
                        <a:buNone/>
                      </a:pPr>
                      <a:r>
                        <a:rPr sz="1088" b="0">
                          <a:solidFill>
                            <a:srgbClr val="142D45"/>
                          </a:solidFill>
                          <a:latin typeface="Aptos"/>
                          <a:ea typeface="Aptos"/>
                          <a:cs typeface="Aptos"/>
                        </a:rPr>
                        <a:t>320</a:t>
                      </a:r>
                    </a:p>
                  </a:txBody>
                  <a:tcPr marL="91440" marR="91440" marT="45720" marB="45720" anchor="ctr">
                    <a:solidFill>
                      <a:srgbClr val="FFFFFF"/>
                    </a:solidFill>
                  </a:tcPr>
                </a:tc>
                <a:tc>
                  <a:txBody>
                    <a:bodyPr wrap="square">
                      <a:normAutofit/>
                    </a:bodyPr>
                    <a:lstStyle/>
                    <a:p>
                      <a:pPr algn="ctr">
                        <a:buNone/>
                      </a:pPr>
                      <a:r>
                        <a:rPr sz="1088" b="0">
                          <a:solidFill>
                            <a:srgbClr val="142D45"/>
                          </a:solidFill>
                          <a:latin typeface="Aptos"/>
                          <a:ea typeface="Aptos"/>
                          <a:cs typeface="Aptos"/>
                        </a:rPr>
                        <a:t>0.250</a:t>
                      </a:r>
                    </a:p>
                  </a:txBody>
                  <a:tcPr marL="91440" marR="91440" marT="45720" marB="45720" anchor="ctr">
                    <a:solidFill>
                      <a:srgbClr val="FFFFFF"/>
                    </a:solidFill>
                  </a:tcPr>
                </a:tc>
              </a:tr>
            </a:tbl>
          </a:graphicData>
        </a:graphic>
      </p:graphicFrame>
      <p:sp>
        <p:nvSpPr>
          <p:cNvPr id="9" name="baseline-result">
            <a:extLst xmlns:a="http://schemas.openxmlformats.org/drawingml/2006/main">
              <a:ext uri="{FF2B5EF4-FFF2-40B4-BE49-F238E27FC236}">
                <a16:creationId xmlns:a16="http://schemas.microsoft.com/office/drawing/2014/main" id="{6270AC47-6003-42EF-AD4D-AC837A36AE5D}"/>
              </a:ext>
            </a:extLst>
          </p:cNvPr>
          <p:cNvSpPr>
            <a:spLocks xmlns:a="http://schemas.openxmlformats.org/drawingml/2006/main" noGrp="1"/>
          </p:cNvSpPr>
          <p:nvPr/>
        </p:nvSpPr>
        <p:spPr>
          <a:xfrm xmlns:a="http://schemas.openxmlformats.org/drawingml/2006/main">
            <a:off x="866775" y="5219700"/>
            <a:ext cx="104584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buNone/>
              <a:defRPr sz="1125">
                <a:solidFill>
                  <a:srgbClr val="142D45"/>
                </a:solidFill>
                <a:latin typeface="Aptos"/>
                <a:ea typeface="Aptos"/>
                <a:cs typeface="Aptos"/>
              </a:defRPr>
            </a:pPr>
            <a:r>
              <a:rPr sz="1125">
                <a:solidFill>
                  <a:srgbClr val="142D45"/>
                </a:solidFill>
                <a:latin typeface="Aptos"/>
                <a:ea typeface="Aptos"/>
                <a:cs typeface="Aptos"/>
              </a:rPr>
              <a:t>La campaña cubrió 10 condiciones con 31 workflows independientes: al menos 3 por condición. Todas las réplicas fueron VALID, Coverage = 1 y las métricas coincidieron dentro de cada condición.</a:t>
            </a:r>
          </a:p>
        </p:txBody>
      </p:sp>
      <p:sp>
        <p:nvSpPr>
          <p:cNvPr id="10" name="evidence-boundary">
            <a:extLst xmlns:a="http://schemas.openxmlformats.org/drawingml/2006/main">
              <a:ext uri="{FF2B5EF4-FFF2-40B4-BE49-F238E27FC236}">
                <a16:creationId xmlns:a16="http://schemas.microsoft.com/office/drawing/2014/main" id="{4760A44C-B503-417B-BFCE-8EC23C50F4E8}"/>
              </a:ext>
            </a:extLst>
          </p:cNvPr>
          <p:cNvSpPr>
            <a:spLocks xmlns:a="http://schemas.openxmlformats.org/drawingml/2006/main" noGrp="1"/>
          </p:cNvSpPr>
          <p:nvPr/>
        </p:nvSpPr>
        <p:spPr>
          <a:xfrm xmlns:a="http://schemas.openxmlformats.org/drawingml/2006/main">
            <a:off x="866775" y="5705475"/>
            <a:ext cx="1045845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buNone/>
              <a:defRPr sz="975">
                <a:solidFill>
                  <a:srgbClr val="64748B"/>
                </a:solidFill>
                <a:latin typeface="Aptos"/>
                <a:ea typeface="Aptos"/>
                <a:cs typeface="Aptos"/>
              </a:defRPr>
            </a:pPr>
            <a:r>
              <a:rPr sz="975">
                <a:solidFill>
                  <a:srgbClr val="64748B"/>
                </a:solidFill>
                <a:latin typeface="Aptos"/>
                <a:ea typeface="Aptos"/>
                <a:cs typeface="Aptos"/>
              </a:rPr>
              <a:t>Mobs procede de reconciliación HTCondor a nivel job; no representa captura de paquetes ni medición física de bytes en la interfaz.</a:t>
            </a:r>
          </a:p>
        </p:txBody>
      </p:sp>
    </p:spTree>
    <p:extLst>
      <p:ext uri="{BB962C8B-B14F-4D97-AF65-F5344CB8AC3E}">
        <p14:creationId xmlns:p14="http://schemas.microsoft.com/office/powerpoint/2010/main" val="486976435"/>
      </p:ext>
    </p:extLst>
  </p:cSld>
</p:sld>
</file>

<file path=ppt/slides/slide18.xml><?xml version="1.0" encoding="utf-8"?>
<p:sld xmlns:p="http://schemas.openxmlformats.org/presentationml/2006/main">
  <p:cSld>
    <p:spTree>
      <p:nvGrpSpPr>
        <p:cNvPr id="1" name=""/>
        <p:cNvGrpSpPr/>
        <p:nvPr/>
      </p:nvGrpSpPr>
      <p:grpSpPr>
        <a:xfrm xmlns:a="http://schemas.openxmlformats.org/drawingml/2006/main"/>
      </p:grpSpPr>
      <p:sp>
        <p:nvSpPr>
          <p:cNvPr id="11" name="section-accent">
            <a:extLst xmlns:a="http://schemas.openxmlformats.org/drawingml/2006/main">
              <a:ext uri="{FF2B5EF4-FFF2-40B4-BE49-F238E27FC236}">
                <a16:creationId xmlns:a16="http://schemas.microsoft.com/office/drawing/2014/main" id="{B738F61D-6EA5-40C7-A7B8-2CD4EF6DCE68}"/>
              </a:ext>
            </a:extLst>
          </p:cNvPr>
          <p:cNvSpPr>
            <a:spLocks xmlns:a="http://schemas.openxmlformats.org/drawingml/2006/main" noGrp="1"/>
          </p:cNvSpPr>
          <p:nvPr/>
        </p:nvSpPr>
        <p:spPr>
          <a:xfrm xmlns:a="http://schemas.openxmlformats.org/drawingml/2006/main">
            <a:off x="0" y="0"/>
            <a:ext cx="12192000" cy="114300"/>
          </a:xfrm>
          <a:prstGeom xmlns:a="http://schemas.openxmlformats.org/drawingml/2006/main" prst="rect">
            <a:avLst/>
          </a:prstGeom>
          <a:solidFill xmlns:a="http://schemas.openxmlformats.org/drawingml/2006/main">
            <a:srgbClr val="6D28D9"/>
          </a:solidFill>
          <a:ln xmlns:a="http://schemas.openxmlformats.org/drawingml/2006/main" w="0">
            <a:solidFill>
              <a:srgbClr val="6D28D9"/>
            </a:solidFill>
            <a:prstDash val="solid"/>
          </a:ln>
        </p:spPr>
      </p:sp>
      <p:sp>
        <p:nvSpPr>
          <p:cNvPr id="2" name="section-label">
            <a:extLst xmlns:a="http://schemas.openxmlformats.org/drawingml/2006/main">
              <a:ext uri="{FF2B5EF4-FFF2-40B4-BE49-F238E27FC236}">
                <a16:creationId xmlns:a16="http://schemas.microsoft.com/office/drawing/2014/main" id="{A11AE983-AE80-483F-9E04-06B8702370B0}"/>
              </a:ext>
            </a:extLst>
          </p:cNvPr>
          <p:cNvSpPr>
            <a:spLocks xmlns:a="http://schemas.openxmlformats.org/drawingml/2006/main" noGrp="1"/>
          </p:cNvSpPr>
          <p:nvPr/>
        </p:nvSpPr>
        <p:spPr>
          <a:xfrm xmlns:a="http://schemas.openxmlformats.org/drawingml/2006/main">
            <a:off x="647700" y="352425"/>
            <a:ext cx="10668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buNone/>
              <a:defRPr sz="825" b="1">
                <a:solidFill>
                  <a:srgbClr val="6D28D9"/>
                </a:solidFill>
                <a:latin typeface="Aptos"/>
                <a:ea typeface="Aptos"/>
                <a:cs typeface="Aptos"/>
              </a:defRPr>
            </a:pPr>
            <a:r>
              <a:rPr sz="825" b="1">
                <a:solidFill>
                  <a:srgbClr val="6D28D9"/>
                </a:solidFill>
                <a:latin typeface="Aptos"/>
                <a:ea typeface="Aptos"/>
                <a:cs typeface="Aptos"/>
              </a:rPr>
              <a:t>VALIDACIÓN · SENSIBILIDAD</a:t>
            </a:r>
          </a:p>
        </p:txBody>
      </p:sp>
      <p:sp>
        <p:nvSpPr>
          <p:cNvPr id="3" name="slide-heading">
            <a:extLst xmlns:a="http://schemas.openxmlformats.org/drawingml/2006/main">
              <a:ext uri="{FF2B5EF4-FFF2-40B4-BE49-F238E27FC236}">
                <a16:creationId xmlns:a16="http://schemas.microsoft.com/office/drawing/2014/main" id="{12561C3C-C678-49D2-B8B6-4FD5B5637142}"/>
              </a:ext>
            </a:extLst>
          </p:cNvPr>
          <p:cNvSpPr>
            <a:spLocks xmlns:a="http://schemas.openxmlformats.org/drawingml/2006/main" noGrp="1"/>
          </p:cNvSpPr>
          <p:nvPr/>
        </p:nvSpPr>
        <p:spPr>
          <a:xfrm xmlns:a="http://schemas.openxmlformats.org/drawingml/2006/main">
            <a:off x="609600" y="619125"/>
            <a:ext cx="109537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buNone/>
              <a:defRPr sz="2250" b="1">
                <a:solidFill>
                  <a:srgbClr val="142D45"/>
                </a:solidFill>
                <a:latin typeface="Aptos"/>
                <a:ea typeface="Aptos"/>
                <a:cs typeface="Aptos"/>
              </a:defRPr>
            </a:pPr>
            <a:r>
              <a:rPr sz="2250" b="1">
                <a:solidFill>
                  <a:srgbClr val="142D45"/>
                </a:solidFill>
                <a:latin typeface="Aptos"/>
                <a:ea typeface="Aptos"/>
                <a:cs typeface="Aptos"/>
              </a:rPr>
              <a:t>17. Placement y tamaño cambian el lower bound</a:t>
            </a:r>
          </a:p>
        </p:txBody>
      </p:sp>
      <p:sp>
        <p:nvSpPr>
          <p:cNvPr id="4" name="slide-subtitle">
            <a:extLst xmlns:a="http://schemas.openxmlformats.org/drawingml/2006/main">
              <a:ext uri="{FF2B5EF4-FFF2-40B4-BE49-F238E27FC236}">
                <a16:creationId xmlns:a16="http://schemas.microsoft.com/office/drawing/2014/main" id="{B1939CF1-8C80-4F1A-88D6-61D0DD5BAE2E}"/>
              </a:ext>
            </a:extLst>
          </p:cNvPr>
          <p:cNvSpPr>
            <a:spLocks xmlns:a="http://schemas.openxmlformats.org/drawingml/2006/main" noGrp="1"/>
          </p:cNvSpPr>
          <p:nvPr/>
        </p:nvSpPr>
        <p:spPr>
          <a:xfrm xmlns:a="http://schemas.openxmlformats.org/drawingml/2006/main">
            <a:off x="647700" y="1219200"/>
            <a:ext cx="10858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buNone/>
              <a:defRPr sz="1200">
                <a:solidFill>
                  <a:srgbClr val="34485D"/>
                </a:solidFill>
                <a:latin typeface="Aptos"/>
                <a:ea typeface="Aptos"/>
                <a:cs typeface="Aptos"/>
              </a:defRPr>
            </a:pPr>
            <a:r>
              <a:rPr sz="1200">
                <a:solidFill>
                  <a:srgbClr val="34485D"/>
                </a:solidFill>
                <a:latin typeface="Aptos"/>
                <a:ea typeface="Aptos"/>
                <a:cs typeface="Aptos"/>
              </a:rPr>
              <a:t>Matriz controlada: cuatro comparaciones entre workers y una variación del tamaño para process.</a:t>
            </a:r>
          </a:p>
        </p:txBody>
      </p:sp>
      <p:sp>
        <p:nvSpPr>
          <p:cNvPr id="5" name="editorial-rule">
            <a:extLst xmlns:a="http://schemas.openxmlformats.org/drawingml/2006/main">
              <a:ext uri="{FF2B5EF4-FFF2-40B4-BE49-F238E27FC236}">
                <a16:creationId xmlns:a16="http://schemas.microsoft.com/office/drawing/2014/main" id="{BDA25B33-1DF7-4751-B546-73D724D57A94}"/>
              </a:ext>
            </a:extLst>
          </p:cNvPr>
          <p:cNvSpPr>
            <a:spLocks xmlns:a="http://schemas.openxmlformats.org/drawingml/2006/main" noGrp="1"/>
          </p:cNvSpPr>
          <p:nvPr/>
        </p:nvSpPr>
        <p:spPr>
          <a:xfrm xmlns:a="http://schemas.openxmlformats.org/drawingml/2006/main">
            <a:off x="495300" y="6448425"/>
            <a:ext cx="11201400" cy="11430"/>
          </a:xfrm>
          <a:prstGeom xmlns:a="http://schemas.openxmlformats.org/drawingml/2006/main" prst="rect">
            <a:avLst/>
          </a:prstGeom>
          <a:solidFill xmlns:a="http://schemas.openxmlformats.org/drawingml/2006/main">
            <a:srgbClr val="CBD5E1"/>
          </a:solidFill>
          <a:ln xmlns:a="http://schemas.openxmlformats.org/drawingml/2006/main" w="0">
            <a:solidFill>
              <a:srgbClr val="CBD5E1"/>
            </a:solidFill>
            <a:prstDash val="solid"/>
          </a:ln>
        </p:spPr>
      </p:sp>
      <p:sp>
        <p:nvSpPr>
          <p:cNvPr id="6" name="footer-label">
            <a:extLst xmlns:a="http://schemas.openxmlformats.org/drawingml/2006/main">
              <a:ext uri="{FF2B5EF4-FFF2-40B4-BE49-F238E27FC236}">
                <a16:creationId xmlns:a16="http://schemas.microsoft.com/office/drawing/2014/main" id="{8A3D8B31-0A91-4DE3-ABFC-134F2C2E8D39}"/>
              </a:ext>
            </a:extLst>
          </p:cNvPr>
          <p:cNvSpPr>
            <a:spLocks xmlns:a="http://schemas.openxmlformats.org/drawingml/2006/main" noGrp="1"/>
          </p:cNvSpPr>
          <p:nvPr/>
        </p:nvSpPr>
        <p:spPr>
          <a:xfrm xmlns:a="http://schemas.openxmlformats.org/drawingml/2006/main">
            <a:off x="590550" y="6496050"/>
            <a:ext cx="9620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buNone/>
              <a:defRPr sz="750">
                <a:solidFill>
                  <a:srgbClr val="64748B"/>
                </a:solidFill>
                <a:latin typeface="Aptos"/>
                <a:ea typeface="Aptos"/>
                <a:cs typeface="Aptos"/>
              </a:defRPr>
            </a:pPr>
            <a:r>
              <a:rPr sz="750">
                <a:solidFill>
                  <a:srgbClr val="64748B"/>
                </a:solidFill>
                <a:latin typeface="Aptos"/>
                <a:ea typeface="Aptos"/>
                <a:cs typeface="Aptos"/>
              </a:rPr>
              <a:t>Validación · sensibilidad observada</a:t>
            </a:r>
          </a:p>
        </p:txBody>
      </p:sp>
      <p:sp>
        <p:nvSpPr>
          <p:cNvPr id="7" name="folio">
            <a:extLst xmlns:a="http://schemas.openxmlformats.org/drawingml/2006/main">
              <a:ext uri="{FF2B5EF4-FFF2-40B4-BE49-F238E27FC236}">
                <a16:creationId xmlns:a16="http://schemas.microsoft.com/office/drawing/2014/main" id="{C9BF10EF-EEA2-4D26-B761-EC3684790E7D}"/>
              </a:ext>
            </a:extLst>
          </p:cNvPr>
          <p:cNvSpPr>
            <a:spLocks xmlns:a="http://schemas.openxmlformats.org/drawingml/2006/main" noGrp="1"/>
          </p:cNvSpPr>
          <p:nvPr/>
        </p:nvSpPr>
        <p:spPr>
          <a:xfrm xmlns:a="http://schemas.openxmlformats.org/drawingml/2006/main">
            <a:off x="11201400" y="6496050"/>
            <a:ext cx="4572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r">
              <a:buNone/>
              <a:defRPr sz="750">
                <a:solidFill>
                  <a:srgbClr val="64748B"/>
                </a:solidFill>
                <a:latin typeface="Aptos"/>
                <a:ea typeface="Aptos"/>
                <a:cs typeface="Aptos"/>
              </a:defRPr>
            </a:pPr>
            <a:r>
              <a:rPr sz="750">
                <a:solidFill>
                  <a:srgbClr val="64748B"/>
                </a:solidFill>
                <a:latin typeface="Aptos"/>
                <a:ea typeface="Aptos"/>
                <a:cs typeface="Aptos"/>
              </a:rPr>
              <a:t>18</a:t>
            </a:r>
          </a:p>
        </p:txBody>
      </p:sp>
      <p:graphicFrame>
        <p:nvGraphicFramePr>
          <p:cNvPr id="20" name=""/>
          <p:cNvGraphicFramePr/>
          <p:nvPr/>
        </p:nvGraphicFramePr>
        <p:xfrm>
          <a:off xmlns:a="http://schemas.openxmlformats.org/drawingml/2006/main" x="762000" y="1809750"/>
          <a:ext xmlns:a="http://schemas.openxmlformats.org/drawingml/2006/main" cx="10668000" cy="3486150"/>
        </p:xfrm>
        <a:graphic xmlns:a="http://schemas.openxmlformats.org/drawingml/2006/main">
          <a:graphicData uri="http://schemas.openxmlformats.org/drawingml/2006/table">
            <a:tbl>
              <a:tblPr firstRow="1" bandRow="1"/>
              <a:tblGrid>
                <a:gridCol w="2428875"/>
                <a:gridCol w="3048000"/>
                <a:gridCol w="3190875"/>
                <a:gridCol w="2000250"/>
              </a:tblGrid>
              <a:tr h="581025">
                <a:tc>
                  <a:txBody>
                    <a:bodyPr wrap="square">
                      <a:normAutofit/>
                    </a:bodyPr>
                    <a:lstStyle/>
                    <a:p>
                      <a:pPr algn="l">
                        <a:buNone/>
                      </a:pPr>
                      <a:r>
                        <a:rPr sz="1050" b="1">
                          <a:solidFill>
                            <a:srgbClr val="FFFFFF"/>
                          </a:solidFill>
                          <a:latin typeface="Aptos"/>
                          <a:ea typeface="Aptos"/>
                          <a:cs typeface="Aptos"/>
                        </a:rPr>
                        <a:t>Factor / patrón</a:t>
                      </a:r>
                    </a:p>
                  </a:txBody>
                  <a:tcPr marL="91440" marR="91440" marT="45720" marB="45720" anchor="ctr">
                    <a:solidFill>
                      <a:srgbClr val="6D28D9"/>
                    </a:solidFill>
                  </a:tcPr>
                </a:tc>
                <a:tc>
                  <a:txBody>
                    <a:bodyPr wrap="square">
                      <a:normAutofit/>
                    </a:bodyPr>
                    <a:lstStyle/>
                    <a:p>
                      <a:pPr algn="ctr">
                        <a:buNone/>
                      </a:pPr>
                      <a:r>
                        <a:rPr sz="1050" b="1">
                          <a:solidFill>
                            <a:srgbClr val="FFFFFF"/>
                          </a:solidFill>
                          <a:latin typeface="Aptos"/>
                          <a:ea typeface="Aptos"/>
                          <a:cs typeface="Aptos"/>
                        </a:rPr>
                        <a:t>Base</a:t>
                      </a:r>
                    </a:p>
                  </a:txBody>
                  <a:tcPr marL="91440" marR="91440" marT="45720" marB="45720" anchor="ctr">
                    <a:solidFill>
                      <a:srgbClr val="6D28D9"/>
                    </a:solidFill>
                  </a:tcPr>
                </a:tc>
                <a:tc>
                  <a:txBody>
                    <a:bodyPr wrap="square">
                      <a:normAutofit/>
                    </a:bodyPr>
                    <a:lstStyle/>
                    <a:p>
                      <a:pPr algn="ctr">
                        <a:buNone/>
                      </a:pPr>
                      <a:r>
                        <a:rPr sz="1050" b="1">
                          <a:solidFill>
                            <a:srgbClr val="FFFFFF"/>
                          </a:solidFill>
                          <a:latin typeface="Aptos"/>
                          <a:ea typeface="Aptos"/>
                          <a:cs typeface="Aptos"/>
                        </a:rPr>
                        <a:t>Variante</a:t>
                      </a:r>
                    </a:p>
                  </a:txBody>
                  <a:tcPr marL="91440" marR="91440" marT="45720" marB="45720" anchor="ctr">
                    <a:solidFill>
                      <a:srgbClr val="6D28D9"/>
                    </a:solidFill>
                  </a:tcPr>
                </a:tc>
                <a:tc>
                  <a:txBody>
                    <a:bodyPr wrap="square">
                      <a:normAutofit/>
                    </a:bodyPr>
                    <a:lstStyle/>
                    <a:p>
                      <a:pPr algn="ctr">
                        <a:buNone/>
                      </a:pPr>
                      <a:r>
                        <a:rPr sz="1050" b="1">
                          <a:solidFill>
                            <a:srgbClr val="FFFFFF"/>
                          </a:solidFill>
                          <a:latin typeface="Aptos"/>
                          <a:ea typeface="Aptos"/>
                          <a:cs typeface="Aptos"/>
                        </a:rPr>
                        <a:t>DME base → variante</a:t>
                      </a:r>
                    </a:p>
                  </a:txBody>
                  <a:tcPr marL="91440" marR="91440" marT="45720" marB="45720" anchor="ctr">
                    <a:solidFill>
                      <a:srgbClr val="6D28D9"/>
                    </a:solidFill>
                  </a:tcPr>
                </a:tc>
              </a:tr>
              <a:tr h="581025">
                <a:tc>
                  <a:txBody>
                    <a:bodyPr wrap="square">
                      <a:normAutofit/>
                    </a:bodyPr>
                    <a:lstStyle/>
                    <a:p>
                      <a:pPr algn="l">
                        <a:buNone/>
                      </a:pPr>
                      <a:r>
                        <a:rPr sz="1050" b="1">
                          <a:solidFill>
                            <a:srgbClr val="142D45"/>
                          </a:solidFill>
                          <a:latin typeface="Aptos"/>
                          <a:ea typeface="Aptos"/>
                          <a:cs typeface="Aptos"/>
                        </a:rPr>
                        <a:t>Pipeline · placement</a:t>
                      </a:r>
                    </a:p>
                  </a:txBody>
                  <a:tcPr marL="91440" marR="91440" marT="45720" marB="45720" anchor="ctr">
                    <a:solidFill>
                      <a:srgbClr val="FFFFFF"/>
                    </a:solidFill>
                  </a:tcPr>
                </a:tc>
                <a:tc>
                  <a:txBody>
                    <a:bodyPr wrap="square">
                      <a:normAutofit/>
                    </a:bodyPr>
                    <a:lstStyle/>
                    <a:p>
                      <a:pPr algn="ctr">
                        <a:buNone/>
                      </a:pPr>
                      <a:r>
                        <a:rPr sz="1050" b="0">
                          <a:solidFill>
                            <a:srgbClr val="142D45"/>
                          </a:solidFill>
                          <a:latin typeface="Aptos"/>
                          <a:ea typeface="Aptos"/>
                          <a:cs typeface="Aptos"/>
                        </a:rPr>
                        <a:t>Mreq 20 · Mrec=Mobs 60</a:t>
                      </a:r>
                    </a:p>
                  </a:txBody>
                  <a:tcPr marL="91440" marR="91440" marT="45720" marB="45720" anchor="ctr">
                    <a:solidFill>
                      <a:srgbClr val="FFFFFF"/>
                    </a:solidFill>
                  </a:tcPr>
                </a:tc>
                <a:tc>
                  <a:txBody>
                    <a:bodyPr wrap="square">
                      <a:normAutofit/>
                    </a:bodyPr>
                    <a:lstStyle/>
                    <a:p>
                      <a:pPr algn="ctr">
                        <a:buNone/>
                      </a:pPr>
                      <a:r>
                        <a:rPr sz="1050" b="0">
                          <a:solidFill>
                            <a:srgbClr val="142D45"/>
                          </a:solidFill>
                          <a:latin typeface="Aptos"/>
                          <a:ea typeface="Aptos"/>
                          <a:cs typeface="Aptos"/>
                        </a:rPr>
                        <a:t>Mreq 40 · Mrec=Mobs 60</a:t>
                      </a:r>
                    </a:p>
                  </a:txBody>
                  <a:tcPr marL="91440" marR="91440" marT="45720" marB="45720" anchor="ctr">
                    <a:solidFill>
                      <a:srgbClr val="FFFFFF"/>
                    </a:solidFill>
                  </a:tcPr>
                </a:tc>
                <a:tc>
                  <a:txBody>
                    <a:bodyPr wrap="square">
                      <a:normAutofit/>
                    </a:bodyPr>
                    <a:lstStyle/>
                    <a:p>
                      <a:pPr algn="ctr">
                        <a:buNone/>
                      </a:pPr>
                      <a:r>
                        <a:rPr sz="1050" b="0">
                          <a:solidFill>
                            <a:srgbClr val="142D45"/>
                          </a:solidFill>
                          <a:latin typeface="Aptos"/>
                          <a:ea typeface="Aptos"/>
                          <a:cs typeface="Aptos"/>
                        </a:rPr>
                        <a:t>0.333 → 0.667</a:t>
                      </a:r>
                    </a:p>
                  </a:txBody>
                  <a:tcPr marL="91440" marR="91440" marT="45720" marB="45720" anchor="ctr">
                    <a:solidFill>
                      <a:srgbClr val="FFFFFF"/>
                    </a:solidFill>
                  </a:tcPr>
                </a:tc>
              </a:tr>
              <a:tr h="581025">
                <a:tc>
                  <a:txBody>
                    <a:bodyPr wrap="square">
                      <a:normAutofit/>
                    </a:bodyPr>
                    <a:lstStyle/>
                    <a:p>
                      <a:pPr algn="l">
                        <a:buNone/>
                      </a:pPr>
                      <a:r>
                        <a:rPr sz="1050" b="1">
                          <a:solidFill>
                            <a:srgbClr val="142D45"/>
                          </a:solidFill>
                          <a:latin typeface="Aptos"/>
                          <a:ea typeface="Aptos"/>
                          <a:cs typeface="Aptos"/>
                        </a:rPr>
                        <a:t>Data distribution · placement</a:t>
                      </a:r>
                    </a:p>
                  </a:txBody>
                  <a:tcPr marL="91440" marR="91440" marT="45720" marB="45720" anchor="ctr">
                    <a:solidFill>
                      <a:srgbClr val="F1F5F9"/>
                    </a:solidFill>
                  </a:tcPr>
                </a:tc>
                <a:tc>
                  <a:txBody>
                    <a:bodyPr wrap="square">
                      <a:normAutofit/>
                    </a:bodyPr>
                    <a:lstStyle/>
                    <a:p>
                      <a:pPr algn="ctr">
                        <a:buNone/>
                      </a:pPr>
                      <a:r>
                        <a:rPr sz="1050" b="0">
                          <a:solidFill>
                            <a:srgbClr val="142D45"/>
                          </a:solidFill>
                          <a:latin typeface="Aptos"/>
                          <a:ea typeface="Aptos"/>
                          <a:cs typeface="Aptos"/>
                        </a:rPr>
                        <a:t>Mreq 20 · Mrec=Mobs 40</a:t>
                      </a:r>
                    </a:p>
                  </a:txBody>
                  <a:tcPr marL="91440" marR="91440" marT="45720" marB="45720" anchor="ctr">
                    <a:solidFill>
                      <a:srgbClr val="F1F5F9"/>
                    </a:solidFill>
                  </a:tcPr>
                </a:tc>
                <a:tc>
                  <a:txBody>
                    <a:bodyPr wrap="square">
                      <a:normAutofit/>
                    </a:bodyPr>
                    <a:lstStyle/>
                    <a:p>
                      <a:pPr algn="ctr">
                        <a:buNone/>
                      </a:pPr>
                      <a:r>
                        <a:rPr sz="1050" b="0">
                          <a:solidFill>
                            <a:srgbClr val="142D45"/>
                          </a:solidFill>
                          <a:latin typeface="Aptos"/>
                          <a:ea typeface="Aptos"/>
                          <a:cs typeface="Aptos"/>
                        </a:rPr>
                        <a:t>Mreq 30 · Mrec=Mobs 40</a:t>
                      </a:r>
                    </a:p>
                  </a:txBody>
                  <a:tcPr marL="91440" marR="91440" marT="45720" marB="45720" anchor="ctr">
                    <a:solidFill>
                      <a:srgbClr val="F1F5F9"/>
                    </a:solidFill>
                  </a:tcPr>
                </a:tc>
                <a:tc>
                  <a:txBody>
                    <a:bodyPr wrap="square">
                      <a:normAutofit/>
                    </a:bodyPr>
                    <a:lstStyle/>
                    <a:p>
                      <a:pPr algn="ctr">
                        <a:buNone/>
                      </a:pPr>
                      <a:r>
                        <a:rPr sz="1050" b="0">
                          <a:solidFill>
                            <a:srgbClr val="142D45"/>
                          </a:solidFill>
                          <a:latin typeface="Aptos"/>
                          <a:ea typeface="Aptos"/>
                          <a:cs typeface="Aptos"/>
                        </a:rPr>
                        <a:t>0.500 → 0.750</a:t>
                      </a:r>
                    </a:p>
                  </a:txBody>
                  <a:tcPr marL="91440" marR="91440" marT="45720" marB="45720" anchor="ctr">
                    <a:solidFill>
                      <a:srgbClr val="F1F5F9"/>
                    </a:solidFill>
                  </a:tcPr>
                </a:tc>
              </a:tr>
              <a:tr h="581025">
                <a:tc>
                  <a:txBody>
                    <a:bodyPr wrap="square">
                      <a:normAutofit/>
                    </a:bodyPr>
                    <a:lstStyle/>
                    <a:p>
                      <a:pPr algn="l">
                        <a:buNone/>
                      </a:pPr>
                      <a:r>
                        <a:rPr sz="1050" b="1">
                          <a:solidFill>
                            <a:srgbClr val="142D45"/>
                          </a:solidFill>
                          <a:latin typeface="Aptos"/>
                          <a:ea typeface="Aptos"/>
                          <a:cs typeface="Aptos"/>
                        </a:rPr>
                        <a:t>Data aggregation · placement</a:t>
                      </a:r>
                    </a:p>
                  </a:txBody>
                  <a:tcPr marL="91440" marR="91440" marT="45720" marB="45720" anchor="ctr">
                    <a:solidFill>
                      <a:srgbClr val="FFFFFF"/>
                    </a:solidFill>
                  </a:tcPr>
                </a:tc>
                <a:tc>
                  <a:txBody>
                    <a:bodyPr wrap="square">
                      <a:normAutofit/>
                    </a:bodyPr>
                    <a:lstStyle/>
                    <a:p>
                      <a:pPr algn="ctr">
                        <a:buNone/>
                      </a:pPr>
                      <a:r>
                        <a:rPr sz="1050" b="0">
                          <a:solidFill>
                            <a:srgbClr val="142D45"/>
                          </a:solidFill>
                          <a:latin typeface="Aptos"/>
                          <a:ea typeface="Aptos"/>
                          <a:cs typeface="Aptos"/>
                        </a:rPr>
                        <a:t>Mreq 80 · Mrec=Mobs 160</a:t>
                      </a:r>
                    </a:p>
                  </a:txBody>
                  <a:tcPr marL="91440" marR="91440" marT="45720" marB="45720" anchor="ctr">
                    <a:solidFill>
                      <a:srgbClr val="FFFFFF"/>
                    </a:solidFill>
                  </a:tcPr>
                </a:tc>
                <a:tc>
                  <a:txBody>
                    <a:bodyPr wrap="square">
                      <a:normAutofit/>
                    </a:bodyPr>
                    <a:lstStyle/>
                    <a:p>
                      <a:pPr algn="ctr">
                        <a:buNone/>
                      </a:pPr>
                      <a:r>
                        <a:rPr sz="1050" b="0">
                          <a:solidFill>
                            <a:srgbClr val="142D45"/>
                          </a:solidFill>
                          <a:latin typeface="Aptos"/>
                          <a:ea typeface="Aptos"/>
                          <a:cs typeface="Aptos"/>
                        </a:rPr>
                        <a:t>Mreq 120 · Mrec=Mobs 160</a:t>
                      </a:r>
                    </a:p>
                  </a:txBody>
                  <a:tcPr marL="91440" marR="91440" marT="45720" marB="45720" anchor="ctr">
                    <a:solidFill>
                      <a:srgbClr val="FFFFFF"/>
                    </a:solidFill>
                  </a:tcPr>
                </a:tc>
                <a:tc>
                  <a:txBody>
                    <a:bodyPr wrap="square">
                      <a:normAutofit/>
                    </a:bodyPr>
                    <a:lstStyle/>
                    <a:p>
                      <a:pPr algn="ctr">
                        <a:buNone/>
                      </a:pPr>
                      <a:r>
                        <a:rPr sz="1050" b="0">
                          <a:solidFill>
                            <a:srgbClr val="142D45"/>
                          </a:solidFill>
                          <a:latin typeface="Aptos"/>
                          <a:ea typeface="Aptos"/>
                          <a:cs typeface="Aptos"/>
                        </a:rPr>
                        <a:t>0.500 → 0.750</a:t>
                      </a:r>
                    </a:p>
                  </a:txBody>
                  <a:tcPr marL="91440" marR="91440" marT="45720" marB="45720" anchor="ctr">
                    <a:solidFill>
                      <a:srgbClr val="FFFFFF"/>
                    </a:solidFill>
                  </a:tcPr>
                </a:tc>
              </a:tr>
              <a:tr h="581025">
                <a:tc>
                  <a:txBody>
                    <a:bodyPr wrap="square">
                      <a:normAutofit/>
                    </a:bodyPr>
                    <a:lstStyle/>
                    <a:p>
                      <a:pPr algn="l">
                        <a:buNone/>
                      </a:pPr>
                      <a:r>
                        <a:rPr sz="1050" b="1">
                          <a:solidFill>
                            <a:srgbClr val="142D45"/>
                          </a:solidFill>
                          <a:latin typeface="Aptos"/>
                          <a:ea typeface="Aptos"/>
                          <a:cs typeface="Aptos"/>
                        </a:rPr>
                        <a:t>Data redistribution · placement</a:t>
                      </a:r>
                    </a:p>
                  </a:txBody>
                  <a:tcPr marL="91440" marR="91440" marT="45720" marB="45720" anchor="ctr">
                    <a:solidFill>
                      <a:srgbClr val="F1F5F9"/>
                    </a:solidFill>
                  </a:tcPr>
                </a:tc>
                <a:tc>
                  <a:txBody>
                    <a:bodyPr wrap="square">
                      <a:normAutofit/>
                    </a:bodyPr>
                    <a:lstStyle/>
                    <a:p>
                      <a:pPr algn="ctr">
                        <a:buNone/>
                      </a:pPr>
                      <a:r>
                        <a:rPr sz="1050" b="0">
                          <a:solidFill>
                            <a:srgbClr val="142D45"/>
                          </a:solidFill>
                          <a:latin typeface="Aptos"/>
                          <a:ea typeface="Aptos"/>
                          <a:cs typeface="Aptos"/>
                        </a:rPr>
                        <a:t>Mreq 80 · Mrec=Mobs 320</a:t>
                      </a:r>
                    </a:p>
                  </a:txBody>
                  <a:tcPr marL="91440" marR="91440" marT="45720" marB="45720" anchor="ctr">
                    <a:solidFill>
                      <a:srgbClr val="F1F5F9"/>
                    </a:solidFill>
                  </a:tcPr>
                </a:tc>
                <a:tc>
                  <a:txBody>
                    <a:bodyPr wrap="square">
                      <a:normAutofit/>
                    </a:bodyPr>
                    <a:lstStyle/>
                    <a:p>
                      <a:pPr algn="ctr">
                        <a:buNone/>
                      </a:pPr>
                      <a:r>
                        <a:rPr sz="1050" b="0">
                          <a:solidFill>
                            <a:srgbClr val="142D45"/>
                          </a:solidFill>
                          <a:latin typeface="Aptos"/>
                          <a:ea typeface="Aptos"/>
                          <a:cs typeface="Aptos"/>
                        </a:rPr>
                        <a:t>Mreq 200 · Mrec=Mobs 320</a:t>
                      </a:r>
                    </a:p>
                  </a:txBody>
                  <a:tcPr marL="91440" marR="91440" marT="45720" marB="45720" anchor="ctr">
                    <a:solidFill>
                      <a:srgbClr val="F1F5F9"/>
                    </a:solidFill>
                  </a:tcPr>
                </a:tc>
                <a:tc>
                  <a:txBody>
                    <a:bodyPr wrap="square">
                      <a:normAutofit/>
                    </a:bodyPr>
                    <a:lstStyle/>
                    <a:p>
                      <a:pPr algn="ctr">
                        <a:buNone/>
                      </a:pPr>
                      <a:r>
                        <a:rPr sz="1050" b="0">
                          <a:solidFill>
                            <a:srgbClr val="142D45"/>
                          </a:solidFill>
                          <a:latin typeface="Aptos"/>
                          <a:ea typeface="Aptos"/>
                          <a:cs typeface="Aptos"/>
                        </a:rPr>
                        <a:t>0.250 → 0.625</a:t>
                      </a:r>
                    </a:p>
                  </a:txBody>
                  <a:tcPr marL="91440" marR="91440" marT="45720" marB="45720" anchor="ctr">
                    <a:solidFill>
                      <a:srgbClr val="F1F5F9"/>
                    </a:solidFill>
                  </a:tcPr>
                </a:tc>
              </a:tr>
              <a:tr h="581025">
                <a:tc>
                  <a:txBody>
                    <a:bodyPr wrap="square">
                      <a:normAutofit/>
                    </a:bodyPr>
                    <a:lstStyle/>
                    <a:p>
                      <a:pPr algn="l">
                        <a:buNone/>
                      </a:pPr>
                      <a:r>
                        <a:rPr sz="1050" b="1">
                          <a:solidFill>
                            <a:srgbClr val="142D45"/>
                          </a:solidFill>
                          <a:latin typeface="Aptos"/>
                          <a:ea typeface="Aptos"/>
                          <a:cs typeface="Aptos"/>
                        </a:rPr>
                        <a:t>Process · input 10 → 20 MiB</a:t>
                      </a:r>
                    </a:p>
                  </a:txBody>
                  <a:tcPr marL="91440" marR="91440" marT="45720" marB="45720" anchor="ctr">
                    <a:solidFill>
                      <a:srgbClr val="FFFFFF"/>
                    </a:solidFill>
                  </a:tcPr>
                </a:tc>
                <a:tc>
                  <a:txBody>
                    <a:bodyPr wrap="square">
                      <a:normAutofit/>
                    </a:bodyPr>
                    <a:lstStyle/>
                    <a:p>
                      <a:pPr algn="ctr">
                        <a:buNone/>
                      </a:pPr>
                      <a:r>
                        <a:rPr sz="1050" b="0">
                          <a:solidFill>
                            <a:srgbClr val="142D45"/>
                          </a:solidFill>
                          <a:latin typeface="Aptos"/>
                          <a:ea typeface="Aptos"/>
                          <a:cs typeface="Aptos"/>
                        </a:rPr>
                        <a:t>Mreq=Mobs 20 · DME 1</a:t>
                      </a:r>
                    </a:p>
                  </a:txBody>
                  <a:tcPr marL="91440" marR="91440" marT="45720" marB="45720" anchor="ctr">
                    <a:solidFill>
                      <a:srgbClr val="FFFFFF"/>
                    </a:solidFill>
                  </a:tcPr>
                </a:tc>
                <a:tc>
                  <a:txBody>
                    <a:bodyPr wrap="square">
                      <a:normAutofit/>
                    </a:bodyPr>
                    <a:lstStyle/>
                    <a:p>
                      <a:pPr algn="ctr">
                        <a:buNone/>
                      </a:pPr>
                      <a:r>
                        <a:rPr sz="1050" b="0">
                          <a:solidFill>
                            <a:srgbClr val="142D45"/>
                          </a:solidFill>
                          <a:latin typeface="Aptos"/>
                          <a:ea typeface="Aptos"/>
                          <a:cs typeface="Aptos"/>
                        </a:rPr>
                        <a:t>Mreq=Mobs 40 · DME 1</a:t>
                      </a:r>
                    </a:p>
                  </a:txBody>
                  <a:tcPr marL="91440" marR="91440" marT="45720" marB="45720" anchor="ctr">
                    <a:solidFill>
                      <a:srgbClr val="FFFFFF"/>
                    </a:solidFill>
                  </a:tcPr>
                </a:tc>
                <a:tc>
                  <a:txBody>
                    <a:bodyPr wrap="square">
                      <a:normAutofit/>
                    </a:bodyPr>
                    <a:lstStyle/>
                    <a:p>
                      <a:pPr algn="ctr">
                        <a:buNone/>
                      </a:pPr>
                      <a:r>
                        <a:rPr sz="1050" b="0">
                          <a:solidFill>
                            <a:srgbClr val="142D45"/>
                          </a:solidFill>
                          <a:latin typeface="Aptos"/>
                          <a:ea typeface="Aptos"/>
                          <a:cs typeface="Aptos"/>
                        </a:rPr>
                        <a:t>DME permanece 1</a:t>
                      </a:r>
                    </a:p>
                  </a:txBody>
                  <a:tcPr marL="91440" marR="91440" marT="45720" marB="45720" anchor="ctr">
                    <a:solidFill>
                      <a:srgbClr val="FFFFFF"/>
                    </a:solidFill>
                  </a:tcPr>
                </a:tc>
              </a:tr>
            </a:tbl>
          </a:graphicData>
        </a:graphic>
      </p:graphicFrame>
      <p:sp>
        <p:nvSpPr>
          <p:cNvPr id="9" name="placement-interpretation">
            <a:extLst xmlns:a="http://schemas.openxmlformats.org/drawingml/2006/main">
              <a:ext uri="{FF2B5EF4-FFF2-40B4-BE49-F238E27FC236}">
                <a16:creationId xmlns:a16="http://schemas.microsoft.com/office/drawing/2014/main" id="{B54C9F26-30F0-4767-B2B9-4D2848B189A3}"/>
              </a:ext>
            </a:extLst>
          </p:cNvPr>
          <p:cNvSpPr>
            <a:spLocks xmlns:a="http://schemas.openxmlformats.org/drawingml/2006/main" noGrp="1"/>
          </p:cNvSpPr>
          <p:nvPr/>
        </p:nvSpPr>
        <p:spPr>
          <a:xfrm xmlns:a="http://schemas.openxmlformats.org/drawingml/2006/main">
            <a:off x="866775" y="5419725"/>
            <a:ext cx="1045845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buNone/>
              <a:defRPr sz="1125">
                <a:solidFill>
                  <a:srgbClr val="142D45"/>
                </a:solidFill>
                <a:latin typeface="Aptos"/>
                <a:ea typeface="Aptos"/>
                <a:cs typeface="Aptos"/>
              </a:defRPr>
            </a:pPr>
            <a:r>
              <a:rPr sz="1125">
                <a:solidFill>
                  <a:srgbClr val="142D45"/>
                </a:solidFill>
                <a:latin typeface="Aptos"/>
                <a:ea typeface="Aptos"/>
                <a:cs typeface="Aptos"/>
              </a:rPr>
              <a:t>Al cambiar el placement, Mreq refleja las ubicaciones observadas; Mrec y Mobs permanecen constantes dentro de cada patrón. Al duplicar el input de process, Mreq y Mobs se duplican.</a:t>
            </a:r>
          </a:p>
        </p:txBody>
      </p:sp>
      <p:sp>
        <p:nvSpPr>
          <p:cNvPr id="10" name="replication-limit">
            <a:extLst xmlns:a="http://schemas.openxmlformats.org/drawingml/2006/main">
              <a:ext uri="{FF2B5EF4-FFF2-40B4-BE49-F238E27FC236}">
                <a16:creationId xmlns:a16="http://schemas.microsoft.com/office/drawing/2014/main" id="{F578AF89-8F21-43C3-ADD4-53EC5331936E}"/>
              </a:ext>
            </a:extLst>
          </p:cNvPr>
          <p:cNvSpPr>
            <a:spLocks xmlns:a="http://schemas.openxmlformats.org/drawingml/2006/main" noGrp="1"/>
          </p:cNvSpPr>
          <p:nvPr/>
        </p:nvSpPr>
        <p:spPr>
          <a:xfrm xmlns:a="http://schemas.openxmlformats.org/drawingml/2006/main">
            <a:off x="866775" y="5886450"/>
            <a:ext cx="104584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buNone/>
              <a:defRPr sz="975">
                <a:solidFill>
                  <a:srgbClr val="64748B"/>
                </a:solidFill>
                <a:latin typeface="Aptos"/>
                <a:ea typeface="Aptos"/>
                <a:cs typeface="Aptos"/>
              </a:defRPr>
            </a:pPr>
            <a:r>
              <a:rPr sz="975">
                <a:solidFill>
                  <a:srgbClr val="64748B"/>
                </a:solidFill>
                <a:latin typeface="Aptos"/>
                <a:ea typeface="Aptos"/>
                <a:cs typeface="Aptos"/>
              </a:rPr>
              <a:t>31 workflows válidos · al menos 3 por condición (4 para process 10 MiB). Variabilidad descriptiva.</a:t>
            </a:r>
          </a:p>
        </p:txBody>
      </p:sp>
    </p:spTree>
    <p:extLst>
      <p:ext uri="{BB962C8B-B14F-4D97-AF65-F5344CB8AC3E}">
        <p14:creationId xmlns:p14="http://schemas.microsoft.com/office/powerpoint/2010/main" val="1445951146"/>
      </p:ext>
    </p:extLst>
  </p:cSld>
</p:sld>
</file>

<file path=ppt/slides/slide19.xml><?xml version="1.0" encoding="utf-8"?>
<p:sld xmlns:p="http://schemas.openxmlformats.org/presentationml/2006/main">
  <p:cSld>
    <p:spTree>
      <p:nvGrpSpPr>
        <p:cNvPr id="1" name=""/>
        <p:cNvGrpSpPr/>
        <p:nvPr/>
      </p:nvGrpSpPr>
      <p:grpSpPr>
        <a:xfrm xmlns:a="http://schemas.openxmlformats.org/drawingml/2006/main"/>
      </p:grpSpPr>
      <p:sp>
        <p:nvSpPr>
          <p:cNvPr id="11" name="section-accent">
            <a:extLst xmlns:a="http://schemas.openxmlformats.org/drawingml/2006/main">
              <a:ext uri="{FF2B5EF4-FFF2-40B4-BE49-F238E27FC236}">
                <a16:creationId xmlns:a16="http://schemas.microsoft.com/office/drawing/2014/main" id="{A739054F-E0DD-445C-A3C9-E6E07D58C1DF}"/>
              </a:ext>
            </a:extLst>
          </p:cNvPr>
          <p:cNvSpPr>
            <a:spLocks xmlns:a="http://schemas.openxmlformats.org/drawingml/2006/main" noGrp="1"/>
          </p:cNvSpPr>
          <p:nvPr/>
        </p:nvSpPr>
        <p:spPr>
          <a:xfrm xmlns:a="http://schemas.openxmlformats.org/drawingml/2006/main">
            <a:off x="0" y="0"/>
            <a:ext cx="12192000" cy="114300"/>
          </a:xfrm>
          <a:prstGeom xmlns:a="http://schemas.openxmlformats.org/drawingml/2006/main" prst="rect">
            <a:avLst/>
          </a:prstGeom>
          <a:solidFill xmlns:a="http://schemas.openxmlformats.org/drawingml/2006/main">
            <a:srgbClr val="6D28D9"/>
          </a:solidFill>
          <a:ln xmlns:a="http://schemas.openxmlformats.org/drawingml/2006/main" w="0">
            <a:solidFill>
              <a:srgbClr val="6D28D9"/>
            </a:solidFill>
            <a:prstDash val="solid"/>
          </a:ln>
        </p:spPr>
      </p:sp>
      <p:sp>
        <p:nvSpPr>
          <p:cNvPr id="2" name="section-label">
            <a:extLst xmlns:a="http://schemas.openxmlformats.org/drawingml/2006/main">
              <a:ext uri="{FF2B5EF4-FFF2-40B4-BE49-F238E27FC236}">
                <a16:creationId xmlns:a16="http://schemas.microsoft.com/office/drawing/2014/main" id="{A5F69811-04AC-4544-9733-8430A791D632}"/>
              </a:ext>
            </a:extLst>
          </p:cNvPr>
          <p:cNvSpPr>
            <a:spLocks xmlns:a="http://schemas.openxmlformats.org/drawingml/2006/main" noGrp="1"/>
          </p:cNvSpPr>
          <p:nvPr/>
        </p:nvSpPr>
        <p:spPr>
          <a:xfrm xmlns:a="http://schemas.openxmlformats.org/drawingml/2006/main">
            <a:off x="647700" y="352425"/>
            <a:ext cx="10668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buNone/>
              <a:defRPr sz="825" b="1">
                <a:solidFill>
                  <a:srgbClr val="6D28D9"/>
                </a:solidFill>
                <a:latin typeface="Aptos"/>
                <a:ea typeface="Aptos"/>
                <a:cs typeface="Aptos"/>
              </a:defRPr>
            </a:pPr>
            <a:r>
              <a:rPr sz="825" b="1">
                <a:solidFill>
                  <a:srgbClr val="6D28D9"/>
                </a:solidFill>
                <a:latin typeface="Aptos"/>
                <a:ea typeface="Aptos"/>
                <a:cs typeface="Aptos"/>
              </a:rPr>
              <a:t>VALIDACIÓN · COSTO Y LÍMITES</a:t>
            </a:r>
          </a:p>
        </p:txBody>
      </p:sp>
      <p:sp>
        <p:nvSpPr>
          <p:cNvPr id="3" name="slide-heading">
            <a:extLst xmlns:a="http://schemas.openxmlformats.org/drawingml/2006/main">
              <a:ext uri="{FF2B5EF4-FFF2-40B4-BE49-F238E27FC236}">
                <a16:creationId xmlns:a16="http://schemas.microsoft.com/office/drawing/2014/main" id="{B93BE574-DFEF-4812-B3A5-A935DA3674EB}"/>
              </a:ext>
            </a:extLst>
          </p:cNvPr>
          <p:cNvSpPr>
            <a:spLocks xmlns:a="http://schemas.openxmlformats.org/drawingml/2006/main" noGrp="1"/>
          </p:cNvSpPr>
          <p:nvPr/>
        </p:nvSpPr>
        <p:spPr>
          <a:xfrm xmlns:a="http://schemas.openxmlformats.org/drawingml/2006/main">
            <a:off x="609600" y="619125"/>
            <a:ext cx="109537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buNone/>
              <a:defRPr sz="2250" b="1">
                <a:solidFill>
                  <a:srgbClr val="142D45"/>
                </a:solidFill>
                <a:latin typeface="Aptos"/>
                <a:ea typeface="Aptos"/>
                <a:cs typeface="Aptos"/>
              </a:defRPr>
            </a:pPr>
            <a:r>
              <a:rPr sz="2250" b="1">
                <a:solidFill>
                  <a:srgbClr val="142D45"/>
                </a:solidFill>
                <a:latin typeface="Aptos"/>
                <a:ea typeface="Aptos"/>
                <a:cs typeface="Aptos"/>
              </a:rPr>
              <a:t>18. Costo observado por etapa</a:t>
            </a:r>
          </a:p>
        </p:txBody>
      </p:sp>
      <p:sp>
        <p:nvSpPr>
          <p:cNvPr id="4" name="slide-subtitle">
            <a:extLst xmlns:a="http://schemas.openxmlformats.org/drawingml/2006/main">
              <a:ext uri="{FF2B5EF4-FFF2-40B4-BE49-F238E27FC236}">
                <a16:creationId xmlns:a16="http://schemas.microsoft.com/office/drawing/2014/main" id="{67AD92B6-8DE5-4BB6-A607-6739DA7B6722}"/>
              </a:ext>
            </a:extLst>
          </p:cNvPr>
          <p:cNvSpPr>
            <a:spLocks xmlns:a="http://schemas.openxmlformats.org/drawingml/2006/main" noGrp="1"/>
          </p:cNvSpPr>
          <p:nvPr/>
        </p:nvSpPr>
        <p:spPr>
          <a:xfrm xmlns:a="http://schemas.openxmlformats.org/drawingml/2006/main">
            <a:off x="647700" y="1219200"/>
            <a:ext cx="10858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buNone/>
              <a:defRPr sz="1200">
                <a:solidFill>
                  <a:srgbClr val="34485D"/>
                </a:solidFill>
                <a:latin typeface="Aptos"/>
                <a:ea typeface="Aptos"/>
                <a:cs typeface="Aptos"/>
              </a:defRPr>
            </a:pPr>
            <a:r>
              <a:rPr sz="1200">
                <a:solidFill>
                  <a:srgbClr val="34485D"/>
                </a:solidFill>
                <a:latin typeface="Aptos"/>
                <a:ea typeface="Aptos"/>
                <a:cs typeface="Aptos"/>
              </a:rPr>
              <a:t>Media ± desviación estándar muestral · n = 3 cronometrajes completos por condición. T_total es la ruta mínima para obtener la métrica.</a:t>
            </a:r>
          </a:p>
        </p:txBody>
      </p:sp>
      <p:sp>
        <p:nvSpPr>
          <p:cNvPr id="5" name="editorial-rule">
            <a:extLst xmlns:a="http://schemas.openxmlformats.org/drawingml/2006/main">
              <a:ext uri="{FF2B5EF4-FFF2-40B4-BE49-F238E27FC236}">
                <a16:creationId xmlns:a16="http://schemas.microsoft.com/office/drawing/2014/main" id="{5B696075-BD75-4B28-A502-47D983080113}"/>
              </a:ext>
            </a:extLst>
          </p:cNvPr>
          <p:cNvSpPr>
            <a:spLocks xmlns:a="http://schemas.openxmlformats.org/drawingml/2006/main" noGrp="1"/>
          </p:cNvSpPr>
          <p:nvPr/>
        </p:nvSpPr>
        <p:spPr>
          <a:xfrm xmlns:a="http://schemas.openxmlformats.org/drawingml/2006/main">
            <a:off x="495300" y="6448425"/>
            <a:ext cx="11201400" cy="11430"/>
          </a:xfrm>
          <a:prstGeom xmlns:a="http://schemas.openxmlformats.org/drawingml/2006/main" prst="rect">
            <a:avLst/>
          </a:prstGeom>
          <a:solidFill xmlns:a="http://schemas.openxmlformats.org/drawingml/2006/main">
            <a:srgbClr val="CBD5E1"/>
          </a:solidFill>
          <a:ln xmlns:a="http://schemas.openxmlformats.org/drawingml/2006/main" w="0">
            <a:solidFill>
              <a:srgbClr val="CBD5E1"/>
            </a:solidFill>
            <a:prstDash val="solid"/>
          </a:ln>
        </p:spPr>
      </p:sp>
      <p:sp>
        <p:nvSpPr>
          <p:cNvPr id="6" name="footer-label">
            <a:extLst xmlns:a="http://schemas.openxmlformats.org/drawingml/2006/main">
              <a:ext uri="{FF2B5EF4-FFF2-40B4-BE49-F238E27FC236}">
                <a16:creationId xmlns:a16="http://schemas.microsoft.com/office/drawing/2014/main" id="{F004F826-339E-4599-8B17-54821F8D545D}"/>
              </a:ext>
            </a:extLst>
          </p:cNvPr>
          <p:cNvSpPr>
            <a:spLocks xmlns:a="http://schemas.openxmlformats.org/drawingml/2006/main" noGrp="1"/>
          </p:cNvSpPr>
          <p:nvPr/>
        </p:nvSpPr>
        <p:spPr>
          <a:xfrm xmlns:a="http://schemas.openxmlformats.org/drawingml/2006/main">
            <a:off x="590550" y="6496050"/>
            <a:ext cx="9620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buNone/>
              <a:defRPr sz="750">
                <a:solidFill>
                  <a:srgbClr val="64748B"/>
                </a:solidFill>
                <a:latin typeface="Aptos"/>
                <a:ea typeface="Aptos"/>
                <a:cs typeface="Aptos"/>
              </a:defRPr>
            </a:pPr>
            <a:r>
              <a:rPr sz="750">
                <a:solidFill>
                  <a:srgbClr val="64748B"/>
                </a:solidFill>
                <a:latin typeface="Aptos"/>
                <a:ea typeface="Aptos"/>
                <a:cs typeface="Aptos"/>
              </a:rPr>
              <a:t>Validación · costo desagregado</a:t>
            </a:r>
          </a:p>
        </p:txBody>
      </p:sp>
      <p:sp>
        <p:nvSpPr>
          <p:cNvPr id="7" name="folio">
            <a:extLst xmlns:a="http://schemas.openxmlformats.org/drawingml/2006/main">
              <a:ext uri="{FF2B5EF4-FFF2-40B4-BE49-F238E27FC236}">
                <a16:creationId xmlns:a16="http://schemas.microsoft.com/office/drawing/2014/main" id="{1A7A735E-E333-41A0-8633-08B738EEAB7E}"/>
              </a:ext>
            </a:extLst>
          </p:cNvPr>
          <p:cNvSpPr>
            <a:spLocks xmlns:a="http://schemas.openxmlformats.org/drawingml/2006/main" noGrp="1"/>
          </p:cNvSpPr>
          <p:nvPr/>
        </p:nvSpPr>
        <p:spPr>
          <a:xfrm xmlns:a="http://schemas.openxmlformats.org/drawingml/2006/main">
            <a:off x="11201400" y="6496050"/>
            <a:ext cx="4572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r">
              <a:buNone/>
              <a:defRPr sz="750">
                <a:solidFill>
                  <a:srgbClr val="64748B"/>
                </a:solidFill>
                <a:latin typeface="Aptos"/>
                <a:ea typeface="Aptos"/>
                <a:cs typeface="Aptos"/>
              </a:defRPr>
            </a:pPr>
            <a:r>
              <a:rPr sz="750">
                <a:solidFill>
                  <a:srgbClr val="64748B"/>
                </a:solidFill>
                <a:latin typeface="Aptos"/>
                <a:ea typeface="Aptos"/>
                <a:cs typeface="Aptos"/>
              </a:rPr>
              <a:t>19</a:t>
            </a:r>
          </a:p>
        </p:txBody>
      </p:sp>
      <p:graphicFrame>
        <p:nvGraphicFramePr>
          <p:cNvPr id="20" name=""/>
          <p:cNvGraphicFramePr/>
          <p:nvPr/>
        </p:nvGraphicFramePr>
        <p:xfrm>
          <a:off xmlns:a="http://schemas.openxmlformats.org/drawingml/2006/main" x="762000" y="1724025"/>
          <a:ext xmlns:a="http://schemas.openxmlformats.org/drawingml/2006/main" cx="10668000" cy="3943350"/>
        </p:xfrm>
        <a:graphic xmlns:a="http://schemas.openxmlformats.org/drawingml/2006/main">
          <a:graphicData uri="http://schemas.openxmlformats.org/drawingml/2006/table">
            <a:tbl>
              <a:tblPr firstRow="1" bandRow="1"/>
              <a:tblGrid>
                <a:gridCol w="2381250"/>
                <a:gridCol w="523875"/>
                <a:gridCol w="1952625"/>
                <a:gridCol w="1952625"/>
                <a:gridCol w="1952625"/>
                <a:gridCol w="1905000"/>
              </a:tblGrid>
              <a:tr h="358486">
                <a:tc>
                  <a:txBody>
                    <a:bodyPr wrap="square">
                      <a:normAutofit/>
                    </a:bodyPr>
                    <a:lstStyle/>
                    <a:p>
                      <a:pPr algn="l">
                        <a:buNone/>
                      </a:pPr>
                      <a:r>
                        <a:rPr sz="1088" b="1">
                          <a:solidFill>
                            <a:srgbClr val="FFFFFF"/>
                          </a:solidFill>
                          <a:latin typeface="Aptos"/>
                          <a:ea typeface="Aptos"/>
                          <a:cs typeface="Aptos"/>
                        </a:rPr>
                        <a:t>Condición</a:t>
                      </a:r>
                    </a:p>
                  </a:txBody>
                  <a:tcPr marL="91440" marR="91440" marT="45720" marB="45720" anchor="ctr">
                    <a:solidFill>
                      <a:srgbClr val="6D28D9"/>
                    </a:solidFill>
                  </a:tcPr>
                </a:tc>
                <a:tc>
                  <a:txBody>
                    <a:bodyPr wrap="square">
                      <a:normAutofit/>
                    </a:bodyPr>
                    <a:lstStyle/>
                    <a:p>
                      <a:pPr algn="ctr">
                        <a:buNone/>
                      </a:pPr>
                      <a:r>
                        <a:rPr sz="1088" b="1">
                          <a:solidFill>
                            <a:srgbClr val="FFFFFF"/>
                          </a:solidFill>
                          <a:latin typeface="Aptos"/>
                          <a:ea typeface="Aptos"/>
                          <a:cs typeface="Aptos"/>
                        </a:rPr>
                        <a:t>n</a:t>
                      </a:r>
                    </a:p>
                  </a:txBody>
                  <a:tcPr marL="91440" marR="91440" marT="45720" marB="45720" anchor="ctr">
                    <a:solidFill>
                      <a:srgbClr val="6D28D9"/>
                    </a:solidFill>
                  </a:tcPr>
                </a:tc>
                <a:tc>
                  <a:txBody>
                    <a:bodyPr wrap="square">
                      <a:normAutofit/>
                    </a:bodyPr>
                    <a:lstStyle/>
                    <a:p>
                      <a:pPr algn="ctr">
                        <a:buNone/>
                      </a:pPr>
                      <a:r>
                        <a:rPr sz="1088" b="1">
                          <a:solidFill>
                            <a:srgbClr val="FFFFFF"/>
                          </a:solidFill>
                          <a:latin typeface="Aptos"/>
                          <a:ea typeface="Aptos"/>
                          <a:cs typeface="Aptos"/>
                        </a:rPr>
                        <a:t>T_gen (s) media ± DE</a:t>
                      </a:r>
                    </a:p>
                  </a:txBody>
                  <a:tcPr marL="91440" marR="91440" marT="45720" marB="45720" anchor="ctr">
                    <a:solidFill>
                      <a:srgbClr val="6D28D9"/>
                    </a:solidFill>
                  </a:tcPr>
                </a:tc>
                <a:tc>
                  <a:txBody>
                    <a:bodyPr wrap="square">
                      <a:normAutofit/>
                    </a:bodyPr>
                    <a:lstStyle/>
                    <a:p>
                      <a:pPr algn="ctr">
                        <a:buNone/>
                      </a:pPr>
                      <a:r>
                        <a:rPr sz="1088" b="1">
                          <a:solidFill>
                            <a:srgbClr val="FFFFFF"/>
                          </a:solidFill>
                          <a:latin typeface="Aptos"/>
                          <a:ea typeface="Aptos"/>
                          <a:cs typeface="Aptos"/>
                        </a:rPr>
                        <a:t>T_collect (s) media ± DE</a:t>
                      </a:r>
                    </a:p>
                  </a:txBody>
                  <a:tcPr marL="91440" marR="91440" marT="45720" marB="45720" anchor="ctr">
                    <a:solidFill>
                      <a:srgbClr val="6D28D9"/>
                    </a:solidFill>
                  </a:tcPr>
                </a:tc>
                <a:tc>
                  <a:txBody>
                    <a:bodyPr wrap="square">
                      <a:normAutofit/>
                    </a:bodyPr>
                    <a:lstStyle/>
                    <a:p>
                      <a:pPr algn="ctr">
                        <a:buNone/>
                      </a:pPr>
                      <a:r>
                        <a:rPr sz="1088" b="1">
                          <a:solidFill>
                            <a:srgbClr val="FFFFFF"/>
                          </a:solidFill>
                          <a:latin typeface="Aptos"/>
                          <a:ea typeface="Aptos"/>
                          <a:cs typeface="Aptos"/>
                        </a:rPr>
                        <a:t>T_analyzer (s) media ± DE</a:t>
                      </a:r>
                    </a:p>
                  </a:txBody>
                  <a:tcPr marL="91440" marR="91440" marT="45720" marB="45720" anchor="ctr">
                    <a:solidFill>
                      <a:srgbClr val="6D28D9"/>
                    </a:solidFill>
                  </a:tcPr>
                </a:tc>
                <a:tc>
                  <a:txBody>
                    <a:bodyPr wrap="square">
                      <a:normAutofit/>
                    </a:bodyPr>
                    <a:lstStyle/>
                    <a:p>
                      <a:pPr algn="ctr">
                        <a:buNone/>
                      </a:pPr>
                      <a:r>
                        <a:rPr sz="1088" b="1">
                          <a:solidFill>
                            <a:srgbClr val="FFFFFF"/>
                          </a:solidFill>
                          <a:latin typeface="Aptos"/>
                          <a:ea typeface="Aptos"/>
                          <a:cs typeface="Aptos"/>
                        </a:rPr>
                        <a:t>T_total (s) media ± DE</a:t>
                      </a:r>
                    </a:p>
                  </a:txBody>
                  <a:tcPr marL="91440" marR="91440" marT="45720" marB="45720" anchor="ctr">
                    <a:solidFill>
                      <a:srgbClr val="6D28D9"/>
                    </a:solidFill>
                  </a:tcPr>
                </a:tc>
              </a:tr>
              <a:tr h="358486">
                <a:tc>
                  <a:txBody>
                    <a:bodyPr wrap="square">
                      <a:normAutofit/>
                    </a:bodyPr>
                    <a:lstStyle/>
                    <a:p>
                      <a:pPr algn="l">
                        <a:buNone/>
                      </a:pPr>
                      <a:r>
                        <a:rPr sz="1088" b="1">
                          <a:solidFill>
                            <a:srgbClr val="142D45"/>
                          </a:solidFill>
                          <a:latin typeface="Aptos"/>
                          <a:ea typeface="Aptos"/>
                          <a:cs typeface="Aptos"/>
                        </a:rPr>
                        <a:t>Process · same-w1 · 10 MiB</a:t>
                      </a:r>
                    </a:p>
                  </a:txBody>
                  <a:tcPr marL="91440" marR="91440" marT="45720" marB="45720" anchor="ctr">
                    <a:solidFill>
                      <a:srgbClr val="FFFFFF"/>
                    </a:solidFill>
                  </a:tcPr>
                </a:tc>
                <a:tc>
                  <a:txBody>
                    <a:bodyPr wrap="square">
                      <a:normAutofit/>
                    </a:bodyPr>
                    <a:lstStyle/>
                    <a:p>
                      <a:pPr algn="ctr">
                        <a:buNone/>
                      </a:pPr>
                      <a:r>
                        <a:rPr sz="1088" b="0">
                          <a:solidFill>
                            <a:srgbClr val="142D45"/>
                          </a:solidFill>
                          <a:latin typeface="Aptos"/>
                          <a:ea typeface="Aptos"/>
                          <a:cs typeface="Aptos"/>
                        </a:rPr>
                        <a:t>3</a:t>
                      </a:r>
                    </a:p>
                  </a:txBody>
                  <a:tcPr marL="91440" marR="91440" marT="45720" marB="45720" anchor="ctr">
                    <a:solidFill>
                      <a:srgbClr val="FFFFFF"/>
                    </a:solidFill>
                  </a:tcPr>
                </a:tc>
                <a:tc>
                  <a:txBody>
                    <a:bodyPr wrap="square">
                      <a:normAutofit/>
                    </a:bodyPr>
                    <a:lstStyle/>
                    <a:p>
                      <a:pPr algn="ctr">
                        <a:buNone/>
                      </a:pPr>
                      <a:r>
                        <a:rPr sz="1088" b="0">
                          <a:solidFill>
                            <a:srgbClr val="142D45"/>
                          </a:solidFill>
                          <a:latin typeface="Aptos"/>
                          <a:ea typeface="Aptos"/>
                          <a:cs typeface="Aptos"/>
                        </a:rPr>
                        <a:t>193.877 ± 21.325</a:t>
                      </a:r>
                    </a:p>
                  </a:txBody>
                  <a:tcPr marL="91440" marR="91440" marT="45720" marB="45720" anchor="ctr">
                    <a:solidFill>
                      <a:srgbClr val="FFFFFF"/>
                    </a:solidFill>
                  </a:tcPr>
                </a:tc>
                <a:tc>
                  <a:txBody>
                    <a:bodyPr wrap="square">
                      <a:normAutofit/>
                    </a:bodyPr>
                    <a:lstStyle/>
                    <a:p>
                      <a:pPr algn="ctr">
                        <a:buNone/>
                      </a:pPr>
                      <a:r>
                        <a:rPr sz="1088" b="0">
                          <a:solidFill>
                            <a:srgbClr val="142D45"/>
                          </a:solidFill>
                          <a:latin typeface="Aptos"/>
                          <a:ea typeface="Aptos"/>
                          <a:cs typeface="Aptos"/>
                        </a:rPr>
                        <a:t>2.816 ± 0.688</a:t>
                      </a:r>
                    </a:p>
                  </a:txBody>
                  <a:tcPr marL="91440" marR="91440" marT="45720" marB="45720" anchor="ctr">
                    <a:solidFill>
                      <a:srgbClr val="FFFFFF"/>
                    </a:solidFill>
                  </a:tcPr>
                </a:tc>
                <a:tc>
                  <a:txBody>
                    <a:bodyPr wrap="square">
                      <a:normAutofit/>
                    </a:bodyPr>
                    <a:lstStyle/>
                    <a:p>
                      <a:pPr algn="ctr">
                        <a:buNone/>
                      </a:pPr>
                      <a:r>
                        <a:rPr sz="1088" b="0">
                          <a:solidFill>
                            <a:srgbClr val="142D45"/>
                          </a:solidFill>
                          <a:latin typeface="Aptos"/>
                          <a:ea typeface="Aptos"/>
                          <a:cs typeface="Aptos"/>
                        </a:rPr>
                        <a:t>0.666 ± 0.263</a:t>
                      </a:r>
                    </a:p>
                  </a:txBody>
                  <a:tcPr marL="91440" marR="91440" marT="45720" marB="45720" anchor="ctr">
                    <a:solidFill>
                      <a:srgbClr val="FFFFFF"/>
                    </a:solidFill>
                  </a:tcPr>
                </a:tc>
                <a:tc>
                  <a:txBody>
                    <a:bodyPr wrap="square">
                      <a:normAutofit/>
                    </a:bodyPr>
                    <a:lstStyle/>
                    <a:p>
                      <a:pPr algn="ctr">
                        <a:buNone/>
                      </a:pPr>
                      <a:r>
                        <a:rPr sz="1088" b="0">
                          <a:solidFill>
                            <a:srgbClr val="142D45"/>
                          </a:solidFill>
                          <a:latin typeface="Aptos"/>
                          <a:ea typeface="Aptos"/>
                          <a:cs typeface="Aptos"/>
                        </a:rPr>
                        <a:t>197.359 ± 20.837</a:t>
                      </a:r>
                    </a:p>
                  </a:txBody>
                  <a:tcPr marL="91440" marR="91440" marT="45720" marB="45720" anchor="ctr">
                    <a:solidFill>
                      <a:srgbClr val="FFFFFF"/>
                    </a:solidFill>
                  </a:tcPr>
                </a:tc>
              </a:tr>
              <a:tr h="358486">
                <a:tc>
                  <a:txBody>
                    <a:bodyPr wrap="square">
                      <a:normAutofit/>
                    </a:bodyPr>
                    <a:lstStyle/>
                    <a:p>
                      <a:pPr algn="l">
                        <a:buNone/>
                      </a:pPr>
                      <a:r>
                        <a:rPr sz="1088" b="1">
                          <a:solidFill>
                            <a:srgbClr val="142D45"/>
                          </a:solidFill>
                          <a:latin typeface="Aptos"/>
                          <a:ea typeface="Aptos"/>
                          <a:cs typeface="Aptos"/>
                        </a:rPr>
                        <a:t>Process · same-w1 · 20 MiB</a:t>
                      </a:r>
                    </a:p>
                  </a:txBody>
                  <a:tcPr marL="91440" marR="91440" marT="45720" marB="45720" anchor="ctr">
                    <a:solidFill>
                      <a:srgbClr val="F1F5F9"/>
                    </a:solidFill>
                  </a:tcPr>
                </a:tc>
                <a:tc>
                  <a:txBody>
                    <a:bodyPr wrap="square">
                      <a:normAutofit/>
                    </a:bodyPr>
                    <a:lstStyle/>
                    <a:p>
                      <a:pPr algn="ctr">
                        <a:buNone/>
                      </a:pPr>
                      <a:r>
                        <a:rPr sz="1088" b="0">
                          <a:solidFill>
                            <a:srgbClr val="142D45"/>
                          </a:solidFill>
                          <a:latin typeface="Aptos"/>
                          <a:ea typeface="Aptos"/>
                          <a:cs typeface="Aptos"/>
                        </a:rPr>
                        <a:t>3</a:t>
                      </a:r>
                    </a:p>
                  </a:txBody>
                  <a:tcPr marL="91440" marR="91440" marT="45720" marB="45720" anchor="ctr">
                    <a:solidFill>
                      <a:srgbClr val="F1F5F9"/>
                    </a:solidFill>
                  </a:tcPr>
                </a:tc>
                <a:tc>
                  <a:txBody>
                    <a:bodyPr wrap="square">
                      <a:normAutofit/>
                    </a:bodyPr>
                    <a:lstStyle/>
                    <a:p>
                      <a:pPr algn="ctr">
                        <a:buNone/>
                      </a:pPr>
                      <a:r>
                        <a:rPr sz="1088" b="0">
                          <a:solidFill>
                            <a:srgbClr val="142D45"/>
                          </a:solidFill>
                          <a:latin typeface="Aptos"/>
                          <a:ea typeface="Aptos"/>
                          <a:cs typeface="Aptos"/>
                        </a:rPr>
                        <a:t>170.069 ± 30.007</a:t>
                      </a:r>
                    </a:p>
                  </a:txBody>
                  <a:tcPr marL="91440" marR="91440" marT="45720" marB="45720" anchor="ctr">
                    <a:solidFill>
                      <a:srgbClr val="F1F5F9"/>
                    </a:solidFill>
                  </a:tcPr>
                </a:tc>
                <a:tc>
                  <a:txBody>
                    <a:bodyPr wrap="square">
                      <a:normAutofit/>
                    </a:bodyPr>
                    <a:lstStyle/>
                    <a:p>
                      <a:pPr algn="ctr">
                        <a:buNone/>
                      </a:pPr>
                      <a:r>
                        <a:rPr sz="1088" b="0">
                          <a:solidFill>
                            <a:srgbClr val="142D45"/>
                          </a:solidFill>
                          <a:latin typeface="Aptos"/>
                          <a:ea typeface="Aptos"/>
                          <a:cs typeface="Aptos"/>
                        </a:rPr>
                        <a:t>3.471 ± 2.401</a:t>
                      </a:r>
                    </a:p>
                  </a:txBody>
                  <a:tcPr marL="91440" marR="91440" marT="45720" marB="45720" anchor="ctr">
                    <a:solidFill>
                      <a:srgbClr val="F1F5F9"/>
                    </a:solidFill>
                  </a:tcPr>
                </a:tc>
                <a:tc>
                  <a:txBody>
                    <a:bodyPr wrap="square">
                      <a:normAutofit/>
                    </a:bodyPr>
                    <a:lstStyle/>
                    <a:p>
                      <a:pPr algn="ctr">
                        <a:buNone/>
                      </a:pPr>
                      <a:r>
                        <a:rPr sz="1088" b="0">
                          <a:solidFill>
                            <a:srgbClr val="142D45"/>
                          </a:solidFill>
                          <a:latin typeface="Aptos"/>
                          <a:ea typeface="Aptos"/>
                          <a:cs typeface="Aptos"/>
                        </a:rPr>
                        <a:t>0.811 ± 0.242</a:t>
                      </a:r>
                    </a:p>
                  </a:txBody>
                  <a:tcPr marL="91440" marR="91440" marT="45720" marB="45720" anchor="ctr">
                    <a:solidFill>
                      <a:srgbClr val="F1F5F9"/>
                    </a:solidFill>
                  </a:tcPr>
                </a:tc>
                <a:tc>
                  <a:txBody>
                    <a:bodyPr wrap="square">
                      <a:normAutofit/>
                    </a:bodyPr>
                    <a:lstStyle/>
                    <a:p>
                      <a:pPr algn="ctr">
                        <a:buNone/>
                      </a:pPr>
                      <a:r>
                        <a:rPr sz="1088" b="0">
                          <a:solidFill>
                            <a:srgbClr val="142D45"/>
                          </a:solidFill>
                          <a:latin typeface="Aptos"/>
                          <a:ea typeface="Aptos"/>
                          <a:cs typeface="Aptos"/>
                        </a:rPr>
                        <a:t>174.351 ± 27.786</a:t>
                      </a:r>
                    </a:p>
                  </a:txBody>
                  <a:tcPr marL="91440" marR="91440" marT="45720" marB="45720" anchor="ctr">
                    <a:solidFill>
                      <a:srgbClr val="F1F5F9"/>
                    </a:solidFill>
                  </a:tcPr>
                </a:tc>
              </a:tr>
              <a:tr h="358486">
                <a:tc>
                  <a:txBody>
                    <a:bodyPr wrap="square">
                      <a:normAutofit/>
                    </a:bodyPr>
                    <a:lstStyle/>
                    <a:p>
                      <a:pPr algn="l">
                        <a:buNone/>
                      </a:pPr>
                      <a:r>
                        <a:rPr sz="1088" b="1">
                          <a:solidFill>
                            <a:srgbClr val="142D45"/>
                          </a:solidFill>
                          <a:latin typeface="Aptos"/>
                          <a:ea typeface="Aptos"/>
                          <a:cs typeface="Aptos"/>
                        </a:rPr>
                        <a:t>Pipeline · same-w1</a:t>
                      </a:r>
                    </a:p>
                  </a:txBody>
                  <a:tcPr marL="91440" marR="91440" marT="45720" marB="45720" anchor="ctr">
                    <a:solidFill>
                      <a:srgbClr val="FFFFFF"/>
                    </a:solidFill>
                  </a:tcPr>
                </a:tc>
                <a:tc>
                  <a:txBody>
                    <a:bodyPr wrap="square">
                      <a:normAutofit/>
                    </a:bodyPr>
                    <a:lstStyle/>
                    <a:p>
                      <a:pPr algn="ctr">
                        <a:buNone/>
                      </a:pPr>
                      <a:r>
                        <a:rPr sz="1088" b="0">
                          <a:solidFill>
                            <a:srgbClr val="142D45"/>
                          </a:solidFill>
                          <a:latin typeface="Aptos"/>
                          <a:ea typeface="Aptos"/>
                          <a:cs typeface="Aptos"/>
                        </a:rPr>
                        <a:t>3</a:t>
                      </a:r>
                    </a:p>
                  </a:txBody>
                  <a:tcPr marL="91440" marR="91440" marT="45720" marB="45720" anchor="ctr">
                    <a:solidFill>
                      <a:srgbClr val="FFFFFF"/>
                    </a:solidFill>
                  </a:tcPr>
                </a:tc>
                <a:tc>
                  <a:txBody>
                    <a:bodyPr wrap="square">
                      <a:normAutofit/>
                    </a:bodyPr>
                    <a:lstStyle/>
                    <a:p>
                      <a:pPr algn="ctr">
                        <a:buNone/>
                      </a:pPr>
                      <a:r>
                        <a:rPr sz="1088" b="0">
                          <a:solidFill>
                            <a:srgbClr val="142D45"/>
                          </a:solidFill>
                          <a:latin typeface="Aptos"/>
                          <a:ea typeface="Aptos"/>
                          <a:cs typeface="Aptos"/>
                        </a:rPr>
                        <a:t>211.138 ± 25.003</a:t>
                      </a:r>
                    </a:p>
                  </a:txBody>
                  <a:tcPr marL="91440" marR="91440" marT="45720" marB="45720" anchor="ctr">
                    <a:solidFill>
                      <a:srgbClr val="FFFFFF"/>
                    </a:solidFill>
                  </a:tcPr>
                </a:tc>
                <a:tc>
                  <a:txBody>
                    <a:bodyPr wrap="square">
                      <a:normAutofit/>
                    </a:bodyPr>
                    <a:lstStyle/>
                    <a:p>
                      <a:pPr algn="ctr">
                        <a:buNone/>
                      </a:pPr>
                      <a:r>
                        <a:rPr sz="1088" b="0">
                          <a:solidFill>
                            <a:srgbClr val="142D45"/>
                          </a:solidFill>
                          <a:latin typeface="Aptos"/>
                          <a:ea typeface="Aptos"/>
                          <a:cs typeface="Aptos"/>
                        </a:rPr>
                        <a:t>2.223 ± 1.196</a:t>
                      </a:r>
                    </a:p>
                  </a:txBody>
                  <a:tcPr marL="91440" marR="91440" marT="45720" marB="45720" anchor="ctr">
                    <a:solidFill>
                      <a:srgbClr val="FFFFFF"/>
                    </a:solidFill>
                  </a:tcPr>
                </a:tc>
                <a:tc>
                  <a:txBody>
                    <a:bodyPr wrap="square">
                      <a:normAutofit/>
                    </a:bodyPr>
                    <a:lstStyle/>
                    <a:p>
                      <a:pPr algn="ctr">
                        <a:buNone/>
                      </a:pPr>
                      <a:r>
                        <a:rPr sz="1088" b="0">
                          <a:solidFill>
                            <a:srgbClr val="142D45"/>
                          </a:solidFill>
                          <a:latin typeface="Aptos"/>
                          <a:ea typeface="Aptos"/>
                          <a:cs typeface="Aptos"/>
                        </a:rPr>
                        <a:t>0.715 ± 0.215</a:t>
                      </a:r>
                    </a:p>
                  </a:txBody>
                  <a:tcPr marL="91440" marR="91440" marT="45720" marB="45720" anchor="ctr">
                    <a:solidFill>
                      <a:srgbClr val="FFFFFF"/>
                    </a:solidFill>
                  </a:tcPr>
                </a:tc>
                <a:tc>
                  <a:txBody>
                    <a:bodyPr wrap="square">
                      <a:normAutofit/>
                    </a:bodyPr>
                    <a:lstStyle/>
                    <a:p>
                      <a:pPr algn="ctr">
                        <a:buNone/>
                      </a:pPr>
                      <a:r>
                        <a:rPr sz="1088" b="0">
                          <a:solidFill>
                            <a:srgbClr val="142D45"/>
                          </a:solidFill>
                          <a:latin typeface="Aptos"/>
                          <a:ea typeface="Aptos"/>
                          <a:cs typeface="Aptos"/>
                        </a:rPr>
                        <a:t>214.077 ± 23.924</a:t>
                      </a:r>
                    </a:p>
                  </a:txBody>
                  <a:tcPr marL="91440" marR="91440" marT="45720" marB="45720" anchor="ctr">
                    <a:solidFill>
                      <a:srgbClr val="FFFFFF"/>
                    </a:solidFill>
                  </a:tcPr>
                </a:tc>
              </a:tr>
              <a:tr h="358486">
                <a:tc>
                  <a:txBody>
                    <a:bodyPr wrap="square">
                      <a:normAutofit/>
                    </a:bodyPr>
                    <a:lstStyle/>
                    <a:p>
                      <a:pPr algn="l">
                        <a:buNone/>
                      </a:pPr>
                      <a:r>
                        <a:rPr sz="1088" b="1">
                          <a:solidFill>
                            <a:srgbClr val="142D45"/>
                          </a:solidFill>
                          <a:latin typeface="Aptos"/>
                          <a:ea typeface="Aptos"/>
                          <a:cs typeface="Aptos"/>
                        </a:rPr>
                        <a:t>Pipeline · cross</a:t>
                      </a:r>
                    </a:p>
                  </a:txBody>
                  <a:tcPr marL="91440" marR="91440" marT="45720" marB="45720" anchor="ctr">
                    <a:solidFill>
                      <a:srgbClr val="F1F5F9"/>
                    </a:solidFill>
                  </a:tcPr>
                </a:tc>
                <a:tc>
                  <a:txBody>
                    <a:bodyPr wrap="square">
                      <a:normAutofit/>
                    </a:bodyPr>
                    <a:lstStyle/>
                    <a:p>
                      <a:pPr algn="ctr">
                        <a:buNone/>
                      </a:pPr>
                      <a:r>
                        <a:rPr sz="1088" b="0">
                          <a:solidFill>
                            <a:srgbClr val="142D45"/>
                          </a:solidFill>
                          <a:latin typeface="Aptos"/>
                          <a:ea typeface="Aptos"/>
                          <a:cs typeface="Aptos"/>
                        </a:rPr>
                        <a:t>3</a:t>
                      </a:r>
                    </a:p>
                  </a:txBody>
                  <a:tcPr marL="91440" marR="91440" marT="45720" marB="45720" anchor="ctr">
                    <a:solidFill>
                      <a:srgbClr val="F1F5F9"/>
                    </a:solidFill>
                  </a:tcPr>
                </a:tc>
                <a:tc>
                  <a:txBody>
                    <a:bodyPr wrap="square">
                      <a:normAutofit/>
                    </a:bodyPr>
                    <a:lstStyle/>
                    <a:p>
                      <a:pPr algn="ctr">
                        <a:buNone/>
                      </a:pPr>
                      <a:r>
                        <a:rPr sz="1088" b="0">
                          <a:solidFill>
                            <a:srgbClr val="142D45"/>
                          </a:solidFill>
                          <a:latin typeface="Aptos"/>
                          <a:ea typeface="Aptos"/>
                          <a:cs typeface="Aptos"/>
                        </a:rPr>
                        <a:t>289.390 ± 34.401</a:t>
                      </a:r>
                    </a:p>
                  </a:txBody>
                  <a:tcPr marL="91440" marR="91440" marT="45720" marB="45720" anchor="ctr">
                    <a:solidFill>
                      <a:srgbClr val="F1F5F9"/>
                    </a:solidFill>
                  </a:tcPr>
                </a:tc>
                <a:tc>
                  <a:txBody>
                    <a:bodyPr wrap="square">
                      <a:normAutofit/>
                    </a:bodyPr>
                    <a:lstStyle/>
                    <a:p>
                      <a:pPr algn="ctr">
                        <a:buNone/>
                      </a:pPr>
                      <a:r>
                        <a:rPr sz="1088" b="0">
                          <a:solidFill>
                            <a:srgbClr val="142D45"/>
                          </a:solidFill>
                          <a:latin typeface="Aptos"/>
                          <a:ea typeface="Aptos"/>
                          <a:cs typeface="Aptos"/>
                        </a:rPr>
                        <a:t>2.385 ± 0.786</a:t>
                      </a:r>
                    </a:p>
                  </a:txBody>
                  <a:tcPr marL="91440" marR="91440" marT="45720" marB="45720" anchor="ctr">
                    <a:solidFill>
                      <a:srgbClr val="F1F5F9"/>
                    </a:solidFill>
                  </a:tcPr>
                </a:tc>
                <a:tc>
                  <a:txBody>
                    <a:bodyPr wrap="square">
                      <a:normAutofit/>
                    </a:bodyPr>
                    <a:lstStyle/>
                    <a:p>
                      <a:pPr algn="ctr">
                        <a:buNone/>
                      </a:pPr>
                      <a:r>
                        <a:rPr sz="1088" b="0">
                          <a:solidFill>
                            <a:srgbClr val="142D45"/>
                          </a:solidFill>
                          <a:latin typeface="Aptos"/>
                          <a:ea typeface="Aptos"/>
                          <a:cs typeface="Aptos"/>
                        </a:rPr>
                        <a:t>0.582 ± 0.184</a:t>
                      </a:r>
                    </a:p>
                  </a:txBody>
                  <a:tcPr marL="91440" marR="91440" marT="45720" marB="45720" anchor="ctr">
                    <a:solidFill>
                      <a:srgbClr val="F1F5F9"/>
                    </a:solidFill>
                  </a:tcPr>
                </a:tc>
                <a:tc>
                  <a:txBody>
                    <a:bodyPr wrap="square">
                      <a:normAutofit/>
                    </a:bodyPr>
                    <a:lstStyle/>
                    <a:p>
                      <a:pPr algn="ctr">
                        <a:buNone/>
                      </a:pPr>
                      <a:r>
                        <a:rPr sz="1088" b="0">
                          <a:solidFill>
                            <a:srgbClr val="142D45"/>
                          </a:solidFill>
                          <a:latin typeface="Aptos"/>
                          <a:ea typeface="Aptos"/>
                          <a:cs typeface="Aptos"/>
                        </a:rPr>
                        <a:t>292.358 ± 34.744</a:t>
                      </a:r>
                    </a:p>
                  </a:txBody>
                  <a:tcPr marL="91440" marR="91440" marT="45720" marB="45720" anchor="ctr">
                    <a:solidFill>
                      <a:srgbClr val="F1F5F9"/>
                    </a:solidFill>
                  </a:tcPr>
                </a:tc>
              </a:tr>
              <a:tr h="358486">
                <a:tc>
                  <a:txBody>
                    <a:bodyPr wrap="square">
                      <a:normAutofit/>
                    </a:bodyPr>
                    <a:lstStyle/>
                    <a:p>
                      <a:pPr algn="l">
                        <a:buNone/>
                      </a:pPr>
                      <a:r>
                        <a:rPr sz="1088" b="1">
                          <a:solidFill>
                            <a:srgbClr val="142D45"/>
                          </a:solidFill>
                          <a:latin typeface="Aptos"/>
                          <a:ea typeface="Aptos"/>
                          <a:cs typeface="Aptos"/>
                        </a:rPr>
                        <a:t>Distribution · same-w1</a:t>
                      </a:r>
                    </a:p>
                  </a:txBody>
                  <a:tcPr marL="91440" marR="91440" marT="45720" marB="45720" anchor="ctr">
                    <a:solidFill>
                      <a:srgbClr val="FFFFFF"/>
                    </a:solidFill>
                  </a:tcPr>
                </a:tc>
                <a:tc>
                  <a:txBody>
                    <a:bodyPr wrap="square">
                      <a:normAutofit/>
                    </a:bodyPr>
                    <a:lstStyle/>
                    <a:p>
                      <a:pPr algn="ctr">
                        <a:buNone/>
                      </a:pPr>
                      <a:r>
                        <a:rPr sz="1088" b="0">
                          <a:solidFill>
                            <a:srgbClr val="142D45"/>
                          </a:solidFill>
                          <a:latin typeface="Aptos"/>
                          <a:ea typeface="Aptos"/>
                          <a:cs typeface="Aptos"/>
                        </a:rPr>
                        <a:t>3</a:t>
                      </a:r>
                    </a:p>
                  </a:txBody>
                  <a:tcPr marL="91440" marR="91440" marT="45720" marB="45720" anchor="ctr">
                    <a:solidFill>
                      <a:srgbClr val="FFFFFF"/>
                    </a:solidFill>
                  </a:tcPr>
                </a:tc>
                <a:tc>
                  <a:txBody>
                    <a:bodyPr wrap="square">
                      <a:normAutofit/>
                    </a:bodyPr>
                    <a:lstStyle/>
                    <a:p>
                      <a:pPr algn="ctr">
                        <a:buNone/>
                      </a:pPr>
                      <a:r>
                        <a:rPr sz="1088" b="0">
                          <a:solidFill>
                            <a:srgbClr val="142D45"/>
                          </a:solidFill>
                          <a:latin typeface="Aptos"/>
                          <a:ea typeface="Aptos"/>
                          <a:cs typeface="Aptos"/>
                        </a:rPr>
                        <a:t>230.123 ± 20.931</a:t>
                      </a:r>
                    </a:p>
                  </a:txBody>
                  <a:tcPr marL="91440" marR="91440" marT="45720" marB="45720" anchor="ctr">
                    <a:solidFill>
                      <a:srgbClr val="FFFFFF"/>
                    </a:solidFill>
                  </a:tcPr>
                </a:tc>
                <a:tc>
                  <a:txBody>
                    <a:bodyPr wrap="square">
                      <a:normAutofit/>
                    </a:bodyPr>
                    <a:lstStyle/>
                    <a:p>
                      <a:pPr algn="ctr">
                        <a:buNone/>
                      </a:pPr>
                      <a:r>
                        <a:rPr sz="1088" b="0">
                          <a:solidFill>
                            <a:srgbClr val="142D45"/>
                          </a:solidFill>
                          <a:latin typeface="Aptos"/>
                          <a:ea typeface="Aptos"/>
                          <a:cs typeface="Aptos"/>
                        </a:rPr>
                        <a:t>2.173 ± 0.671</a:t>
                      </a:r>
                    </a:p>
                  </a:txBody>
                  <a:tcPr marL="91440" marR="91440" marT="45720" marB="45720" anchor="ctr">
                    <a:solidFill>
                      <a:srgbClr val="FFFFFF"/>
                    </a:solidFill>
                  </a:tcPr>
                </a:tc>
                <a:tc>
                  <a:txBody>
                    <a:bodyPr wrap="square">
                      <a:normAutofit/>
                    </a:bodyPr>
                    <a:lstStyle/>
                    <a:p>
                      <a:pPr algn="ctr">
                        <a:buNone/>
                      </a:pPr>
                      <a:r>
                        <a:rPr sz="1088" b="0">
                          <a:solidFill>
                            <a:srgbClr val="142D45"/>
                          </a:solidFill>
                          <a:latin typeface="Aptos"/>
                          <a:ea typeface="Aptos"/>
                          <a:cs typeface="Aptos"/>
                        </a:rPr>
                        <a:t>0.508 ± 0.054</a:t>
                      </a:r>
                    </a:p>
                  </a:txBody>
                  <a:tcPr marL="91440" marR="91440" marT="45720" marB="45720" anchor="ctr">
                    <a:solidFill>
                      <a:srgbClr val="FFFFFF"/>
                    </a:solidFill>
                  </a:tcPr>
                </a:tc>
                <a:tc>
                  <a:txBody>
                    <a:bodyPr wrap="square">
                      <a:normAutofit/>
                    </a:bodyPr>
                    <a:lstStyle/>
                    <a:p>
                      <a:pPr algn="ctr">
                        <a:buNone/>
                      </a:pPr>
                      <a:r>
                        <a:rPr sz="1088" b="0">
                          <a:solidFill>
                            <a:srgbClr val="142D45"/>
                          </a:solidFill>
                          <a:latin typeface="Aptos"/>
                          <a:ea typeface="Aptos"/>
                          <a:cs typeface="Aptos"/>
                        </a:rPr>
                        <a:t>232.804 ± 20.213</a:t>
                      </a:r>
                    </a:p>
                  </a:txBody>
                  <a:tcPr marL="91440" marR="91440" marT="45720" marB="45720" anchor="ctr">
                    <a:solidFill>
                      <a:srgbClr val="FFFFFF"/>
                    </a:solidFill>
                  </a:tcPr>
                </a:tc>
              </a:tr>
              <a:tr h="358486">
                <a:tc>
                  <a:txBody>
                    <a:bodyPr wrap="square">
                      <a:normAutofit/>
                    </a:bodyPr>
                    <a:lstStyle/>
                    <a:p>
                      <a:pPr algn="l">
                        <a:buNone/>
                      </a:pPr>
                      <a:r>
                        <a:rPr sz="1088" b="1">
                          <a:solidFill>
                            <a:srgbClr val="142D45"/>
                          </a:solidFill>
                          <a:latin typeface="Aptos"/>
                          <a:ea typeface="Aptos"/>
                          <a:cs typeface="Aptos"/>
                        </a:rPr>
                        <a:t>Distribution · cross</a:t>
                      </a:r>
                    </a:p>
                  </a:txBody>
                  <a:tcPr marL="91440" marR="91440" marT="45720" marB="45720" anchor="ctr">
                    <a:solidFill>
                      <a:srgbClr val="F1F5F9"/>
                    </a:solidFill>
                  </a:tcPr>
                </a:tc>
                <a:tc>
                  <a:txBody>
                    <a:bodyPr wrap="square">
                      <a:normAutofit/>
                    </a:bodyPr>
                    <a:lstStyle/>
                    <a:p>
                      <a:pPr algn="ctr">
                        <a:buNone/>
                      </a:pPr>
                      <a:r>
                        <a:rPr sz="1088" b="0">
                          <a:solidFill>
                            <a:srgbClr val="142D45"/>
                          </a:solidFill>
                          <a:latin typeface="Aptos"/>
                          <a:ea typeface="Aptos"/>
                          <a:cs typeface="Aptos"/>
                        </a:rPr>
                        <a:t>3</a:t>
                      </a:r>
                    </a:p>
                  </a:txBody>
                  <a:tcPr marL="91440" marR="91440" marT="45720" marB="45720" anchor="ctr">
                    <a:solidFill>
                      <a:srgbClr val="F1F5F9"/>
                    </a:solidFill>
                  </a:tcPr>
                </a:tc>
                <a:tc>
                  <a:txBody>
                    <a:bodyPr wrap="square">
                      <a:normAutofit/>
                    </a:bodyPr>
                    <a:lstStyle/>
                    <a:p>
                      <a:pPr algn="ctr">
                        <a:buNone/>
                      </a:pPr>
                      <a:r>
                        <a:rPr sz="1088" b="0">
                          <a:solidFill>
                            <a:srgbClr val="142D45"/>
                          </a:solidFill>
                          <a:latin typeface="Aptos"/>
                          <a:ea typeface="Aptos"/>
                          <a:cs typeface="Aptos"/>
                        </a:rPr>
                        <a:t>254.864 ± 38.734</a:t>
                      </a:r>
                    </a:p>
                  </a:txBody>
                  <a:tcPr marL="91440" marR="91440" marT="45720" marB="45720" anchor="ctr">
                    <a:solidFill>
                      <a:srgbClr val="F1F5F9"/>
                    </a:solidFill>
                  </a:tcPr>
                </a:tc>
                <a:tc>
                  <a:txBody>
                    <a:bodyPr wrap="square">
                      <a:normAutofit/>
                    </a:bodyPr>
                    <a:lstStyle/>
                    <a:p>
                      <a:pPr algn="ctr">
                        <a:buNone/>
                      </a:pPr>
                      <a:r>
                        <a:rPr sz="1088" b="0">
                          <a:solidFill>
                            <a:srgbClr val="142D45"/>
                          </a:solidFill>
                          <a:latin typeface="Aptos"/>
                          <a:ea typeface="Aptos"/>
                          <a:cs typeface="Aptos"/>
                        </a:rPr>
                        <a:t>2.820 ± 1.651</a:t>
                      </a:r>
                    </a:p>
                  </a:txBody>
                  <a:tcPr marL="91440" marR="91440" marT="45720" marB="45720" anchor="ctr">
                    <a:solidFill>
                      <a:srgbClr val="F1F5F9"/>
                    </a:solidFill>
                  </a:tcPr>
                </a:tc>
                <a:tc>
                  <a:txBody>
                    <a:bodyPr wrap="square">
                      <a:normAutofit/>
                    </a:bodyPr>
                    <a:lstStyle/>
                    <a:p>
                      <a:pPr algn="ctr">
                        <a:buNone/>
                      </a:pPr>
                      <a:r>
                        <a:rPr sz="1088" b="0">
                          <a:solidFill>
                            <a:srgbClr val="142D45"/>
                          </a:solidFill>
                          <a:latin typeface="Aptos"/>
                          <a:ea typeface="Aptos"/>
                          <a:cs typeface="Aptos"/>
                        </a:rPr>
                        <a:t>0.639 ± 0.261</a:t>
                      </a:r>
                    </a:p>
                  </a:txBody>
                  <a:tcPr marL="91440" marR="91440" marT="45720" marB="45720" anchor="ctr">
                    <a:solidFill>
                      <a:srgbClr val="F1F5F9"/>
                    </a:solidFill>
                  </a:tcPr>
                </a:tc>
                <a:tc>
                  <a:txBody>
                    <a:bodyPr wrap="square">
                      <a:normAutofit/>
                    </a:bodyPr>
                    <a:lstStyle/>
                    <a:p>
                      <a:pPr algn="ctr">
                        <a:buNone/>
                      </a:pPr>
                      <a:r>
                        <a:rPr sz="1088" b="0">
                          <a:solidFill>
                            <a:srgbClr val="142D45"/>
                          </a:solidFill>
                          <a:latin typeface="Aptos"/>
                          <a:ea typeface="Aptos"/>
                          <a:cs typeface="Aptos"/>
                        </a:rPr>
                        <a:t>258.323 ± 37.013</a:t>
                      </a:r>
                    </a:p>
                  </a:txBody>
                  <a:tcPr marL="91440" marR="91440" marT="45720" marB="45720" anchor="ctr">
                    <a:solidFill>
                      <a:srgbClr val="F1F5F9"/>
                    </a:solidFill>
                  </a:tcPr>
                </a:tc>
              </a:tr>
              <a:tr h="358486">
                <a:tc>
                  <a:txBody>
                    <a:bodyPr wrap="square">
                      <a:normAutofit/>
                    </a:bodyPr>
                    <a:lstStyle/>
                    <a:p>
                      <a:pPr algn="l">
                        <a:buNone/>
                      </a:pPr>
                      <a:r>
                        <a:rPr sz="1088" b="1">
                          <a:solidFill>
                            <a:srgbClr val="142D45"/>
                          </a:solidFill>
                          <a:latin typeface="Aptos"/>
                          <a:ea typeface="Aptos"/>
                          <a:cs typeface="Aptos"/>
                        </a:rPr>
                        <a:t>Aggregation · same-w1</a:t>
                      </a:r>
                    </a:p>
                  </a:txBody>
                  <a:tcPr marL="91440" marR="91440" marT="45720" marB="45720" anchor="ctr">
                    <a:solidFill>
                      <a:srgbClr val="FFFFFF"/>
                    </a:solidFill>
                  </a:tcPr>
                </a:tc>
                <a:tc>
                  <a:txBody>
                    <a:bodyPr wrap="square">
                      <a:normAutofit/>
                    </a:bodyPr>
                    <a:lstStyle/>
                    <a:p>
                      <a:pPr algn="ctr">
                        <a:buNone/>
                      </a:pPr>
                      <a:r>
                        <a:rPr sz="1088" b="0">
                          <a:solidFill>
                            <a:srgbClr val="142D45"/>
                          </a:solidFill>
                          <a:latin typeface="Aptos"/>
                          <a:ea typeface="Aptos"/>
                          <a:cs typeface="Aptos"/>
                        </a:rPr>
                        <a:t>3</a:t>
                      </a:r>
                    </a:p>
                  </a:txBody>
                  <a:tcPr marL="91440" marR="91440" marT="45720" marB="45720" anchor="ctr">
                    <a:solidFill>
                      <a:srgbClr val="FFFFFF"/>
                    </a:solidFill>
                  </a:tcPr>
                </a:tc>
                <a:tc>
                  <a:txBody>
                    <a:bodyPr wrap="square">
                      <a:normAutofit/>
                    </a:bodyPr>
                    <a:lstStyle/>
                    <a:p>
                      <a:pPr algn="ctr">
                        <a:buNone/>
                      </a:pPr>
                      <a:r>
                        <a:rPr sz="1088" b="0">
                          <a:solidFill>
                            <a:srgbClr val="142D45"/>
                          </a:solidFill>
                          <a:latin typeface="Aptos"/>
                          <a:ea typeface="Aptos"/>
                          <a:cs typeface="Aptos"/>
                        </a:rPr>
                        <a:t>260.627 ± 70.557</a:t>
                      </a:r>
                    </a:p>
                  </a:txBody>
                  <a:tcPr marL="91440" marR="91440" marT="45720" marB="45720" anchor="ctr">
                    <a:solidFill>
                      <a:srgbClr val="FFFFFF"/>
                    </a:solidFill>
                  </a:tcPr>
                </a:tc>
                <a:tc>
                  <a:txBody>
                    <a:bodyPr wrap="square">
                      <a:normAutofit/>
                    </a:bodyPr>
                    <a:lstStyle/>
                    <a:p>
                      <a:pPr algn="ctr">
                        <a:buNone/>
                      </a:pPr>
                      <a:r>
                        <a:rPr sz="1088" b="0">
                          <a:solidFill>
                            <a:srgbClr val="142D45"/>
                          </a:solidFill>
                          <a:latin typeface="Aptos"/>
                          <a:ea typeface="Aptos"/>
                          <a:cs typeface="Aptos"/>
                        </a:rPr>
                        <a:t>1.823 ± 0.619</a:t>
                      </a:r>
                    </a:p>
                  </a:txBody>
                  <a:tcPr marL="91440" marR="91440" marT="45720" marB="45720" anchor="ctr">
                    <a:solidFill>
                      <a:srgbClr val="FFFFFF"/>
                    </a:solidFill>
                  </a:tcPr>
                </a:tc>
                <a:tc>
                  <a:txBody>
                    <a:bodyPr wrap="square">
                      <a:normAutofit/>
                    </a:bodyPr>
                    <a:lstStyle/>
                    <a:p>
                      <a:pPr algn="ctr">
                        <a:buNone/>
                      </a:pPr>
                      <a:r>
                        <a:rPr sz="1088" b="0">
                          <a:solidFill>
                            <a:srgbClr val="142D45"/>
                          </a:solidFill>
                          <a:latin typeface="Aptos"/>
                          <a:ea typeface="Aptos"/>
                          <a:cs typeface="Aptos"/>
                        </a:rPr>
                        <a:t>0.917 ± 0.774</a:t>
                      </a:r>
                    </a:p>
                  </a:txBody>
                  <a:tcPr marL="91440" marR="91440" marT="45720" marB="45720" anchor="ctr">
                    <a:solidFill>
                      <a:srgbClr val="FFFFFF"/>
                    </a:solidFill>
                  </a:tcPr>
                </a:tc>
                <a:tc>
                  <a:txBody>
                    <a:bodyPr wrap="square">
                      <a:normAutofit/>
                    </a:bodyPr>
                    <a:lstStyle/>
                    <a:p>
                      <a:pPr algn="ctr">
                        <a:buNone/>
                      </a:pPr>
                      <a:r>
                        <a:rPr sz="1088" b="0">
                          <a:solidFill>
                            <a:srgbClr val="142D45"/>
                          </a:solidFill>
                          <a:latin typeface="Aptos"/>
                          <a:ea typeface="Aptos"/>
                          <a:cs typeface="Aptos"/>
                        </a:rPr>
                        <a:t>263.367 ± 69.774</a:t>
                      </a:r>
                    </a:p>
                  </a:txBody>
                  <a:tcPr marL="91440" marR="91440" marT="45720" marB="45720" anchor="ctr">
                    <a:solidFill>
                      <a:srgbClr val="FFFFFF"/>
                    </a:solidFill>
                  </a:tcPr>
                </a:tc>
              </a:tr>
              <a:tr h="358486">
                <a:tc>
                  <a:txBody>
                    <a:bodyPr wrap="square">
                      <a:normAutofit/>
                    </a:bodyPr>
                    <a:lstStyle/>
                    <a:p>
                      <a:pPr algn="l">
                        <a:buNone/>
                      </a:pPr>
                      <a:r>
                        <a:rPr sz="1088" b="1">
                          <a:solidFill>
                            <a:srgbClr val="142D45"/>
                          </a:solidFill>
                          <a:latin typeface="Aptos"/>
                          <a:ea typeface="Aptos"/>
                          <a:cs typeface="Aptos"/>
                        </a:rPr>
                        <a:t>Aggregation · cross</a:t>
                      </a:r>
                    </a:p>
                  </a:txBody>
                  <a:tcPr marL="91440" marR="91440" marT="45720" marB="45720" anchor="ctr">
                    <a:solidFill>
                      <a:srgbClr val="F1F5F9"/>
                    </a:solidFill>
                  </a:tcPr>
                </a:tc>
                <a:tc>
                  <a:txBody>
                    <a:bodyPr wrap="square">
                      <a:normAutofit/>
                    </a:bodyPr>
                    <a:lstStyle/>
                    <a:p>
                      <a:pPr algn="ctr">
                        <a:buNone/>
                      </a:pPr>
                      <a:r>
                        <a:rPr sz="1088" b="0">
                          <a:solidFill>
                            <a:srgbClr val="142D45"/>
                          </a:solidFill>
                          <a:latin typeface="Aptos"/>
                          <a:ea typeface="Aptos"/>
                          <a:cs typeface="Aptos"/>
                        </a:rPr>
                        <a:t>3</a:t>
                      </a:r>
                    </a:p>
                  </a:txBody>
                  <a:tcPr marL="91440" marR="91440" marT="45720" marB="45720" anchor="ctr">
                    <a:solidFill>
                      <a:srgbClr val="F1F5F9"/>
                    </a:solidFill>
                  </a:tcPr>
                </a:tc>
                <a:tc>
                  <a:txBody>
                    <a:bodyPr wrap="square">
                      <a:normAutofit/>
                    </a:bodyPr>
                    <a:lstStyle/>
                    <a:p>
                      <a:pPr algn="ctr">
                        <a:buNone/>
                      </a:pPr>
                      <a:r>
                        <a:rPr sz="1088" b="0">
                          <a:solidFill>
                            <a:srgbClr val="142D45"/>
                          </a:solidFill>
                          <a:latin typeface="Aptos"/>
                          <a:ea typeface="Aptos"/>
                          <a:cs typeface="Aptos"/>
                        </a:rPr>
                        <a:t>271.482 ± 15.675</a:t>
                      </a:r>
                    </a:p>
                  </a:txBody>
                  <a:tcPr marL="91440" marR="91440" marT="45720" marB="45720" anchor="ctr">
                    <a:solidFill>
                      <a:srgbClr val="F1F5F9"/>
                    </a:solidFill>
                  </a:tcPr>
                </a:tc>
                <a:tc>
                  <a:txBody>
                    <a:bodyPr wrap="square">
                      <a:normAutofit/>
                    </a:bodyPr>
                    <a:lstStyle/>
                    <a:p>
                      <a:pPr algn="ctr">
                        <a:buNone/>
                      </a:pPr>
                      <a:r>
                        <a:rPr sz="1088" b="0">
                          <a:solidFill>
                            <a:srgbClr val="142D45"/>
                          </a:solidFill>
                          <a:latin typeface="Aptos"/>
                          <a:ea typeface="Aptos"/>
                          <a:cs typeface="Aptos"/>
                        </a:rPr>
                        <a:t>2.188 ± 0.538</a:t>
                      </a:r>
                    </a:p>
                  </a:txBody>
                  <a:tcPr marL="91440" marR="91440" marT="45720" marB="45720" anchor="ctr">
                    <a:solidFill>
                      <a:srgbClr val="F1F5F9"/>
                    </a:solidFill>
                  </a:tcPr>
                </a:tc>
                <a:tc>
                  <a:txBody>
                    <a:bodyPr wrap="square">
                      <a:normAutofit/>
                    </a:bodyPr>
                    <a:lstStyle/>
                    <a:p>
                      <a:pPr algn="ctr">
                        <a:buNone/>
                      </a:pPr>
                      <a:r>
                        <a:rPr sz="1088" b="0">
                          <a:solidFill>
                            <a:srgbClr val="142D45"/>
                          </a:solidFill>
                          <a:latin typeface="Aptos"/>
                          <a:ea typeface="Aptos"/>
                          <a:cs typeface="Aptos"/>
                        </a:rPr>
                        <a:t>0.794 ± 0.567</a:t>
                      </a:r>
                    </a:p>
                  </a:txBody>
                  <a:tcPr marL="91440" marR="91440" marT="45720" marB="45720" anchor="ctr">
                    <a:solidFill>
                      <a:srgbClr val="F1F5F9"/>
                    </a:solidFill>
                  </a:tcPr>
                </a:tc>
                <a:tc>
                  <a:txBody>
                    <a:bodyPr wrap="square">
                      <a:normAutofit/>
                    </a:bodyPr>
                    <a:lstStyle/>
                    <a:p>
                      <a:pPr algn="ctr">
                        <a:buNone/>
                      </a:pPr>
                      <a:r>
                        <a:rPr sz="1088" b="0">
                          <a:solidFill>
                            <a:srgbClr val="142D45"/>
                          </a:solidFill>
                          <a:latin typeface="Aptos"/>
                          <a:ea typeface="Aptos"/>
                          <a:cs typeface="Aptos"/>
                        </a:rPr>
                        <a:t>274.464 ± 15.975</a:t>
                      </a:r>
                    </a:p>
                  </a:txBody>
                  <a:tcPr marL="91440" marR="91440" marT="45720" marB="45720" anchor="ctr">
                    <a:solidFill>
                      <a:srgbClr val="F1F5F9"/>
                    </a:solidFill>
                  </a:tcPr>
                </a:tc>
              </a:tr>
              <a:tr h="358486">
                <a:tc>
                  <a:txBody>
                    <a:bodyPr wrap="square">
                      <a:normAutofit/>
                    </a:bodyPr>
                    <a:lstStyle/>
                    <a:p>
                      <a:pPr algn="l">
                        <a:buNone/>
                      </a:pPr>
                      <a:r>
                        <a:rPr sz="1088" b="1">
                          <a:solidFill>
                            <a:srgbClr val="142D45"/>
                          </a:solidFill>
                          <a:latin typeface="Aptos"/>
                          <a:ea typeface="Aptos"/>
                          <a:cs typeface="Aptos"/>
                        </a:rPr>
                        <a:t>Redistribution · same-w1</a:t>
                      </a:r>
                    </a:p>
                  </a:txBody>
                  <a:tcPr marL="91440" marR="91440" marT="45720" marB="45720" anchor="ctr">
                    <a:solidFill>
                      <a:srgbClr val="FFFFFF"/>
                    </a:solidFill>
                  </a:tcPr>
                </a:tc>
                <a:tc>
                  <a:txBody>
                    <a:bodyPr wrap="square">
                      <a:normAutofit/>
                    </a:bodyPr>
                    <a:lstStyle/>
                    <a:p>
                      <a:pPr algn="ctr">
                        <a:buNone/>
                      </a:pPr>
                      <a:r>
                        <a:rPr sz="1088" b="0">
                          <a:solidFill>
                            <a:srgbClr val="142D45"/>
                          </a:solidFill>
                          <a:latin typeface="Aptos"/>
                          <a:ea typeface="Aptos"/>
                          <a:cs typeface="Aptos"/>
                        </a:rPr>
                        <a:t>3</a:t>
                      </a:r>
                    </a:p>
                  </a:txBody>
                  <a:tcPr marL="91440" marR="91440" marT="45720" marB="45720" anchor="ctr">
                    <a:solidFill>
                      <a:srgbClr val="FFFFFF"/>
                    </a:solidFill>
                  </a:tcPr>
                </a:tc>
                <a:tc>
                  <a:txBody>
                    <a:bodyPr wrap="square">
                      <a:normAutofit/>
                    </a:bodyPr>
                    <a:lstStyle/>
                    <a:p>
                      <a:pPr algn="ctr">
                        <a:buNone/>
                      </a:pPr>
                      <a:r>
                        <a:rPr sz="1088" b="0">
                          <a:solidFill>
                            <a:srgbClr val="142D45"/>
                          </a:solidFill>
                          <a:latin typeface="Aptos"/>
                          <a:ea typeface="Aptos"/>
                          <a:cs typeface="Aptos"/>
                        </a:rPr>
                        <a:t>363.417 ± 89.944</a:t>
                      </a:r>
                    </a:p>
                  </a:txBody>
                  <a:tcPr marL="91440" marR="91440" marT="45720" marB="45720" anchor="ctr">
                    <a:solidFill>
                      <a:srgbClr val="FFFFFF"/>
                    </a:solidFill>
                  </a:tcPr>
                </a:tc>
                <a:tc>
                  <a:txBody>
                    <a:bodyPr wrap="square">
                      <a:normAutofit/>
                    </a:bodyPr>
                    <a:lstStyle/>
                    <a:p>
                      <a:pPr algn="ctr">
                        <a:buNone/>
                      </a:pPr>
                      <a:r>
                        <a:rPr sz="1088" b="0">
                          <a:solidFill>
                            <a:srgbClr val="142D45"/>
                          </a:solidFill>
                          <a:latin typeface="Aptos"/>
                          <a:ea typeface="Aptos"/>
                          <a:cs typeface="Aptos"/>
                        </a:rPr>
                        <a:t>2.761 ± 1.245</a:t>
                      </a:r>
                    </a:p>
                  </a:txBody>
                  <a:tcPr marL="91440" marR="91440" marT="45720" marB="45720" anchor="ctr">
                    <a:solidFill>
                      <a:srgbClr val="FFFFFF"/>
                    </a:solidFill>
                  </a:tcPr>
                </a:tc>
                <a:tc>
                  <a:txBody>
                    <a:bodyPr wrap="square">
                      <a:normAutofit/>
                    </a:bodyPr>
                    <a:lstStyle/>
                    <a:p>
                      <a:pPr algn="ctr">
                        <a:buNone/>
                      </a:pPr>
                      <a:r>
                        <a:rPr sz="1088" b="0">
                          <a:solidFill>
                            <a:srgbClr val="142D45"/>
                          </a:solidFill>
                          <a:latin typeface="Aptos"/>
                          <a:ea typeface="Aptos"/>
                          <a:cs typeface="Aptos"/>
                        </a:rPr>
                        <a:t>0.690 ± 0.072</a:t>
                      </a:r>
                    </a:p>
                  </a:txBody>
                  <a:tcPr marL="91440" marR="91440" marT="45720" marB="45720" anchor="ctr">
                    <a:solidFill>
                      <a:srgbClr val="FFFFFF"/>
                    </a:solidFill>
                  </a:tcPr>
                </a:tc>
                <a:tc>
                  <a:txBody>
                    <a:bodyPr wrap="square">
                      <a:normAutofit/>
                    </a:bodyPr>
                    <a:lstStyle/>
                    <a:p>
                      <a:pPr algn="ctr">
                        <a:buNone/>
                      </a:pPr>
                      <a:r>
                        <a:rPr sz="1088" b="0">
                          <a:solidFill>
                            <a:srgbClr val="142D45"/>
                          </a:solidFill>
                          <a:latin typeface="Aptos"/>
                          <a:ea typeface="Aptos"/>
                          <a:cs typeface="Aptos"/>
                        </a:rPr>
                        <a:t>366.868 ± 88.748</a:t>
                      </a:r>
                    </a:p>
                  </a:txBody>
                  <a:tcPr marL="91440" marR="91440" marT="45720" marB="45720" anchor="ctr">
                    <a:solidFill>
                      <a:srgbClr val="FFFFFF"/>
                    </a:solidFill>
                  </a:tcPr>
                </a:tc>
              </a:tr>
              <a:tr h="358486">
                <a:tc>
                  <a:txBody>
                    <a:bodyPr wrap="square">
                      <a:normAutofit/>
                    </a:bodyPr>
                    <a:lstStyle/>
                    <a:p>
                      <a:pPr algn="l">
                        <a:buNone/>
                      </a:pPr>
                      <a:r>
                        <a:rPr sz="1088" b="1">
                          <a:solidFill>
                            <a:srgbClr val="142D45"/>
                          </a:solidFill>
                          <a:latin typeface="Aptos"/>
                          <a:ea typeface="Aptos"/>
                          <a:cs typeface="Aptos"/>
                        </a:rPr>
                        <a:t>Redistribution · cross</a:t>
                      </a:r>
                    </a:p>
                  </a:txBody>
                  <a:tcPr marL="91440" marR="91440" marT="45720" marB="45720" anchor="ctr">
                    <a:solidFill>
                      <a:srgbClr val="F1F5F9"/>
                    </a:solidFill>
                  </a:tcPr>
                </a:tc>
                <a:tc>
                  <a:txBody>
                    <a:bodyPr wrap="square">
                      <a:normAutofit/>
                    </a:bodyPr>
                    <a:lstStyle/>
                    <a:p>
                      <a:pPr algn="ctr">
                        <a:buNone/>
                      </a:pPr>
                      <a:r>
                        <a:rPr sz="1088" b="0">
                          <a:solidFill>
                            <a:srgbClr val="142D45"/>
                          </a:solidFill>
                          <a:latin typeface="Aptos"/>
                          <a:ea typeface="Aptos"/>
                          <a:cs typeface="Aptos"/>
                        </a:rPr>
                        <a:t>3</a:t>
                      </a:r>
                    </a:p>
                  </a:txBody>
                  <a:tcPr marL="91440" marR="91440" marT="45720" marB="45720" anchor="ctr">
                    <a:solidFill>
                      <a:srgbClr val="F1F5F9"/>
                    </a:solidFill>
                  </a:tcPr>
                </a:tc>
                <a:tc>
                  <a:txBody>
                    <a:bodyPr wrap="square">
                      <a:normAutofit/>
                    </a:bodyPr>
                    <a:lstStyle/>
                    <a:p>
                      <a:pPr algn="ctr">
                        <a:buNone/>
                      </a:pPr>
                      <a:r>
                        <a:rPr sz="1088" b="0">
                          <a:solidFill>
                            <a:srgbClr val="142D45"/>
                          </a:solidFill>
                          <a:latin typeface="Aptos"/>
                          <a:ea typeface="Aptos"/>
                          <a:cs typeface="Aptos"/>
                        </a:rPr>
                        <a:t>474.078 ± 89.618</a:t>
                      </a:r>
                    </a:p>
                  </a:txBody>
                  <a:tcPr marL="91440" marR="91440" marT="45720" marB="45720" anchor="ctr">
                    <a:solidFill>
                      <a:srgbClr val="F1F5F9"/>
                    </a:solidFill>
                  </a:tcPr>
                </a:tc>
                <a:tc>
                  <a:txBody>
                    <a:bodyPr wrap="square">
                      <a:normAutofit/>
                    </a:bodyPr>
                    <a:lstStyle/>
                    <a:p>
                      <a:pPr algn="ctr">
                        <a:buNone/>
                      </a:pPr>
                      <a:r>
                        <a:rPr sz="1088" b="0">
                          <a:solidFill>
                            <a:srgbClr val="142D45"/>
                          </a:solidFill>
                          <a:latin typeface="Aptos"/>
                          <a:ea typeface="Aptos"/>
                          <a:cs typeface="Aptos"/>
                        </a:rPr>
                        <a:t>2.575 ± 1.336</a:t>
                      </a:r>
                    </a:p>
                  </a:txBody>
                  <a:tcPr marL="91440" marR="91440" marT="45720" marB="45720" anchor="ctr">
                    <a:solidFill>
                      <a:srgbClr val="F1F5F9"/>
                    </a:solidFill>
                  </a:tcPr>
                </a:tc>
                <a:tc>
                  <a:txBody>
                    <a:bodyPr wrap="square">
                      <a:normAutofit/>
                    </a:bodyPr>
                    <a:lstStyle/>
                    <a:p>
                      <a:pPr algn="ctr">
                        <a:buNone/>
                      </a:pPr>
                      <a:r>
                        <a:rPr sz="1088" b="0">
                          <a:solidFill>
                            <a:srgbClr val="142D45"/>
                          </a:solidFill>
                          <a:latin typeface="Aptos"/>
                          <a:ea typeface="Aptos"/>
                          <a:cs typeface="Aptos"/>
                        </a:rPr>
                        <a:t>0.879 ± 0.452</a:t>
                      </a:r>
                    </a:p>
                  </a:txBody>
                  <a:tcPr marL="91440" marR="91440" marT="45720" marB="45720" anchor="ctr">
                    <a:solidFill>
                      <a:srgbClr val="F1F5F9"/>
                    </a:solidFill>
                  </a:tcPr>
                </a:tc>
                <a:tc>
                  <a:txBody>
                    <a:bodyPr wrap="square">
                      <a:normAutofit/>
                    </a:bodyPr>
                    <a:lstStyle/>
                    <a:p>
                      <a:pPr algn="ctr">
                        <a:buNone/>
                      </a:pPr>
                      <a:r>
                        <a:rPr sz="1088" b="0">
                          <a:solidFill>
                            <a:srgbClr val="142D45"/>
                          </a:solidFill>
                          <a:latin typeface="Aptos"/>
                          <a:ea typeface="Aptos"/>
                          <a:cs typeface="Aptos"/>
                        </a:rPr>
                        <a:t>477.531 ± 91.062</a:t>
                      </a:r>
                    </a:p>
                  </a:txBody>
                  <a:tcPr marL="91440" marR="91440" marT="45720" marB="45720" anchor="ctr">
                    <a:solidFill>
                      <a:srgbClr val="F1F5F9"/>
                    </a:solidFill>
                  </a:tcPr>
                </a:tc>
              </a:tr>
            </a:tbl>
          </a:graphicData>
        </a:graphic>
      </p:graphicFrame>
      <p:sp>
        <p:nvSpPr>
          <p:cNvPr id="9" name="generation-definition">
            <a:extLst xmlns:a="http://schemas.openxmlformats.org/drawingml/2006/main">
              <a:ext uri="{FF2B5EF4-FFF2-40B4-BE49-F238E27FC236}">
                <a16:creationId xmlns:a16="http://schemas.microsoft.com/office/drawing/2014/main" id="{B468DDE7-52D9-4D7F-ACC5-F86EEB51D7EF}"/>
              </a:ext>
            </a:extLst>
          </p:cNvPr>
          <p:cNvSpPr>
            <a:spLocks xmlns:a="http://schemas.openxmlformats.org/drawingml/2006/main" noGrp="1"/>
          </p:cNvSpPr>
          <p:nvPr/>
        </p:nvSpPr>
        <p:spPr>
          <a:xfrm xmlns:a="http://schemas.openxmlformats.org/drawingml/2006/main">
            <a:off x="866775" y="5760720"/>
            <a:ext cx="10458450" cy="20116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buNone/>
              <a:defRPr sz="975">
                <a:solidFill>
                  <a:srgbClr val="142D45"/>
                </a:solidFill>
                <a:latin typeface="Aptos"/>
                <a:ea typeface="Aptos"/>
                <a:cs typeface="Aptos"/>
              </a:defRPr>
            </a:pPr>
            <a:r>
              <a:rPr sz="940">
                <a:solidFill>
                  <a:srgbClr val="142D45"/>
                </a:solidFill>
                <a:latin typeface="Aptos"/>
                <a:ea typeface="Aptos"/>
                <a:cs typeface="Aptos"/>
              </a:rPr>
              <a:t>Runtime: sin tracer, profiler ni logger en los jobs. Logs nativos: 0.115–0.319 MiB/run. T_gen incluye ciencia; CV 5.8–27.1%.</a:t>
            </a:r>
          </a:p>
        </p:txBody>
      </p:sp>
      <p:sp>
        <p:nvSpPr>
          <p:cNvPr id="10" name="collection-definition">
            <a:extLst xmlns:a="http://schemas.openxmlformats.org/drawingml/2006/main">
              <a:ext uri="{FF2B5EF4-FFF2-40B4-BE49-F238E27FC236}">
                <a16:creationId xmlns:a16="http://schemas.microsoft.com/office/drawing/2014/main" id="{9D534907-9A0B-41BD-ABB0-8EE905243D64}"/>
              </a:ext>
            </a:extLst>
          </p:cNvPr>
          <p:cNvSpPr>
            <a:spLocks xmlns:a="http://schemas.openxmlformats.org/drawingml/2006/main" noGrp="1"/>
          </p:cNvSpPr>
          <p:nvPr/>
        </p:nvSpPr>
        <p:spPr>
          <a:xfrm xmlns:a="http://schemas.openxmlformats.org/drawingml/2006/main">
            <a:off x="866775" y="5971032"/>
            <a:ext cx="10458450" cy="41148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buNone/>
              <a:defRPr sz="975">
                <a:solidFill>
                  <a:srgbClr val="34485D"/>
                </a:solidFill>
                <a:latin typeface="Aptos"/>
                <a:ea typeface="Aptos"/>
                <a:cs typeface="Aptos"/>
              </a:defRPr>
            </a:pPr>
            <a:r>
              <a:rPr sz="919">
                <a:solidFill>
                  <a:srgbClr val="34485D"/>
                </a:solidFill>
                <a:latin typeface="Aptos"/>
                <a:ea typeface="Aptos"/>
                <a:cs typeface="Aptos"/>
              </a:rPr>
              <a:t>Post-run (31 runs): T_collect media 2.53 s; Analyzer 0.73 s, CPU 0.35 s, RSS pico 21.2–24.1 MiB. Entrada 18.29–19.08 MiB; reportes 0.053–0.379 MiB; archivos adicionales preservados 0.135–1.356 MiB/run.</a:t>
            </a:r>
          </a:p>
        </p:txBody>
      </p:sp>
    </p:spTree>
    <p:extLst>
      <p:ext uri="{BB962C8B-B14F-4D97-AF65-F5344CB8AC3E}">
        <p14:creationId xmlns:p14="http://schemas.microsoft.com/office/powerpoint/2010/main" val="1846088521"/>
      </p:ext>
    </p:extLst>
  </p:cSld>
</p:sld>
</file>

<file path=ppt/slides/slide20.xml><?xml version="1.0" encoding="utf-8"?>
<p:sld xmlns:p="http://schemas.openxmlformats.org/presentationml/2006/main">
  <p:cSld>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8E4924E6-691E-4710-9E5E-DDE77DA23556}"/>
              </a:ext>
            </a:extLst>
          </p:cNvPr>
          <p:cNvSpPr>
            <a:spLocks xmlns:a="http://schemas.openxmlformats.org/drawingml/2006/main" noGrp="1"/>
          </p:cNvSpPr>
          <p:nvPr/>
        </p:nvSpPr>
        <p:spPr>
          <a:xfrm xmlns:a="http://schemas.openxmlformats.org/drawingml/2006/main">
            <a:off x="0" y="0"/>
            <a:ext cx="12191695" cy="109728"/>
          </a:xfrm>
          <a:prstGeom xmlns:a="http://schemas.openxmlformats.org/drawingml/2006/main" prst="rect">
            <a:avLst/>
          </a:prstGeom>
          <a:solidFill xmlns:a="http://schemas.openxmlformats.org/drawingml/2006/main">
            <a:srgbClr val="16A34A"/>
          </a:solidFill>
          <a:ln xmlns:a="http://schemas.openxmlformats.org/drawingml/2006/main" w="12700">
            <a:solidFill>
              <a:srgbClr val="16A34A"/>
            </a:solidFill>
            <a:prstDash val="solid"/>
          </a:ln>
        </p:spPr>
      </p:sp>
      <p:sp>
        <p:nvSpPr>
          <p:cNvPr id="3" name="Text 1">
            <a:extLst xmlns:a="http://schemas.openxmlformats.org/drawingml/2006/main">
              <a:ext uri="{FF2B5EF4-FFF2-40B4-BE49-F238E27FC236}">
                <a16:creationId xmlns:a16="http://schemas.microsoft.com/office/drawing/2014/main" id="{8C9809D1-E96A-4811-941B-75D86C3024F5}"/>
              </a:ext>
            </a:extLst>
          </p:cNvPr>
          <p:cNvSpPr>
            <a:spLocks xmlns:a="http://schemas.openxmlformats.org/drawingml/2006/main" noGrp="1"/>
          </p:cNvSpPr>
          <p:nvPr/>
        </p:nvSpPr>
        <p:spPr>
          <a:xfrm xmlns:a="http://schemas.openxmlformats.org/drawingml/2006/main">
            <a:off x="658368" y="384048"/>
            <a:ext cx="292608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850" b="1">
                <a:solidFill>
                  <a:srgbClr val="2563EB"/>
                </a:solidFill>
                <a:latin typeface="Aptos"/>
                <a:ea typeface="Aptos"/>
                <a:cs typeface="Aptos"/>
              </a:rPr>
              <a:t>EVIDENCIA</a:t>
            </a:r>
            <a:endParaRPr sz="850"/>
          </a:p>
        </p:txBody>
      </p:sp>
      <p:sp>
        <p:nvSpPr>
          <p:cNvPr id="4" name="Text 2">
            <a:extLst xmlns:a="http://schemas.openxmlformats.org/drawingml/2006/main">
              <a:ext uri="{FF2B5EF4-FFF2-40B4-BE49-F238E27FC236}">
                <a16:creationId xmlns:a16="http://schemas.microsoft.com/office/drawing/2014/main" id="{DA5F9BD3-A049-48B4-A2B1-9CDC3D603E8F}"/>
              </a:ext>
            </a:extLst>
          </p:cNvPr>
          <p:cNvSpPr>
            <a:spLocks xmlns:a="http://schemas.openxmlformats.org/drawingml/2006/main" noGrp="1"/>
          </p:cNvSpPr>
          <p:nvPr/>
        </p:nvSpPr>
        <p:spPr>
          <a:xfrm xmlns:a="http://schemas.openxmlformats.org/drawingml/2006/main">
            <a:off x="621792" y="621792"/>
            <a:ext cx="10881360" cy="530352"/>
          </a:xfrm>
          <a:prstGeom xmlns:a="http://schemas.openxmlformats.org/drawingml/2006/main" prst="rect">
            <a:avLst/>
          </a:prstGeom>
          <a:noFill xmlns:a="http://schemas.openxmlformats.org/drawingml/2006/main"/>
        </p:spPr>
        <p:txBody>
          <a:bodyPr xmlns:a="http://schemas.openxmlformats.org/drawingml/2006/main" wrap="square" lIns="254" tIns="254" rIns="254" bIns="254" anchor="ctr">
            <a:normAutofit fontScale="100000"/>
          </a:bodyPr>
          <a:lstStyle xmlns:a="http://schemas.openxmlformats.org/drawingml/2006/main"/>
          <a:p xmlns:a="http://schemas.openxmlformats.org/drawingml/2006/main">
            <a:pPr marL="0" indent="0">
              <a:buNone/>
            </a:pPr>
            <a:r>
              <a:rPr sz="2500" b="1">
                <a:solidFill>
                  <a:srgbClr val="102A43"/>
                </a:solidFill>
                <a:latin typeface="Aptos Display"/>
                <a:ea typeface="Aptos Display"/>
                <a:cs typeface="Aptos Display"/>
              </a:rPr>
              <a:t>19. TransferEvidence y reconciliación</a:t>
            </a:r>
            <a:endParaRPr sz="2500"/>
          </a:p>
        </p:txBody>
      </p:sp>
      <p:sp>
        <p:nvSpPr>
          <p:cNvPr id="5" name="Shape 3">
            <a:extLst xmlns:a="http://schemas.openxmlformats.org/drawingml/2006/main">
              <a:ext uri="{FF2B5EF4-FFF2-40B4-BE49-F238E27FC236}">
                <a16:creationId xmlns:a16="http://schemas.microsoft.com/office/drawing/2014/main" id="{DE7BBAFD-EAA4-4687-B648-117EDFD67E53}"/>
              </a:ext>
            </a:extLst>
          </p:cNvPr>
          <p:cNvSpPr>
            <a:spLocks xmlns:a="http://schemas.openxmlformats.org/drawingml/2006/main" noGrp="1"/>
          </p:cNvSpPr>
          <p:nvPr/>
        </p:nvSpPr>
        <p:spPr>
          <a:xfrm xmlns:a="http://schemas.openxmlformats.org/drawingml/2006/main">
            <a:off x="777240" y="1572768"/>
            <a:ext cx="3383280" cy="1097280"/>
          </a:xfrm>
          <a:prstGeom xmlns:a="http://schemas.openxmlformats.org/drawingml/2006/main" prst="roundRect">
            <a:avLst>
              <a:gd name="adj" fmla="val 8333"/>
            </a:avLst>
          </a:prstGeom>
          <a:solidFill xmlns:a="http://schemas.openxmlformats.org/drawingml/2006/main">
            <a:srgbClr val="FFFFFF"/>
          </a:solidFill>
          <a:ln xmlns:a="http://schemas.openxmlformats.org/drawingml/2006/main" w="10160">
            <a:solidFill>
              <a:srgbClr val="CBD5E1"/>
            </a:solidFill>
            <a:prstDash val="solid"/>
          </a:ln>
        </p:spPr>
      </p:sp>
      <p:sp>
        <p:nvSpPr>
          <p:cNvPr id="6" name="Shape 4">
            <a:extLst xmlns:a="http://schemas.openxmlformats.org/drawingml/2006/main">
              <a:ext uri="{FF2B5EF4-FFF2-40B4-BE49-F238E27FC236}">
                <a16:creationId xmlns:a16="http://schemas.microsoft.com/office/drawing/2014/main" id="{A5BEA0AF-11C4-41F6-9825-24297D92F172}"/>
              </a:ext>
            </a:extLst>
          </p:cNvPr>
          <p:cNvSpPr>
            <a:spLocks xmlns:a="http://schemas.openxmlformats.org/drawingml/2006/main" noGrp="1"/>
          </p:cNvSpPr>
          <p:nvPr/>
        </p:nvSpPr>
        <p:spPr>
          <a:xfrm xmlns:a="http://schemas.openxmlformats.org/drawingml/2006/main">
            <a:off x="777240" y="1572768"/>
            <a:ext cx="73152" cy="1097280"/>
          </a:xfrm>
          <a:prstGeom xmlns:a="http://schemas.openxmlformats.org/drawingml/2006/main" prst="rect">
            <a:avLst/>
          </a:prstGeom>
          <a:solidFill xmlns:a="http://schemas.openxmlformats.org/drawingml/2006/main">
            <a:srgbClr val="16A34A"/>
          </a:solidFill>
          <a:ln xmlns:a="http://schemas.openxmlformats.org/drawingml/2006/main" w="12700">
            <a:solidFill>
              <a:srgbClr val="16A34A"/>
            </a:solidFill>
            <a:prstDash val="solid"/>
          </a:ln>
        </p:spPr>
      </p:sp>
      <p:sp>
        <p:nvSpPr>
          <p:cNvPr id="7" name="Text 5">
            <a:extLst xmlns:a="http://schemas.openxmlformats.org/drawingml/2006/main">
              <a:ext uri="{FF2B5EF4-FFF2-40B4-BE49-F238E27FC236}">
                <a16:creationId xmlns:a16="http://schemas.microsoft.com/office/drawing/2014/main" id="{E9F3FCF6-A57F-493C-B035-25EB5D69BEB8}"/>
              </a:ext>
            </a:extLst>
          </p:cNvPr>
          <p:cNvSpPr>
            <a:spLocks xmlns:a="http://schemas.openxmlformats.org/drawingml/2006/main" noGrp="1"/>
          </p:cNvSpPr>
          <p:nvPr/>
        </p:nvSpPr>
        <p:spPr>
          <a:xfrm xmlns:a="http://schemas.openxmlformats.org/drawingml/2006/main">
            <a:off x="960120" y="1719072"/>
            <a:ext cx="306324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buNone/>
            </a:pPr>
            <a:r>
              <a:rPr sz="1000" b="1">
                <a:solidFill>
                  <a:srgbClr val="16A34A"/>
                </a:solidFill>
              </a:rPr>
              <a:t>JobTransferManifest</a:t>
            </a:r>
            <a:endParaRPr sz="1000"/>
          </a:p>
        </p:txBody>
      </p:sp>
      <p:sp>
        <p:nvSpPr>
          <p:cNvPr id="8" name="Text 6">
            <a:extLst xmlns:a="http://schemas.openxmlformats.org/drawingml/2006/main">
              <a:ext uri="{FF2B5EF4-FFF2-40B4-BE49-F238E27FC236}">
                <a16:creationId xmlns:a16="http://schemas.microsoft.com/office/drawing/2014/main" id="{70DC2810-D386-4AFC-A3D5-7B7084191347}"/>
              </a:ext>
            </a:extLst>
          </p:cNvPr>
          <p:cNvSpPr>
            <a:spLocks xmlns:a="http://schemas.openxmlformats.org/drawingml/2006/main" noGrp="1"/>
          </p:cNvSpPr>
          <p:nvPr/>
        </p:nvSpPr>
        <p:spPr>
          <a:xfrm xmlns:a="http://schemas.openxmlformats.org/drawingml/2006/main">
            <a:off x="960120" y="2011680"/>
            <a:ext cx="306324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buNone/>
            </a:pPr>
            <a:r>
              <a:rPr sz="1600" b="1">
                <a:solidFill>
                  <a:srgbClr val="102A43"/>
                </a:solidFill>
              </a:rPr>
              <a:t>Payload declarado</a:t>
            </a:r>
            <a:endParaRPr sz="1600"/>
          </a:p>
        </p:txBody>
      </p:sp>
      <p:sp>
        <p:nvSpPr>
          <p:cNvPr id="9" name="Text 7">
            <a:extLst xmlns:a="http://schemas.openxmlformats.org/drawingml/2006/main">
              <a:ext uri="{FF2B5EF4-FFF2-40B4-BE49-F238E27FC236}">
                <a16:creationId xmlns:a16="http://schemas.microsoft.com/office/drawing/2014/main" id="{F1E7C43C-93D5-43F1-AC3C-5DCE0E7A8F49}"/>
              </a:ext>
            </a:extLst>
          </p:cNvPr>
          <p:cNvSpPr>
            <a:spLocks xmlns:a="http://schemas.openxmlformats.org/drawingml/2006/main" noGrp="1"/>
          </p:cNvSpPr>
          <p:nvPr/>
        </p:nvSpPr>
        <p:spPr>
          <a:xfrm xmlns:a="http://schemas.openxmlformats.org/drawingml/2006/main">
            <a:off x="960120" y="2350008"/>
            <a:ext cx="3063240" cy="22860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buNone/>
            </a:pPr>
            <a:r>
              <a:rPr sz="850">
                <a:solidFill>
                  <a:srgbClr val="64748B"/>
                </a:solidFill>
              </a:rPr>
              <a:t>Archivos esperados por job y dirección</a:t>
            </a:r>
            <a:endParaRPr sz="850"/>
          </a:p>
        </p:txBody>
      </p:sp>
      <p:sp>
        <p:nvSpPr>
          <p:cNvPr id="10" name="Shape 8">
            <a:extLst xmlns:a="http://schemas.openxmlformats.org/drawingml/2006/main">
              <a:ext uri="{FF2B5EF4-FFF2-40B4-BE49-F238E27FC236}">
                <a16:creationId xmlns:a16="http://schemas.microsoft.com/office/drawing/2014/main" id="{87C00166-F711-427E-9E35-896F7F988114}"/>
              </a:ext>
            </a:extLst>
          </p:cNvPr>
          <p:cNvSpPr>
            <a:spLocks xmlns:a="http://schemas.openxmlformats.org/drawingml/2006/main" noGrp="1"/>
          </p:cNvSpPr>
          <p:nvPr/>
        </p:nvSpPr>
        <p:spPr>
          <a:xfrm xmlns:a="http://schemas.openxmlformats.org/drawingml/2006/main">
            <a:off x="4434840" y="1572768"/>
            <a:ext cx="3383280" cy="1097280"/>
          </a:xfrm>
          <a:prstGeom xmlns:a="http://schemas.openxmlformats.org/drawingml/2006/main" prst="roundRect">
            <a:avLst>
              <a:gd name="adj" fmla="val 8333"/>
            </a:avLst>
          </a:prstGeom>
          <a:solidFill xmlns:a="http://schemas.openxmlformats.org/drawingml/2006/main">
            <a:srgbClr val="FFFFFF"/>
          </a:solidFill>
          <a:ln xmlns:a="http://schemas.openxmlformats.org/drawingml/2006/main" w="10160">
            <a:solidFill>
              <a:srgbClr val="CBD5E1"/>
            </a:solidFill>
            <a:prstDash val="solid"/>
          </a:ln>
        </p:spPr>
      </p:sp>
      <p:sp>
        <p:nvSpPr>
          <p:cNvPr id="11" name="Shape 9">
            <a:extLst xmlns:a="http://schemas.openxmlformats.org/drawingml/2006/main">
              <a:ext uri="{FF2B5EF4-FFF2-40B4-BE49-F238E27FC236}">
                <a16:creationId xmlns:a16="http://schemas.microsoft.com/office/drawing/2014/main" id="{55F95C71-3BAB-4337-96A3-D6EB8352550E}"/>
              </a:ext>
            </a:extLst>
          </p:cNvPr>
          <p:cNvSpPr>
            <a:spLocks xmlns:a="http://schemas.openxmlformats.org/drawingml/2006/main" noGrp="1"/>
          </p:cNvSpPr>
          <p:nvPr/>
        </p:nvSpPr>
        <p:spPr>
          <a:xfrm xmlns:a="http://schemas.openxmlformats.org/drawingml/2006/main">
            <a:off x="4434840" y="1572768"/>
            <a:ext cx="73152" cy="1097280"/>
          </a:xfrm>
          <a:prstGeom xmlns:a="http://schemas.openxmlformats.org/drawingml/2006/main" prst="rect">
            <a:avLst/>
          </a:prstGeom>
          <a:solidFill xmlns:a="http://schemas.openxmlformats.org/drawingml/2006/main">
            <a:srgbClr val="2563EB"/>
          </a:solidFill>
          <a:ln xmlns:a="http://schemas.openxmlformats.org/drawingml/2006/main" w="12700">
            <a:solidFill>
              <a:srgbClr val="2563EB"/>
            </a:solidFill>
            <a:prstDash val="solid"/>
          </a:ln>
        </p:spPr>
      </p:sp>
      <p:sp>
        <p:nvSpPr>
          <p:cNvPr id="12" name="Text 10">
            <a:extLst xmlns:a="http://schemas.openxmlformats.org/drawingml/2006/main">
              <a:ext uri="{FF2B5EF4-FFF2-40B4-BE49-F238E27FC236}">
                <a16:creationId xmlns:a16="http://schemas.microsoft.com/office/drawing/2014/main" id="{27873AE4-2398-422B-A90A-780B165AFCF3}"/>
              </a:ext>
            </a:extLst>
          </p:cNvPr>
          <p:cNvSpPr>
            <a:spLocks xmlns:a="http://schemas.openxmlformats.org/drawingml/2006/main" noGrp="1"/>
          </p:cNvSpPr>
          <p:nvPr/>
        </p:nvSpPr>
        <p:spPr>
          <a:xfrm xmlns:a="http://schemas.openxmlformats.org/drawingml/2006/main">
            <a:off x="4617720" y="1719072"/>
            <a:ext cx="306324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buNone/>
            </a:pPr>
            <a:r>
              <a:rPr sz="1000" b="1">
                <a:solidFill>
                  <a:srgbClr val="2563EB"/>
                </a:solidFill>
              </a:rPr>
              <a:t>TransferEvidence</a:t>
            </a:r>
            <a:endParaRPr sz="1000"/>
          </a:p>
        </p:txBody>
      </p:sp>
      <p:sp>
        <p:nvSpPr>
          <p:cNvPr id="13" name="Text 11">
            <a:extLst xmlns:a="http://schemas.openxmlformats.org/drawingml/2006/main">
              <a:ext uri="{FF2B5EF4-FFF2-40B4-BE49-F238E27FC236}">
                <a16:creationId xmlns:a16="http://schemas.microsoft.com/office/drawing/2014/main" id="{8E9AB14A-A678-4FDA-83F9-860118A84D3B}"/>
              </a:ext>
            </a:extLst>
          </p:cNvPr>
          <p:cNvSpPr>
            <a:spLocks xmlns:a="http://schemas.openxmlformats.org/drawingml/2006/main" noGrp="1"/>
          </p:cNvSpPr>
          <p:nvPr/>
        </p:nvSpPr>
        <p:spPr>
          <a:xfrm xmlns:a="http://schemas.openxmlformats.org/drawingml/2006/main">
            <a:off x="4617720" y="2011680"/>
            <a:ext cx="306324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buNone/>
            </a:pPr>
            <a:r>
              <a:rPr sz="1600" b="1">
                <a:solidFill>
                  <a:srgbClr val="102A43"/>
                </a:solidFill>
              </a:rPr>
              <a:t>HTCondor history</a:t>
            </a:r>
            <a:endParaRPr sz="1600"/>
          </a:p>
        </p:txBody>
      </p:sp>
      <p:sp>
        <p:nvSpPr>
          <p:cNvPr id="14" name="Text 12">
            <a:extLst xmlns:a="http://schemas.openxmlformats.org/drawingml/2006/main">
              <a:ext uri="{FF2B5EF4-FFF2-40B4-BE49-F238E27FC236}">
                <a16:creationId xmlns:a16="http://schemas.microsoft.com/office/drawing/2014/main" id="{1E28A2C4-1D97-49FA-90E3-B1A31EAB48BF}"/>
              </a:ext>
            </a:extLst>
          </p:cNvPr>
          <p:cNvSpPr>
            <a:spLocks xmlns:a="http://schemas.openxmlformats.org/drawingml/2006/main" noGrp="1"/>
          </p:cNvSpPr>
          <p:nvPr/>
        </p:nvSpPr>
        <p:spPr>
          <a:xfrm xmlns:a="http://schemas.openxmlformats.org/drawingml/2006/main">
            <a:off x="4617720" y="2350008"/>
            <a:ext cx="3063240" cy="22860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buNone/>
            </a:pPr>
            <a:r>
              <a:rPr sz="850">
                <a:solidFill>
                  <a:srgbClr val="64748B"/>
                </a:solidFill>
              </a:rPr>
              <a:t>Worker, método, conteos, bytes y estado</a:t>
            </a:r>
            <a:endParaRPr sz="850"/>
          </a:p>
        </p:txBody>
      </p:sp>
      <p:sp>
        <p:nvSpPr>
          <p:cNvPr id="15" name="Shape 13">
            <a:extLst xmlns:a="http://schemas.openxmlformats.org/drawingml/2006/main">
              <a:ext uri="{FF2B5EF4-FFF2-40B4-BE49-F238E27FC236}">
                <a16:creationId xmlns:a16="http://schemas.microsoft.com/office/drawing/2014/main" id="{BC95549B-6FFF-445C-9008-0AD92E648F0E}"/>
              </a:ext>
            </a:extLst>
          </p:cNvPr>
          <p:cNvSpPr>
            <a:spLocks xmlns:a="http://schemas.openxmlformats.org/drawingml/2006/main" noGrp="1"/>
          </p:cNvSpPr>
          <p:nvPr/>
        </p:nvSpPr>
        <p:spPr>
          <a:xfrm xmlns:a="http://schemas.openxmlformats.org/drawingml/2006/main">
            <a:off x="8092440" y="1572768"/>
            <a:ext cx="3383280" cy="1097280"/>
          </a:xfrm>
          <a:prstGeom xmlns:a="http://schemas.openxmlformats.org/drawingml/2006/main" prst="roundRect">
            <a:avLst>
              <a:gd name="adj" fmla="val 8333"/>
            </a:avLst>
          </a:prstGeom>
          <a:solidFill xmlns:a="http://schemas.openxmlformats.org/drawingml/2006/main">
            <a:srgbClr val="FFFFFF"/>
          </a:solidFill>
          <a:ln xmlns:a="http://schemas.openxmlformats.org/drawingml/2006/main" w="10160">
            <a:solidFill>
              <a:srgbClr val="CBD5E1"/>
            </a:solidFill>
            <a:prstDash val="solid"/>
          </a:ln>
        </p:spPr>
      </p:sp>
      <p:sp>
        <p:nvSpPr>
          <p:cNvPr id="16" name="Shape 14">
            <a:extLst xmlns:a="http://schemas.openxmlformats.org/drawingml/2006/main">
              <a:ext uri="{FF2B5EF4-FFF2-40B4-BE49-F238E27FC236}">
                <a16:creationId xmlns:a16="http://schemas.microsoft.com/office/drawing/2014/main" id="{78783526-9F9A-4622-A4CF-610E15A11DE9}"/>
              </a:ext>
            </a:extLst>
          </p:cNvPr>
          <p:cNvSpPr>
            <a:spLocks xmlns:a="http://schemas.openxmlformats.org/drawingml/2006/main" noGrp="1"/>
          </p:cNvSpPr>
          <p:nvPr/>
        </p:nvSpPr>
        <p:spPr>
          <a:xfrm xmlns:a="http://schemas.openxmlformats.org/drawingml/2006/main">
            <a:off x="8092440" y="1572768"/>
            <a:ext cx="73152" cy="1097280"/>
          </a:xfrm>
          <a:prstGeom xmlns:a="http://schemas.openxmlformats.org/drawingml/2006/main" prst="rect">
            <a:avLst/>
          </a:prstGeom>
          <a:solidFill xmlns:a="http://schemas.openxmlformats.org/drawingml/2006/main">
            <a:srgbClr val="6D28D9"/>
          </a:solidFill>
          <a:ln xmlns:a="http://schemas.openxmlformats.org/drawingml/2006/main" w="12700">
            <a:solidFill>
              <a:srgbClr val="6D28D9"/>
            </a:solidFill>
            <a:prstDash val="solid"/>
          </a:ln>
        </p:spPr>
      </p:sp>
      <p:sp>
        <p:nvSpPr>
          <p:cNvPr id="17" name="Text 15">
            <a:extLst xmlns:a="http://schemas.openxmlformats.org/drawingml/2006/main">
              <a:ext uri="{FF2B5EF4-FFF2-40B4-BE49-F238E27FC236}">
                <a16:creationId xmlns:a16="http://schemas.microsoft.com/office/drawing/2014/main" id="{C2B4D845-7C3B-493B-B0B4-72A705E1E68F}"/>
              </a:ext>
            </a:extLst>
          </p:cNvPr>
          <p:cNvSpPr>
            <a:spLocks xmlns:a="http://schemas.openxmlformats.org/drawingml/2006/main" noGrp="1"/>
          </p:cNvSpPr>
          <p:nvPr/>
        </p:nvSpPr>
        <p:spPr>
          <a:xfrm xmlns:a="http://schemas.openxmlformats.org/drawingml/2006/main">
            <a:off x="8275320" y="1719072"/>
            <a:ext cx="306324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buNone/>
            </a:pPr>
            <a:r>
              <a:rPr sz="1000" b="1">
                <a:solidFill>
                  <a:srgbClr val="6D28D9"/>
                </a:solidFill>
              </a:rPr>
              <a:t>MovementVerification</a:t>
            </a:r>
            <a:endParaRPr sz="1000"/>
          </a:p>
        </p:txBody>
      </p:sp>
      <p:sp>
        <p:nvSpPr>
          <p:cNvPr id="18" name="Text 16">
            <a:extLst xmlns:a="http://schemas.openxmlformats.org/drawingml/2006/main">
              <a:ext uri="{FF2B5EF4-FFF2-40B4-BE49-F238E27FC236}">
                <a16:creationId xmlns:a16="http://schemas.microsoft.com/office/drawing/2014/main" id="{D6732BB7-30D4-4E66-86C0-A0CB627EB5DE}"/>
              </a:ext>
            </a:extLst>
          </p:cNvPr>
          <p:cNvSpPr>
            <a:spLocks xmlns:a="http://schemas.openxmlformats.org/drawingml/2006/main" noGrp="1"/>
          </p:cNvSpPr>
          <p:nvPr/>
        </p:nvSpPr>
        <p:spPr>
          <a:xfrm xmlns:a="http://schemas.openxmlformats.org/drawingml/2006/main">
            <a:off x="8275320" y="2011680"/>
            <a:ext cx="306324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buNone/>
            </a:pPr>
            <a:r>
              <a:rPr sz="1600" b="1">
                <a:solidFill>
                  <a:srgbClr val="102A43"/>
                </a:solidFill>
              </a:rPr>
              <a:t>Confirmed / insufficient</a:t>
            </a:r>
            <a:endParaRPr sz="1600"/>
          </a:p>
        </p:txBody>
      </p:sp>
      <p:sp>
        <p:nvSpPr>
          <p:cNvPr id="19" name="Text 17">
            <a:extLst xmlns:a="http://schemas.openxmlformats.org/drawingml/2006/main">
              <a:ext uri="{FF2B5EF4-FFF2-40B4-BE49-F238E27FC236}">
                <a16:creationId xmlns:a16="http://schemas.microsoft.com/office/drawing/2014/main" id="{8AF52F02-AE48-4344-923F-2EED13A4B010}"/>
              </a:ext>
            </a:extLst>
          </p:cNvPr>
          <p:cNvSpPr>
            <a:spLocks xmlns:a="http://schemas.openxmlformats.org/drawingml/2006/main" noGrp="1"/>
          </p:cNvSpPr>
          <p:nvPr/>
        </p:nvSpPr>
        <p:spPr>
          <a:xfrm xmlns:a="http://schemas.openxmlformats.org/drawingml/2006/main">
            <a:off x="8275320" y="2350008"/>
            <a:ext cx="3063240" cy="22860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buNone/>
            </a:pPr>
            <a:r>
              <a:rPr sz="850">
                <a:solidFill>
                  <a:srgbClr val="64748B"/>
                </a:solidFill>
              </a:rPr>
              <a:t>Nivel, modo, razón y ocurrencias confirmadas</a:t>
            </a:r>
            <a:endParaRPr sz="850"/>
          </a:p>
        </p:txBody>
      </p:sp>
      <p:sp>
        <p:nvSpPr>
          <p:cNvPr id="20" name="Text 18">
            <a:extLst xmlns:a="http://schemas.openxmlformats.org/drawingml/2006/main">
              <a:ext uri="{FF2B5EF4-FFF2-40B4-BE49-F238E27FC236}">
                <a16:creationId xmlns:a16="http://schemas.microsoft.com/office/drawing/2014/main" id="{06FC9E63-1916-4F66-B7BA-06C1203C7DC2}"/>
              </a:ext>
            </a:extLst>
          </p:cNvPr>
          <p:cNvSpPr>
            <a:spLocks xmlns:a="http://schemas.openxmlformats.org/drawingml/2006/main" noGrp="1"/>
          </p:cNvSpPr>
          <p:nvPr/>
        </p:nvSpPr>
        <p:spPr>
          <a:xfrm xmlns:a="http://schemas.openxmlformats.org/drawingml/2006/main">
            <a:off x="914400" y="3273552"/>
            <a:ext cx="3108960" cy="2286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b="1">
                <a:solidFill>
                  <a:srgbClr val="102A43"/>
                </a:solidFill>
              </a:rPr>
              <a:t>Niveles de evidencia</a:t>
            </a:r>
            <a:endParaRPr sz="1200"/>
          </a:p>
        </p:txBody>
      </p:sp>
      <p:sp>
        <p:nvSpPr>
          <p:cNvPr id="21" name="Text 19">
            <a:extLst xmlns:a="http://schemas.openxmlformats.org/drawingml/2006/main">
              <a:ext uri="{FF2B5EF4-FFF2-40B4-BE49-F238E27FC236}">
                <a16:creationId xmlns:a16="http://schemas.microsoft.com/office/drawing/2014/main" id="{2D40BC46-E216-4CE7-A159-1EC9639EA09A}"/>
              </a:ext>
            </a:extLst>
          </p:cNvPr>
          <p:cNvSpPr>
            <a:spLocks xmlns:a="http://schemas.openxmlformats.org/drawingml/2006/main" noGrp="1"/>
          </p:cNvSpPr>
          <p:nvPr/>
        </p:nvSpPr>
        <p:spPr>
          <a:xfrm xmlns:a="http://schemas.openxmlformats.org/drawingml/2006/main">
            <a:off x="914400" y="3776472"/>
            <a:ext cx="1051560" cy="16459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850" b="1">
                <a:solidFill>
                  <a:srgbClr val="64748B"/>
                </a:solidFill>
              </a:rPr>
              <a:t>FILE-LEVEL</a:t>
            </a:r>
            <a:endParaRPr sz="850"/>
          </a:p>
        </p:txBody>
      </p:sp>
      <p:sp>
        <p:nvSpPr>
          <p:cNvPr id="22" name="Shape 20">
            <a:extLst xmlns:a="http://schemas.openxmlformats.org/drawingml/2006/main">
              <a:ext uri="{FF2B5EF4-FFF2-40B4-BE49-F238E27FC236}">
                <a16:creationId xmlns:a16="http://schemas.microsoft.com/office/drawing/2014/main" id="{F323A713-76F7-42CA-AED4-6BE0742F81D0}"/>
              </a:ext>
            </a:extLst>
          </p:cNvPr>
          <p:cNvSpPr>
            <a:spLocks xmlns:a="http://schemas.openxmlformats.org/drawingml/2006/main" noGrp="1"/>
          </p:cNvSpPr>
          <p:nvPr/>
        </p:nvSpPr>
        <p:spPr>
          <a:xfrm xmlns:a="http://schemas.openxmlformats.org/drawingml/2006/main">
            <a:off x="2057400" y="3749040"/>
            <a:ext cx="209550" cy="201168"/>
          </a:xfrm>
          <a:prstGeom xmlns:a="http://schemas.openxmlformats.org/drawingml/2006/main" prst="rect">
            <a:avLst/>
          </a:prstGeom>
          <a:solidFill xmlns:a="http://schemas.openxmlformats.org/drawingml/2006/main">
            <a:srgbClr val="16A34A"/>
          </a:solidFill>
          <a:ln xmlns:a="http://schemas.openxmlformats.org/drawingml/2006/main" w="4763">
            <a:solidFill>
              <a:srgbClr val="16A34A"/>
            </a:solidFill>
            <a:prstDash val="solid"/>
          </a:ln>
        </p:spPr>
      </p:sp>
      <p:sp>
        <p:nvSpPr>
          <p:cNvPr id="23" name="Shape 21">
            <a:extLst xmlns:a="http://schemas.openxmlformats.org/drawingml/2006/main">
              <a:ext uri="{FF2B5EF4-FFF2-40B4-BE49-F238E27FC236}">
                <a16:creationId xmlns:a16="http://schemas.microsoft.com/office/drawing/2014/main" id="{A439A820-F9FE-41DF-8C87-978A892AD2EA}"/>
              </a:ext>
            </a:extLst>
          </p:cNvPr>
          <p:cNvSpPr>
            <a:spLocks xmlns:a="http://schemas.openxmlformats.org/drawingml/2006/main" noGrp="1"/>
          </p:cNvSpPr>
          <p:nvPr/>
        </p:nvSpPr>
        <p:spPr>
          <a:xfrm xmlns:a="http://schemas.openxmlformats.org/drawingml/2006/main">
            <a:off x="2057400" y="3749040"/>
            <a:ext cx="209550" cy="201168"/>
          </a:xfrm>
          <a:prstGeom xmlns:a="http://schemas.openxmlformats.org/drawingml/2006/main" prst="rect">
            <a:avLst/>
          </a:prstGeom>
          <a:noFill xmlns:a="http://schemas.openxmlformats.org/drawingml/2006/main"/>
          <a:ln xmlns:a="http://schemas.openxmlformats.org/drawingml/2006/main" w="0">
            <a:noFill/>
            <a:prstDash val="solid"/>
          </a:ln>
        </p:spPr>
      </p:sp>
      <p:sp>
        <p:nvSpPr>
          <p:cNvPr id="24" name="Text 22">
            <a:extLst xmlns:a="http://schemas.openxmlformats.org/drawingml/2006/main">
              <a:ext uri="{FF2B5EF4-FFF2-40B4-BE49-F238E27FC236}">
                <a16:creationId xmlns:a16="http://schemas.microsoft.com/office/drawing/2014/main" id="{3D0B3BC7-D978-4936-9CCB-EA099F6D4D6C}"/>
              </a:ext>
            </a:extLst>
          </p:cNvPr>
          <p:cNvSpPr>
            <a:spLocks xmlns:a="http://schemas.openxmlformats.org/drawingml/2006/main" noGrp="1"/>
          </p:cNvSpPr>
          <p:nvPr/>
        </p:nvSpPr>
        <p:spPr>
          <a:xfrm xmlns:a="http://schemas.openxmlformats.org/drawingml/2006/main">
            <a:off x="2457450" y="3749040"/>
            <a:ext cx="8572500" cy="2011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820">
                <a:solidFill>
                  <a:srgbClr val="64748B"/>
                </a:solidFill>
              </a:rPr>
              <a:t>Identidad y evidencia confirman la ocurrencia</a:t>
            </a:r>
            <a:endParaRPr sz="820"/>
          </a:p>
        </p:txBody>
      </p:sp>
      <p:sp>
        <p:nvSpPr>
          <p:cNvPr id="25" name="Text 23">
            <a:extLst xmlns:a="http://schemas.openxmlformats.org/drawingml/2006/main">
              <a:ext uri="{FF2B5EF4-FFF2-40B4-BE49-F238E27FC236}">
                <a16:creationId xmlns:a16="http://schemas.microsoft.com/office/drawing/2014/main" id="{65E58F1A-B296-402B-982A-543850A40117}"/>
              </a:ext>
            </a:extLst>
          </p:cNvPr>
          <p:cNvSpPr>
            <a:spLocks xmlns:a="http://schemas.openxmlformats.org/drawingml/2006/main" noGrp="1"/>
          </p:cNvSpPr>
          <p:nvPr/>
        </p:nvSpPr>
        <p:spPr>
          <a:xfrm xmlns:a="http://schemas.openxmlformats.org/drawingml/2006/main">
            <a:off x="914400" y="4215384"/>
            <a:ext cx="1051560" cy="16459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850" b="1">
                <a:solidFill>
                  <a:srgbClr val="64748B"/>
                </a:solidFill>
              </a:rPr>
              <a:t>JOB-LEVEL</a:t>
            </a:r>
            <a:endParaRPr sz="850"/>
          </a:p>
        </p:txBody>
      </p:sp>
      <p:sp>
        <p:nvSpPr>
          <p:cNvPr id="26" name="Shape 24">
            <a:extLst xmlns:a="http://schemas.openxmlformats.org/drawingml/2006/main">
              <a:ext uri="{FF2B5EF4-FFF2-40B4-BE49-F238E27FC236}">
                <a16:creationId xmlns:a16="http://schemas.microsoft.com/office/drawing/2014/main" id="{431FD5C7-8D89-434C-852E-351BD86223BF}"/>
              </a:ext>
            </a:extLst>
          </p:cNvPr>
          <p:cNvSpPr>
            <a:spLocks xmlns:a="http://schemas.openxmlformats.org/drawingml/2006/main" noGrp="1"/>
          </p:cNvSpPr>
          <p:nvPr/>
        </p:nvSpPr>
        <p:spPr>
          <a:xfrm xmlns:a="http://schemas.openxmlformats.org/drawingml/2006/main">
            <a:off x="2057400" y="4187952"/>
            <a:ext cx="209550" cy="201168"/>
          </a:xfrm>
          <a:prstGeom xmlns:a="http://schemas.openxmlformats.org/drawingml/2006/main" prst="rect">
            <a:avLst/>
          </a:prstGeom>
          <a:solidFill xmlns:a="http://schemas.openxmlformats.org/drawingml/2006/main">
            <a:srgbClr val="2563EB"/>
          </a:solidFill>
          <a:ln xmlns:a="http://schemas.openxmlformats.org/drawingml/2006/main" w="4763">
            <a:solidFill>
              <a:srgbClr val="2563EB"/>
            </a:solidFill>
            <a:prstDash val="solid"/>
          </a:ln>
        </p:spPr>
      </p:sp>
      <p:sp>
        <p:nvSpPr>
          <p:cNvPr id="27" name="Shape 25">
            <a:extLst xmlns:a="http://schemas.openxmlformats.org/drawingml/2006/main">
              <a:ext uri="{FF2B5EF4-FFF2-40B4-BE49-F238E27FC236}">
                <a16:creationId xmlns:a16="http://schemas.microsoft.com/office/drawing/2014/main" id="{EF3FD2F6-7850-4147-BDB9-67A3131CEAB0}"/>
              </a:ext>
            </a:extLst>
          </p:cNvPr>
          <p:cNvSpPr>
            <a:spLocks xmlns:a="http://schemas.openxmlformats.org/drawingml/2006/main" noGrp="1"/>
          </p:cNvSpPr>
          <p:nvPr/>
        </p:nvSpPr>
        <p:spPr>
          <a:xfrm xmlns:a="http://schemas.openxmlformats.org/drawingml/2006/main">
            <a:off x="2057400" y="4187952"/>
            <a:ext cx="209550" cy="201168"/>
          </a:xfrm>
          <a:prstGeom xmlns:a="http://schemas.openxmlformats.org/drawingml/2006/main" prst="rect">
            <a:avLst/>
          </a:prstGeom>
          <a:noFill xmlns:a="http://schemas.openxmlformats.org/drawingml/2006/main"/>
          <a:ln xmlns:a="http://schemas.openxmlformats.org/drawingml/2006/main" w="0">
            <a:noFill/>
            <a:prstDash val="solid"/>
          </a:ln>
        </p:spPr>
      </p:sp>
      <p:sp>
        <p:nvSpPr>
          <p:cNvPr id="28" name="Text 26">
            <a:extLst xmlns:a="http://schemas.openxmlformats.org/drawingml/2006/main">
              <a:ext uri="{FF2B5EF4-FFF2-40B4-BE49-F238E27FC236}">
                <a16:creationId xmlns:a16="http://schemas.microsoft.com/office/drawing/2014/main" id="{520CD56C-9BA7-4693-93DC-D7C387EF598A}"/>
              </a:ext>
            </a:extLst>
          </p:cNvPr>
          <p:cNvSpPr>
            <a:spLocks xmlns:a="http://schemas.openxmlformats.org/drawingml/2006/main" noGrp="1"/>
          </p:cNvSpPr>
          <p:nvPr/>
        </p:nvSpPr>
        <p:spPr>
          <a:xfrm xmlns:a="http://schemas.openxmlformats.org/drawingml/2006/main">
            <a:off x="2457450" y="4187952"/>
            <a:ext cx="8572500" cy="2011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820">
                <a:solidFill>
                  <a:srgbClr val="64748B"/>
                </a:solidFill>
              </a:rPr>
              <a:t>Manifest completo y job exitoso reconciliado</a:t>
            </a:r>
            <a:endParaRPr sz="820"/>
          </a:p>
        </p:txBody>
      </p:sp>
      <p:sp>
        <p:nvSpPr>
          <p:cNvPr id="29" name="Text 27">
            <a:extLst xmlns:a="http://schemas.openxmlformats.org/drawingml/2006/main">
              <a:ext uri="{FF2B5EF4-FFF2-40B4-BE49-F238E27FC236}">
                <a16:creationId xmlns:a16="http://schemas.microsoft.com/office/drawing/2014/main" id="{83CE8E15-271E-4E64-8CFB-E30BD61469EF}"/>
              </a:ext>
            </a:extLst>
          </p:cNvPr>
          <p:cNvSpPr>
            <a:spLocks xmlns:a="http://schemas.openxmlformats.org/drawingml/2006/main" noGrp="1"/>
          </p:cNvSpPr>
          <p:nvPr/>
        </p:nvSpPr>
        <p:spPr>
          <a:xfrm xmlns:a="http://schemas.openxmlformats.org/drawingml/2006/main">
            <a:off x="914400" y="4654296"/>
            <a:ext cx="1051560" cy="16459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850" b="1">
                <a:solidFill>
                  <a:srgbClr val="64748B"/>
                </a:solidFill>
              </a:rPr>
              <a:t>INSUFFICIENT</a:t>
            </a:r>
            <a:endParaRPr sz="850"/>
          </a:p>
        </p:txBody>
      </p:sp>
      <p:sp>
        <p:nvSpPr>
          <p:cNvPr id="30" name="Shape 28">
            <a:extLst xmlns:a="http://schemas.openxmlformats.org/drawingml/2006/main">
              <a:ext uri="{FF2B5EF4-FFF2-40B4-BE49-F238E27FC236}">
                <a16:creationId xmlns:a16="http://schemas.microsoft.com/office/drawing/2014/main" id="{E661A012-91EF-4E2F-9724-688959FDD37E}"/>
              </a:ext>
            </a:extLst>
          </p:cNvPr>
          <p:cNvSpPr>
            <a:spLocks xmlns:a="http://schemas.openxmlformats.org/drawingml/2006/main" noGrp="1"/>
          </p:cNvSpPr>
          <p:nvPr/>
        </p:nvSpPr>
        <p:spPr>
          <a:xfrm xmlns:a="http://schemas.openxmlformats.org/drawingml/2006/main">
            <a:off x="2057400" y="4626864"/>
            <a:ext cx="209550" cy="201168"/>
          </a:xfrm>
          <a:prstGeom xmlns:a="http://schemas.openxmlformats.org/drawingml/2006/main" prst="rect">
            <a:avLst/>
          </a:prstGeom>
          <a:solidFill xmlns:a="http://schemas.openxmlformats.org/drawingml/2006/main">
            <a:srgbClr val="DC2626"/>
          </a:solidFill>
          <a:ln xmlns:a="http://schemas.openxmlformats.org/drawingml/2006/main" w="4763">
            <a:solidFill>
              <a:srgbClr val="DC2626"/>
            </a:solidFill>
            <a:prstDash val="solid"/>
          </a:ln>
        </p:spPr>
      </p:sp>
      <p:sp>
        <p:nvSpPr>
          <p:cNvPr id="31" name="Shape 29">
            <a:extLst xmlns:a="http://schemas.openxmlformats.org/drawingml/2006/main">
              <a:ext uri="{FF2B5EF4-FFF2-40B4-BE49-F238E27FC236}">
                <a16:creationId xmlns:a16="http://schemas.microsoft.com/office/drawing/2014/main" id="{9A472481-46AE-4D5A-9279-5CC856676F14}"/>
              </a:ext>
            </a:extLst>
          </p:cNvPr>
          <p:cNvSpPr>
            <a:spLocks xmlns:a="http://schemas.openxmlformats.org/drawingml/2006/main" noGrp="1"/>
          </p:cNvSpPr>
          <p:nvPr/>
        </p:nvSpPr>
        <p:spPr>
          <a:xfrm xmlns:a="http://schemas.openxmlformats.org/drawingml/2006/main">
            <a:off x="2057400" y="4626864"/>
            <a:ext cx="209550" cy="201168"/>
          </a:xfrm>
          <a:prstGeom xmlns:a="http://schemas.openxmlformats.org/drawingml/2006/main" prst="rect">
            <a:avLst/>
          </a:prstGeom>
          <a:noFill xmlns:a="http://schemas.openxmlformats.org/drawingml/2006/main"/>
          <a:ln xmlns:a="http://schemas.openxmlformats.org/drawingml/2006/main" w="0">
            <a:noFill/>
            <a:prstDash val="solid"/>
          </a:ln>
        </p:spPr>
      </p:sp>
      <p:sp>
        <p:nvSpPr>
          <p:cNvPr id="32" name="Text 30">
            <a:extLst xmlns:a="http://schemas.openxmlformats.org/drawingml/2006/main">
              <a:ext uri="{FF2B5EF4-FFF2-40B4-BE49-F238E27FC236}">
                <a16:creationId xmlns:a16="http://schemas.microsoft.com/office/drawing/2014/main" id="{AB3ED85E-A36B-4DAC-BCDF-DB9295AAB976}"/>
              </a:ext>
            </a:extLst>
          </p:cNvPr>
          <p:cNvSpPr>
            <a:spLocks xmlns:a="http://schemas.openxmlformats.org/drawingml/2006/main" noGrp="1"/>
          </p:cNvSpPr>
          <p:nvPr/>
        </p:nvSpPr>
        <p:spPr>
          <a:xfrm xmlns:a="http://schemas.openxmlformats.org/drawingml/2006/main">
            <a:off x="2457450" y="4626864"/>
            <a:ext cx="8572500" cy="2011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820">
                <a:solidFill>
                  <a:srgbClr val="64748B"/>
                </a:solidFill>
              </a:rPr>
              <a:t>Intento ambiguo, transferencia parcial o método no admitido</a:t>
            </a:r>
            <a:endParaRPr sz="820"/>
          </a:p>
        </p:txBody>
      </p:sp>
      <p:sp>
        <p:nvSpPr>
          <p:cNvPr id="33" name="Shape 31">
            <a:extLst xmlns:a="http://schemas.openxmlformats.org/drawingml/2006/main">
              <a:ext uri="{FF2B5EF4-FFF2-40B4-BE49-F238E27FC236}">
                <a16:creationId xmlns:a16="http://schemas.microsoft.com/office/drawing/2014/main" id="{C1B8D981-E314-4F67-A847-C2C501115228}"/>
              </a:ext>
            </a:extLst>
          </p:cNvPr>
          <p:cNvSpPr>
            <a:spLocks xmlns:a="http://schemas.openxmlformats.org/drawingml/2006/main" noGrp="1"/>
          </p:cNvSpPr>
          <p:nvPr/>
        </p:nvSpPr>
        <p:spPr>
          <a:xfrm xmlns:a="http://schemas.openxmlformats.org/drawingml/2006/main">
            <a:off x="914400" y="5394960"/>
            <a:ext cx="9966960" cy="530352"/>
          </a:xfrm>
          <a:prstGeom xmlns:a="http://schemas.openxmlformats.org/drawingml/2006/main" prst="roundRect">
            <a:avLst>
              <a:gd name="adj" fmla="val 13793"/>
            </a:avLst>
          </a:prstGeom>
          <a:solidFill xmlns:a="http://schemas.openxmlformats.org/drawingml/2006/main">
            <a:srgbClr val="FEF3C7"/>
          </a:solidFill>
          <a:ln xmlns:a="http://schemas.openxmlformats.org/drawingml/2006/main" w="10160">
            <a:solidFill>
              <a:srgbClr val="FCD34D"/>
            </a:solidFill>
            <a:prstDash val="solid"/>
          </a:ln>
        </p:spPr>
      </p:sp>
      <p:sp>
        <p:nvSpPr>
          <p:cNvPr id="34" name="Text 32">
            <a:extLst xmlns:a="http://schemas.openxmlformats.org/drawingml/2006/main">
              <a:ext uri="{FF2B5EF4-FFF2-40B4-BE49-F238E27FC236}">
                <a16:creationId xmlns:a16="http://schemas.microsoft.com/office/drawing/2014/main" id="{CF44F8A2-149A-4BEF-A577-C696288DA083}"/>
              </a:ext>
            </a:extLst>
          </p:cNvPr>
          <p:cNvSpPr>
            <a:spLocks xmlns:a="http://schemas.openxmlformats.org/drawingml/2006/main" noGrp="1"/>
          </p:cNvSpPr>
          <p:nvPr/>
        </p:nvSpPr>
        <p:spPr>
          <a:xfrm xmlns:a="http://schemas.openxmlformats.org/drawingml/2006/main">
            <a:off x="1078992" y="5467350"/>
            <a:ext cx="9637776" cy="400050"/>
          </a:xfrm>
          <a:prstGeom xmlns:a="http://schemas.openxmlformats.org/drawingml/2006/main" prst="rect">
            <a:avLst/>
          </a:prstGeom>
          <a:noFill xmlns:a="http://schemas.openxmlformats.org/drawingml/2006/main"/>
        </p:spPr>
        <p:txBody>
          <a:bodyPr xmlns:a="http://schemas.openxmlformats.org/drawingml/2006/main" wrap="square" lIns="381" tIns="381" rIns="381" bIns="381" anchor="ctr">
            <a:normAutofit fontScale="100000"/>
          </a:bodyPr>
          <a:lstStyle xmlns:a="http://schemas.openxmlformats.org/drawingml/2006/main"/>
          <a:p xmlns:a="http://schemas.openxmlformats.org/drawingml/2006/main">
            <a:pPr marL="0" indent="0">
              <a:buNone/>
            </a:pPr>
            <a:r>
              <a:rPr sz="1120">
                <a:solidFill>
                  <a:srgbClr val="334155"/>
                </a:solidFill>
                <a:latin typeface="Aptos"/>
                <a:ea typeface="Aptos"/>
                <a:cs typeface="Aptos"/>
              </a:rPr>
              <a:t>Coverage cuenta ocurrencias científicas, también las de 0 B. Si Coverage &lt; 1, M_obs y DME son indeterminadas. No se reparten bytes agregados proporcionalmente.</a:t>
            </a:r>
            <a:endParaRPr sz="1120"/>
          </a:p>
        </p:txBody>
      </p:sp>
      <p:sp>
        <p:nvSpPr>
          <p:cNvPr id="35" name="Shape 33">
            <a:extLst xmlns:a="http://schemas.openxmlformats.org/drawingml/2006/main">
              <a:ext uri="{FF2B5EF4-FFF2-40B4-BE49-F238E27FC236}">
                <a16:creationId xmlns:a16="http://schemas.microsoft.com/office/drawing/2014/main" id="{FF9FFAFA-8E70-4A0B-92D9-635B22DDF80A}"/>
              </a:ext>
            </a:extLst>
          </p:cNvPr>
          <p:cNvSpPr>
            <a:spLocks xmlns:a="http://schemas.openxmlformats.org/drawingml/2006/main" noGrp="1"/>
          </p:cNvSpPr>
          <p:nvPr/>
        </p:nvSpPr>
        <p:spPr>
          <a:xfrm xmlns:a="http://schemas.openxmlformats.org/drawingml/2006/main">
            <a:off x="502920" y="6446520"/>
            <a:ext cx="11201400" cy="0"/>
          </a:xfrm>
          <a:prstGeom xmlns:a="http://schemas.openxmlformats.org/drawingml/2006/main" prst="line">
            <a:avLst/>
          </a:prstGeom>
          <a:noFill xmlns:a="http://schemas.openxmlformats.org/drawingml/2006/main"/>
          <a:ln xmlns:a="http://schemas.openxmlformats.org/drawingml/2006/main" w="8890">
            <a:solidFill>
              <a:srgbClr val="CBD5E1"/>
            </a:solidFill>
            <a:prstDash val="solid"/>
          </a:ln>
        </p:spPr>
      </p:sp>
      <p:sp>
        <p:nvSpPr>
          <p:cNvPr id="36" name="Text 34">
            <a:extLst xmlns:a="http://schemas.openxmlformats.org/drawingml/2006/main">
              <a:ext uri="{FF2B5EF4-FFF2-40B4-BE49-F238E27FC236}">
                <a16:creationId xmlns:a16="http://schemas.microsoft.com/office/drawing/2014/main" id="{7D822C70-56BB-490F-B589-0BF36752EB12}"/>
              </a:ext>
            </a:extLst>
          </p:cNvPr>
          <p:cNvSpPr>
            <a:spLocks xmlns:a="http://schemas.openxmlformats.org/drawingml/2006/main" noGrp="1"/>
          </p:cNvSpPr>
          <p:nvPr/>
        </p:nvSpPr>
        <p:spPr>
          <a:xfrm xmlns:a="http://schemas.openxmlformats.org/drawingml/2006/main">
            <a:off x="594360" y="6510528"/>
            <a:ext cx="7223760" cy="2011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750">
                <a:solidFill>
                  <a:srgbClr val="64748B"/>
                </a:solidFill>
                <a:latin typeface="Aptos"/>
                <a:ea typeface="Aptos"/>
                <a:cs typeface="Aptos"/>
              </a:rPr>
              <a:t>Contrato de evidencia v1</a:t>
            </a:r>
            <a:endParaRPr sz="750"/>
          </a:p>
        </p:txBody>
      </p:sp>
      <p:sp>
        <p:nvSpPr>
          <p:cNvPr id="37" name="Text 35">
            <a:extLst xmlns:a="http://schemas.openxmlformats.org/drawingml/2006/main">
              <a:ext uri="{FF2B5EF4-FFF2-40B4-BE49-F238E27FC236}">
                <a16:creationId xmlns:a16="http://schemas.microsoft.com/office/drawing/2014/main" id="{7D59487E-AEF5-4AC9-8D05-7F4C5032481F}"/>
              </a:ext>
            </a:extLst>
          </p:cNvPr>
          <p:cNvSpPr>
            <a:spLocks xmlns:a="http://schemas.openxmlformats.org/drawingml/2006/main" noGrp="1"/>
          </p:cNvSpPr>
          <p:nvPr/>
        </p:nvSpPr>
        <p:spPr>
          <a:xfrm xmlns:a="http://schemas.openxmlformats.org/drawingml/2006/main">
            <a:off x="11228832" y="6492240"/>
            <a:ext cx="411480" cy="2286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800">
                <a:solidFill>
                  <a:srgbClr val="64748B"/>
                </a:solidFill>
                <a:latin typeface="Aptos"/>
                <a:ea typeface="Aptos"/>
                <a:cs typeface="Aptos"/>
              </a:rPr>
              <a:t>20</a:t>
            </a:r>
            <a:endParaRPr sz="800"/>
          </a:p>
        </p:txBody>
      </p:sp>
    </p:spTree>
    <p:extLst>
      <p:ext uri="{BB962C8B-B14F-4D97-AF65-F5344CB8AC3E}">
        <p14:creationId xmlns:p14="http://schemas.microsoft.com/office/powerpoint/2010/main" val="480927432"/>
      </p:ext>
    </p:extLst>
  </p:cSld>
</p:sld>
</file>

<file path=ppt/slides/slide21.xml><?xml version="1.0" encoding="utf-8"?>
<p:sld xmlns:p="http://schemas.openxmlformats.org/presentationml/2006/main">
  <p:cSld>
    <p:spTree>
      <p:nvGrpSpPr>
        <p:cNvPr id="1" name=""/>
        <p:cNvGrpSpPr/>
        <p:nvPr/>
      </p:nvGrpSpPr>
      <p:grpSpPr>
        <a:xfrm xmlns:a="http://schemas.openxmlformats.org/drawingml/2006/main"/>
      </p:grpSpPr>
      <p:sp>
        <p:nvSpPr>
          <p:cNvPr id="27" name="section-accent">
            <a:extLst xmlns:a="http://schemas.openxmlformats.org/drawingml/2006/main">
              <a:ext uri="{FF2B5EF4-FFF2-40B4-BE49-F238E27FC236}">
                <a16:creationId xmlns:a16="http://schemas.microsoft.com/office/drawing/2014/main" id="{F8718401-054F-44F7-B557-C8C37822BFE2}"/>
              </a:ext>
            </a:extLst>
          </p:cNvPr>
          <p:cNvSpPr>
            <a:spLocks xmlns:a="http://schemas.openxmlformats.org/drawingml/2006/main" noGrp="1"/>
          </p:cNvSpPr>
          <p:nvPr/>
        </p:nvSpPr>
        <p:spPr>
          <a:xfrm xmlns:a="http://schemas.openxmlformats.org/drawingml/2006/main">
            <a:off x="0" y="0"/>
            <a:ext cx="12192000" cy="114300"/>
          </a:xfrm>
          <a:prstGeom xmlns:a="http://schemas.openxmlformats.org/drawingml/2006/main" prst="rect">
            <a:avLst/>
          </a:prstGeom>
          <a:solidFill xmlns:a="http://schemas.openxmlformats.org/drawingml/2006/main">
            <a:srgbClr val="0F766E"/>
          </a:solidFill>
          <a:ln xmlns:a="http://schemas.openxmlformats.org/drawingml/2006/main" w="0">
            <a:solidFill>
              <a:srgbClr val="0F766E"/>
            </a:solidFill>
            <a:prstDash val="solid"/>
          </a:ln>
        </p:spPr>
      </p:sp>
      <p:sp>
        <p:nvSpPr>
          <p:cNvPr id="2" name="section-label">
            <a:extLst xmlns:a="http://schemas.openxmlformats.org/drawingml/2006/main">
              <a:ext uri="{FF2B5EF4-FFF2-40B4-BE49-F238E27FC236}">
                <a16:creationId xmlns:a16="http://schemas.microsoft.com/office/drawing/2014/main" id="{D0A462DE-BED4-436D-A238-4CCCC2EE72B2}"/>
              </a:ext>
            </a:extLst>
          </p:cNvPr>
          <p:cNvSpPr>
            <a:spLocks xmlns:a="http://schemas.openxmlformats.org/drawingml/2006/main" noGrp="1"/>
          </p:cNvSpPr>
          <p:nvPr/>
        </p:nvSpPr>
        <p:spPr>
          <a:xfrm xmlns:a="http://schemas.openxmlformats.org/drawingml/2006/main">
            <a:off x="647700" y="352425"/>
            <a:ext cx="10668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buNone/>
              <a:defRPr sz="825" b="1">
                <a:solidFill>
                  <a:srgbClr val="0F766E"/>
                </a:solidFill>
                <a:latin typeface="Aptos"/>
                <a:ea typeface="Aptos"/>
                <a:cs typeface="Aptos"/>
              </a:defRPr>
            </a:pPr>
            <a:r>
              <a:rPr sz="825" b="1">
                <a:solidFill>
                  <a:srgbClr val="0F766E"/>
                </a:solidFill>
                <a:latin typeface="Aptos"/>
                <a:ea typeface="Aptos"/>
                <a:cs typeface="Aptos"/>
              </a:rPr>
              <a:t>MÉTRICA</a:t>
            </a:r>
          </a:p>
        </p:txBody>
      </p:sp>
      <p:sp>
        <p:nvSpPr>
          <p:cNvPr id="3" name="slide-heading">
            <a:extLst xmlns:a="http://schemas.openxmlformats.org/drawingml/2006/main">
              <a:ext uri="{FF2B5EF4-FFF2-40B4-BE49-F238E27FC236}">
                <a16:creationId xmlns:a16="http://schemas.microsoft.com/office/drawing/2014/main" id="{73BC5D4B-485B-4DDE-915E-B947296AF494}"/>
              </a:ext>
            </a:extLst>
          </p:cNvPr>
          <p:cNvSpPr>
            <a:spLocks xmlns:a="http://schemas.openxmlformats.org/drawingml/2006/main" noGrp="1"/>
          </p:cNvSpPr>
          <p:nvPr/>
        </p:nvSpPr>
        <p:spPr>
          <a:xfrm xmlns:a="http://schemas.openxmlformats.org/drawingml/2006/main">
            <a:off x="609600" y="619125"/>
            <a:ext cx="109537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buNone/>
              <a:defRPr sz="2250" b="1">
                <a:solidFill>
                  <a:srgbClr val="142D45"/>
                </a:solidFill>
                <a:latin typeface="Aptos"/>
                <a:ea typeface="Aptos"/>
                <a:cs typeface="Aptos"/>
              </a:defRPr>
            </a:pPr>
            <a:r>
              <a:rPr sz="2250" b="1">
                <a:solidFill>
                  <a:srgbClr val="142D45"/>
                </a:solidFill>
                <a:latin typeface="Aptos"/>
                <a:ea typeface="Aptos"/>
                <a:cs typeface="Aptos"/>
              </a:rPr>
              <a:t>20. Definición formal de Coverage y DME</a:t>
            </a:r>
          </a:p>
        </p:txBody>
      </p:sp>
      <p:sp>
        <p:nvSpPr>
          <p:cNvPr id="4" name="slide-subtitle">
            <a:extLst xmlns:a="http://schemas.openxmlformats.org/drawingml/2006/main">
              <a:ext uri="{FF2B5EF4-FFF2-40B4-BE49-F238E27FC236}">
                <a16:creationId xmlns:a16="http://schemas.microsoft.com/office/drawing/2014/main" id="{FC92570E-6E0B-45DF-B9FB-DE3972D9E466}"/>
              </a:ext>
            </a:extLst>
          </p:cNvPr>
          <p:cNvSpPr>
            <a:spLocks xmlns:a="http://schemas.openxmlformats.org/drawingml/2006/main" noGrp="1"/>
          </p:cNvSpPr>
          <p:nvPr/>
        </p:nvSpPr>
        <p:spPr>
          <a:xfrm xmlns:a="http://schemas.openxmlformats.org/drawingml/2006/main">
            <a:off x="647700" y="1219200"/>
            <a:ext cx="10858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buNone/>
              <a:defRPr sz="1163">
                <a:solidFill>
                  <a:srgbClr val="34485D"/>
                </a:solidFill>
                <a:latin typeface="Aptos"/>
                <a:ea typeface="Aptos"/>
                <a:cs typeface="Aptos"/>
              </a:defRPr>
            </a:pPr>
            <a:r>
              <a:rPr sz="1163">
                <a:solidFill>
                  <a:srgbClr val="34485D"/>
                </a:solidFill>
                <a:latin typeface="Aptos"/>
                <a:ea typeface="Aptos"/>
                <a:cs typeface="Aptos"/>
              </a:rPr>
              <a:t>Notación por run R · el límite requerido y la evidencia confirmada cumplen funciones distintas.</a:t>
            </a:r>
          </a:p>
        </p:txBody>
      </p:sp>
      <p:sp>
        <p:nvSpPr>
          <p:cNvPr id="5" name="rule-677-52">
            <a:extLst xmlns:a="http://schemas.openxmlformats.org/drawingml/2006/main">
              <a:ext uri="{FF2B5EF4-FFF2-40B4-BE49-F238E27FC236}">
                <a16:creationId xmlns:a16="http://schemas.microsoft.com/office/drawing/2014/main" id="{941A665D-70E7-4851-9F31-105A3688D0F6}"/>
              </a:ext>
            </a:extLst>
          </p:cNvPr>
          <p:cNvSpPr>
            <a:spLocks xmlns:a="http://schemas.openxmlformats.org/drawingml/2006/main" noGrp="1"/>
          </p:cNvSpPr>
          <p:nvPr/>
        </p:nvSpPr>
        <p:spPr>
          <a:xfrm xmlns:a="http://schemas.openxmlformats.org/drawingml/2006/main">
            <a:off x="495300" y="6448425"/>
            <a:ext cx="11201400" cy="9525"/>
          </a:xfrm>
          <a:prstGeom xmlns:a="http://schemas.openxmlformats.org/drawingml/2006/main" prst="rect">
            <a:avLst/>
          </a:prstGeom>
          <a:solidFill xmlns:a="http://schemas.openxmlformats.org/drawingml/2006/main">
            <a:srgbClr val="CBD5E1"/>
          </a:solidFill>
          <a:ln xmlns:a="http://schemas.openxmlformats.org/drawingml/2006/main" w="0">
            <a:solidFill>
              <a:srgbClr val="CBD5E1"/>
            </a:solidFill>
            <a:prstDash val="solid"/>
          </a:ln>
        </p:spPr>
      </p:sp>
      <p:sp>
        <p:nvSpPr>
          <p:cNvPr id="6" name="footer-label">
            <a:extLst xmlns:a="http://schemas.openxmlformats.org/drawingml/2006/main">
              <a:ext uri="{FF2B5EF4-FFF2-40B4-BE49-F238E27FC236}">
                <a16:creationId xmlns:a16="http://schemas.microsoft.com/office/drawing/2014/main" id="{78B18EBC-5DC2-4CCE-85CC-9074BD9FF9A8}"/>
              </a:ext>
            </a:extLst>
          </p:cNvPr>
          <p:cNvSpPr>
            <a:spLocks xmlns:a="http://schemas.openxmlformats.org/drawingml/2006/main" noGrp="1"/>
          </p:cNvSpPr>
          <p:nvPr/>
        </p:nvSpPr>
        <p:spPr>
          <a:xfrm xmlns:a="http://schemas.openxmlformats.org/drawingml/2006/main">
            <a:off x="590550" y="6496050"/>
            <a:ext cx="9620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buNone/>
              <a:defRPr sz="750">
                <a:solidFill>
                  <a:srgbClr val="64748B"/>
                </a:solidFill>
                <a:latin typeface="Aptos"/>
                <a:ea typeface="Aptos"/>
                <a:cs typeface="Aptos"/>
              </a:defRPr>
            </a:pPr>
            <a:r>
              <a:rPr sz="750">
                <a:solidFill>
                  <a:srgbClr val="64748B"/>
                </a:solidFill>
                <a:latin typeface="Aptos"/>
                <a:ea typeface="Aptos"/>
                <a:cs typeface="Aptos"/>
              </a:rPr>
              <a:t>Métrica · definiciones y condiciones</a:t>
            </a:r>
          </a:p>
        </p:txBody>
      </p:sp>
      <p:sp>
        <p:nvSpPr>
          <p:cNvPr id="7" name="folio">
            <a:extLst xmlns:a="http://schemas.openxmlformats.org/drawingml/2006/main">
              <a:ext uri="{FF2B5EF4-FFF2-40B4-BE49-F238E27FC236}">
                <a16:creationId xmlns:a16="http://schemas.microsoft.com/office/drawing/2014/main" id="{5E46E7B6-7443-4D72-95B0-B43C95A72610}"/>
              </a:ext>
            </a:extLst>
          </p:cNvPr>
          <p:cNvSpPr>
            <a:spLocks xmlns:a="http://schemas.openxmlformats.org/drawingml/2006/main" noGrp="1"/>
          </p:cNvSpPr>
          <p:nvPr/>
        </p:nvSpPr>
        <p:spPr>
          <a:xfrm xmlns:a="http://schemas.openxmlformats.org/drawingml/2006/main">
            <a:off x="11201400" y="6496050"/>
            <a:ext cx="4572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r">
              <a:buNone/>
              <a:defRPr sz="750">
                <a:solidFill>
                  <a:srgbClr val="64748B"/>
                </a:solidFill>
                <a:latin typeface="Aptos"/>
                <a:ea typeface="Aptos"/>
                <a:cs typeface="Aptos"/>
              </a:defRPr>
            </a:pPr>
            <a:r>
              <a:rPr sz="750">
                <a:solidFill>
                  <a:srgbClr val="64748B"/>
                </a:solidFill>
                <a:latin typeface="Aptos"/>
                <a:ea typeface="Aptos"/>
                <a:cs typeface="Aptos"/>
              </a:rPr>
              <a:t>21</a:t>
            </a:r>
          </a:p>
        </p:txBody>
      </p:sp>
      <p:sp>
        <p:nvSpPr>
          <p:cNvPr id="8" name="required-label">
            <a:extLst xmlns:a="http://schemas.openxmlformats.org/drawingml/2006/main">
              <a:ext uri="{FF2B5EF4-FFF2-40B4-BE49-F238E27FC236}">
                <a16:creationId xmlns:a16="http://schemas.microsoft.com/office/drawing/2014/main" id="{465122B5-8BCB-4319-A04B-9F6CC1C7FDB5}"/>
              </a:ext>
            </a:extLst>
          </p:cNvPr>
          <p:cNvSpPr>
            <a:spLocks xmlns:a="http://schemas.openxmlformats.org/drawingml/2006/main" noGrp="1"/>
          </p:cNvSpPr>
          <p:nvPr/>
        </p:nvSpPr>
        <p:spPr>
          <a:xfrm xmlns:a="http://schemas.openxmlformats.org/drawingml/2006/main">
            <a:off x="666750" y="1685925"/>
            <a:ext cx="10839450"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buNone/>
              <a:defRPr sz="825" b="1">
                <a:solidFill>
                  <a:srgbClr val="2563EB"/>
                </a:solidFill>
                <a:latin typeface="Aptos"/>
                <a:ea typeface="Aptos"/>
                <a:cs typeface="Aptos"/>
              </a:defRPr>
            </a:pPr>
            <a:r>
              <a:rPr sz="825" b="1">
                <a:solidFill>
                  <a:srgbClr val="2563EB"/>
                </a:solidFill>
                <a:latin typeface="Aptos"/>
                <a:ea typeface="Aptos"/>
                <a:cs typeface="Aptos"/>
              </a:rPr>
              <a:t>REQUIRED MOVEMENT</a:t>
            </a:r>
          </a:p>
        </p:txBody>
      </p:sp>
      <p:pic>
        <p:nvPicPr>
          <p:cNvPr id="42" name=""/>
          <p:cNvPicPr>
            <a:picLocks xmlns:a="http://schemas.openxmlformats.org/drawingml/2006/main" noChangeAspect="1"/>
          </p:cNvPicPr>
          <p:nvPr/>
        </p:nvPicPr>
        <p:blipFill>
          <a:blip xmlns:r="http://schemas.openxmlformats.org/officeDocument/2006/relationships" xmlns:a="http://schemas.openxmlformats.org/drawingml/2006/main" r:embed="R3414ae18bfb241ab"/>
          <a:stretch xmlns:a="http://schemas.openxmlformats.org/drawingml/2006/main"/>
        </p:blipFill>
        <p:spPr>
          <a:xfrm xmlns:a="http://schemas.openxmlformats.org/drawingml/2006/main">
            <a:off x="666750" y="1895475"/>
            <a:ext cx="10839450" cy="495300"/>
          </a:xfrm>
          <a:prstGeom xmlns:a="http://schemas.openxmlformats.org/drawingml/2006/main" prst="rect">
            <a:avLst/>
          </a:prstGeom>
        </p:spPr>
      </p:pic>
      <p:sp>
        <p:nvSpPr>
          <p:cNvPr id="10" name="required-definitions">
            <a:extLst xmlns:a="http://schemas.openxmlformats.org/drawingml/2006/main">
              <a:ext uri="{FF2B5EF4-FFF2-40B4-BE49-F238E27FC236}">
                <a16:creationId xmlns:a16="http://schemas.microsoft.com/office/drawing/2014/main" id="{4367CE58-7284-4D86-B7C4-B11BE8F7E3F4}"/>
              </a:ext>
            </a:extLst>
          </p:cNvPr>
          <p:cNvSpPr>
            <a:spLocks xmlns:a="http://schemas.openxmlformats.org/drawingml/2006/main" noGrp="1"/>
          </p:cNvSpPr>
          <p:nvPr/>
        </p:nvSpPr>
        <p:spPr>
          <a:xfrm xmlns:a="http://schemas.openxmlformats.org/drawingml/2006/main">
            <a:off x="666750" y="2381250"/>
            <a:ext cx="108394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buNone/>
              <a:defRPr sz="1088">
                <a:solidFill>
                  <a:srgbClr val="34485D"/>
                </a:solidFill>
                <a:latin typeface="Aptos"/>
                <a:ea typeface="Aptos"/>
                <a:cs typeface="Aptos"/>
              </a:defRPr>
            </a:pPr>
            <a:r>
              <a:rPr sz="1088">
                <a:solidFill>
                  <a:srgbClr val="34485D"/>
                </a:solidFill>
                <a:latin typeface="Aptos"/>
                <a:ea typeface="Aptos"/>
                <a:cs typeface="Aptos"/>
              </a:rPr>
              <a:t>f: archivo científico · S(f): tamaño aceptado en bytes · L_req: ubicaciones distintas requeridas · L_0: origen modelado</a:t>
            </a:r>
          </a:p>
        </p:txBody>
      </p:sp>
      <p:sp>
        <p:nvSpPr>
          <p:cNvPr id="11" name="rule-293-70">
            <a:extLst xmlns:a="http://schemas.openxmlformats.org/drawingml/2006/main">
              <a:ext uri="{FF2B5EF4-FFF2-40B4-BE49-F238E27FC236}">
                <a16:creationId xmlns:a16="http://schemas.microsoft.com/office/drawing/2014/main" id="{132C6078-0B6A-498C-BCA4-2F59E0B2AB25}"/>
              </a:ext>
            </a:extLst>
          </p:cNvPr>
          <p:cNvSpPr>
            <a:spLocks xmlns:a="http://schemas.openxmlformats.org/drawingml/2006/main" noGrp="1"/>
          </p:cNvSpPr>
          <p:nvPr/>
        </p:nvSpPr>
        <p:spPr>
          <a:xfrm xmlns:a="http://schemas.openxmlformats.org/drawingml/2006/main">
            <a:off x="666750" y="2790825"/>
            <a:ext cx="10839450" cy="9525"/>
          </a:xfrm>
          <a:prstGeom xmlns:a="http://schemas.openxmlformats.org/drawingml/2006/main" prst="rect">
            <a:avLst/>
          </a:prstGeom>
          <a:solidFill xmlns:a="http://schemas.openxmlformats.org/drawingml/2006/main">
            <a:srgbClr val="CBD5E1"/>
          </a:solidFill>
          <a:ln xmlns:a="http://schemas.openxmlformats.org/drawingml/2006/main" w="0">
            <a:solidFill>
              <a:srgbClr val="CBD5E1"/>
            </a:solidFill>
            <a:prstDash val="solid"/>
          </a:ln>
        </p:spPr>
      </p:sp>
      <p:sp>
        <p:nvSpPr>
          <p:cNvPr id="12" name="sets-label">
            <a:extLst xmlns:a="http://schemas.openxmlformats.org/drawingml/2006/main">
              <a:ext uri="{FF2B5EF4-FFF2-40B4-BE49-F238E27FC236}">
                <a16:creationId xmlns:a16="http://schemas.microsoft.com/office/drawing/2014/main" id="{88815D10-7D1E-4A5F-9833-7DEA63D6D459}"/>
              </a:ext>
            </a:extLst>
          </p:cNvPr>
          <p:cNvSpPr>
            <a:spLocks xmlns:a="http://schemas.openxmlformats.org/drawingml/2006/main" noGrp="1"/>
          </p:cNvSpPr>
          <p:nvPr/>
        </p:nvSpPr>
        <p:spPr>
          <a:xfrm xmlns:a="http://schemas.openxmlformats.org/drawingml/2006/main">
            <a:off x="666750" y="2905125"/>
            <a:ext cx="10839450"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buNone/>
              <a:defRPr sz="825" b="1">
                <a:solidFill>
                  <a:srgbClr val="6D28D9"/>
                </a:solidFill>
                <a:latin typeface="Aptos"/>
                <a:ea typeface="Aptos"/>
                <a:cs typeface="Aptos"/>
              </a:defRPr>
            </a:pPr>
            <a:r>
              <a:rPr sz="825" b="1">
                <a:solidFill>
                  <a:srgbClr val="6D28D9"/>
                </a:solidFill>
                <a:latin typeface="Aptos"/>
                <a:ea typeface="Aptos"/>
                <a:cs typeface="Aptos"/>
              </a:rPr>
              <a:t>DECLARACIÓN, CONFIRMACIÓN Y COVERAGE</a:t>
            </a:r>
          </a:p>
        </p:txBody>
      </p:sp>
      <p:sp>
        <p:nvSpPr>
          <p:cNvPr id="13" name="declared-definition">
            <a:extLst xmlns:a="http://schemas.openxmlformats.org/drawingml/2006/main">
              <a:ext uri="{FF2B5EF4-FFF2-40B4-BE49-F238E27FC236}">
                <a16:creationId xmlns:a16="http://schemas.microsoft.com/office/drawing/2014/main" id="{5D6268C2-4D09-47E2-9714-02432060F6EA}"/>
              </a:ext>
            </a:extLst>
          </p:cNvPr>
          <p:cNvSpPr>
            <a:spLocks xmlns:a="http://schemas.openxmlformats.org/drawingml/2006/main" noGrp="1"/>
          </p:cNvSpPr>
          <p:nvPr/>
        </p:nvSpPr>
        <p:spPr>
          <a:xfrm xmlns:a="http://schemas.openxmlformats.org/drawingml/2006/main">
            <a:off x="666750" y="3133725"/>
            <a:ext cx="1083945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buNone/>
              <a:defRPr sz="1125">
                <a:solidFill>
                  <a:srgbClr val="142D45"/>
                </a:solidFill>
                <a:latin typeface="Aptos"/>
                <a:ea typeface="Aptos"/>
                <a:cs typeface="Aptos"/>
              </a:defRPr>
            </a:pPr>
            <a:r>
              <a:rPr sz="1125">
                <a:solidFill>
                  <a:srgbClr val="142D45"/>
                </a:solidFill>
                <a:latin typeface="Aptos"/>
                <a:ea typeface="Aptos"/>
                <a:cs typeface="Aptos"/>
              </a:rPr>
              <a:t>D_sci(R): conjunto de ocurrencias científicas declaradas por los manifests efectivos; cada registro identifica una ocurrencia.</a:t>
            </a:r>
          </a:p>
        </p:txBody>
      </p:sp>
      <p:sp>
        <p:nvSpPr>
          <p:cNvPr id="14" name="confirmed-definition">
            <a:extLst xmlns:a="http://schemas.openxmlformats.org/drawingml/2006/main">
              <a:ext uri="{FF2B5EF4-FFF2-40B4-BE49-F238E27FC236}">
                <a16:creationId xmlns:a16="http://schemas.microsoft.com/office/drawing/2014/main" id="{E5B458E9-798F-4363-870A-5D8462E34F91}"/>
              </a:ext>
            </a:extLst>
          </p:cNvPr>
          <p:cNvSpPr>
            <a:spLocks xmlns:a="http://schemas.openxmlformats.org/drawingml/2006/main" noGrp="1"/>
          </p:cNvSpPr>
          <p:nvPr/>
        </p:nvSpPr>
        <p:spPr>
          <a:xfrm xmlns:a="http://schemas.openxmlformats.org/drawingml/2006/main">
            <a:off x="666750" y="3362325"/>
            <a:ext cx="1083945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buNone/>
              <a:defRPr sz="1125">
                <a:solidFill>
                  <a:srgbClr val="142D45"/>
                </a:solidFill>
                <a:latin typeface="Aptos"/>
                <a:ea typeface="Aptos"/>
                <a:cs typeface="Aptos"/>
              </a:defRPr>
            </a:pPr>
            <a:r>
              <a:rPr sz="1125">
                <a:solidFill>
                  <a:srgbClr val="142D45"/>
                </a:solidFill>
                <a:latin typeface="Aptos"/>
                <a:ea typeface="Aptos"/>
                <a:cs typeface="Aptos"/>
              </a:rPr>
              <a:t>C_sci(R): subconjunto de D_sci(R) confirmado al reconciliar sus ocurrencias con TransferEvidence.</a:t>
            </a:r>
          </a:p>
        </p:txBody>
      </p:sp>
      <p:pic>
        <p:nvPicPr>
          <p:cNvPr id="48" name=""/>
          <p:cNvPicPr>
            <a:picLocks xmlns:a="http://schemas.openxmlformats.org/drawingml/2006/main" noChangeAspect="1"/>
          </p:cNvPicPr>
          <p:nvPr/>
        </p:nvPicPr>
        <p:blipFill>
          <a:blip xmlns:r="http://schemas.openxmlformats.org/officeDocument/2006/relationships" xmlns:a="http://schemas.openxmlformats.org/drawingml/2006/main" r:embed="R2ee3319690bc4271"/>
          <a:stretch xmlns:a="http://schemas.openxmlformats.org/drawingml/2006/main"/>
        </p:blipFill>
        <p:spPr>
          <a:xfrm xmlns:a="http://schemas.openxmlformats.org/drawingml/2006/main">
            <a:off x="666750" y="3619500"/>
            <a:ext cx="10839450" cy="361950"/>
          </a:xfrm>
          <a:prstGeom xmlns:a="http://schemas.openxmlformats.org/drawingml/2006/main" prst="rect">
            <a:avLst/>
          </a:prstGeom>
        </p:spPr>
      </p:pic>
      <p:sp>
        <p:nvSpPr>
          <p:cNvPr id="16" name="coverage-empty-rule">
            <a:extLst xmlns:a="http://schemas.openxmlformats.org/drawingml/2006/main">
              <a:ext uri="{FF2B5EF4-FFF2-40B4-BE49-F238E27FC236}">
                <a16:creationId xmlns:a16="http://schemas.microsoft.com/office/drawing/2014/main" id="{404E7E5F-EA70-44F4-8464-9D4B7D210F8D}"/>
              </a:ext>
            </a:extLst>
          </p:cNvPr>
          <p:cNvSpPr>
            <a:spLocks xmlns:a="http://schemas.openxmlformats.org/drawingml/2006/main" noGrp="1"/>
          </p:cNvSpPr>
          <p:nvPr/>
        </p:nvSpPr>
        <p:spPr>
          <a:xfrm xmlns:a="http://schemas.openxmlformats.org/drawingml/2006/main">
            <a:off x="666750" y="3990975"/>
            <a:ext cx="10839450"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buNone/>
              <a:defRPr sz="1050">
                <a:solidFill>
                  <a:srgbClr val="34485D"/>
                </a:solidFill>
                <a:latin typeface="Aptos"/>
                <a:ea typeface="Aptos"/>
                <a:cs typeface="Aptos"/>
              </a:defRPr>
            </a:pPr>
            <a:r>
              <a:rPr sz="1050">
                <a:solidFill>
                  <a:srgbClr val="34485D"/>
                </a:solidFill>
                <a:latin typeface="Aptos"/>
                <a:ea typeface="Aptos"/>
                <a:cs typeface="Aptos"/>
              </a:rPr>
              <a:t>Si D_sci(R) = ∅, Coverage = 1. Es una fracción por ocurrencias, no por bytes.</a:t>
            </a:r>
          </a:p>
        </p:txBody>
      </p:sp>
      <p:sp>
        <p:nvSpPr>
          <p:cNvPr id="17" name="rule-447-70">
            <a:extLst xmlns:a="http://schemas.openxmlformats.org/drawingml/2006/main">
              <a:ext uri="{FF2B5EF4-FFF2-40B4-BE49-F238E27FC236}">
                <a16:creationId xmlns:a16="http://schemas.microsoft.com/office/drawing/2014/main" id="{4C305448-31E6-47C7-B81D-D1BBBCE526F9}"/>
              </a:ext>
            </a:extLst>
          </p:cNvPr>
          <p:cNvSpPr>
            <a:spLocks xmlns:a="http://schemas.openxmlformats.org/drawingml/2006/main" noGrp="1"/>
          </p:cNvSpPr>
          <p:nvPr/>
        </p:nvSpPr>
        <p:spPr>
          <a:xfrm xmlns:a="http://schemas.openxmlformats.org/drawingml/2006/main">
            <a:off x="666750" y="4257675"/>
            <a:ext cx="10839450" cy="9525"/>
          </a:xfrm>
          <a:prstGeom xmlns:a="http://schemas.openxmlformats.org/drawingml/2006/main" prst="rect">
            <a:avLst/>
          </a:prstGeom>
          <a:solidFill xmlns:a="http://schemas.openxmlformats.org/drawingml/2006/main">
            <a:srgbClr val="CBD5E1"/>
          </a:solidFill>
          <a:ln xmlns:a="http://schemas.openxmlformats.org/drawingml/2006/main" w="0">
            <a:solidFill>
              <a:srgbClr val="CBD5E1"/>
            </a:solidFill>
            <a:prstDash val="solid"/>
          </a:ln>
        </p:spPr>
      </p:sp>
      <p:sp>
        <p:nvSpPr>
          <p:cNvPr id="18" name="observed-label">
            <a:extLst xmlns:a="http://schemas.openxmlformats.org/drawingml/2006/main">
              <a:ext uri="{FF2B5EF4-FFF2-40B4-BE49-F238E27FC236}">
                <a16:creationId xmlns:a16="http://schemas.microsoft.com/office/drawing/2014/main" id="{AB63D033-F5B8-4534-9CF8-349B2C7FA598}"/>
              </a:ext>
            </a:extLst>
          </p:cNvPr>
          <p:cNvSpPr>
            <a:spLocks xmlns:a="http://schemas.openxmlformats.org/drawingml/2006/main" noGrp="1"/>
          </p:cNvSpPr>
          <p:nvPr/>
        </p:nvSpPr>
        <p:spPr>
          <a:xfrm xmlns:a="http://schemas.openxmlformats.org/drawingml/2006/main">
            <a:off x="666750" y="4352925"/>
            <a:ext cx="10839450"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buNone/>
              <a:defRPr sz="825" b="1">
                <a:solidFill>
                  <a:srgbClr val="0F766E"/>
                </a:solidFill>
                <a:latin typeface="Aptos"/>
                <a:ea typeface="Aptos"/>
                <a:cs typeface="Aptos"/>
              </a:defRPr>
            </a:pPr>
            <a:r>
              <a:rPr sz="825" b="1">
                <a:solidFill>
                  <a:srgbClr val="0F766E"/>
                </a:solidFill>
                <a:latin typeface="Aptos"/>
                <a:ea typeface="Aptos"/>
                <a:cs typeface="Aptos"/>
              </a:rPr>
              <a:t>OBSERVED MOVEMENT</a:t>
            </a:r>
          </a:p>
        </p:txBody>
      </p:sp>
      <p:pic>
        <p:nvPicPr>
          <p:cNvPr id="52" name=""/>
          <p:cNvPicPr>
            <a:picLocks xmlns:a="http://schemas.openxmlformats.org/drawingml/2006/main" noChangeAspect="1"/>
          </p:cNvPicPr>
          <p:nvPr/>
        </p:nvPicPr>
        <p:blipFill>
          <a:blip xmlns:r="http://schemas.openxmlformats.org/officeDocument/2006/relationships" xmlns:a="http://schemas.openxmlformats.org/drawingml/2006/main" r:embed="R34dcdd21f2cf4188"/>
          <a:stretch xmlns:a="http://schemas.openxmlformats.org/drawingml/2006/main"/>
        </p:blipFill>
        <p:spPr>
          <a:xfrm xmlns:a="http://schemas.openxmlformats.org/drawingml/2006/main">
            <a:off x="666750" y="4562475"/>
            <a:ext cx="10839450" cy="400050"/>
          </a:xfrm>
          <a:prstGeom xmlns:a="http://schemas.openxmlformats.org/drawingml/2006/main" prst="rect">
            <a:avLst/>
          </a:prstGeom>
        </p:spPr>
      </p:pic>
      <p:sp>
        <p:nvSpPr>
          <p:cNvPr id="20" name="observed-qualification">
            <a:extLst xmlns:a="http://schemas.openxmlformats.org/drawingml/2006/main">
              <a:ext uri="{FF2B5EF4-FFF2-40B4-BE49-F238E27FC236}">
                <a16:creationId xmlns:a16="http://schemas.microsoft.com/office/drawing/2014/main" id="{94D8625E-C7DB-43B3-B38A-F65097A35B7B}"/>
              </a:ext>
            </a:extLst>
          </p:cNvPr>
          <p:cNvSpPr>
            <a:spLocks xmlns:a="http://schemas.openxmlformats.org/drawingml/2006/main" noGrp="1"/>
          </p:cNvSpPr>
          <p:nvPr/>
        </p:nvSpPr>
        <p:spPr>
          <a:xfrm xmlns:a="http://schemas.openxmlformats.org/drawingml/2006/main">
            <a:off x="666750" y="4981575"/>
            <a:ext cx="108394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buNone/>
              <a:defRPr sz="1050">
                <a:solidFill>
                  <a:srgbClr val="34485D"/>
                </a:solidFill>
                <a:latin typeface="Aptos"/>
                <a:ea typeface="Aptos"/>
                <a:cs typeface="Aptos"/>
              </a:defRPr>
            </a:pPr>
            <a:r>
              <a:rPr sz="1050">
                <a:solidFill>
                  <a:srgbClr val="34485D"/>
                </a:solidFill>
                <a:latin typeface="Aptos"/>
                <a:ea typeface="Aptos"/>
                <a:cs typeface="Aptos"/>
              </a:rPr>
              <a:t>Se calcula solo cuando Coverage = 1. Cada ocurrencia confirmada aporta su tamaño; los auxiliares de sandbox se excluyen.</a:t>
            </a:r>
          </a:p>
        </p:txBody>
      </p:sp>
      <p:sp>
        <p:nvSpPr>
          <p:cNvPr id="21" name="rule-552-70">
            <a:extLst xmlns:a="http://schemas.openxmlformats.org/drawingml/2006/main">
              <a:ext uri="{FF2B5EF4-FFF2-40B4-BE49-F238E27FC236}">
                <a16:creationId xmlns:a16="http://schemas.microsoft.com/office/drawing/2014/main" id="{3B6D009B-6DFD-4450-B42D-F465A33B3116}"/>
              </a:ext>
            </a:extLst>
          </p:cNvPr>
          <p:cNvSpPr>
            <a:spLocks xmlns:a="http://schemas.openxmlformats.org/drawingml/2006/main" noGrp="1"/>
          </p:cNvSpPr>
          <p:nvPr/>
        </p:nvSpPr>
        <p:spPr>
          <a:xfrm xmlns:a="http://schemas.openxmlformats.org/drawingml/2006/main">
            <a:off x="666750" y="5257800"/>
            <a:ext cx="10839450" cy="9525"/>
          </a:xfrm>
          <a:prstGeom xmlns:a="http://schemas.openxmlformats.org/drawingml/2006/main" prst="rect">
            <a:avLst/>
          </a:prstGeom>
          <a:solidFill xmlns:a="http://schemas.openxmlformats.org/drawingml/2006/main">
            <a:srgbClr val="CBD5E1"/>
          </a:solidFill>
          <a:ln xmlns:a="http://schemas.openxmlformats.org/drawingml/2006/main" w="0">
            <a:solidFill>
              <a:srgbClr val="CBD5E1"/>
            </a:solidFill>
            <a:prstDash val="solid"/>
          </a:ln>
        </p:spPr>
      </p:sp>
      <p:sp>
        <p:nvSpPr>
          <p:cNvPr id="22" name="dme-label">
            <a:extLst xmlns:a="http://schemas.openxmlformats.org/drawingml/2006/main">
              <a:ext uri="{FF2B5EF4-FFF2-40B4-BE49-F238E27FC236}">
                <a16:creationId xmlns:a16="http://schemas.microsoft.com/office/drawing/2014/main" id="{6D5DA5BE-1771-4AFC-B3B7-4E0498A01439}"/>
              </a:ext>
            </a:extLst>
          </p:cNvPr>
          <p:cNvSpPr>
            <a:spLocks xmlns:a="http://schemas.openxmlformats.org/drawingml/2006/main" noGrp="1"/>
          </p:cNvSpPr>
          <p:nvPr/>
        </p:nvSpPr>
        <p:spPr>
          <a:xfrm xmlns:a="http://schemas.openxmlformats.org/drawingml/2006/main">
            <a:off x="666750" y="5353050"/>
            <a:ext cx="10839450"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buNone/>
              <a:defRPr sz="825" b="1">
                <a:solidFill>
                  <a:srgbClr val="15803D"/>
                </a:solidFill>
                <a:latin typeface="Aptos"/>
                <a:ea typeface="Aptos"/>
                <a:cs typeface="Aptos"/>
              </a:defRPr>
            </a:pPr>
            <a:r>
              <a:rPr sz="825" b="1">
                <a:solidFill>
                  <a:srgbClr val="15803D"/>
                </a:solidFill>
                <a:latin typeface="Aptos"/>
                <a:ea typeface="Aptos"/>
                <a:cs typeface="Aptos"/>
              </a:rPr>
              <a:t>DME · SOLO CON COVERAGE = 1</a:t>
            </a:r>
          </a:p>
        </p:txBody>
      </p:sp>
      <p:pic>
        <p:nvPicPr>
          <p:cNvPr id="56" name=""/>
          <p:cNvPicPr>
            <a:picLocks xmlns:a="http://schemas.openxmlformats.org/drawingml/2006/main" noChangeAspect="1"/>
          </p:cNvPicPr>
          <p:nvPr/>
        </p:nvPicPr>
        <p:blipFill>
          <a:blip xmlns:r="http://schemas.openxmlformats.org/officeDocument/2006/relationships" xmlns:a="http://schemas.openxmlformats.org/drawingml/2006/main" r:embed="Ra9f6ec18e84f41db"/>
          <a:stretch xmlns:a="http://schemas.openxmlformats.org/drawingml/2006/main"/>
        </p:blipFill>
        <p:spPr>
          <a:xfrm xmlns:a="http://schemas.openxmlformats.org/drawingml/2006/main">
            <a:off x="666750" y="5562600"/>
            <a:ext cx="3333750" cy="304800"/>
          </a:xfrm>
          <a:prstGeom xmlns:a="http://schemas.openxmlformats.org/drawingml/2006/main" prst="rect">
            <a:avLst/>
          </a:prstGeom>
        </p:spPr>
      </p:pic>
      <p:pic>
        <p:nvPicPr>
          <p:cNvPr id="57" name=""/>
          <p:cNvPicPr>
            <a:picLocks xmlns:a="http://schemas.openxmlformats.org/drawingml/2006/main" noChangeAspect="1"/>
          </p:cNvPicPr>
          <p:nvPr/>
        </p:nvPicPr>
        <p:blipFill>
          <a:blip xmlns:r="http://schemas.openxmlformats.org/officeDocument/2006/relationships" xmlns:a="http://schemas.openxmlformats.org/drawingml/2006/main" r:embed="R02b6b01364b641ef"/>
          <a:stretch xmlns:a="http://schemas.openxmlformats.org/drawingml/2006/main"/>
        </p:blipFill>
        <p:spPr>
          <a:xfrm xmlns:a="http://schemas.openxmlformats.org/drawingml/2006/main">
            <a:off x="4324350" y="5562600"/>
            <a:ext cx="3333750" cy="304800"/>
          </a:xfrm>
          <a:prstGeom xmlns:a="http://schemas.openxmlformats.org/drawingml/2006/main" prst="rect">
            <a:avLst/>
          </a:prstGeom>
        </p:spPr>
      </p:pic>
      <p:pic>
        <p:nvPicPr>
          <p:cNvPr id="58" name=""/>
          <p:cNvPicPr>
            <a:picLocks xmlns:a="http://schemas.openxmlformats.org/drawingml/2006/main" noChangeAspect="1"/>
          </p:cNvPicPr>
          <p:nvPr/>
        </p:nvPicPr>
        <p:blipFill>
          <a:blip xmlns:r="http://schemas.openxmlformats.org/officeDocument/2006/relationships" xmlns:a="http://schemas.openxmlformats.org/drawingml/2006/main" r:embed="R2f2bff1f0905400a"/>
          <a:stretch xmlns:a="http://schemas.openxmlformats.org/drawingml/2006/main"/>
        </p:blipFill>
        <p:spPr>
          <a:xfrm xmlns:a="http://schemas.openxmlformats.org/drawingml/2006/main">
            <a:off x="7981950" y="5562600"/>
            <a:ext cx="3524250" cy="304800"/>
          </a:xfrm>
          <a:prstGeom xmlns:a="http://schemas.openxmlformats.org/drawingml/2006/main" prst="rect">
            <a:avLst/>
          </a:prstGeom>
        </p:spPr>
      </p:pic>
      <p:sp>
        <p:nvSpPr>
          <p:cNvPr id="26" name="dme-invalid">
            <a:extLst xmlns:a="http://schemas.openxmlformats.org/drawingml/2006/main">
              <a:ext uri="{FF2B5EF4-FFF2-40B4-BE49-F238E27FC236}">
                <a16:creationId xmlns:a16="http://schemas.microsoft.com/office/drawing/2014/main" id="{1A8C9CF0-0A51-477C-9438-FF52260E04A3}"/>
              </a:ext>
            </a:extLst>
          </p:cNvPr>
          <p:cNvSpPr>
            <a:spLocks xmlns:a="http://schemas.openxmlformats.org/drawingml/2006/main" noGrp="1"/>
          </p:cNvSpPr>
          <p:nvPr/>
        </p:nvSpPr>
        <p:spPr>
          <a:xfrm xmlns:a="http://schemas.openxmlformats.org/drawingml/2006/main">
            <a:off x="666750" y="5915025"/>
            <a:ext cx="108394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buNone/>
              <a:defRPr sz="1013">
                <a:solidFill>
                  <a:srgbClr val="34485D"/>
                </a:solidFill>
                <a:latin typeface="Aptos"/>
                <a:ea typeface="Aptos"/>
                <a:cs typeface="Aptos"/>
              </a:defRPr>
            </a:pPr>
            <a:r>
              <a:rPr sz="1013">
                <a:solidFill>
                  <a:srgbClr val="34485D"/>
                </a:solidFill>
                <a:latin typeface="Aptos"/>
                <a:ea typeface="Aptos"/>
                <a:cs typeface="Aptos"/>
              </a:rPr>
              <a:t>Coverage &lt; 1 ⇒ M_obs y DME indeterminadas · M_obs &lt; M_req ⇒ inconsistencia y no se informa DME válida.</a:t>
            </a:r>
          </a:p>
        </p:txBody>
      </p:sp>
    </p:spTree>
    <p:extLst>
      <p:ext uri="{BB962C8B-B14F-4D97-AF65-F5344CB8AC3E}">
        <p14:creationId xmlns:p14="http://schemas.microsoft.com/office/powerpoint/2010/main" val="1676949986"/>
      </p:ext>
    </p:extLst>
  </p:cSld>
</p:sld>
</file>

<file path=ppt/slides/slide22.xml><?xml version="1.0" encoding="utf-8"?>
<p:sld xmlns:p="http://schemas.openxmlformats.org/presentationml/2006/main">
  <p:cSld>
    <p:spTree>
      <p:nvGrpSpPr>
        <p:cNvPr id="1" name=""/>
        <p:cNvGrpSpPr/>
        <p:nvPr/>
      </p:nvGrpSpPr>
      <p:grpSpPr>
        <a:xfrm xmlns:a="http://schemas.openxmlformats.org/drawingml/2006/main"/>
      </p:grpSpPr>
      <p:sp>
        <p:nvSpPr>
          <p:cNvPr id="32" name="section-accent">
            <a:extLst xmlns:a="http://schemas.openxmlformats.org/drawingml/2006/main">
              <a:ext uri="{FF2B5EF4-FFF2-40B4-BE49-F238E27FC236}">
                <a16:creationId xmlns:a16="http://schemas.microsoft.com/office/drawing/2014/main" id="{67145E87-CDBC-4DB5-8DAF-6F29D4022BA9}"/>
              </a:ext>
            </a:extLst>
          </p:cNvPr>
          <p:cNvSpPr>
            <a:spLocks xmlns:a="http://schemas.openxmlformats.org/drawingml/2006/main" noGrp="1"/>
          </p:cNvSpPr>
          <p:nvPr/>
        </p:nvSpPr>
        <p:spPr>
          <a:xfrm xmlns:a="http://schemas.openxmlformats.org/drawingml/2006/main">
            <a:off x="0" y="0"/>
            <a:ext cx="12192000" cy="114300"/>
          </a:xfrm>
          <a:prstGeom xmlns:a="http://schemas.openxmlformats.org/drawingml/2006/main" prst="rect">
            <a:avLst/>
          </a:prstGeom>
          <a:solidFill xmlns:a="http://schemas.openxmlformats.org/drawingml/2006/main">
            <a:srgbClr val="0F766E"/>
          </a:solidFill>
          <a:ln xmlns:a="http://schemas.openxmlformats.org/drawingml/2006/main" w="0">
            <a:solidFill>
              <a:srgbClr val="0F766E"/>
            </a:solidFill>
            <a:prstDash val="solid"/>
          </a:ln>
        </p:spPr>
      </p:sp>
      <p:sp>
        <p:nvSpPr>
          <p:cNvPr id="2" name="section-label">
            <a:extLst xmlns:a="http://schemas.openxmlformats.org/drawingml/2006/main">
              <a:ext uri="{FF2B5EF4-FFF2-40B4-BE49-F238E27FC236}">
                <a16:creationId xmlns:a16="http://schemas.microsoft.com/office/drawing/2014/main" id="{9D0F1200-6D2D-4754-B5D7-50518229F971}"/>
              </a:ext>
            </a:extLst>
          </p:cNvPr>
          <p:cNvSpPr>
            <a:spLocks xmlns:a="http://schemas.openxmlformats.org/drawingml/2006/main" noGrp="1"/>
          </p:cNvSpPr>
          <p:nvPr/>
        </p:nvSpPr>
        <p:spPr>
          <a:xfrm xmlns:a="http://schemas.openxmlformats.org/drawingml/2006/main">
            <a:off x="647700" y="352425"/>
            <a:ext cx="10668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buNone/>
              <a:defRPr sz="825" b="1">
                <a:solidFill>
                  <a:srgbClr val="0F766E"/>
                </a:solidFill>
                <a:latin typeface="Aptos"/>
                <a:ea typeface="Aptos"/>
                <a:cs typeface="Aptos"/>
              </a:defRPr>
            </a:pPr>
            <a:r>
              <a:rPr sz="825" b="1">
                <a:solidFill>
                  <a:srgbClr val="0F766E"/>
                </a:solidFill>
                <a:latin typeface="Aptos"/>
                <a:ea typeface="Aptos"/>
                <a:cs typeface="Aptos"/>
              </a:rPr>
              <a:t>VALIDACIÓN · EJEMPLO OBSERVADO</a:t>
            </a:r>
          </a:p>
        </p:txBody>
      </p:sp>
      <p:sp>
        <p:nvSpPr>
          <p:cNvPr id="3" name="slide-heading">
            <a:extLst xmlns:a="http://schemas.openxmlformats.org/drawingml/2006/main">
              <a:ext uri="{FF2B5EF4-FFF2-40B4-BE49-F238E27FC236}">
                <a16:creationId xmlns:a16="http://schemas.microsoft.com/office/drawing/2014/main" id="{F825015E-E3C1-4A18-A3CC-CCBB28D76BF5}"/>
              </a:ext>
            </a:extLst>
          </p:cNvPr>
          <p:cNvSpPr>
            <a:spLocks xmlns:a="http://schemas.openxmlformats.org/drawingml/2006/main" noGrp="1"/>
          </p:cNvSpPr>
          <p:nvPr/>
        </p:nvSpPr>
        <p:spPr>
          <a:xfrm xmlns:a="http://schemas.openxmlformats.org/drawingml/2006/main">
            <a:off x="609600" y="619125"/>
            <a:ext cx="109537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buNone/>
              <a:defRPr sz="2250" b="1">
                <a:solidFill>
                  <a:srgbClr val="142D45"/>
                </a:solidFill>
                <a:latin typeface="Aptos"/>
                <a:ea typeface="Aptos"/>
                <a:cs typeface="Aptos"/>
              </a:defRPr>
            </a:pPr>
            <a:r>
              <a:rPr sz="2250" b="1">
                <a:solidFill>
                  <a:srgbClr val="142D45"/>
                </a:solidFill>
                <a:latin typeface="Aptos"/>
                <a:ea typeface="Aptos"/>
                <a:cs typeface="Aptos"/>
              </a:rPr>
              <a:t>21. Cálculo manual: pipeline same-w1 y cross</a:t>
            </a:r>
          </a:p>
        </p:txBody>
      </p:sp>
      <p:sp>
        <p:nvSpPr>
          <p:cNvPr id="4" name="slide-subtitle">
            <a:extLst xmlns:a="http://schemas.openxmlformats.org/drawingml/2006/main">
              <a:ext uri="{FF2B5EF4-FFF2-40B4-BE49-F238E27FC236}">
                <a16:creationId xmlns:a16="http://schemas.microsoft.com/office/drawing/2014/main" id="{867AB7F9-B4AF-464C-9FD4-31DDE5481E28}"/>
              </a:ext>
            </a:extLst>
          </p:cNvPr>
          <p:cNvSpPr>
            <a:spLocks xmlns:a="http://schemas.openxmlformats.org/drawingml/2006/main" noGrp="1"/>
          </p:cNvSpPr>
          <p:nvPr/>
        </p:nvSpPr>
        <p:spPr>
          <a:xfrm xmlns:a="http://schemas.openxmlformats.org/drawingml/2006/main">
            <a:off x="647700" y="1219200"/>
            <a:ext cx="10858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buNone/>
              <a:defRPr sz="1163">
                <a:solidFill>
                  <a:srgbClr val="34485D"/>
                </a:solidFill>
                <a:latin typeface="Aptos"/>
                <a:ea typeface="Aptos"/>
                <a:cs typeface="Aptos"/>
              </a:defRPr>
            </a:pPr>
            <a:r>
              <a:rPr sz="1163">
                <a:solidFill>
                  <a:srgbClr val="34485D"/>
                </a:solidFill>
                <a:latin typeface="Aptos"/>
                <a:ea typeface="Aptos"/>
                <a:cs typeface="Aptos"/>
              </a:rPr>
              <a:t>Runs preservados de Gate V · 3 tareas · seis ocurrencias científicas de 10 MiB, todas confirmadas.</a:t>
            </a:r>
          </a:p>
        </p:txBody>
      </p:sp>
      <p:sp>
        <p:nvSpPr>
          <p:cNvPr id="5" name="rule-677-52">
            <a:extLst xmlns:a="http://schemas.openxmlformats.org/drawingml/2006/main">
              <a:ext uri="{FF2B5EF4-FFF2-40B4-BE49-F238E27FC236}">
                <a16:creationId xmlns:a16="http://schemas.microsoft.com/office/drawing/2014/main" id="{190C85FA-6666-4DC1-B95C-A65CC0C32B85}"/>
              </a:ext>
            </a:extLst>
          </p:cNvPr>
          <p:cNvSpPr>
            <a:spLocks xmlns:a="http://schemas.openxmlformats.org/drawingml/2006/main" noGrp="1"/>
          </p:cNvSpPr>
          <p:nvPr/>
        </p:nvSpPr>
        <p:spPr>
          <a:xfrm xmlns:a="http://schemas.openxmlformats.org/drawingml/2006/main">
            <a:off x="495300" y="6448425"/>
            <a:ext cx="11201400" cy="9525"/>
          </a:xfrm>
          <a:prstGeom xmlns:a="http://schemas.openxmlformats.org/drawingml/2006/main" prst="rect">
            <a:avLst/>
          </a:prstGeom>
          <a:solidFill xmlns:a="http://schemas.openxmlformats.org/drawingml/2006/main">
            <a:srgbClr val="CBD5E1"/>
          </a:solidFill>
          <a:ln xmlns:a="http://schemas.openxmlformats.org/drawingml/2006/main" w="0">
            <a:solidFill>
              <a:srgbClr val="CBD5E1"/>
            </a:solidFill>
            <a:prstDash val="solid"/>
          </a:ln>
        </p:spPr>
      </p:sp>
      <p:sp>
        <p:nvSpPr>
          <p:cNvPr id="6" name="footer-label">
            <a:extLst xmlns:a="http://schemas.openxmlformats.org/drawingml/2006/main">
              <a:ext uri="{FF2B5EF4-FFF2-40B4-BE49-F238E27FC236}">
                <a16:creationId xmlns:a16="http://schemas.microsoft.com/office/drawing/2014/main" id="{865618C5-5EE7-4E92-BAC5-9F0663A08E0B}"/>
              </a:ext>
            </a:extLst>
          </p:cNvPr>
          <p:cNvSpPr>
            <a:spLocks xmlns:a="http://schemas.openxmlformats.org/drawingml/2006/main" noGrp="1"/>
          </p:cNvSpPr>
          <p:nvPr/>
        </p:nvSpPr>
        <p:spPr>
          <a:xfrm xmlns:a="http://schemas.openxmlformats.org/drawingml/2006/main">
            <a:off x="590550" y="6496050"/>
            <a:ext cx="9620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buNone/>
              <a:defRPr sz="750">
                <a:solidFill>
                  <a:srgbClr val="64748B"/>
                </a:solidFill>
                <a:latin typeface="Aptos"/>
                <a:ea typeface="Aptos"/>
                <a:cs typeface="Aptos"/>
              </a:defRPr>
            </a:pPr>
            <a:r>
              <a:rPr sz="750">
                <a:solidFill>
                  <a:srgbClr val="64748B"/>
                </a:solidFill>
                <a:latin typeface="Aptos"/>
                <a:ea typeface="Aptos"/>
                <a:cs typeface="Aptos"/>
              </a:rPr>
              <a:t>Validación · cálculo reproducible</a:t>
            </a:r>
          </a:p>
        </p:txBody>
      </p:sp>
      <p:sp>
        <p:nvSpPr>
          <p:cNvPr id="7" name="folio">
            <a:extLst xmlns:a="http://schemas.openxmlformats.org/drawingml/2006/main">
              <a:ext uri="{FF2B5EF4-FFF2-40B4-BE49-F238E27FC236}">
                <a16:creationId xmlns:a16="http://schemas.microsoft.com/office/drawing/2014/main" id="{274CF9AE-319E-48C2-8E76-6A0CB83CD00A}"/>
              </a:ext>
            </a:extLst>
          </p:cNvPr>
          <p:cNvSpPr>
            <a:spLocks xmlns:a="http://schemas.openxmlformats.org/drawingml/2006/main" noGrp="1"/>
          </p:cNvSpPr>
          <p:nvPr/>
        </p:nvSpPr>
        <p:spPr>
          <a:xfrm xmlns:a="http://schemas.openxmlformats.org/drawingml/2006/main">
            <a:off x="11201400" y="6496050"/>
            <a:ext cx="4572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r">
              <a:buNone/>
              <a:defRPr sz="750">
                <a:solidFill>
                  <a:srgbClr val="64748B"/>
                </a:solidFill>
                <a:latin typeface="Aptos"/>
                <a:ea typeface="Aptos"/>
                <a:cs typeface="Aptos"/>
              </a:defRPr>
            </a:pPr>
            <a:r>
              <a:rPr sz="750">
                <a:solidFill>
                  <a:srgbClr val="64748B"/>
                </a:solidFill>
                <a:latin typeface="Aptos"/>
                <a:ea typeface="Aptos"/>
                <a:cs typeface="Aptos"/>
              </a:rPr>
              <a:t>22</a:t>
            </a:r>
          </a:p>
        </p:txBody>
      </p:sp>
      <p:sp>
        <p:nvSpPr>
          <p:cNvPr id="8" name="same-title">
            <a:extLst xmlns:a="http://schemas.openxmlformats.org/drawingml/2006/main">
              <a:ext uri="{FF2B5EF4-FFF2-40B4-BE49-F238E27FC236}">
                <a16:creationId xmlns:a16="http://schemas.microsoft.com/office/drawing/2014/main" id="{DD3F5805-5FB6-4A95-B70A-AF970CBE2DA1}"/>
              </a:ext>
            </a:extLst>
          </p:cNvPr>
          <p:cNvSpPr>
            <a:spLocks xmlns:a="http://schemas.openxmlformats.org/drawingml/2006/main" noGrp="1"/>
          </p:cNvSpPr>
          <p:nvPr/>
        </p:nvSpPr>
        <p:spPr>
          <a:xfrm xmlns:a="http://schemas.openxmlformats.org/drawingml/2006/main">
            <a:off x="695325" y="169545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buNone/>
              <a:defRPr sz="975" b="1">
                <a:solidFill>
                  <a:srgbClr val="2563EB"/>
                </a:solidFill>
                <a:latin typeface="Aptos"/>
                <a:ea typeface="Aptos"/>
                <a:cs typeface="Aptos"/>
              </a:defRPr>
            </a:pPr>
            <a:r>
              <a:rPr sz="975" b="1">
                <a:solidFill>
                  <a:srgbClr val="2563EB"/>
                </a:solidFill>
                <a:latin typeface="Aptos"/>
                <a:ea typeface="Aptos"/>
                <a:cs typeface="Aptos"/>
              </a:rPr>
              <a:t>SAME-W1</a:t>
            </a:r>
          </a:p>
        </p:txBody>
      </p:sp>
      <p:sp>
        <p:nvSpPr>
          <p:cNvPr id="9" name="cross-title">
            <a:extLst xmlns:a="http://schemas.openxmlformats.org/drawingml/2006/main">
              <a:ext uri="{FF2B5EF4-FFF2-40B4-BE49-F238E27FC236}">
                <a16:creationId xmlns:a16="http://schemas.microsoft.com/office/drawing/2014/main" id="{1FF8CAD3-3030-415F-B500-AC66B5898D45}"/>
              </a:ext>
            </a:extLst>
          </p:cNvPr>
          <p:cNvSpPr>
            <a:spLocks xmlns:a="http://schemas.openxmlformats.org/drawingml/2006/main" noGrp="1"/>
          </p:cNvSpPr>
          <p:nvPr/>
        </p:nvSpPr>
        <p:spPr>
          <a:xfrm xmlns:a="http://schemas.openxmlformats.org/drawingml/2006/main">
            <a:off x="6543675" y="169545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buNone/>
              <a:defRPr sz="975" b="1">
                <a:solidFill>
                  <a:srgbClr val="C2410C"/>
                </a:solidFill>
                <a:latin typeface="Aptos"/>
                <a:ea typeface="Aptos"/>
                <a:cs typeface="Aptos"/>
              </a:defRPr>
            </a:pPr>
            <a:r>
              <a:rPr sz="975" b="1">
                <a:solidFill>
                  <a:srgbClr val="C2410C"/>
                </a:solidFill>
                <a:latin typeface="Aptos"/>
                <a:ea typeface="Aptos"/>
                <a:cs typeface="Aptos"/>
              </a:rPr>
              <a:t>CROSS</a:t>
            </a:r>
          </a:p>
        </p:txBody>
      </p:sp>
      <p:sp>
        <p:nvSpPr>
          <p:cNvPr id="10" name="same-t1">
            <a:extLst xmlns:a="http://schemas.openxmlformats.org/drawingml/2006/main">
              <a:ext uri="{FF2B5EF4-FFF2-40B4-BE49-F238E27FC236}">
                <a16:creationId xmlns:a16="http://schemas.microsoft.com/office/drawing/2014/main" id="{C0AC240D-3880-45EC-A05A-8543DB3FC924}"/>
              </a:ext>
            </a:extLst>
          </p:cNvPr>
          <p:cNvSpPr>
            <a:spLocks xmlns:a="http://schemas.openxmlformats.org/drawingml/2006/main" noGrp="1"/>
          </p:cNvSpPr>
          <p:nvPr/>
        </p:nvSpPr>
        <p:spPr>
          <a:xfrm xmlns:a="http://schemas.openxmlformats.org/drawingml/2006/main">
            <a:off x="952500" y="2000250"/>
            <a:ext cx="1190625" cy="533400"/>
          </a:xfrm>
          <a:prstGeom xmlns:a="http://schemas.openxmlformats.org/drawingml/2006/main" prst="rect">
            <a:avLst/>
          </a:prstGeom>
          <a:solidFill xmlns:a="http://schemas.openxmlformats.org/drawingml/2006/main">
            <a:srgbClr val="FFFFFF"/>
          </a:solidFill>
          <a:ln xmlns:a="http://schemas.openxmlformats.org/drawingml/2006/main" w="12859">
            <a:solidFill>
              <a:srgbClr val="2563EB"/>
            </a:solidFill>
            <a:prstDash val="solid"/>
          </a:ln>
        </p:spPr>
        <p:txBody>
          <a:bodyPr xmlns:a="http://schemas.openxmlformats.org/drawingml/2006/main" wrap="square" lIns="66675" tIns="38100" rIns="66675" bIns="38100" anchor="ctr">
            <a:normAutofit fontScale="100000"/>
          </a:bodyPr>
          <a:lstStyle xmlns:a="http://schemas.openxmlformats.org/drawingml/2006/main"/>
          <a:p xmlns:a="http://schemas.openxmlformats.org/drawingml/2006/main">
            <a:pPr algn="ctr">
              <a:buNone/>
              <a:defRPr sz="1125" b="0">
                <a:solidFill>
                  <a:srgbClr val="142D45"/>
                </a:solidFill>
                <a:latin typeface="Aptos"/>
                <a:ea typeface="Aptos"/>
                <a:cs typeface="Aptos"/>
              </a:defRPr>
            </a:pPr>
            <a:r>
              <a:rPr sz="1125" b="0">
                <a:solidFill>
                  <a:srgbClr val="142D45"/>
                </a:solidFill>
                <a:latin typeface="Aptos"/>
                <a:ea typeface="Aptos"/>
                <a:cs typeface="Aptos"/>
              </a:rPr>
              <a:t>T1</a:t>
            </a:r>
          </a:p>
          <a:p xmlns:a="http://schemas.openxmlformats.org/drawingml/2006/main">
            <a:pPr algn="ctr">
              <a:buNone/>
              <a:defRPr sz="1125" b="0">
                <a:solidFill>
                  <a:srgbClr val="142D45"/>
                </a:solidFill>
                <a:latin typeface="Aptos"/>
                <a:ea typeface="Aptos"/>
                <a:cs typeface="Aptos"/>
              </a:defRPr>
            </a:pPr>
            <a:r>
              <a:rPr sz="1125" b="0">
                <a:solidFill>
                  <a:srgbClr val="142D45"/>
                </a:solidFill>
                <a:latin typeface="Aptos"/>
                <a:ea typeface="Aptos"/>
                <a:cs typeface="Aptos"/>
              </a:rPr>
              <a:t>worker1</a:t>
            </a:r>
          </a:p>
        </p:txBody>
      </p:sp>
      <p:sp>
        <p:nvSpPr>
          <p:cNvPr id="11" name="same-t2">
            <a:extLst xmlns:a="http://schemas.openxmlformats.org/drawingml/2006/main">
              <a:ext uri="{FF2B5EF4-FFF2-40B4-BE49-F238E27FC236}">
                <a16:creationId xmlns:a16="http://schemas.microsoft.com/office/drawing/2014/main" id="{6DB2EF2C-88C8-4DD9-8D00-45A4A46C10BB}"/>
              </a:ext>
            </a:extLst>
          </p:cNvPr>
          <p:cNvSpPr>
            <a:spLocks xmlns:a="http://schemas.openxmlformats.org/drawingml/2006/main" noGrp="1"/>
          </p:cNvSpPr>
          <p:nvPr/>
        </p:nvSpPr>
        <p:spPr>
          <a:xfrm xmlns:a="http://schemas.openxmlformats.org/drawingml/2006/main">
            <a:off x="2571750" y="2000250"/>
            <a:ext cx="1190625" cy="533400"/>
          </a:xfrm>
          <a:prstGeom xmlns:a="http://schemas.openxmlformats.org/drawingml/2006/main" prst="rect">
            <a:avLst/>
          </a:prstGeom>
          <a:solidFill xmlns:a="http://schemas.openxmlformats.org/drawingml/2006/main">
            <a:srgbClr val="FFFFFF"/>
          </a:solidFill>
          <a:ln xmlns:a="http://schemas.openxmlformats.org/drawingml/2006/main" w="12859">
            <a:solidFill>
              <a:srgbClr val="2563EB"/>
            </a:solidFill>
            <a:prstDash val="solid"/>
          </a:ln>
        </p:spPr>
        <p:txBody>
          <a:bodyPr xmlns:a="http://schemas.openxmlformats.org/drawingml/2006/main" wrap="square" lIns="66675" tIns="38100" rIns="66675" bIns="38100" anchor="ctr">
            <a:normAutofit fontScale="100000"/>
          </a:bodyPr>
          <a:lstStyle xmlns:a="http://schemas.openxmlformats.org/drawingml/2006/main"/>
          <a:p xmlns:a="http://schemas.openxmlformats.org/drawingml/2006/main">
            <a:pPr algn="ctr">
              <a:buNone/>
              <a:defRPr sz="1125" b="0">
                <a:solidFill>
                  <a:srgbClr val="142D45"/>
                </a:solidFill>
                <a:latin typeface="Aptos"/>
                <a:ea typeface="Aptos"/>
                <a:cs typeface="Aptos"/>
              </a:defRPr>
            </a:pPr>
            <a:r>
              <a:rPr sz="1125" b="0">
                <a:solidFill>
                  <a:srgbClr val="142D45"/>
                </a:solidFill>
                <a:latin typeface="Aptos"/>
                <a:ea typeface="Aptos"/>
                <a:cs typeface="Aptos"/>
              </a:rPr>
              <a:t>T2</a:t>
            </a:r>
          </a:p>
          <a:p xmlns:a="http://schemas.openxmlformats.org/drawingml/2006/main">
            <a:pPr algn="ctr">
              <a:buNone/>
              <a:defRPr sz="1125" b="0">
                <a:solidFill>
                  <a:srgbClr val="142D45"/>
                </a:solidFill>
                <a:latin typeface="Aptos"/>
                <a:ea typeface="Aptos"/>
                <a:cs typeface="Aptos"/>
              </a:defRPr>
            </a:pPr>
            <a:r>
              <a:rPr sz="1125" b="0">
                <a:solidFill>
                  <a:srgbClr val="142D45"/>
                </a:solidFill>
                <a:latin typeface="Aptos"/>
                <a:ea typeface="Aptos"/>
                <a:cs typeface="Aptos"/>
              </a:rPr>
              <a:t>worker1</a:t>
            </a:r>
          </a:p>
        </p:txBody>
      </p:sp>
      <p:sp>
        <p:nvSpPr>
          <p:cNvPr id="12" name="same-t3">
            <a:extLst xmlns:a="http://schemas.openxmlformats.org/drawingml/2006/main">
              <a:ext uri="{FF2B5EF4-FFF2-40B4-BE49-F238E27FC236}">
                <a16:creationId xmlns:a16="http://schemas.microsoft.com/office/drawing/2014/main" id="{1769FDDE-88FC-4C6A-80CD-1EA0D270A85B}"/>
              </a:ext>
            </a:extLst>
          </p:cNvPr>
          <p:cNvSpPr>
            <a:spLocks xmlns:a="http://schemas.openxmlformats.org/drawingml/2006/main" noGrp="1"/>
          </p:cNvSpPr>
          <p:nvPr/>
        </p:nvSpPr>
        <p:spPr>
          <a:xfrm xmlns:a="http://schemas.openxmlformats.org/drawingml/2006/main">
            <a:off x="4191000" y="2000250"/>
            <a:ext cx="1190625" cy="533400"/>
          </a:xfrm>
          <a:prstGeom xmlns:a="http://schemas.openxmlformats.org/drawingml/2006/main" prst="rect">
            <a:avLst/>
          </a:prstGeom>
          <a:solidFill xmlns:a="http://schemas.openxmlformats.org/drawingml/2006/main">
            <a:srgbClr val="FFFFFF"/>
          </a:solidFill>
          <a:ln xmlns:a="http://schemas.openxmlformats.org/drawingml/2006/main" w="12859">
            <a:solidFill>
              <a:srgbClr val="2563EB"/>
            </a:solidFill>
            <a:prstDash val="solid"/>
          </a:ln>
        </p:spPr>
        <p:txBody>
          <a:bodyPr xmlns:a="http://schemas.openxmlformats.org/drawingml/2006/main" wrap="square" lIns="66675" tIns="38100" rIns="66675" bIns="38100" anchor="ctr">
            <a:normAutofit fontScale="100000"/>
          </a:bodyPr>
          <a:lstStyle xmlns:a="http://schemas.openxmlformats.org/drawingml/2006/main"/>
          <a:p xmlns:a="http://schemas.openxmlformats.org/drawingml/2006/main">
            <a:pPr algn="ctr">
              <a:buNone/>
              <a:defRPr sz="1125" b="0">
                <a:solidFill>
                  <a:srgbClr val="142D45"/>
                </a:solidFill>
                <a:latin typeface="Aptos"/>
                <a:ea typeface="Aptos"/>
                <a:cs typeface="Aptos"/>
              </a:defRPr>
            </a:pPr>
            <a:r>
              <a:rPr sz="1125" b="0">
                <a:solidFill>
                  <a:srgbClr val="142D45"/>
                </a:solidFill>
                <a:latin typeface="Aptos"/>
                <a:ea typeface="Aptos"/>
                <a:cs typeface="Aptos"/>
              </a:rPr>
              <a:t>T3</a:t>
            </a:r>
          </a:p>
          <a:p xmlns:a="http://schemas.openxmlformats.org/drawingml/2006/main">
            <a:pPr algn="ctr">
              <a:buNone/>
              <a:defRPr sz="1125" b="0">
                <a:solidFill>
                  <a:srgbClr val="142D45"/>
                </a:solidFill>
                <a:latin typeface="Aptos"/>
                <a:ea typeface="Aptos"/>
                <a:cs typeface="Aptos"/>
              </a:defRPr>
            </a:pPr>
            <a:r>
              <a:rPr sz="1125" b="0">
                <a:solidFill>
                  <a:srgbClr val="142D45"/>
                </a:solidFill>
                <a:latin typeface="Aptos"/>
                <a:ea typeface="Aptos"/>
                <a:cs typeface="Aptos"/>
              </a:rPr>
              <a:t>worker1</a:t>
            </a:r>
          </a:p>
        </p:txBody>
      </p:sp>
      <p:cxnSp>
        <p:nvCxnSpPr>
          <p:cNvPr id="84" name=""/>
          <p:cNvCxnSpPr>
            <a:stCxn xmlns:a="http://schemas.openxmlformats.org/drawingml/2006/main" id="10" idx="3"/>
            <a:endCxn xmlns:a="http://schemas.openxmlformats.org/drawingml/2006/main" id="11" idx="1"/>
          </p:cNvCxnSpPr>
          <p:nvPr/>
        </p:nvCxnSpPr>
        <p:spPr>
          <a:xfrm xmlns:a="http://schemas.openxmlformats.org/drawingml/2006/main">
            <a:off x="2143125" y="2266950"/>
            <a:ext cx="428625" cy="0"/>
          </a:xfrm>
          <a:prstGeom xmlns:a="http://schemas.openxmlformats.org/drawingml/2006/main" prst="straightConnector1">
            <a:avLst/>
          </a:prstGeom>
          <a:ln xmlns:a="http://schemas.openxmlformats.org/drawingml/2006/main" w="13811">
            <a:solidFill>
              <a:srgbClr val="2563EB"/>
            </a:solidFill>
            <a:prstDash val="solid"/>
            <a:tailEnd type="arrow" w="med" len="med"/>
          </a:ln>
        </p:spPr>
      </p:cxnSp>
      <p:cxnSp>
        <p:nvCxnSpPr>
          <p:cNvPr id="85" name=""/>
          <p:cNvCxnSpPr>
            <a:stCxn xmlns:a="http://schemas.openxmlformats.org/drawingml/2006/main" id="11" idx="3"/>
            <a:endCxn xmlns:a="http://schemas.openxmlformats.org/drawingml/2006/main" id="12" idx="1"/>
          </p:cNvCxnSpPr>
          <p:nvPr/>
        </p:nvCxnSpPr>
        <p:spPr>
          <a:xfrm xmlns:a="http://schemas.openxmlformats.org/drawingml/2006/main">
            <a:off x="3762375" y="2266950"/>
            <a:ext cx="428625" cy="0"/>
          </a:xfrm>
          <a:prstGeom xmlns:a="http://schemas.openxmlformats.org/drawingml/2006/main" prst="straightConnector1">
            <a:avLst/>
          </a:prstGeom>
          <a:ln xmlns:a="http://schemas.openxmlformats.org/drawingml/2006/main" w="13811">
            <a:solidFill>
              <a:srgbClr val="2563EB"/>
            </a:solidFill>
            <a:prstDash val="solid"/>
            <a:tailEnd type="arrow" w="med" len="med"/>
          </a:ln>
        </p:spPr>
      </p:cxnSp>
      <p:sp>
        <p:nvSpPr>
          <p:cNvPr id="15" name="same-files">
            <a:extLst xmlns:a="http://schemas.openxmlformats.org/drawingml/2006/main">
              <a:ext uri="{FF2B5EF4-FFF2-40B4-BE49-F238E27FC236}">
                <a16:creationId xmlns:a16="http://schemas.microsoft.com/office/drawing/2014/main" id="{3F2E43EC-CA78-451C-B4F9-B06EDB7BCABB}"/>
              </a:ext>
            </a:extLst>
          </p:cNvPr>
          <p:cNvSpPr>
            <a:spLocks xmlns:a="http://schemas.openxmlformats.org/drawingml/2006/main" noGrp="1"/>
          </p:cNvSpPr>
          <p:nvPr/>
        </p:nvSpPr>
        <p:spPr>
          <a:xfrm xmlns:a="http://schemas.openxmlformats.org/drawingml/2006/main">
            <a:off x="952500" y="2571750"/>
            <a:ext cx="442912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buNone/>
              <a:defRPr sz="938">
                <a:solidFill>
                  <a:srgbClr val="64748B"/>
                </a:solidFill>
                <a:latin typeface="Aptos"/>
                <a:ea typeface="Aptos"/>
                <a:cs typeface="Aptos"/>
              </a:defRPr>
            </a:pPr>
            <a:r>
              <a:rPr sz="938">
                <a:solidFill>
                  <a:srgbClr val="64748B"/>
                </a:solidFill>
                <a:latin typeface="Aptos"/>
                <a:ea typeface="Aptos"/>
                <a:cs typeface="Aptos"/>
              </a:rPr>
              <a:t>stage1.dat · 10 MiB                         stage2.dat · 10 MiB</a:t>
            </a:r>
          </a:p>
        </p:txBody>
      </p:sp>
      <p:sp>
        <p:nvSpPr>
          <p:cNvPr id="16" name="cross-t1">
            <a:extLst xmlns:a="http://schemas.openxmlformats.org/drawingml/2006/main">
              <a:ext uri="{FF2B5EF4-FFF2-40B4-BE49-F238E27FC236}">
                <a16:creationId xmlns:a16="http://schemas.microsoft.com/office/drawing/2014/main" id="{AEBA1E2F-8542-4F6F-9511-3746E15A816C}"/>
              </a:ext>
            </a:extLst>
          </p:cNvPr>
          <p:cNvSpPr>
            <a:spLocks xmlns:a="http://schemas.openxmlformats.org/drawingml/2006/main" noGrp="1"/>
          </p:cNvSpPr>
          <p:nvPr/>
        </p:nvSpPr>
        <p:spPr>
          <a:xfrm xmlns:a="http://schemas.openxmlformats.org/drawingml/2006/main">
            <a:off x="6791325" y="2000250"/>
            <a:ext cx="1190625" cy="533400"/>
          </a:xfrm>
          <a:prstGeom xmlns:a="http://schemas.openxmlformats.org/drawingml/2006/main" prst="rect">
            <a:avLst/>
          </a:prstGeom>
          <a:solidFill xmlns:a="http://schemas.openxmlformats.org/drawingml/2006/main">
            <a:srgbClr val="FFFFFF"/>
          </a:solidFill>
          <a:ln xmlns:a="http://schemas.openxmlformats.org/drawingml/2006/main" w="12859">
            <a:solidFill>
              <a:srgbClr val="C2410C"/>
            </a:solidFill>
            <a:prstDash val="solid"/>
          </a:ln>
        </p:spPr>
        <p:txBody>
          <a:bodyPr xmlns:a="http://schemas.openxmlformats.org/drawingml/2006/main" wrap="square" lIns="66675" tIns="38100" rIns="66675" bIns="38100" anchor="ctr">
            <a:normAutofit fontScale="100000"/>
          </a:bodyPr>
          <a:lstStyle xmlns:a="http://schemas.openxmlformats.org/drawingml/2006/main"/>
          <a:p xmlns:a="http://schemas.openxmlformats.org/drawingml/2006/main">
            <a:pPr algn="ctr">
              <a:buNone/>
              <a:defRPr sz="1125" b="0">
                <a:solidFill>
                  <a:srgbClr val="142D45"/>
                </a:solidFill>
                <a:latin typeface="Aptos"/>
                <a:ea typeface="Aptos"/>
                <a:cs typeface="Aptos"/>
              </a:defRPr>
            </a:pPr>
            <a:r>
              <a:rPr sz="1125" b="0">
                <a:solidFill>
                  <a:srgbClr val="142D45"/>
                </a:solidFill>
                <a:latin typeface="Aptos"/>
                <a:ea typeface="Aptos"/>
                <a:cs typeface="Aptos"/>
              </a:rPr>
              <a:t>T1</a:t>
            </a:r>
          </a:p>
          <a:p xmlns:a="http://schemas.openxmlformats.org/drawingml/2006/main">
            <a:pPr algn="ctr">
              <a:buNone/>
              <a:defRPr sz="1125" b="0">
                <a:solidFill>
                  <a:srgbClr val="142D45"/>
                </a:solidFill>
                <a:latin typeface="Aptos"/>
                <a:ea typeface="Aptos"/>
                <a:cs typeface="Aptos"/>
              </a:defRPr>
            </a:pPr>
            <a:r>
              <a:rPr sz="1125" b="0">
                <a:solidFill>
                  <a:srgbClr val="142D45"/>
                </a:solidFill>
                <a:latin typeface="Aptos"/>
                <a:ea typeface="Aptos"/>
                <a:cs typeface="Aptos"/>
              </a:rPr>
              <a:t>worker1</a:t>
            </a:r>
          </a:p>
        </p:txBody>
      </p:sp>
      <p:sp>
        <p:nvSpPr>
          <p:cNvPr id="17" name="cross-t2">
            <a:extLst xmlns:a="http://schemas.openxmlformats.org/drawingml/2006/main">
              <a:ext uri="{FF2B5EF4-FFF2-40B4-BE49-F238E27FC236}">
                <a16:creationId xmlns:a16="http://schemas.microsoft.com/office/drawing/2014/main" id="{782FC0E0-9115-4770-A16F-8703DCD34F52}"/>
              </a:ext>
            </a:extLst>
          </p:cNvPr>
          <p:cNvSpPr>
            <a:spLocks xmlns:a="http://schemas.openxmlformats.org/drawingml/2006/main" noGrp="1"/>
          </p:cNvSpPr>
          <p:nvPr/>
        </p:nvSpPr>
        <p:spPr>
          <a:xfrm xmlns:a="http://schemas.openxmlformats.org/drawingml/2006/main">
            <a:off x="8410575" y="2000250"/>
            <a:ext cx="1190625" cy="533400"/>
          </a:xfrm>
          <a:prstGeom xmlns:a="http://schemas.openxmlformats.org/drawingml/2006/main" prst="rect">
            <a:avLst/>
          </a:prstGeom>
          <a:solidFill xmlns:a="http://schemas.openxmlformats.org/drawingml/2006/main">
            <a:srgbClr val="FFFFFF"/>
          </a:solidFill>
          <a:ln xmlns:a="http://schemas.openxmlformats.org/drawingml/2006/main" w="12859">
            <a:solidFill>
              <a:srgbClr val="C2410C"/>
            </a:solidFill>
            <a:prstDash val="solid"/>
          </a:ln>
        </p:spPr>
        <p:txBody>
          <a:bodyPr xmlns:a="http://schemas.openxmlformats.org/drawingml/2006/main" wrap="square" lIns="66675" tIns="38100" rIns="66675" bIns="38100" anchor="ctr">
            <a:normAutofit fontScale="100000"/>
          </a:bodyPr>
          <a:lstStyle xmlns:a="http://schemas.openxmlformats.org/drawingml/2006/main"/>
          <a:p xmlns:a="http://schemas.openxmlformats.org/drawingml/2006/main">
            <a:pPr algn="ctr">
              <a:buNone/>
              <a:defRPr sz="1125" b="0">
                <a:solidFill>
                  <a:srgbClr val="142D45"/>
                </a:solidFill>
                <a:latin typeface="Aptos"/>
                <a:ea typeface="Aptos"/>
                <a:cs typeface="Aptos"/>
              </a:defRPr>
            </a:pPr>
            <a:r>
              <a:rPr sz="1125" b="0">
                <a:solidFill>
                  <a:srgbClr val="142D45"/>
                </a:solidFill>
                <a:latin typeface="Aptos"/>
                <a:ea typeface="Aptos"/>
                <a:cs typeface="Aptos"/>
              </a:rPr>
              <a:t>T2</a:t>
            </a:r>
          </a:p>
          <a:p xmlns:a="http://schemas.openxmlformats.org/drawingml/2006/main">
            <a:pPr algn="ctr">
              <a:buNone/>
              <a:defRPr sz="1125" b="0">
                <a:solidFill>
                  <a:srgbClr val="142D45"/>
                </a:solidFill>
                <a:latin typeface="Aptos"/>
                <a:ea typeface="Aptos"/>
                <a:cs typeface="Aptos"/>
              </a:defRPr>
            </a:pPr>
            <a:r>
              <a:rPr sz="1125" b="0">
                <a:solidFill>
                  <a:srgbClr val="142D45"/>
                </a:solidFill>
                <a:latin typeface="Aptos"/>
                <a:ea typeface="Aptos"/>
                <a:cs typeface="Aptos"/>
              </a:rPr>
              <a:t>worker2</a:t>
            </a:r>
          </a:p>
        </p:txBody>
      </p:sp>
      <p:sp>
        <p:nvSpPr>
          <p:cNvPr id="18" name="cross-t3">
            <a:extLst xmlns:a="http://schemas.openxmlformats.org/drawingml/2006/main">
              <a:ext uri="{FF2B5EF4-FFF2-40B4-BE49-F238E27FC236}">
                <a16:creationId xmlns:a16="http://schemas.microsoft.com/office/drawing/2014/main" id="{2E20F12C-9DAD-411B-8A2D-5504D1BFB6EC}"/>
              </a:ext>
            </a:extLst>
          </p:cNvPr>
          <p:cNvSpPr>
            <a:spLocks xmlns:a="http://schemas.openxmlformats.org/drawingml/2006/main" noGrp="1"/>
          </p:cNvSpPr>
          <p:nvPr/>
        </p:nvSpPr>
        <p:spPr>
          <a:xfrm xmlns:a="http://schemas.openxmlformats.org/drawingml/2006/main">
            <a:off x="10029825" y="2000250"/>
            <a:ext cx="1190625" cy="533400"/>
          </a:xfrm>
          <a:prstGeom xmlns:a="http://schemas.openxmlformats.org/drawingml/2006/main" prst="rect">
            <a:avLst/>
          </a:prstGeom>
          <a:solidFill xmlns:a="http://schemas.openxmlformats.org/drawingml/2006/main">
            <a:srgbClr val="FFFFFF"/>
          </a:solidFill>
          <a:ln xmlns:a="http://schemas.openxmlformats.org/drawingml/2006/main" w="12859">
            <a:solidFill>
              <a:srgbClr val="C2410C"/>
            </a:solidFill>
            <a:prstDash val="solid"/>
          </a:ln>
        </p:spPr>
        <p:txBody>
          <a:bodyPr xmlns:a="http://schemas.openxmlformats.org/drawingml/2006/main" wrap="square" lIns="66675" tIns="38100" rIns="66675" bIns="38100" anchor="ctr">
            <a:normAutofit fontScale="100000"/>
          </a:bodyPr>
          <a:lstStyle xmlns:a="http://schemas.openxmlformats.org/drawingml/2006/main"/>
          <a:p xmlns:a="http://schemas.openxmlformats.org/drawingml/2006/main">
            <a:pPr algn="ctr">
              <a:buNone/>
              <a:defRPr sz="1125" b="0">
                <a:solidFill>
                  <a:srgbClr val="142D45"/>
                </a:solidFill>
                <a:latin typeface="Aptos"/>
                <a:ea typeface="Aptos"/>
                <a:cs typeface="Aptos"/>
              </a:defRPr>
            </a:pPr>
            <a:r>
              <a:rPr sz="1125" b="0">
                <a:solidFill>
                  <a:srgbClr val="142D45"/>
                </a:solidFill>
                <a:latin typeface="Aptos"/>
                <a:ea typeface="Aptos"/>
                <a:cs typeface="Aptos"/>
              </a:rPr>
              <a:t>T3</a:t>
            </a:r>
          </a:p>
          <a:p xmlns:a="http://schemas.openxmlformats.org/drawingml/2006/main">
            <a:pPr algn="ctr">
              <a:buNone/>
              <a:defRPr sz="1125" b="0">
                <a:solidFill>
                  <a:srgbClr val="142D45"/>
                </a:solidFill>
                <a:latin typeface="Aptos"/>
                <a:ea typeface="Aptos"/>
                <a:cs typeface="Aptos"/>
              </a:defRPr>
            </a:pPr>
            <a:r>
              <a:rPr sz="1125" b="0">
                <a:solidFill>
                  <a:srgbClr val="142D45"/>
                </a:solidFill>
                <a:latin typeface="Aptos"/>
                <a:ea typeface="Aptos"/>
                <a:cs typeface="Aptos"/>
              </a:rPr>
              <a:t>worker1</a:t>
            </a:r>
          </a:p>
        </p:txBody>
      </p:sp>
      <p:cxnSp>
        <p:nvCxnSpPr>
          <p:cNvPr id="90" name=""/>
          <p:cNvCxnSpPr>
            <a:stCxn xmlns:a="http://schemas.openxmlformats.org/drawingml/2006/main" id="16" idx="3"/>
            <a:endCxn xmlns:a="http://schemas.openxmlformats.org/drawingml/2006/main" id="17" idx="1"/>
          </p:cNvCxnSpPr>
          <p:nvPr/>
        </p:nvCxnSpPr>
        <p:spPr>
          <a:xfrm xmlns:a="http://schemas.openxmlformats.org/drawingml/2006/main">
            <a:off x="7981950" y="2266950"/>
            <a:ext cx="428625" cy="0"/>
          </a:xfrm>
          <a:prstGeom xmlns:a="http://schemas.openxmlformats.org/drawingml/2006/main" prst="straightConnector1">
            <a:avLst/>
          </a:prstGeom>
          <a:ln xmlns:a="http://schemas.openxmlformats.org/drawingml/2006/main" w="13811">
            <a:solidFill>
              <a:srgbClr val="C2410C"/>
            </a:solidFill>
            <a:prstDash val="solid"/>
            <a:tailEnd type="arrow" w="med" len="med"/>
          </a:ln>
        </p:spPr>
      </p:cxnSp>
      <p:cxnSp>
        <p:nvCxnSpPr>
          <p:cNvPr id="91" name=""/>
          <p:cNvCxnSpPr>
            <a:stCxn xmlns:a="http://schemas.openxmlformats.org/drawingml/2006/main" id="17" idx="3"/>
            <a:endCxn xmlns:a="http://schemas.openxmlformats.org/drawingml/2006/main" id="18" idx="1"/>
          </p:cNvCxnSpPr>
          <p:nvPr/>
        </p:nvCxnSpPr>
        <p:spPr>
          <a:xfrm xmlns:a="http://schemas.openxmlformats.org/drawingml/2006/main">
            <a:off x="9601200" y="2266950"/>
            <a:ext cx="428625" cy="0"/>
          </a:xfrm>
          <a:prstGeom xmlns:a="http://schemas.openxmlformats.org/drawingml/2006/main" prst="straightConnector1">
            <a:avLst/>
          </a:prstGeom>
          <a:ln xmlns:a="http://schemas.openxmlformats.org/drawingml/2006/main" w="13811">
            <a:solidFill>
              <a:srgbClr val="C2410C"/>
            </a:solidFill>
            <a:prstDash val="solid"/>
            <a:tailEnd type="arrow" w="med" len="med"/>
          </a:ln>
        </p:spPr>
      </p:cxnSp>
      <p:sp>
        <p:nvSpPr>
          <p:cNvPr id="21" name="cross-files">
            <a:extLst xmlns:a="http://schemas.openxmlformats.org/drawingml/2006/main">
              <a:ext uri="{FF2B5EF4-FFF2-40B4-BE49-F238E27FC236}">
                <a16:creationId xmlns:a16="http://schemas.microsoft.com/office/drawing/2014/main" id="{6AAD85A5-0E53-4DE8-BA83-59BACF0F3D29}"/>
              </a:ext>
            </a:extLst>
          </p:cNvPr>
          <p:cNvSpPr>
            <a:spLocks xmlns:a="http://schemas.openxmlformats.org/drawingml/2006/main" noGrp="1"/>
          </p:cNvSpPr>
          <p:nvPr/>
        </p:nvSpPr>
        <p:spPr>
          <a:xfrm xmlns:a="http://schemas.openxmlformats.org/drawingml/2006/main">
            <a:off x="6791325" y="2571750"/>
            <a:ext cx="442912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buNone/>
              <a:defRPr sz="938">
                <a:solidFill>
                  <a:srgbClr val="64748B"/>
                </a:solidFill>
                <a:latin typeface="Aptos"/>
                <a:ea typeface="Aptos"/>
                <a:cs typeface="Aptos"/>
              </a:defRPr>
            </a:pPr>
            <a:r>
              <a:rPr sz="938">
                <a:solidFill>
                  <a:srgbClr val="64748B"/>
                </a:solidFill>
                <a:latin typeface="Aptos"/>
                <a:ea typeface="Aptos"/>
                <a:cs typeface="Aptos"/>
              </a:rPr>
              <a:t>stage1.dat · 10 MiB                         stage2.dat · 10 MiB</a:t>
            </a:r>
          </a:p>
        </p:txBody>
      </p:sp>
      <p:sp>
        <p:nvSpPr>
          <p:cNvPr id="22" name="rule-299-70">
            <a:extLst xmlns:a="http://schemas.openxmlformats.org/drawingml/2006/main">
              <a:ext uri="{FF2B5EF4-FFF2-40B4-BE49-F238E27FC236}">
                <a16:creationId xmlns:a16="http://schemas.microsoft.com/office/drawing/2014/main" id="{329A9F8A-2081-47BE-B02E-B698CF3E580C}"/>
              </a:ext>
            </a:extLst>
          </p:cNvPr>
          <p:cNvSpPr>
            <a:spLocks xmlns:a="http://schemas.openxmlformats.org/drawingml/2006/main" noGrp="1"/>
          </p:cNvSpPr>
          <p:nvPr/>
        </p:nvSpPr>
        <p:spPr>
          <a:xfrm xmlns:a="http://schemas.openxmlformats.org/drawingml/2006/main">
            <a:off x="666750" y="2847975"/>
            <a:ext cx="10839450" cy="9525"/>
          </a:xfrm>
          <a:prstGeom xmlns:a="http://schemas.openxmlformats.org/drawingml/2006/main" prst="rect">
            <a:avLst/>
          </a:prstGeom>
          <a:solidFill xmlns:a="http://schemas.openxmlformats.org/drawingml/2006/main">
            <a:srgbClr val="CBD5E1"/>
          </a:solidFill>
          <a:ln xmlns:a="http://schemas.openxmlformats.org/drawingml/2006/main" w="0">
            <a:solidFill>
              <a:srgbClr val="CBD5E1"/>
            </a:solidFill>
            <a:prstDash val="solid"/>
          </a:ln>
        </p:spPr>
      </p:sp>
      <p:sp>
        <p:nvSpPr>
          <p:cNvPr id="23" name="same-required-label">
            <a:extLst xmlns:a="http://schemas.openxmlformats.org/drawingml/2006/main">
              <a:ext uri="{FF2B5EF4-FFF2-40B4-BE49-F238E27FC236}">
                <a16:creationId xmlns:a16="http://schemas.microsoft.com/office/drawing/2014/main" id="{C8E808CB-B2A7-4B18-BBA3-0D3EC40368C2}"/>
              </a:ext>
            </a:extLst>
          </p:cNvPr>
          <p:cNvSpPr>
            <a:spLocks xmlns:a="http://schemas.openxmlformats.org/drawingml/2006/main" noGrp="1"/>
          </p:cNvSpPr>
          <p:nvPr/>
        </p:nvSpPr>
        <p:spPr>
          <a:xfrm xmlns:a="http://schemas.openxmlformats.org/drawingml/2006/main">
            <a:off x="714375" y="3009900"/>
            <a:ext cx="495300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buNone/>
              <a:defRPr sz="900" b="1">
                <a:solidFill>
                  <a:srgbClr val="2563EB"/>
                </a:solidFill>
                <a:latin typeface="Aptos"/>
                <a:ea typeface="Aptos"/>
                <a:cs typeface="Aptos"/>
              </a:defRPr>
            </a:pPr>
            <a:r>
              <a:rPr sz="900" b="1">
                <a:solidFill>
                  <a:srgbClr val="2563EB"/>
                </a:solidFill>
                <a:latin typeface="Aptos"/>
                <a:ea typeface="Aptos"/>
                <a:cs typeface="Aptos"/>
              </a:rPr>
              <a:t>M_req SAME-W1</a:t>
            </a:r>
          </a:p>
        </p:txBody>
      </p:sp>
      <p:sp>
        <p:nvSpPr>
          <p:cNvPr id="24" name="same-required-calc">
            <a:extLst xmlns:a="http://schemas.openxmlformats.org/drawingml/2006/main">
              <a:ext uri="{FF2B5EF4-FFF2-40B4-BE49-F238E27FC236}">
                <a16:creationId xmlns:a16="http://schemas.microsoft.com/office/drawing/2014/main" id="{3EA6EF5D-0E45-4009-A34A-D3A4BE281FC4}"/>
              </a:ext>
            </a:extLst>
          </p:cNvPr>
          <p:cNvSpPr>
            <a:spLocks xmlns:a="http://schemas.openxmlformats.org/drawingml/2006/main" noGrp="1"/>
          </p:cNvSpPr>
          <p:nvPr/>
        </p:nvSpPr>
        <p:spPr>
          <a:xfrm xmlns:a="http://schemas.openxmlformats.org/drawingml/2006/main">
            <a:off x="819150" y="3267075"/>
            <a:ext cx="47625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buNone/>
              <a:defRPr sz="1425">
                <a:solidFill>
                  <a:srgbClr val="142D45"/>
                </a:solidFill>
                <a:latin typeface="Aptos"/>
                <a:ea typeface="Aptos"/>
                <a:cs typeface="Aptos"/>
              </a:defRPr>
            </a:pPr>
            <a:r>
              <a:rPr sz="1425">
                <a:solidFill>
                  <a:srgbClr val="142D45"/>
                </a:solidFill>
                <a:latin typeface="Aptos"/>
                <a:ea typeface="Aptos"/>
                <a:cs typeface="Aptos"/>
              </a:rPr>
              <a:t>10 input + 0 intermedios locales + 10 destino final</a:t>
            </a:r>
          </a:p>
          <a:p xmlns:a="http://schemas.openxmlformats.org/drawingml/2006/main">
            <a:pPr algn="ctr">
              <a:buNone/>
              <a:defRPr sz="1425">
                <a:solidFill>
                  <a:srgbClr val="142D45"/>
                </a:solidFill>
                <a:latin typeface="Aptos"/>
                <a:ea typeface="Aptos"/>
                <a:cs typeface="Aptos"/>
              </a:defRPr>
            </a:pPr>
            <a:r>
              <a:rPr sz="1425">
                <a:solidFill>
                  <a:srgbClr val="142D45"/>
                </a:solidFill>
                <a:latin typeface="Aptos"/>
                <a:ea typeface="Aptos"/>
                <a:cs typeface="Aptos"/>
              </a:rPr>
              <a:t>= 20 MiB  (20,971,520 B)</a:t>
            </a:r>
          </a:p>
        </p:txBody>
      </p:sp>
      <p:sp>
        <p:nvSpPr>
          <p:cNvPr id="25" name="cross-required-label">
            <a:extLst xmlns:a="http://schemas.openxmlformats.org/drawingml/2006/main">
              <a:ext uri="{FF2B5EF4-FFF2-40B4-BE49-F238E27FC236}">
                <a16:creationId xmlns:a16="http://schemas.microsoft.com/office/drawing/2014/main" id="{04627761-E610-4052-B68D-A8DD02DCAF55}"/>
              </a:ext>
            </a:extLst>
          </p:cNvPr>
          <p:cNvSpPr>
            <a:spLocks xmlns:a="http://schemas.openxmlformats.org/drawingml/2006/main" noGrp="1"/>
          </p:cNvSpPr>
          <p:nvPr/>
        </p:nvSpPr>
        <p:spPr>
          <a:xfrm xmlns:a="http://schemas.openxmlformats.org/drawingml/2006/main">
            <a:off x="6543675" y="3009900"/>
            <a:ext cx="495300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buNone/>
              <a:defRPr sz="900" b="1">
                <a:solidFill>
                  <a:srgbClr val="C2410C"/>
                </a:solidFill>
                <a:latin typeface="Aptos"/>
                <a:ea typeface="Aptos"/>
                <a:cs typeface="Aptos"/>
              </a:defRPr>
            </a:pPr>
            <a:r>
              <a:rPr sz="900" b="1">
                <a:solidFill>
                  <a:srgbClr val="C2410C"/>
                </a:solidFill>
                <a:latin typeface="Aptos"/>
                <a:ea typeface="Aptos"/>
                <a:cs typeface="Aptos"/>
              </a:rPr>
              <a:t>M_req CROSS</a:t>
            </a:r>
          </a:p>
        </p:txBody>
      </p:sp>
      <p:sp>
        <p:nvSpPr>
          <p:cNvPr id="26" name="cross-required-calc">
            <a:extLst xmlns:a="http://schemas.openxmlformats.org/drawingml/2006/main">
              <a:ext uri="{FF2B5EF4-FFF2-40B4-BE49-F238E27FC236}">
                <a16:creationId xmlns:a16="http://schemas.microsoft.com/office/drawing/2014/main" id="{DAE4494C-54ED-4E2A-84B2-0E5BF70BA926}"/>
              </a:ext>
            </a:extLst>
          </p:cNvPr>
          <p:cNvSpPr>
            <a:spLocks xmlns:a="http://schemas.openxmlformats.org/drawingml/2006/main" noGrp="1"/>
          </p:cNvSpPr>
          <p:nvPr/>
        </p:nvSpPr>
        <p:spPr>
          <a:xfrm xmlns:a="http://schemas.openxmlformats.org/drawingml/2006/main">
            <a:off x="6543675" y="3267075"/>
            <a:ext cx="4953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buNone/>
              <a:defRPr sz="1350">
                <a:solidFill>
                  <a:srgbClr val="142D45"/>
                </a:solidFill>
                <a:latin typeface="Aptos"/>
                <a:ea typeface="Aptos"/>
                <a:cs typeface="Aptos"/>
              </a:defRPr>
            </a:pPr>
            <a:r>
              <a:rPr sz="1350">
                <a:solidFill>
                  <a:srgbClr val="142D45"/>
                </a:solidFill>
                <a:latin typeface="Aptos"/>
                <a:ea typeface="Aptos"/>
                <a:cs typeface="Aptos"/>
              </a:rPr>
              <a:t>10 input + 10 stage1 (W1→W2) + 10 stage2 (W2→W1) + 10 final</a:t>
            </a:r>
          </a:p>
          <a:p xmlns:a="http://schemas.openxmlformats.org/drawingml/2006/main">
            <a:pPr algn="ctr">
              <a:buNone/>
              <a:defRPr sz="1350">
                <a:solidFill>
                  <a:srgbClr val="142D45"/>
                </a:solidFill>
                <a:latin typeface="Aptos"/>
                <a:ea typeface="Aptos"/>
                <a:cs typeface="Aptos"/>
              </a:defRPr>
            </a:pPr>
            <a:r>
              <a:rPr sz="1350">
                <a:solidFill>
                  <a:srgbClr val="142D45"/>
                </a:solidFill>
                <a:latin typeface="Aptos"/>
                <a:ea typeface="Aptos"/>
                <a:cs typeface="Aptos"/>
              </a:rPr>
              <a:t>= 40 MiB  (41,943,040 B)</a:t>
            </a:r>
          </a:p>
        </p:txBody>
      </p:sp>
      <p:sp>
        <p:nvSpPr>
          <p:cNvPr id="27" name="rule-418-70">
            <a:extLst xmlns:a="http://schemas.openxmlformats.org/drawingml/2006/main">
              <a:ext uri="{FF2B5EF4-FFF2-40B4-BE49-F238E27FC236}">
                <a16:creationId xmlns:a16="http://schemas.microsoft.com/office/drawing/2014/main" id="{00133A80-29B4-4B68-B537-C93FFC494ADE}"/>
              </a:ext>
            </a:extLst>
          </p:cNvPr>
          <p:cNvSpPr>
            <a:spLocks xmlns:a="http://schemas.openxmlformats.org/drawingml/2006/main" noGrp="1"/>
          </p:cNvSpPr>
          <p:nvPr/>
        </p:nvSpPr>
        <p:spPr>
          <a:xfrm xmlns:a="http://schemas.openxmlformats.org/drawingml/2006/main">
            <a:off x="666750" y="3981450"/>
            <a:ext cx="10839450" cy="9525"/>
          </a:xfrm>
          <a:prstGeom xmlns:a="http://schemas.openxmlformats.org/drawingml/2006/main" prst="rect">
            <a:avLst/>
          </a:prstGeom>
          <a:solidFill xmlns:a="http://schemas.openxmlformats.org/drawingml/2006/main">
            <a:srgbClr val="CBD5E1"/>
          </a:solidFill>
          <a:ln xmlns:a="http://schemas.openxmlformats.org/drawingml/2006/main" w="0">
            <a:solidFill>
              <a:srgbClr val="CBD5E1"/>
            </a:solidFill>
            <a:prstDash val="solid"/>
          </a:ln>
        </p:spPr>
      </p:sp>
      <p:sp>
        <p:nvSpPr>
          <p:cNvPr id="28" name="observed-calc">
            <a:extLst xmlns:a="http://schemas.openxmlformats.org/drawingml/2006/main">
              <a:ext uri="{FF2B5EF4-FFF2-40B4-BE49-F238E27FC236}">
                <a16:creationId xmlns:a16="http://schemas.microsoft.com/office/drawing/2014/main" id="{D7418862-AD9C-46B6-936F-D295B9FB6471}"/>
              </a:ext>
            </a:extLst>
          </p:cNvPr>
          <p:cNvSpPr>
            <a:spLocks xmlns:a="http://schemas.openxmlformats.org/drawingml/2006/main" noGrp="1"/>
          </p:cNvSpPr>
          <p:nvPr/>
        </p:nvSpPr>
        <p:spPr>
          <a:xfrm xmlns:a="http://schemas.openxmlformats.org/drawingml/2006/main">
            <a:off x="781050" y="4114800"/>
            <a:ext cx="106299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buNone/>
              <a:defRPr sz="1575" b="1">
                <a:solidFill>
                  <a:srgbClr val="0F766E"/>
                </a:solidFill>
                <a:latin typeface="Aptos"/>
                <a:ea typeface="Aptos"/>
                <a:cs typeface="Aptos"/>
              </a:defRPr>
            </a:pPr>
            <a:r>
              <a:rPr sz="1575" b="1">
                <a:solidFill>
                  <a:srgbClr val="0F766E"/>
                </a:solidFill>
                <a:latin typeface="Aptos"/>
                <a:ea typeface="Aptos"/>
                <a:cs typeface="Aptos"/>
              </a:rPr>
              <a:t>|D_sci| = 6 · |C_sci| = 6 · Coverage = 6/6 = 1</a:t>
            </a:r>
          </a:p>
          <a:p xmlns:a="http://schemas.openxmlformats.org/drawingml/2006/main">
            <a:pPr algn="ctr">
              <a:buNone/>
              <a:defRPr sz="1575" b="1">
                <a:solidFill>
                  <a:srgbClr val="0F766E"/>
                </a:solidFill>
                <a:latin typeface="Aptos"/>
                <a:ea typeface="Aptos"/>
                <a:cs typeface="Aptos"/>
              </a:defRPr>
            </a:pPr>
            <a:r>
              <a:rPr sz="1575" b="1">
                <a:solidFill>
                  <a:srgbClr val="0F766E"/>
                </a:solidFill>
                <a:latin typeface="Aptos"/>
                <a:ea typeface="Aptos"/>
                <a:cs typeface="Aptos"/>
              </a:rPr>
              <a:t>M_obs = 6 × 10 MiB = 60 MiB  (62,914,560 B) en ambos runs</a:t>
            </a:r>
          </a:p>
        </p:txBody>
      </p:sp>
      <p:sp>
        <p:nvSpPr>
          <p:cNvPr id="29" name="same-dme">
            <a:extLst xmlns:a="http://schemas.openxmlformats.org/drawingml/2006/main">
              <a:ext uri="{FF2B5EF4-FFF2-40B4-BE49-F238E27FC236}">
                <a16:creationId xmlns:a16="http://schemas.microsoft.com/office/drawing/2014/main" id="{7A920147-F16A-4AE9-A754-629E1697B5BE}"/>
              </a:ext>
            </a:extLst>
          </p:cNvPr>
          <p:cNvSpPr>
            <a:spLocks xmlns:a="http://schemas.openxmlformats.org/drawingml/2006/main" noGrp="1"/>
          </p:cNvSpPr>
          <p:nvPr/>
        </p:nvSpPr>
        <p:spPr>
          <a:xfrm xmlns:a="http://schemas.openxmlformats.org/drawingml/2006/main">
            <a:off x="790575" y="4914900"/>
            <a:ext cx="4953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buNone/>
              <a:defRPr sz="1650" b="1">
                <a:solidFill>
                  <a:srgbClr val="2563EB"/>
                </a:solidFill>
                <a:latin typeface="Aptos"/>
                <a:ea typeface="Aptos"/>
                <a:cs typeface="Aptos"/>
              </a:defRPr>
            </a:pPr>
            <a:r>
              <a:rPr sz="1650" b="1">
                <a:solidFill>
                  <a:srgbClr val="2563EB"/>
                </a:solidFill>
                <a:latin typeface="Aptos"/>
                <a:ea typeface="Aptos"/>
                <a:cs typeface="Aptos"/>
              </a:rPr>
              <a:t>DME same-w1 = 20 / 60 = 1/3 ≈ 0.333</a:t>
            </a:r>
          </a:p>
        </p:txBody>
      </p:sp>
      <p:sp>
        <p:nvSpPr>
          <p:cNvPr id="30" name="cross-dme">
            <a:extLst xmlns:a="http://schemas.openxmlformats.org/drawingml/2006/main">
              <a:ext uri="{FF2B5EF4-FFF2-40B4-BE49-F238E27FC236}">
                <a16:creationId xmlns:a16="http://schemas.microsoft.com/office/drawing/2014/main" id="{A2666823-EEE1-42F0-AF4D-C88451D744DE}"/>
              </a:ext>
            </a:extLst>
          </p:cNvPr>
          <p:cNvSpPr>
            <a:spLocks xmlns:a="http://schemas.openxmlformats.org/drawingml/2006/main" noGrp="1"/>
          </p:cNvSpPr>
          <p:nvPr/>
        </p:nvSpPr>
        <p:spPr>
          <a:xfrm xmlns:a="http://schemas.openxmlformats.org/drawingml/2006/main">
            <a:off x="6543675" y="4914900"/>
            <a:ext cx="4953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buNone/>
              <a:defRPr sz="1650" b="1">
                <a:solidFill>
                  <a:srgbClr val="C2410C"/>
                </a:solidFill>
                <a:latin typeface="Aptos"/>
                <a:ea typeface="Aptos"/>
                <a:cs typeface="Aptos"/>
              </a:defRPr>
            </a:pPr>
            <a:r>
              <a:rPr sz="1650" b="1">
                <a:solidFill>
                  <a:srgbClr val="C2410C"/>
                </a:solidFill>
                <a:latin typeface="Aptos"/>
                <a:ea typeface="Aptos"/>
                <a:cs typeface="Aptos"/>
              </a:rPr>
              <a:t>DME cross = 40 / 60 = 2/3 ≈ 0.667</a:t>
            </a:r>
          </a:p>
        </p:txBody>
      </p:sp>
      <p:sp>
        <p:nvSpPr>
          <p:cNvPr id="31" name="example-note">
            <a:extLst xmlns:a="http://schemas.openxmlformats.org/drawingml/2006/main">
              <a:ext uri="{FF2B5EF4-FFF2-40B4-BE49-F238E27FC236}">
                <a16:creationId xmlns:a16="http://schemas.microsoft.com/office/drawing/2014/main" id="{1A3EE938-81F4-4F63-90A3-8235B32E3DA3}"/>
              </a:ext>
            </a:extLst>
          </p:cNvPr>
          <p:cNvSpPr>
            <a:spLocks xmlns:a="http://schemas.openxmlformats.org/drawingml/2006/main" noGrp="1"/>
          </p:cNvSpPr>
          <p:nvPr/>
        </p:nvSpPr>
        <p:spPr>
          <a:xfrm xmlns:a="http://schemas.openxmlformats.org/drawingml/2006/main">
            <a:off x="838200" y="5514975"/>
            <a:ext cx="105156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buNone/>
              <a:defRPr sz="1050">
                <a:solidFill>
                  <a:srgbClr val="64748B"/>
                </a:solidFill>
                <a:latin typeface="Aptos"/>
                <a:ea typeface="Aptos"/>
                <a:cs typeface="Aptos"/>
              </a:defRPr>
            </a:pPr>
            <a:r>
              <a:rPr sz="1050">
                <a:solidFill>
                  <a:srgbClr val="64748B"/>
                </a:solidFill>
                <a:latin typeface="Aptos"/>
                <a:ea typeface="Aptos"/>
                <a:cs typeface="Aptos"/>
              </a:rPr>
              <a:t>M_obs suma las seis ocurrencias científicas confirmadas del manifest; no sustituirlo por el total bruto de HTCondor, que incluye bytes auxiliares de sandbox.</a:t>
            </a:r>
          </a:p>
        </p:txBody>
      </p:sp>
    </p:spTree>
    <p:extLst>
      <p:ext uri="{BB962C8B-B14F-4D97-AF65-F5344CB8AC3E}">
        <p14:creationId xmlns:p14="http://schemas.microsoft.com/office/powerpoint/2010/main" val="1104008450"/>
      </p:ext>
    </p:extLst>
  </p:cSld>
</p:sld>
</file>

<file path=ppt/slides/slide23.xml><?xml version="1.0" encoding="utf-8"?>
<p:sld xmlns:p="http://schemas.openxmlformats.org/presentationml/2006/main">
  <p:cSld>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10A10433-FCEF-4EA7-84E2-8107C57AED45}"/>
              </a:ext>
            </a:extLst>
          </p:cNvPr>
          <p:cNvSpPr>
            <a:spLocks xmlns:a="http://schemas.openxmlformats.org/drawingml/2006/main" noGrp="1"/>
          </p:cNvSpPr>
          <p:nvPr/>
        </p:nvSpPr>
        <p:spPr>
          <a:xfrm xmlns:a="http://schemas.openxmlformats.org/drawingml/2006/main">
            <a:off x="0" y="0"/>
            <a:ext cx="12191695" cy="109728"/>
          </a:xfrm>
          <a:prstGeom xmlns:a="http://schemas.openxmlformats.org/drawingml/2006/main" prst="rect">
            <a:avLst/>
          </a:prstGeom>
          <a:solidFill xmlns:a="http://schemas.openxmlformats.org/drawingml/2006/main">
            <a:srgbClr val="B91C1C"/>
          </a:solidFill>
          <a:ln xmlns:a="http://schemas.openxmlformats.org/drawingml/2006/main" w="12700">
            <a:solidFill>
              <a:srgbClr val="B91C1C"/>
            </a:solidFill>
            <a:prstDash val="solid"/>
          </a:ln>
        </p:spPr>
      </p:sp>
      <p:sp>
        <p:nvSpPr>
          <p:cNvPr id="3" name="Text 1">
            <a:extLst xmlns:a="http://schemas.openxmlformats.org/drawingml/2006/main">
              <a:ext uri="{FF2B5EF4-FFF2-40B4-BE49-F238E27FC236}">
                <a16:creationId xmlns:a16="http://schemas.microsoft.com/office/drawing/2014/main" id="{FB3E8A11-88C6-4A43-8916-E45F9BEEE9D8}"/>
              </a:ext>
            </a:extLst>
          </p:cNvPr>
          <p:cNvSpPr>
            <a:spLocks xmlns:a="http://schemas.openxmlformats.org/drawingml/2006/main" noGrp="1"/>
          </p:cNvSpPr>
          <p:nvPr/>
        </p:nvSpPr>
        <p:spPr>
          <a:xfrm xmlns:a="http://schemas.openxmlformats.org/drawingml/2006/main">
            <a:off x="658368" y="384048"/>
            <a:ext cx="292608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850" b="1">
                <a:solidFill>
                  <a:srgbClr val="2563EB"/>
                </a:solidFill>
                <a:latin typeface="Aptos"/>
                <a:ea typeface="Aptos"/>
                <a:cs typeface="Aptos"/>
              </a:rPr>
              <a:t>REFERENCIA CONCEPTUAL</a:t>
            </a:r>
            <a:endParaRPr sz="850"/>
          </a:p>
        </p:txBody>
      </p:sp>
      <p:sp>
        <p:nvSpPr>
          <p:cNvPr id="4" name="Text 2">
            <a:extLst xmlns:a="http://schemas.openxmlformats.org/drawingml/2006/main">
              <a:ext uri="{FF2B5EF4-FFF2-40B4-BE49-F238E27FC236}">
                <a16:creationId xmlns:a16="http://schemas.microsoft.com/office/drawing/2014/main" id="{D3C04FEE-1F3C-4EDA-BFFD-E503AA455136}"/>
              </a:ext>
            </a:extLst>
          </p:cNvPr>
          <p:cNvSpPr>
            <a:spLocks xmlns:a="http://schemas.openxmlformats.org/drawingml/2006/main" noGrp="1"/>
          </p:cNvSpPr>
          <p:nvPr/>
        </p:nvSpPr>
        <p:spPr>
          <a:xfrm xmlns:a="http://schemas.openxmlformats.org/drawingml/2006/main">
            <a:off x="621792" y="621792"/>
            <a:ext cx="10881360" cy="530352"/>
          </a:xfrm>
          <a:prstGeom xmlns:a="http://schemas.openxmlformats.org/drawingml/2006/main" prst="rect">
            <a:avLst/>
          </a:prstGeom>
          <a:noFill xmlns:a="http://schemas.openxmlformats.org/drawingml/2006/main"/>
        </p:spPr>
        <p:txBody>
          <a:bodyPr xmlns:a="http://schemas.openxmlformats.org/drawingml/2006/main" wrap="square" lIns="254" tIns="254" rIns="254" bIns="254" anchor="ctr">
            <a:normAutofit fontScale="100000"/>
          </a:bodyPr>
          <a:lstStyle xmlns:a="http://schemas.openxmlformats.org/drawingml/2006/main"/>
          <a:p xmlns:a="http://schemas.openxmlformats.org/drawingml/2006/main">
            <a:pPr marL="0" indent="0">
              <a:buNone/>
            </a:pPr>
            <a:r>
              <a:rPr sz="2500" b="1">
                <a:solidFill>
                  <a:srgbClr val="102A43"/>
                </a:solidFill>
                <a:latin typeface="Aptos Display"/>
                <a:ea typeface="Aptos Display"/>
                <a:cs typeface="Aptos Display"/>
              </a:rPr>
              <a:t>22. Lower bound lógico y ruta condorio conceptual</a:t>
            </a:r>
            <a:endParaRPr sz="2500"/>
          </a:p>
        </p:txBody>
      </p:sp>
      <p:sp>
        <p:nvSpPr>
          <p:cNvPr id="11" name="Shape 9">
            <a:extLst xmlns:a="http://schemas.openxmlformats.org/drawingml/2006/main">
              <a:ext uri="{FF2B5EF4-FFF2-40B4-BE49-F238E27FC236}">
                <a16:creationId xmlns:a16="http://schemas.microsoft.com/office/drawing/2014/main" id="{B1BEE1D9-7253-4F89-8330-938560895939}"/>
              </a:ext>
            </a:extLst>
          </p:cNvPr>
          <p:cNvSpPr>
            <a:spLocks xmlns:a="http://schemas.openxmlformats.org/drawingml/2006/main" noGrp="1"/>
          </p:cNvSpPr>
          <p:nvPr/>
        </p:nvSpPr>
        <p:spPr>
          <a:xfrm xmlns:a="http://schemas.openxmlformats.org/drawingml/2006/main">
            <a:off x="502920" y="6446520"/>
            <a:ext cx="11201400" cy="0"/>
          </a:xfrm>
          <a:prstGeom xmlns:a="http://schemas.openxmlformats.org/drawingml/2006/main" prst="line">
            <a:avLst/>
          </a:prstGeom>
          <a:noFill xmlns:a="http://schemas.openxmlformats.org/drawingml/2006/main"/>
          <a:ln xmlns:a="http://schemas.openxmlformats.org/drawingml/2006/main" w="8890">
            <a:solidFill>
              <a:srgbClr val="CBD5E1"/>
            </a:solidFill>
            <a:prstDash val="solid"/>
          </a:ln>
        </p:spPr>
      </p:sp>
      <p:sp>
        <p:nvSpPr>
          <p:cNvPr id="12" name="Text 10">
            <a:extLst xmlns:a="http://schemas.openxmlformats.org/drawingml/2006/main">
              <a:ext uri="{FF2B5EF4-FFF2-40B4-BE49-F238E27FC236}">
                <a16:creationId xmlns:a16="http://schemas.microsoft.com/office/drawing/2014/main" id="{20D751B2-244E-431A-AE5B-01181316880A}"/>
              </a:ext>
            </a:extLst>
          </p:cNvPr>
          <p:cNvSpPr>
            <a:spLocks xmlns:a="http://schemas.openxmlformats.org/drawingml/2006/main" noGrp="1"/>
          </p:cNvSpPr>
          <p:nvPr/>
        </p:nvSpPr>
        <p:spPr>
          <a:xfrm xmlns:a="http://schemas.openxmlformats.org/drawingml/2006/main">
            <a:off x="594360" y="6510528"/>
            <a:ext cx="7223760" cy="2011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750">
                <a:solidFill>
                  <a:srgbClr val="64748B"/>
                </a:solidFill>
                <a:latin typeface="Aptos"/>
                <a:ea typeface="Aptos"/>
                <a:cs typeface="Aptos"/>
              </a:rPr>
              <a:t>Lower bound y condorio</a:t>
            </a:r>
            <a:endParaRPr sz="750"/>
          </a:p>
        </p:txBody>
      </p:sp>
      <p:sp>
        <p:nvSpPr>
          <p:cNvPr id="13" name="Text 11">
            <a:extLst xmlns:a="http://schemas.openxmlformats.org/drawingml/2006/main">
              <a:ext uri="{FF2B5EF4-FFF2-40B4-BE49-F238E27FC236}">
                <a16:creationId xmlns:a16="http://schemas.microsoft.com/office/drawing/2014/main" id="{31F02D9E-870A-4C2F-9948-1714813A9E4B}"/>
              </a:ext>
            </a:extLst>
          </p:cNvPr>
          <p:cNvSpPr>
            <a:spLocks xmlns:a="http://schemas.openxmlformats.org/drawingml/2006/main" noGrp="1"/>
          </p:cNvSpPr>
          <p:nvPr/>
        </p:nvSpPr>
        <p:spPr>
          <a:xfrm xmlns:a="http://schemas.openxmlformats.org/drawingml/2006/main">
            <a:off x="11228832" y="6492240"/>
            <a:ext cx="411480" cy="2286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800">
                <a:solidFill>
                  <a:srgbClr val="64748B"/>
                </a:solidFill>
                <a:latin typeface="Aptos"/>
                <a:ea typeface="Aptos"/>
                <a:cs typeface="Aptos"/>
              </a:rPr>
              <a:t>23</a:t>
            </a:r>
            <a:endParaRPr sz="800"/>
          </a:p>
        </p:txBody>
      </p:sp>
      <p:sp>
        <p:nvSpPr>
          <p:cNvPr id="14" name="lower-bound-heading">
            <a:extLst xmlns:a="http://schemas.openxmlformats.org/drawingml/2006/main">
              <a:ext uri="{FF2B5EF4-FFF2-40B4-BE49-F238E27FC236}">
                <a16:creationId xmlns:a16="http://schemas.microsoft.com/office/drawing/2014/main" id="{453C6ABF-7993-4382-919F-C677293810AA}"/>
              </a:ext>
            </a:extLst>
          </p:cNvPr>
          <p:cNvSpPr>
            <a:spLocks xmlns:a="http://schemas.openxmlformats.org/drawingml/2006/main" noGrp="1"/>
          </p:cNvSpPr>
          <p:nvPr/>
        </p:nvSpPr>
        <p:spPr>
          <a:xfrm xmlns:a="http://schemas.openxmlformats.org/drawingml/2006/main">
            <a:off x="914400" y="1438275"/>
            <a:ext cx="10382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buNone/>
              <a:defRPr sz="1425" b="1">
                <a:solidFill>
                  <a:srgbClr val="2563EB"/>
                </a:solidFill>
                <a:latin typeface="Aptos"/>
                <a:ea typeface="Aptos"/>
                <a:cs typeface="Aptos"/>
              </a:defRPr>
            </a:pPr>
            <a:r>
              <a:rPr sz="1425" b="1">
                <a:solidFill>
                  <a:srgbClr val="2563EB"/>
                </a:solidFill>
                <a:latin typeface="Aptos"/>
                <a:ea typeface="Aptos"/>
                <a:cs typeface="Aptos"/>
              </a:rPr>
              <a:t>LOWER BOUND LÓGICO · REFERENCIA</a:t>
            </a:r>
          </a:p>
        </p:txBody>
      </p:sp>
      <p:sp>
        <p:nvSpPr>
          <p:cNvPr id="15" name="lower-bound-worker1">
            <a:extLst xmlns:a="http://schemas.openxmlformats.org/drawingml/2006/main">
              <a:ext uri="{FF2B5EF4-FFF2-40B4-BE49-F238E27FC236}">
                <a16:creationId xmlns:a16="http://schemas.microsoft.com/office/drawing/2014/main" id="{99912206-6A9E-4255-BE8B-B4A8088B9510}"/>
              </a:ext>
            </a:extLst>
          </p:cNvPr>
          <p:cNvSpPr>
            <a:spLocks xmlns:a="http://schemas.openxmlformats.org/drawingml/2006/main" noGrp="1"/>
          </p:cNvSpPr>
          <p:nvPr/>
        </p:nvSpPr>
        <p:spPr>
          <a:xfrm xmlns:a="http://schemas.openxmlformats.org/drawingml/2006/main">
            <a:off x="1428750" y="1809750"/>
            <a:ext cx="1952625" cy="590550"/>
          </a:xfrm>
          <a:prstGeom xmlns:a="http://schemas.openxmlformats.org/drawingml/2006/main" prst="roundRect">
            <a:avLst>
              <a:gd name="adj" fmla="val 16129"/>
            </a:avLst>
          </a:prstGeom>
          <a:solidFill xmlns:a="http://schemas.openxmlformats.org/drawingml/2006/main">
            <a:srgbClr val="EAF2FF"/>
          </a:solidFill>
          <a:ln xmlns:a="http://schemas.openxmlformats.org/drawingml/2006/main" w="14288">
            <a:solidFill>
              <a:srgbClr val="2563EB"/>
            </a:solidFill>
            <a:prstDash val="solid"/>
          </a:ln>
        </p:spPr>
        <p:txBody>
          <a:bodyPr xmlns:a="http://schemas.openxmlformats.org/drawingml/2006/main" wrap="square" lIns="85725" tIns="47625" rIns="85725" bIns="47625" anchor="ctr">
            <a:normAutofit fontScale="100000"/>
          </a:bodyPr>
          <a:lstStyle xmlns:a="http://schemas.openxmlformats.org/drawingml/2006/main"/>
          <a:p xmlns:a="http://schemas.openxmlformats.org/drawingml/2006/main">
            <a:pPr algn="ctr">
              <a:buNone/>
              <a:defRPr sz="1575" b="1">
                <a:solidFill>
                  <a:srgbClr val="142D45"/>
                </a:solidFill>
                <a:latin typeface="Aptos"/>
                <a:ea typeface="Aptos"/>
                <a:cs typeface="Aptos"/>
              </a:defRPr>
            </a:pPr>
            <a:r>
              <a:rPr sz="1575" b="1">
                <a:solidFill>
                  <a:srgbClr val="142D45"/>
                </a:solidFill>
                <a:latin typeface="Aptos"/>
                <a:ea typeface="Aptos"/>
                <a:cs typeface="Aptos"/>
              </a:rPr>
              <a:t>worker1</a:t>
            </a:r>
          </a:p>
        </p:txBody>
      </p:sp>
      <p:sp>
        <p:nvSpPr>
          <p:cNvPr id="16" name="lower-bound-file">
            <a:extLst xmlns:a="http://schemas.openxmlformats.org/drawingml/2006/main">
              <a:ext uri="{FF2B5EF4-FFF2-40B4-BE49-F238E27FC236}">
                <a16:creationId xmlns:a16="http://schemas.microsoft.com/office/drawing/2014/main" id="{AA918C7C-F78C-4ADD-A3ED-56F5F803726C}"/>
              </a:ext>
            </a:extLst>
          </p:cNvPr>
          <p:cNvSpPr>
            <a:spLocks xmlns:a="http://schemas.openxmlformats.org/drawingml/2006/main" noGrp="1"/>
          </p:cNvSpPr>
          <p:nvPr/>
        </p:nvSpPr>
        <p:spPr>
          <a:xfrm xmlns:a="http://schemas.openxmlformats.org/drawingml/2006/main">
            <a:off x="5105400" y="1809750"/>
            <a:ext cx="2095500" cy="590550"/>
          </a:xfrm>
          <a:prstGeom xmlns:a="http://schemas.openxmlformats.org/drawingml/2006/main" prst="roundRect">
            <a:avLst>
              <a:gd name="adj" fmla="val 16129"/>
            </a:avLst>
          </a:prstGeom>
          <a:solidFill xmlns:a="http://schemas.openxmlformats.org/drawingml/2006/main">
            <a:srgbClr val="FFFFFF"/>
          </a:solidFill>
          <a:ln xmlns:a="http://schemas.openxmlformats.org/drawingml/2006/main" w="14288">
            <a:solidFill>
              <a:srgbClr val="2563EB"/>
            </a:solidFill>
            <a:prstDash val="solid"/>
          </a:ln>
        </p:spPr>
        <p:txBody>
          <a:bodyPr xmlns:a="http://schemas.openxmlformats.org/drawingml/2006/main" wrap="square" lIns="85725" tIns="47625" rIns="85725" bIns="47625" anchor="ctr">
            <a:normAutofit fontScale="100000"/>
          </a:bodyPr>
          <a:lstStyle xmlns:a="http://schemas.openxmlformats.org/drawingml/2006/main"/>
          <a:p xmlns:a="http://schemas.openxmlformats.org/drawingml/2006/main">
            <a:pPr algn="ctr">
              <a:buNone/>
              <a:defRPr sz="1500" b="1">
                <a:solidFill>
                  <a:srgbClr val="142D45"/>
                </a:solidFill>
                <a:latin typeface="Aptos"/>
                <a:ea typeface="Aptos"/>
                <a:cs typeface="Aptos"/>
              </a:defRPr>
            </a:pPr>
            <a:r>
              <a:rPr sz="1500" b="1">
                <a:solidFill>
                  <a:srgbClr val="142D45"/>
                </a:solidFill>
                <a:latin typeface="Aptos"/>
                <a:ea typeface="Aptos"/>
                <a:cs typeface="Aptos"/>
              </a:rPr>
              <a:t>archivo científico</a:t>
            </a:r>
          </a:p>
        </p:txBody>
      </p:sp>
      <p:sp>
        <p:nvSpPr>
          <p:cNvPr id="17" name="lower-bound-worker2">
            <a:extLst xmlns:a="http://schemas.openxmlformats.org/drawingml/2006/main">
              <a:ext uri="{FF2B5EF4-FFF2-40B4-BE49-F238E27FC236}">
                <a16:creationId xmlns:a16="http://schemas.microsoft.com/office/drawing/2014/main" id="{78054010-252A-475D-A979-82EAEE10354C}"/>
              </a:ext>
            </a:extLst>
          </p:cNvPr>
          <p:cNvSpPr>
            <a:spLocks xmlns:a="http://schemas.openxmlformats.org/drawingml/2006/main" noGrp="1"/>
          </p:cNvSpPr>
          <p:nvPr/>
        </p:nvSpPr>
        <p:spPr>
          <a:xfrm xmlns:a="http://schemas.openxmlformats.org/drawingml/2006/main">
            <a:off x="8858250" y="1809750"/>
            <a:ext cx="1952625" cy="590550"/>
          </a:xfrm>
          <a:prstGeom xmlns:a="http://schemas.openxmlformats.org/drawingml/2006/main" prst="roundRect">
            <a:avLst>
              <a:gd name="adj" fmla="val 16129"/>
            </a:avLst>
          </a:prstGeom>
          <a:solidFill xmlns:a="http://schemas.openxmlformats.org/drawingml/2006/main">
            <a:srgbClr val="EAF2FF"/>
          </a:solidFill>
          <a:ln xmlns:a="http://schemas.openxmlformats.org/drawingml/2006/main" w="14288">
            <a:solidFill>
              <a:srgbClr val="2563EB"/>
            </a:solidFill>
            <a:prstDash val="solid"/>
          </a:ln>
        </p:spPr>
        <p:txBody>
          <a:bodyPr xmlns:a="http://schemas.openxmlformats.org/drawingml/2006/main" wrap="square" lIns="85725" tIns="47625" rIns="85725" bIns="47625" anchor="ctr">
            <a:normAutofit fontScale="100000"/>
          </a:bodyPr>
          <a:lstStyle xmlns:a="http://schemas.openxmlformats.org/drawingml/2006/main"/>
          <a:p xmlns:a="http://schemas.openxmlformats.org/drawingml/2006/main">
            <a:pPr algn="ctr">
              <a:buNone/>
              <a:defRPr sz="1575" b="1">
                <a:solidFill>
                  <a:srgbClr val="142D45"/>
                </a:solidFill>
                <a:latin typeface="Aptos"/>
                <a:ea typeface="Aptos"/>
                <a:cs typeface="Aptos"/>
              </a:defRPr>
            </a:pPr>
            <a:r>
              <a:rPr sz="1575" b="1">
                <a:solidFill>
                  <a:srgbClr val="142D45"/>
                </a:solidFill>
                <a:latin typeface="Aptos"/>
                <a:ea typeface="Aptos"/>
                <a:cs typeface="Aptos"/>
              </a:rPr>
              <a:t>worker2</a:t>
            </a:r>
          </a:p>
        </p:txBody>
      </p:sp>
      <p:cxnSp>
        <p:nvCxnSpPr>
          <p:cNvPr id="134" name=""/>
          <p:cNvCxnSpPr>
            <a:stCxn xmlns:a="http://schemas.openxmlformats.org/drawingml/2006/main" id="15" idx="3"/>
            <a:endCxn xmlns:a="http://schemas.openxmlformats.org/drawingml/2006/main" id="16" idx="1"/>
          </p:cNvCxnSpPr>
          <p:nvPr/>
        </p:nvCxnSpPr>
        <p:spPr>
          <a:xfrm xmlns:a="http://schemas.openxmlformats.org/drawingml/2006/main">
            <a:off x="3381375" y="2105025"/>
            <a:ext cx="1724025" cy="0"/>
          </a:xfrm>
          <a:prstGeom xmlns:a="http://schemas.openxmlformats.org/drawingml/2006/main" prst="straightConnector1">
            <a:avLst/>
          </a:prstGeom>
          <a:ln xmlns:a="http://schemas.openxmlformats.org/drawingml/2006/main" w="19050">
            <a:solidFill>
              <a:srgbClr val="2563EB"/>
            </a:solidFill>
            <a:prstDash val="solid"/>
            <a:tailEnd type="triangle" w="sm" len="sm"/>
          </a:ln>
        </p:spPr>
      </p:cxnSp>
      <p:cxnSp>
        <p:nvCxnSpPr>
          <p:cNvPr id="135" name=""/>
          <p:cNvCxnSpPr>
            <a:stCxn xmlns:a="http://schemas.openxmlformats.org/drawingml/2006/main" id="16" idx="3"/>
            <a:endCxn xmlns:a="http://schemas.openxmlformats.org/drawingml/2006/main" id="17" idx="1"/>
          </p:cNvCxnSpPr>
          <p:nvPr/>
        </p:nvCxnSpPr>
        <p:spPr>
          <a:xfrm xmlns:a="http://schemas.openxmlformats.org/drawingml/2006/main">
            <a:off x="7200900" y="2105025"/>
            <a:ext cx="1657350" cy="0"/>
          </a:xfrm>
          <a:prstGeom xmlns:a="http://schemas.openxmlformats.org/drawingml/2006/main" prst="straightConnector1">
            <a:avLst/>
          </a:prstGeom>
          <a:ln xmlns:a="http://schemas.openxmlformats.org/drawingml/2006/main" w="19050">
            <a:solidFill>
              <a:srgbClr val="2563EB"/>
            </a:solidFill>
            <a:prstDash val="solid"/>
            <a:tailEnd type="triangle" w="sm" len="sm"/>
          </a:ln>
        </p:spPr>
      </p:cxnSp>
      <p:sp>
        <p:nvSpPr>
          <p:cNvPr id="20" name="">
            <a:extLst xmlns:a="http://schemas.openxmlformats.org/drawingml/2006/main">
              <a:ext uri="{FF2B5EF4-FFF2-40B4-BE49-F238E27FC236}">
                <a16:creationId xmlns:a16="http://schemas.microsoft.com/office/drawing/2014/main" id="{D8EE64D0-1F84-46EB-B075-22EDFC41F9B5}"/>
              </a:ext>
            </a:extLst>
          </p:cNvPr>
          <p:cNvSpPr>
            <a:spLocks xmlns:a="http://schemas.openxmlformats.org/drawingml/2006/main" noGrp="1"/>
          </p:cNvSpPr>
          <p:nvPr/>
        </p:nvSpPr>
        <p:spPr>
          <a:xfrm xmlns:a="http://schemas.openxmlformats.org/drawingml/2006/main">
            <a:off x="1428750" y="2438400"/>
            <a:ext cx="9382125" cy="314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buNone/>
              <a:defRPr sz="1200" b="0">
                <a:solidFill>
                  <a:srgbClr val="65758B"/>
                </a:solidFill>
                <a:latin typeface="Aptos"/>
                <a:ea typeface="Aptos"/>
                <a:cs typeface="Aptos"/>
              </a:defRPr>
            </a:pPr>
            <a:r>
              <a:rPr sz="1200" b="0">
                <a:solidFill>
                  <a:srgbClr val="65758B"/>
                </a:solidFill>
                <a:latin typeface="Aptos"/>
                <a:ea typeface="Aptos"/>
                <a:cs typeface="Aptos"/>
              </a:rPr>
              <a:t>Movimiento file-centric requerido por el placement observado</a:t>
            </a:r>
          </a:p>
        </p:txBody>
      </p:sp>
      <p:sp>
        <p:nvSpPr>
          <p:cNvPr id="21" name="condorio-route-heading">
            <a:extLst xmlns:a="http://schemas.openxmlformats.org/drawingml/2006/main">
              <a:ext uri="{FF2B5EF4-FFF2-40B4-BE49-F238E27FC236}">
                <a16:creationId xmlns:a16="http://schemas.microsoft.com/office/drawing/2014/main" id="{2F1003E6-1F19-49AA-AE75-362BF30294E4}"/>
              </a:ext>
            </a:extLst>
          </p:cNvPr>
          <p:cNvSpPr>
            <a:spLocks xmlns:a="http://schemas.openxmlformats.org/drawingml/2006/main" noGrp="1"/>
          </p:cNvSpPr>
          <p:nvPr/>
        </p:nvSpPr>
        <p:spPr>
          <a:xfrm xmlns:a="http://schemas.openxmlformats.org/drawingml/2006/main">
            <a:off x="914400" y="3038475"/>
            <a:ext cx="10382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buNone/>
              <a:defRPr sz="1425" b="1">
                <a:solidFill>
                  <a:srgbClr val="B45309"/>
                </a:solidFill>
                <a:latin typeface="Aptos"/>
                <a:ea typeface="Aptos"/>
                <a:cs typeface="Aptos"/>
              </a:defRPr>
            </a:pPr>
            <a:r>
              <a:rPr sz="1425" b="1">
                <a:solidFill>
                  <a:srgbClr val="B45309"/>
                </a:solidFill>
                <a:latin typeface="Aptos"/>
                <a:ea typeface="Aptos"/>
                <a:cs typeface="Aptos"/>
              </a:rPr>
              <a:t>RUTA DE STAGING · ESQUEMA DEL CONTRATO CONDORIO</a:t>
            </a:r>
          </a:p>
        </p:txBody>
      </p:sp>
      <p:sp>
        <p:nvSpPr>
          <p:cNvPr id="22" name="condorio-worker1">
            <a:extLst xmlns:a="http://schemas.openxmlformats.org/drawingml/2006/main">
              <a:ext uri="{FF2B5EF4-FFF2-40B4-BE49-F238E27FC236}">
                <a16:creationId xmlns:a16="http://schemas.microsoft.com/office/drawing/2014/main" id="{E9D8EB27-47BC-4086-88AB-1F9E95DE80C0}"/>
              </a:ext>
            </a:extLst>
          </p:cNvPr>
          <p:cNvSpPr>
            <a:spLocks xmlns:a="http://schemas.openxmlformats.org/drawingml/2006/main" noGrp="1"/>
          </p:cNvSpPr>
          <p:nvPr/>
        </p:nvSpPr>
        <p:spPr>
          <a:xfrm xmlns:a="http://schemas.openxmlformats.org/drawingml/2006/main">
            <a:off x="1428750" y="3409950"/>
            <a:ext cx="1952625" cy="590550"/>
          </a:xfrm>
          <a:prstGeom xmlns:a="http://schemas.openxmlformats.org/drawingml/2006/main" prst="roundRect">
            <a:avLst>
              <a:gd name="adj" fmla="val 16129"/>
            </a:avLst>
          </a:prstGeom>
          <a:solidFill xmlns:a="http://schemas.openxmlformats.org/drawingml/2006/main">
            <a:srgbClr val="EAF2FF"/>
          </a:solidFill>
          <a:ln xmlns:a="http://schemas.openxmlformats.org/drawingml/2006/main" w="14288">
            <a:solidFill>
              <a:srgbClr val="2563EB"/>
            </a:solidFill>
            <a:prstDash val="solid"/>
          </a:ln>
        </p:spPr>
        <p:txBody>
          <a:bodyPr xmlns:a="http://schemas.openxmlformats.org/drawingml/2006/main" wrap="square" lIns="85725" tIns="47625" rIns="85725" bIns="47625" anchor="ctr">
            <a:normAutofit fontScale="100000"/>
          </a:bodyPr>
          <a:lstStyle xmlns:a="http://schemas.openxmlformats.org/drawingml/2006/main"/>
          <a:p xmlns:a="http://schemas.openxmlformats.org/drawingml/2006/main">
            <a:pPr algn="ctr">
              <a:buNone/>
              <a:defRPr sz="1575" b="1">
                <a:solidFill>
                  <a:srgbClr val="142D45"/>
                </a:solidFill>
                <a:latin typeface="Aptos"/>
                <a:ea typeface="Aptos"/>
                <a:cs typeface="Aptos"/>
              </a:defRPr>
            </a:pPr>
            <a:r>
              <a:rPr sz="1575" b="1">
                <a:solidFill>
                  <a:srgbClr val="142D45"/>
                </a:solidFill>
                <a:latin typeface="Aptos"/>
                <a:ea typeface="Aptos"/>
                <a:cs typeface="Aptos"/>
              </a:rPr>
              <a:t>worker1</a:t>
            </a:r>
          </a:p>
        </p:txBody>
      </p:sp>
      <p:sp>
        <p:nvSpPr>
          <p:cNvPr id="23" name="condorio-master">
            <a:extLst xmlns:a="http://schemas.openxmlformats.org/drawingml/2006/main">
              <a:ext uri="{FF2B5EF4-FFF2-40B4-BE49-F238E27FC236}">
                <a16:creationId xmlns:a16="http://schemas.microsoft.com/office/drawing/2014/main" id="{82B7AE11-30FF-40AE-85F5-673A807B2AA8}"/>
              </a:ext>
            </a:extLst>
          </p:cNvPr>
          <p:cNvSpPr>
            <a:spLocks xmlns:a="http://schemas.openxmlformats.org/drawingml/2006/main" noGrp="1"/>
          </p:cNvSpPr>
          <p:nvPr/>
        </p:nvSpPr>
        <p:spPr>
          <a:xfrm xmlns:a="http://schemas.openxmlformats.org/drawingml/2006/main">
            <a:off x="5105400" y="3409950"/>
            <a:ext cx="2095500" cy="590550"/>
          </a:xfrm>
          <a:prstGeom xmlns:a="http://schemas.openxmlformats.org/drawingml/2006/main" prst="roundRect">
            <a:avLst>
              <a:gd name="adj" fmla="val 16129"/>
            </a:avLst>
          </a:prstGeom>
          <a:solidFill xmlns:a="http://schemas.openxmlformats.org/drawingml/2006/main">
            <a:srgbClr val="FFF4D6"/>
          </a:solidFill>
          <a:ln xmlns:a="http://schemas.openxmlformats.org/drawingml/2006/main" w="14288">
            <a:solidFill>
              <a:srgbClr val="B45309"/>
            </a:solidFill>
            <a:prstDash val="solid"/>
          </a:ln>
        </p:spPr>
        <p:txBody>
          <a:bodyPr xmlns:a="http://schemas.openxmlformats.org/drawingml/2006/main" wrap="square" lIns="85725" tIns="47625" rIns="85725" bIns="47625" anchor="ctr">
            <a:normAutofit fontScale="100000"/>
          </a:bodyPr>
          <a:lstStyle xmlns:a="http://schemas.openxmlformats.org/drawingml/2006/main"/>
          <a:p xmlns:a="http://schemas.openxmlformats.org/drawingml/2006/main">
            <a:pPr algn="ctr">
              <a:buNone/>
              <a:defRPr sz="1575" b="1">
                <a:solidFill>
                  <a:srgbClr val="142D45"/>
                </a:solidFill>
                <a:latin typeface="Aptos"/>
                <a:ea typeface="Aptos"/>
                <a:cs typeface="Aptos"/>
              </a:defRPr>
            </a:pPr>
            <a:r>
              <a:rPr sz="1575" b="1">
                <a:solidFill>
                  <a:srgbClr val="142D45"/>
                </a:solidFill>
                <a:latin typeface="Aptos"/>
                <a:ea typeface="Aptos"/>
                <a:cs typeface="Aptos"/>
              </a:rPr>
              <a:t>master</a:t>
            </a:r>
          </a:p>
        </p:txBody>
      </p:sp>
      <p:sp>
        <p:nvSpPr>
          <p:cNvPr id="24" name="condorio-worker2">
            <a:extLst xmlns:a="http://schemas.openxmlformats.org/drawingml/2006/main">
              <a:ext uri="{FF2B5EF4-FFF2-40B4-BE49-F238E27FC236}">
                <a16:creationId xmlns:a16="http://schemas.microsoft.com/office/drawing/2014/main" id="{C0FBF9CB-00CE-40B1-87E7-EBC55E7598D3}"/>
              </a:ext>
            </a:extLst>
          </p:cNvPr>
          <p:cNvSpPr>
            <a:spLocks xmlns:a="http://schemas.openxmlformats.org/drawingml/2006/main" noGrp="1"/>
          </p:cNvSpPr>
          <p:nvPr/>
        </p:nvSpPr>
        <p:spPr>
          <a:xfrm xmlns:a="http://schemas.openxmlformats.org/drawingml/2006/main">
            <a:off x="8858250" y="3409950"/>
            <a:ext cx="1952625" cy="590550"/>
          </a:xfrm>
          <a:prstGeom xmlns:a="http://schemas.openxmlformats.org/drawingml/2006/main" prst="roundRect">
            <a:avLst>
              <a:gd name="adj" fmla="val 16129"/>
            </a:avLst>
          </a:prstGeom>
          <a:solidFill xmlns:a="http://schemas.openxmlformats.org/drawingml/2006/main">
            <a:srgbClr val="EAF2FF"/>
          </a:solidFill>
          <a:ln xmlns:a="http://schemas.openxmlformats.org/drawingml/2006/main" w="14288">
            <a:solidFill>
              <a:srgbClr val="2563EB"/>
            </a:solidFill>
            <a:prstDash val="solid"/>
          </a:ln>
        </p:spPr>
        <p:txBody>
          <a:bodyPr xmlns:a="http://schemas.openxmlformats.org/drawingml/2006/main" wrap="square" lIns="85725" tIns="47625" rIns="85725" bIns="47625" anchor="ctr">
            <a:normAutofit fontScale="100000"/>
          </a:bodyPr>
          <a:lstStyle xmlns:a="http://schemas.openxmlformats.org/drawingml/2006/main"/>
          <a:p xmlns:a="http://schemas.openxmlformats.org/drawingml/2006/main">
            <a:pPr algn="ctr">
              <a:buNone/>
              <a:defRPr sz="1575" b="1">
                <a:solidFill>
                  <a:srgbClr val="142D45"/>
                </a:solidFill>
                <a:latin typeface="Aptos"/>
                <a:ea typeface="Aptos"/>
                <a:cs typeface="Aptos"/>
              </a:defRPr>
            </a:pPr>
            <a:r>
              <a:rPr sz="1575" b="1">
                <a:solidFill>
                  <a:srgbClr val="142D45"/>
                </a:solidFill>
                <a:latin typeface="Aptos"/>
                <a:ea typeface="Aptos"/>
                <a:cs typeface="Aptos"/>
              </a:rPr>
              <a:t>worker2</a:t>
            </a:r>
          </a:p>
        </p:txBody>
      </p:sp>
      <p:cxnSp>
        <p:nvCxnSpPr>
          <p:cNvPr id="141" name=""/>
          <p:cNvCxnSpPr>
            <a:stCxn xmlns:a="http://schemas.openxmlformats.org/drawingml/2006/main" id="22" idx="3"/>
            <a:endCxn xmlns:a="http://schemas.openxmlformats.org/drawingml/2006/main" id="23" idx="1"/>
          </p:cNvCxnSpPr>
          <p:nvPr/>
        </p:nvCxnSpPr>
        <p:spPr>
          <a:xfrm xmlns:a="http://schemas.openxmlformats.org/drawingml/2006/main">
            <a:off x="3381375" y="3705225"/>
            <a:ext cx="1724025" cy="0"/>
          </a:xfrm>
          <a:prstGeom xmlns:a="http://schemas.openxmlformats.org/drawingml/2006/main" prst="straightConnector1">
            <a:avLst/>
          </a:prstGeom>
          <a:ln xmlns:a="http://schemas.openxmlformats.org/drawingml/2006/main" w="19050">
            <a:solidFill>
              <a:srgbClr val="B45309"/>
            </a:solidFill>
            <a:prstDash val="solid"/>
            <a:tailEnd type="triangle" w="sm" len="sm"/>
          </a:ln>
        </p:spPr>
      </p:cxnSp>
      <p:cxnSp>
        <p:nvCxnSpPr>
          <p:cNvPr id="142" name=""/>
          <p:cNvCxnSpPr>
            <a:stCxn xmlns:a="http://schemas.openxmlformats.org/drawingml/2006/main" id="23" idx="3"/>
            <a:endCxn xmlns:a="http://schemas.openxmlformats.org/drawingml/2006/main" id="24" idx="1"/>
          </p:cNvCxnSpPr>
          <p:nvPr/>
        </p:nvCxnSpPr>
        <p:spPr>
          <a:xfrm xmlns:a="http://schemas.openxmlformats.org/drawingml/2006/main">
            <a:off x="7200900" y="3705225"/>
            <a:ext cx="1657350" cy="0"/>
          </a:xfrm>
          <a:prstGeom xmlns:a="http://schemas.openxmlformats.org/drawingml/2006/main" prst="straightConnector1">
            <a:avLst/>
          </a:prstGeom>
          <a:ln xmlns:a="http://schemas.openxmlformats.org/drawingml/2006/main" w="19050">
            <a:solidFill>
              <a:srgbClr val="B45309"/>
            </a:solidFill>
            <a:prstDash val="solid"/>
            <a:tailEnd type="triangle" w="sm" len="sm"/>
          </a:ln>
        </p:spPr>
      </p:cxnSp>
      <p:sp>
        <p:nvSpPr>
          <p:cNvPr id="27" name="">
            <a:extLst xmlns:a="http://schemas.openxmlformats.org/drawingml/2006/main">
              <a:ext uri="{FF2B5EF4-FFF2-40B4-BE49-F238E27FC236}">
                <a16:creationId xmlns:a16="http://schemas.microsoft.com/office/drawing/2014/main" id="{875AEE3B-18B5-4C75-831B-BF04315C154D}"/>
              </a:ext>
            </a:extLst>
          </p:cNvPr>
          <p:cNvSpPr>
            <a:spLocks xmlns:a="http://schemas.openxmlformats.org/drawingml/2006/main" noGrp="1"/>
          </p:cNvSpPr>
          <p:nvPr/>
        </p:nvSpPr>
        <p:spPr>
          <a:xfrm xmlns:a="http://schemas.openxmlformats.org/drawingml/2006/main">
            <a:off x="1428750" y="4038600"/>
            <a:ext cx="938212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buNone/>
              <a:defRPr sz="1200" b="0">
                <a:solidFill>
                  <a:srgbClr val="65758B"/>
                </a:solidFill>
                <a:latin typeface="Aptos"/>
                <a:ea typeface="Aptos"/>
                <a:cs typeface="Aptos"/>
              </a:defRPr>
            </a:pPr>
            <a:r>
              <a:rPr sz="1200" b="0">
                <a:solidFill>
                  <a:srgbClr val="65758B"/>
                </a:solidFill>
                <a:latin typeface="Aptos"/>
                <a:ea typeface="Aptos"/>
                <a:cs typeface="Aptos"/>
              </a:rPr>
              <a:t>El submit host puede participar en el contrato de transferencia; esta flecha no es una captura de paquetes.</a:t>
            </a:r>
          </a:p>
        </p:txBody>
      </p:sp>
      <p:sp>
        <p:nvSpPr>
          <p:cNvPr id="28" name="interpretation-note">
            <a:extLst xmlns:a="http://schemas.openxmlformats.org/drawingml/2006/main">
              <a:ext uri="{FF2B5EF4-FFF2-40B4-BE49-F238E27FC236}">
                <a16:creationId xmlns:a16="http://schemas.microsoft.com/office/drawing/2014/main" id="{F306F6EB-AD7A-4C3B-A62B-E4AA6F1FA853}"/>
              </a:ext>
            </a:extLst>
          </p:cNvPr>
          <p:cNvSpPr>
            <a:spLocks xmlns:a="http://schemas.openxmlformats.org/drawingml/2006/main" noGrp="1"/>
          </p:cNvSpPr>
          <p:nvPr/>
        </p:nvSpPr>
        <p:spPr>
          <a:xfrm xmlns:a="http://schemas.openxmlformats.org/drawingml/2006/main">
            <a:off x="952500" y="4695825"/>
            <a:ext cx="10287000" cy="1066800"/>
          </a:xfrm>
          <a:prstGeom xmlns:a="http://schemas.openxmlformats.org/drawingml/2006/main" prst="roundRect">
            <a:avLst>
              <a:gd name="adj" fmla="val 7143"/>
            </a:avLst>
          </a:prstGeom>
          <a:solidFill xmlns:a="http://schemas.openxmlformats.org/drawingml/2006/main">
            <a:srgbClr val="F2F6FA"/>
          </a:solidFill>
          <a:ln xmlns:a="http://schemas.openxmlformats.org/drawingml/2006/main" w="9525">
            <a:solidFill>
              <a:srgbClr val="CAD5E1"/>
            </a:solidFill>
            <a:prstDash val="solid"/>
          </a:ln>
        </p:spPr>
        <p:txBody>
          <a:bodyPr xmlns:a="http://schemas.openxmlformats.org/drawingml/2006/main" wrap="square" lIns="209550" tIns="114300" rIns="209550" bIns="114300" anchor="ctr">
            <a:normAutofit fontScale="100000"/>
          </a:bodyPr>
          <a:lstStyle xmlns:a="http://schemas.openxmlformats.org/drawingml/2006/main"/>
          <a:p xmlns:a="http://schemas.openxmlformats.org/drawingml/2006/main">
            <a:pPr algn="l">
              <a:buNone/>
              <a:defRPr sz="1425">
                <a:solidFill>
                  <a:srgbClr val="142D45"/>
                </a:solidFill>
                <a:latin typeface="Aptos"/>
                <a:ea typeface="Aptos"/>
                <a:cs typeface="Aptos"/>
              </a:defRPr>
            </a:pPr>
            <a:r>
              <a:rPr sz="1425">
                <a:solidFill>
                  <a:srgbClr val="142D45"/>
                </a:solidFill>
                <a:latin typeface="Aptos"/>
                <a:ea typeface="Aptos"/>
                <a:cs typeface="Aptos"/>
              </a:rPr>
              <a:t>Worker-to-worker es referencia conceptual, no el objetivo principal. Si Coverage = 1 y M₍obs₎ = M₍req₎ &gt; 0, entonces DME = 1.</a:t>
            </a:r>
          </a:p>
          <a:p xmlns:a="http://schemas.openxmlformats.org/drawingml/2006/main">
            <a:pPr algn="l">
              <a:buNone/>
              <a:defRPr sz="1425">
                <a:solidFill>
                  <a:srgbClr val="142D45"/>
                </a:solidFill>
                <a:latin typeface="Aptos"/>
                <a:ea typeface="Aptos"/>
                <a:cs typeface="Aptos"/>
              </a:defRPr>
            </a:pPr>
            <a:r>
              <a:rPr sz="1425">
                <a:solidFill>
                  <a:srgbClr val="142D45"/>
                </a:solidFill>
                <a:latin typeface="Aptos"/>
                <a:ea typeface="Aptos"/>
                <a:cs typeface="Aptos"/>
              </a:rPr>
              <a:t>El movimiento adicional frente al lower bound no demuestra bytes ahorrables ni optimalidad; Analyzer reconcilia evidencia por job, no captura paquetes.</a:t>
            </a:r>
          </a:p>
        </p:txBody>
      </p:sp>
    </p:spTree>
    <p:extLst>
      <p:ext uri="{BB962C8B-B14F-4D97-AF65-F5344CB8AC3E}">
        <p14:creationId xmlns:p14="http://schemas.microsoft.com/office/powerpoint/2010/main" val="185524323"/>
      </p:ext>
    </p:extLst>
  </p:cSld>
</p:sld>
</file>

<file path=ppt/slides/slide24.xml><?xml version="1.0" encoding="utf-8"?>
<p:sld xmlns:p="http://schemas.openxmlformats.org/presentationml/2006/main">
  <p:cSld>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C9A79028-87FD-4FAB-87C5-4B4E726D7804}"/>
              </a:ext>
            </a:extLst>
          </p:cNvPr>
          <p:cNvSpPr>
            <a:spLocks xmlns:a="http://schemas.openxmlformats.org/drawingml/2006/main" noGrp="1"/>
          </p:cNvSpPr>
          <p:nvPr/>
        </p:nvSpPr>
        <p:spPr>
          <a:xfrm xmlns:a="http://schemas.openxmlformats.org/drawingml/2006/main">
            <a:off x="0" y="0"/>
            <a:ext cx="12191695" cy="109728"/>
          </a:xfrm>
          <a:prstGeom xmlns:a="http://schemas.openxmlformats.org/drawingml/2006/main" prst="rect">
            <a:avLst/>
          </a:prstGeom>
          <a:solidFill xmlns:a="http://schemas.openxmlformats.org/drawingml/2006/main">
            <a:srgbClr val="6D28D9"/>
          </a:solidFill>
          <a:ln xmlns:a="http://schemas.openxmlformats.org/drawingml/2006/main" w="12700">
            <a:solidFill>
              <a:srgbClr val="6D28D9"/>
            </a:solidFill>
            <a:prstDash val="solid"/>
          </a:ln>
        </p:spPr>
        <p:txBody>
          <a:bodyPr xmlns:a="http://schemas.openxmlformats.org/drawingml/2006/main"/>
          <a:lstStyle xmlns:a="http://schemas.openxmlformats.org/drawingml/2006/main"/>
          <a:p xmlns:a="http://schemas.openxmlformats.org/drawingml/2006/main"/>
        </p:txBody>
      </p:sp>
      <p:sp>
        <p:nvSpPr>
          <p:cNvPr id="3" name="Text 1">
            <a:extLst xmlns:a="http://schemas.openxmlformats.org/drawingml/2006/main">
              <a:ext uri="{FF2B5EF4-FFF2-40B4-BE49-F238E27FC236}">
                <a16:creationId xmlns:a16="http://schemas.microsoft.com/office/drawing/2014/main" id="{1A5122C7-34C6-4E86-B33A-BD876000E9D0}"/>
              </a:ext>
            </a:extLst>
          </p:cNvPr>
          <p:cNvSpPr>
            <a:spLocks xmlns:a="http://schemas.openxmlformats.org/drawingml/2006/main" noGrp="1"/>
          </p:cNvSpPr>
          <p:nvPr/>
        </p:nvSpPr>
        <p:spPr>
          <a:xfrm xmlns:a="http://schemas.openxmlformats.org/drawingml/2006/main">
            <a:off x="658368" y="384048"/>
            <a:ext cx="292608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850" b="1">
                <a:solidFill>
                  <a:srgbClr val="2563EB"/>
                </a:solidFill>
                <a:latin typeface="Aptos"/>
                <a:ea typeface="Aptos"/>
                <a:cs typeface="Aptos"/>
              </a:rPr>
              <a:t>UTILIDAD</a:t>
            </a:r>
            <a:endParaRPr sz="850"/>
          </a:p>
        </p:txBody>
      </p:sp>
      <p:sp>
        <p:nvSpPr>
          <p:cNvPr id="4" name="Text 2">
            <a:extLst xmlns:a="http://schemas.openxmlformats.org/drawingml/2006/main">
              <a:ext uri="{FF2B5EF4-FFF2-40B4-BE49-F238E27FC236}">
                <a16:creationId xmlns:a16="http://schemas.microsoft.com/office/drawing/2014/main" id="{5BCB1D75-5D47-4C28-8D44-434C437317EF}"/>
              </a:ext>
            </a:extLst>
          </p:cNvPr>
          <p:cNvSpPr>
            <a:spLocks xmlns:a="http://schemas.openxmlformats.org/drawingml/2006/main" noGrp="1"/>
          </p:cNvSpPr>
          <p:nvPr/>
        </p:nvSpPr>
        <p:spPr>
          <a:xfrm xmlns:a="http://schemas.openxmlformats.org/drawingml/2006/main">
            <a:off x="621792" y="621792"/>
            <a:ext cx="10881360" cy="530352"/>
          </a:xfrm>
          <a:prstGeom xmlns:a="http://schemas.openxmlformats.org/drawingml/2006/main" prst="rect">
            <a:avLst/>
          </a:prstGeom>
          <a:noFill xmlns:a="http://schemas.openxmlformats.org/drawingml/2006/main"/>
        </p:spPr>
        <p:txBody>
          <a:bodyPr xmlns:a="http://schemas.openxmlformats.org/drawingml/2006/main" wrap="square" lIns="254" tIns="254" rIns="254" bIns="254" anchor="ctr">
            <a:normAutofit fontScale="100000"/>
          </a:bodyPr>
          <a:lstStyle xmlns:a="http://schemas.openxmlformats.org/drawingml/2006/main"/>
          <a:p xmlns:a="http://schemas.openxmlformats.org/drawingml/2006/main">
            <a:pPr marL="0" indent="0">
              <a:buNone/>
            </a:pPr>
            <a:r>
              <a:rPr sz="2500" b="1">
                <a:solidFill>
                  <a:srgbClr val="102A43"/>
                </a:solidFill>
                <a:latin typeface="Aptos Display"/>
                <a:ea typeface="Aptos Display"/>
                <a:cs typeface="Aptos Display"/>
              </a:rPr>
              <a:t>23. Utilidad práctica y límites de DME</a:t>
            </a:r>
            <a:endParaRPr sz="2500"/>
          </a:p>
        </p:txBody>
      </p:sp>
      <p:sp>
        <p:nvSpPr>
          <p:cNvPr id="36" name="Shape 34">
            <a:extLst xmlns:a="http://schemas.openxmlformats.org/drawingml/2006/main">
              <a:ext uri="{FF2B5EF4-FFF2-40B4-BE49-F238E27FC236}">
                <a16:creationId xmlns:a16="http://schemas.microsoft.com/office/drawing/2014/main" id="{D5072DA7-F161-4975-8100-E8B0054DAE26}"/>
              </a:ext>
            </a:extLst>
          </p:cNvPr>
          <p:cNvSpPr>
            <a:spLocks xmlns:a="http://schemas.openxmlformats.org/drawingml/2006/main" noGrp="1"/>
          </p:cNvSpPr>
          <p:nvPr/>
        </p:nvSpPr>
        <p:spPr>
          <a:xfrm xmlns:a="http://schemas.openxmlformats.org/drawingml/2006/main">
            <a:off x="502920" y="6446520"/>
            <a:ext cx="11201400" cy="0"/>
          </a:xfrm>
          <a:prstGeom xmlns:a="http://schemas.openxmlformats.org/drawingml/2006/main" prst="line">
            <a:avLst/>
          </a:prstGeom>
          <a:noFill xmlns:a="http://schemas.openxmlformats.org/drawingml/2006/main"/>
          <a:ln xmlns:a="http://schemas.openxmlformats.org/drawingml/2006/main" w="8890">
            <a:solidFill>
              <a:srgbClr val="CBD5E1"/>
            </a:solidFill>
            <a:prstDash val="solid"/>
          </a:ln>
        </p:spPr>
        <p:txBody>
          <a:bodyPr xmlns:a="http://schemas.openxmlformats.org/drawingml/2006/main"/>
          <a:lstStyle xmlns:a="http://schemas.openxmlformats.org/drawingml/2006/main"/>
          <a:p xmlns:a="http://schemas.openxmlformats.org/drawingml/2006/main"/>
        </p:txBody>
      </p:sp>
      <p:sp>
        <p:nvSpPr>
          <p:cNvPr id="37" name="Text 35">
            <a:extLst xmlns:a="http://schemas.openxmlformats.org/drawingml/2006/main">
              <a:ext uri="{FF2B5EF4-FFF2-40B4-BE49-F238E27FC236}">
                <a16:creationId xmlns:a16="http://schemas.microsoft.com/office/drawing/2014/main" id="{558BE016-34E5-46C5-BE0D-7614BFAA6BEF}"/>
              </a:ext>
            </a:extLst>
          </p:cNvPr>
          <p:cNvSpPr>
            <a:spLocks xmlns:a="http://schemas.openxmlformats.org/drawingml/2006/main" noGrp="1"/>
          </p:cNvSpPr>
          <p:nvPr/>
        </p:nvSpPr>
        <p:spPr>
          <a:xfrm xmlns:a="http://schemas.openxmlformats.org/drawingml/2006/main">
            <a:off x="594360" y="6510528"/>
            <a:ext cx="7223760" cy="2011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750">
                <a:solidFill>
                  <a:srgbClr val="64748B"/>
                </a:solidFill>
                <a:latin typeface="Aptos"/>
                <a:ea typeface="Aptos"/>
                <a:cs typeface="Aptos"/>
              </a:rPr>
              <a:t>Utilidad y alcance</a:t>
            </a:r>
            <a:endParaRPr sz="750"/>
          </a:p>
        </p:txBody>
      </p:sp>
      <p:sp>
        <p:nvSpPr>
          <p:cNvPr id="38" name="Text 36">
            <a:extLst xmlns:a="http://schemas.openxmlformats.org/drawingml/2006/main">
              <a:ext uri="{FF2B5EF4-FFF2-40B4-BE49-F238E27FC236}">
                <a16:creationId xmlns:a16="http://schemas.microsoft.com/office/drawing/2014/main" id="{1DB16E03-867F-44B7-86AB-B11265EBBCE7}"/>
              </a:ext>
            </a:extLst>
          </p:cNvPr>
          <p:cNvSpPr>
            <a:spLocks xmlns:a="http://schemas.openxmlformats.org/drawingml/2006/main" noGrp="1"/>
          </p:cNvSpPr>
          <p:nvPr/>
        </p:nvSpPr>
        <p:spPr>
          <a:xfrm xmlns:a="http://schemas.openxmlformats.org/drawingml/2006/main">
            <a:off x="11228832" y="6492240"/>
            <a:ext cx="411480" cy="2286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800">
                <a:solidFill>
                  <a:srgbClr val="64748B"/>
                </a:solidFill>
                <a:latin typeface="Aptos"/>
                <a:ea typeface="Aptos"/>
                <a:cs typeface="Aptos"/>
              </a:rPr>
              <a:t>24</a:t>
            </a:r>
            <a:endParaRPr sz="800"/>
          </a:p>
        </p:txBody>
      </p:sp>
      <p:sp>
        <p:nvSpPr>
          <p:cNvPr id="39" name="practical-uses-heading">
            <a:extLst xmlns:a="http://schemas.openxmlformats.org/drawingml/2006/main">
              <a:ext uri="{FF2B5EF4-FFF2-40B4-BE49-F238E27FC236}">
                <a16:creationId xmlns:a16="http://schemas.microsoft.com/office/drawing/2014/main" id="{F8DF18DA-F973-4BDE-B185-CAE81BFA31E3}"/>
              </a:ext>
            </a:extLst>
          </p:cNvPr>
          <p:cNvSpPr>
            <a:spLocks xmlns:a="http://schemas.openxmlformats.org/drawingml/2006/main" noGrp="1"/>
          </p:cNvSpPr>
          <p:nvPr/>
        </p:nvSpPr>
        <p:spPr>
          <a:xfrm xmlns:a="http://schemas.openxmlformats.org/drawingml/2006/main">
            <a:off x="857250" y="1447800"/>
            <a:ext cx="47625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buNone/>
              <a:defRPr sz="1500" b="1">
                <a:solidFill>
                  <a:srgbClr val="2563EB"/>
                </a:solidFill>
                <a:latin typeface="Aptos"/>
                <a:ea typeface="Aptos"/>
                <a:cs typeface="Aptos"/>
              </a:defRPr>
            </a:pPr>
            <a:r>
              <a:rPr sz="1500" b="1">
                <a:solidFill>
                  <a:srgbClr val="2563EB"/>
                </a:solidFill>
                <a:latin typeface="Aptos"/>
                <a:ea typeface="Aptos"/>
                <a:cs typeface="Aptos"/>
              </a:rPr>
              <a:t>PARA QUÉ SIRVE</a:t>
            </a:r>
          </a:p>
        </p:txBody>
      </p:sp>
      <p:sp>
        <p:nvSpPr>
          <p:cNvPr id="40" name="measurement-limits-heading">
            <a:extLst xmlns:a="http://schemas.openxmlformats.org/drawingml/2006/main">
              <a:ext uri="{FF2B5EF4-FFF2-40B4-BE49-F238E27FC236}">
                <a16:creationId xmlns:a16="http://schemas.microsoft.com/office/drawing/2014/main" id="{ECDD0248-D402-4A02-8F80-B30FE9201255}"/>
              </a:ext>
            </a:extLst>
          </p:cNvPr>
          <p:cNvSpPr>
            <a:spLocks xmlns:a="http://schemas.openxmlformats.org/drawingml/2006/main" noGrp="1"/>
          </p:cNvSpPr>
          <p:nvPr/>
        </p:nvSpPr>
        <p:spPr>
          <a:xfrm xmlns:a="http://schemas.openxmlformats.org/drawingml/2006/main">
            <a:off x="6496050" y="1447800"/>
            <a:ext cx="47625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buNone/>
              <a:defRPr sz="1500" b="1">
                <a:solidFill>
                  <a:srgbClr val="B91C1C"/>
                </a:solidFill>
                <a:latin typeface="Aptos"/>
                <a:ea typeface="Aptos"/>
                <a:cs typeface="Aptos"/>
              </a:defRPr>
            </a:pPr>
            <a:r>
              <a:rPr sz="1500" b="1">
                <a:solidFill>
                  <a:srgbClr val="B91C1C"/>
                </a:solidFill>
                <a:latin typeface="Aptos"/>
                <a:ea typeface="Aptos"/>
                <a:cs typeface="Aptos"/>
              </a:rPr>
              <a:t>QUÉ NO MIDE</a:t>
            </a:r>
          </a:p>
        </p:txBody>
      </p:sp>
      <p:sp>
        <p:nvSpPr>
          <p:cNvPr id="41" name="column-divider">
            <a:extLst xmlns:a="http://schemas.openxmlformats.org/drawingml/2006/main">
              <a:ext uri="{FF2B5EF4-FFF2-40B4-BE49-F238E27FC236}">
                <a16:creationId xmlns:a16="http://schemas.microsoft.com/office/drawing/2014/main" id="{F1D3D826-CD8F-4030-8675-1604FAFB959C}"/>
              </a:ext>
            </a:extLst>
          </p:cNvPr>
          <p:cNvSpPr>
            <a:spLocks xmlns:a="http://schemas.openxmlformats.org/drawingml/2006/main" noGrp="1"/>
          </p:cNvSpPr>
          <p:nvPr/>
        </p:nvSpPr>
        <p:spPr>
          <a:xfrm xmlns:a="http://schemas.openxmlformats.org/drawingml/2006/main">
            <a:off x="6029325" y="1495425"/>
            <a:ext cx="0" cy="3543300"/>
          </a:xfrm>
          <a:prstGeom xmlns:a="http://schemas.openxmlformats.org/drawingml/2006/main" prst="line">
            <a:avLst/>
          </a:prstGeom>
          <a:noFill xmlns:a="http://schemas.openxmlformats.org/drawingml/2006/main"/>
          <a:ln xmlns:a="http://schemas.openxmlformats.org/drawingml/2006/main" w="11430">
            <a:solidFill>
              <a:srgbClr val="CAD5E1"/>
            </a:solidFill>
            <a:prstDash val="solid"/>
          </a:ln>
        </p:spPr>
      </p:sp>
      <p:sp>
        <p:nvSpPr>
          <p:cNvPr id="42" name="use-1">
            <a:extLst xmlns:a="http://schemas.openxmlformats.org/drawingml/2006/main">
              <a:ext uri="{FF2B5EF4-FFF2-40B4-BE49-F238E27FC236}">
                <a16:creationId xmlns:a16="http://schemas.microsoft.com/office/drawing/2014/main" id="{0CDEB657-A64E-4266-B95E-688ED5050378}"/>
              </a:ext>
            </a:extLst>
          </p:cNvPr>
          <p:cNvSpPr>
            <a:spLocks xmlns:a="http://schemas.openxmlformats.org/drawingml/2006/main" noGrp="1"/>
          </p:cNvSpPr>
          <p:nvPr/>
        </p:nvSpPr>
        <p:spPr>
          <a:xfrm xmlns:a="http://schemas.openxmlformats.org/drawingml/2006/main">
            <a:off x="857250" y="1943100"/>
            <a:ext cx="47625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76200" bIns="19050" anchor="ctr">
            <a:normAutofit fontScale="100000"/>
          </a:bodyPr>
          <a:lstStyle xmlns:a="http://schemas.openxmlformats.org/drawingml/2006/main"/>
          <a:p xmlns:a="http://schemas.openxmlformats.org/drawingml/2006/main">
            <a:pPr algn="l">
              <a:buNone/>
              <a:defRPr sz="1500" b="0">
                <a:solidFill>
                  <a:srgbClr val="34485D"/>
                </a:solidFill>
                <a:latin typeface="Aptos"/>
                <a:ea typeface="Aptos"/>
                <a:cs typeface="Aptos"/>
              </a:defRPr>
            </a:pPr>
            <a:r>
              <a:rPr sz="1500" b="0">
                <a:solidFill>
                  <a:srgbClr val="34485D"/>
                </a:solidFill>
                <a:latin typeface="Aptos"/>
                <a:ea typeface="Aptos"/>
                <a:cs typeface="Aptos"/>
              </a:rPr>
              <a:t>•  Detectar movimiento científico adicional frente al mínimo lógico.</a:t>
            </a:r>
          </a:p>
        </p:txBody>
      </p:sp>
      <p:sp>
        <p:nvSpPr>
          <p:cNvPr id="43" name="use-2">
            <a:extLst xmlns:a="http://schemas.openxmlformats.org/drawingml/2006/main">
              <a:ext uri="{FF2B5EF4-FFF2-40B4-BE49-F238E27FC236}">
                <a16:creationId xmlns:a16="http://schemas.microsoft.com/office/drawing/2014/main" id="{C5EDCA86-6F5A-453B-AEE9-A3FADC10E80D}"/>
              </a:ext>
            </a:extLst>
          </p:cNvPr>
          <p:cNvSpPr>
            <a:spLocks xmlns:a="http://schemas.openxmlformats.org/drawingml/2006/main" noGrp="1"/>
          </p:cNvSpPr>
          <p:nvPr/>
        </p:nvSpPr>
        <p:spPr>
          <a:xfrm xmlns:a="http://schemas.openxmlformats.org/drawingml/2006/main">
            <a:off x="857250" y="2562225"/>
            <a:ext cx="47625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76200" bIns="19050" anchor="ctr">
            <a:normAutofit fontScale="100000"/>
          </a:bodyPr>
          <a:lstStyle xmlns:a="http://schemas.openxmlformats.org/drawingml/2006/main"/>
          <a:p xmlns:a="http://schemas.openxmlformats.org/drawingml/2006/main">
            <a:pPr algn="l">
              <a:buNone/>
              <a:defRPr sz="1500" b="0">
                <a:solidFill>
                  <a:srgbClr val="34485D"/>
                </a:solidFill>
                <a:latin typeface="Aptos"/>
                <a:ea typeface="Aptos"/>
                <a:cs typeface="Aptos"/>
              </a:defRPr>
            </a:pPr>
            <a:r>
              <a:rPr sz="1500" b="0">
                <a:solidFill>
                  <a:srgbClr val="34485D"/>
                </a:solidFill>
                <a:latin typeface="Aptos"/>
                <a:ea typeface="Aptos"/>
                <a:cs typeface="Aptos"/>
              </a:rPr>
              <a:t>•  Diagnosticar staging y transferencias por job.</a:t>
            </a:r>
          </a:p>
        </p:txBody>
      </p:sp>
      <p:sp>
        <p:nvSpPr>
          <p:cNvPr id="44" name="use-3">
            <a:extLst xmlns:a="http://schemas.openxmlformats.org/drawingml/2006/main">
              <a:ext uri="{FF2B5EF4-FFF2-40B4-BE49-F238E27FC236}">
                <a16:creationId xmlns:a16="http://schemas.microsoft.com/office/drawing/2014/main" id="{6F039CB7-5989-47E7-9298-61C0349CFFFB}"/>
              </a:ext>
            </a:extLst>
          </p:cNvPr>
          <p:cNvSpPr>
            <a:spLocks xmlns:a="http://schemas.openxmlformats.org/drawingml/2006/main" noGrp="1"/>
          </p:cNvSpPr>
          <p:nvPr/>
        </p:nvSpPr>
        <p:spPr>
          <a:xfrm xmlns:a="http://schemas.openxmlformats.org/drawingml/2006/main">
            <a:off x="857250" y="3181350"/>
            <a:ext cx="47625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76200" bIns="19050" anchor="ctr">
            <a:normAutofit fontScale="100000"/>
          </a:bodyPr>
          <a:lstStyle xmlns:a="http://schemas.openxmlformats.org/drawingml/2006/main"/>
          <a:p xmlns:a="http://schemas.openxmlformats.org/drawingml/2006/main">
            <a:pPr algn="l">
              <a:buNone/>
              <a:defRPr sz="1500" b="0">
                <a:solidFill>
                  <a:srgbClr val="34485D"/>
                </a:solidFill>
                <a:latin typeface="Aptos"/>
                <a:ea typeface="Aptos"/>
                <a:cs typeface="Aptos"/>
              </a:defRPr>
            </a:pPr>
            <a:r>
              <a:rPr sz="1500" b="0">
                <a:solidFill>
                  <a:srgbClr val="34485D"/>
                </a:solidFill>
                <a:latin typeface="Aptos"/>
                <a:ea typeface="Aptos"/>
                <a:cs typeface="Aptos"/>
              </a:rPr>
              <a:t>•  Comparar patrones de workflow y de placement.</a:t>
            </a:r>
          </a:p>
        </p:txBody>
      </p:sp>
      <p:sp>
        <p:nvSpPr>
          <p:cNvPr id="45" name="use-4">
            <a:extLst xmlns:a="http://schemas.openxmlformats.org/drawingml/2006/main">
              <a:ext uri="{FF2B5EF4-FFF2-40B4-BE49-F238E27FC236}">
                <a16:creationId xmlns:a16="http://schemas.microsoft.com/office/drawing/2014/main" id="{152F0369-F960-4B2A-8569-A6AB205A07D8}"/>
              </a:ext>
            </a:extLst>
          </p:cNvPr>
          <p:cNvSpPr>
            <a:spLocks xmlns:a="http://schemas.openxmlformats.org/drawingml/2006/main" noGrp="1"/>
          </p:cNvSpPr>
          <p:nvPr/>
        </p:nvSpPr>
        <p:spPr>
          <a:xfrm xmlns:a="http://schemas.openxmlformats.org/drawingml/2006/main">
            <a:off x="857250" y="3800475"/>
            <a:ext cx="47625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76200" bIns="19050" anchor="ctr">
            <a:normAutofit fontScale="100000"/>
          </a:bodyPr>
          <a:lstStyle xmlns:a="http://schemas.openxmlformats.org/drawingml/2006/main"/>
          <a:p xmlns:a="http://schemas.openxmlformats.org/drawingml/2006/main">
            <a:pPr algn="l">
              <a:buNone/>
              <a:defRPr sz="1500" b="0">
                <a:solidFill>
                  <a:srgbClr val="34485D"/>
                </a:solidFill>
                <a:latin typeface="Aptos"/>
                <a:ea typeface="Aptos"/>
                <a:cs typeface="Aptos"/>
              </a:defRPr>
            </a:pPr>
            <a:r>
              <a:rPr sz="1500" b="0">
                <a:solidFill>
                  <a:srgbClr val="34485D"/>
                </a:solidFill>
                <a:latin typeface="Aptos"/>
                <a:ea typeface="Aptos"/>
                <a:cs typeface="Aptos"/>
              </a:rPr>
              <a:t>•  Informar decisiones de arquitectura con evidencia trazable.</a:t>
            </a:r>
          </a:p>
        </p:txBody>
      </p:sp>
      <p:sp>
        <p:nvSpPr>
          <p:cNvPr id="46" name="use-5">
            <a:extLst xmlns:a="http://schemas.openxmlformats.org/drawingml/2006/main">
              <a:ext uri="{FF2B5EF4-FFF2-40B4-BE49-F238E27FC236}">
                <a16:creationId xmlns:a16="http://schemas.microsoft.com/office/drawing/2014/main" id="{5F9F2064-1EC4-43C7-94E2-01D287DA87A3}"/>
              </a:ext>
            </a:extLst>
          </p:cNvPr>
          <p:cNvSpPr>
            <a:spLocks xmlns:a="http://schemas.openxmlformats.org/drawingml/2006/main" noGrp="1"/>
          </p:cNvSpPr>
          <p:nvPr/>
        </p:nvSpPr>
        <p:spPr>
          <a:xfrm xmlns:a="http://schemas.openxmlformats.org/drawingml/2006/main">
            <a:off x="857250" y="4419600"/>
            <a:ext cx="47625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76200" bIns="19050" anchor="ctr">
            <a:normAutofit fontScale="100000"/>
          </a:bodyPr>
          <a:lstStyle xmlns:a="http://schemas.openxmlformats.org/drawingml/2006/main"/>
          <a:p xmlns:a="http://schemas.openxmlformats.org/drawingml/2006/main">
            <a:pPr algn="l">
              <a:buNone/>
              <a:defRPr sz="1500" b="0">
                <a:solidFill>
                  <a:srgbClr val="34485D"/>
                </a:solidFill>
                <a:latin typeface="Aptos"/>
                <a:ea typeface="Aptos"/>
                <a:cs typeface="Aptos"/>
              </a:defRPr>
            </a:pPr>
            <a:r>
              <a:rPr sz="1500" b="0">
                <a:solidFill>
                  <a:srgbClr val="34485D"/>
                </a:solidFill>
                <a:latin typeface="Aptos"/>
                <a:ea typeface="Aptos"/>
                <a:cs typeface="Aptos"/>
              </a:rPr>
              <a:t>•  Evitar conclusiones de rendimiento que los datos no respaldan.</a:t>
            </a:r>
          </a:p>
        </p:txBody>
      </p:sp>
      <p:sp>
        <p:nvSpPr>
          <p:cNvPr id="47" name="limit-1">
            <a:extLst xmlns:a="http://schemas.openxmlformats.org/drawingml/2006/main">
              <a:ext uri="{FF2B5EF4-FFF2-40B4-BE49-F238E27FC236}">
                <a16:creationId xmlns:a16="http://schemas.microsoft.com/office/drawing/2014/main" id="{AFF9347B-7C63-425E-8640-DC5E13439157}"/>
              </a:ext>
            </a:extLst>
          </p:cNvPr>
          <p:cNvSpPr>
            <a:spLocks xmlns:a="http://schemas.openxmlformats.org/drawingml/2006/main" noGrp="1"/>
          </p:cNvSpPr>
          <p:nvPr/>
        </p:nvSpPr>
        <p:spPr>
          <a:xfrm xmlns:a="http://schemas.openxmlformats.org/drawingml/2006/main">
            <a:off x="6496050" y="1885950"/>
            <a:ext cx="476250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76200" bIns="19050" anchor="ctr">
            <a:normAutofit fontScale="100000"/>
          </a:bodyPr>
          <a:lstStyle xmlns:a="http://schemas.openxmlformats.org/drawingml/2006/main"/>
          <a:p xmlns:a="http://schemas.openxmlformats.org/drawingml/2006/main">
            <a:pPr algn="l">
              <a:buNone/>
              <a:defRPr sz="1500" b="0">
                <a:solidFill>
                  <a:srgbClr val="34485D"/>
                </a:solidFill>
                <a:latin typeface="Aptos"/>
                <a:ea typeface="Aptos"/>
                <a:cs typeface="Aptos"/>
              </a:defRPr>
            </a:pPr>
            <a:r>
              <a:rPr sz="1500" b="0">
                <a:solidFill>
                  <a:srgbClr val="34485D"/>
                </a:solidFill>
                <a:latin typeface="Aptos"/>
                <a:ea typeface="Aptos"/>
                <a:cs typeface="Aptos"/>
              </a:rPr>
              <a:t>•  No mide FLOPs.</a:t>
            </a:r>
          </a:p>
        </p:txBody>
      </p:sp>
      <p:sp>
        <p:nvSpPr>
          <p:cNvPr id="48" name="limit-2">
            <a:extLst xmlns:a="http://schemas.openxmlformats.org/drawingml/2006/main">
              <a:ext uri="{FF2B5EF4-FFF2-40B4-BE49-F238E27FC236}">
                <a16:creationId xmlns:a16="http://schemas.microsoft.com/office/drawing/2014/main" id="{A58C1A40-F07A-4A01-81D8-1363F139C037}"/>
              </a:ext>
            </a:extLst>
          </p:cNvPr>
          <p:cNvSpPr>
            <a:spLocks xmlns:a="http://schemas.openxmlformats.org/drawingml/2006/main" noGrp="1"/>
          </p:cNvSpPr>
          <p:nvPr/>
        </p:nvSpPr>
        <p:spPr>
          <a:xfrm xmlns:a="http://schemas.openxmlformats.org/drawingml/2006/main">
            <a:off x="6496050" y="2352675"/>
            <a:ext cx="476250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76200" bIns="19050" anchor="ctr">
            <a:normAutofit fontScale="100000"/>
          </a:bodyPr>
          <a:lstStyle xmlns:a="http://schemas.openxmlformats.org/drawingml/2006/main"/>
          <a:p xmlns:a="http://schemas.openxmlformats.org/drawingml/2006/main">
            <a:pPr algn="l">
              <a:buNone/>
              <a:defRPr sz="1500" b="0">
                <a:solidFill>
                  <a:srgbClr val="34485D"/>
                </a:solidFill>
                <a:latin typeface="Aptos"/>
                <a:ea typeface="Aptos"/>
                <a:cs typeface="Aptos"/>
              </a:defRPr>
            </a:pPr>
            <a:r>
              <a:rPr sz="1500" b="0">
                <a:solidFill>
                  <a:srgbClr val="34485D"/>
                </a:solidFill>
                <a:latin typeface="Aptos"/>
                <a:ea typeface="Aptos"/>
                <a:cs typeface="Aptos"/>
              </a:rPr>
              <a:t>•  No mide la utilización de CPU/GPU.</a:t>
            </a:r>
          </a:p>
        </p:txBody>
      </p:sp>
      <p:sp>
        <p:nvSpPr>
          <p:cNvPr id="49" name="limit-3">
            <a:extLst xmlns:a="http://schemas.openxmlformats.org/drawingml/2006/main">
              <a:ext uri="{FF2B5EF4-FFF2-40B4-BE49-F238E27FC236}">
                <a16:creationId xmlns:a16="http://schemas.microsoft.com/office/drawing/2014/main" id="{DCF02707-40D1-4FED-8166-E8BA5232FA29}"/>
              </a:ext>
            </a:extLst>
          </p:cNvPr>
          <p:cNvSpPr>
            <a:spLocks xmlns:a="http://schemas.openxmlformats.org/drawingml/2006/main" noGrp="1"/>
          </p:cNvSpPr>
          <p:nvPr/>
        </p:nvSpPr>
        <p:spPr>
          <a:xfrm xmlns:a="http://schemas.openxmlformats.org/drawingml/2006/main">
            <a:off x="6496050" y="2819400"/>
            <a:ext cx="476250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76200" bIns="19050" anchor="ctr">
            <a:normAutofit fontScale="100000"/>
          </a:bodyPr>
          <a:lstStyle xmlns:a="http://schemas.openxmlformats.org/drawingml/2006/main"/>
          <a:p xmlns:a="http://schemas.openxmlformats.org/drawingml/2006/main">
            <a:pPr algn="l">
              <a:buNone/>
              <a:defRPr sz="1500" b="0">
                <a:solidFill>
                  <a:srgbClr val="34485D"/>
                </a:solidFill>
                <a:latin typeface="Aptos"/>
                <a:ea typeface="Aptos"/>
                <a:cs typeface="Aptos"/>
              </a:defRPr>
            </a:pPr>
            <a:r>
              <a:rPr sz="1500" b="0">
                <a:solidFill>
                  <a:srgbClr val="34485D"/>
                </a:solidFill>
                <a:latin typeface="Aptos"/>
                <a:ea typeface="Aptos"/>
                <a:cs typeface="Aptos"/>
              </a:rPr>
              <a:t>•  No mide el runtime directamente.</a:t>
            </a:r>
          </a:p>
        </p:txBody>
      </p:sp>
      <p:sp>
        <p:nvSpPr>
          <p:cNvPr id="50" name="limit-4">
            <a:extLst xmlns:a="http://schemas.openxmlformats.org/drawingml/2006/main">
              <a:ext uri="{FF2B5EF4-FFF2-40B4-BE49-F238E27FC236}">
                <a16:creationId xmlns:a16="http://schemas.microsoft.com/office/drawing/2014/main" id="{0D5E5418-5B69-4722-B14C-F5C97922A6C6}"/>
              </a:ext>
            </a:extLst>
          </p:cNvPr>
          <p:cNvSpPr>
            <a:spLocks xmlns:a="http://schemas.openxmlformats.org/drawingml/2006/main" noGrp="1"/>
          </p:cNvSpPr>
          <p:nvPr/>
        </p:nvSpPr>
        <p:spPr>
          <a:xfrm xmlns:a="http://schemas.openxmlformats.org/drawingml/2006/main">
            <a:off x="6496050" y="3286125"/>
            <a:ext cx="476250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76200" bIns="19050" anchor="ctr">
            <a:normAutofit fontScale="100000"/>
          </a:bodyPr>
          <a:lstStyle xmlns:a="http://schemas.openxmlformats.org/drawingml/2006/main"/>
          <a:p xmlns:a="http://schemas.openxmlformats.org/drawingml/2006/main">
            <a:pPr algn="l">
              <a:buNone/>
              <a:defRPr sz="1500" b="0">
                <a:solidFill>
                  <a:srgbClr val="34485D"/>
                </a:solidFill>
                <a:latin typeface="Aptos"/>
                <a:ea typeface="Aptos"/>
                <a:cs typeface="Aptos"/>
              </a:defRPr>
            </a:pPr>
            <a:r>
              <a:rPr sz="1500" b="0">
                <a:solidFill>
                  <a:srgbClr val="34485D"/>
                </a:solidFill>
                <a:latin typeface="Aptos"/>
                <a:ea typeface="Aptos"/>
                <a:cs typeface="Aptos"/>
              </a:rPr>
              <a:t>•  No mide el ancho de banda.</a:t>
            </a:r>
          </a:p>
        </p:txBody>
      </p:sp>
      <p:sp>
        <p:nvSpPr>
          <p:cNvPr id="51" name="limit-5">
            <a:extLst xmlns:a="http://schemas.openxmlformats.org/drawingml/2006/main">
              <a:ext uri="{FF2B5EF4-FFF2-40B4-BE49-F238E27FC236}">
                <a16:creationId xmlns:a16="http://schemas.microsoft.com/office/drawing/2014/main" id="{40A1AB62-669B-4F13-A03E-AC2E50486C3F}"/>
              </a:ext>
            </a:extLst>
          </p:cNvPr>
          <p:cNvSpPr>
            <a:spLocks xmlns:a="http://schemas.openxmlformats.org/drawingml/2006/main" noGrp="1"/>
          </p:cNvSpPr>
          <p:nvPr/>
        </p:nvSpPr>
        <p:spPr>
          <a:xfrm xmlns:a="http://schemas.openxmlformats.org/drawingml/2006/main">
            <a:off x="6496050" y="3752850"/>
            <a:ext cx="476250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76200" bIns="19050" anchor="ctr">
            <a:normAutofit fontScale="100000"/>
          </a:bodyPr>
          <a:lstStyle xmlns:a="http://schemas.openxmlformats.org/drawingml/2006/main"/>
          <a:p xmlns:a="http://schemas.openxmlformats.org/drawingml/2006/main">
            <a:pPr algn="l">
              <a:buNone/>
              <a:defRPr sz="1500" b="0">
                <a:solidFill>
                  <a:srgbClr val="34485D"/>
                </a:solidFill>
                <a:latin typeface="Aptos"/>
                <a:ea typeface="Aptos"/>
                <a:cs typeface="Aptos"/>
              </a:defRPr>
            </a:pPr>
            <a:r>
              <a:rPr sz="1500" b="0">
                <a:solidFill>
                  <a:srgbClr val="34485D"/>
                </a:solidFill>
                <a:latin typeface="Aptos"/>
                <a:ea typeface="Aptos"/>
                <a:cs typeface="Aptos"/>
              </a:rPr>
              <a:t>•  No mide el costo económico.</a:t>
            </a:r>
          </a:p>
        </p:txBody>
      </p:sp>
      <p:sp>
        <p:nvSpPr>
          <p:cNvPr id="52" name="limit-6">
            <a:extLst xmlns:a="http://schemas.openxmlformats.org/drawingml/2006/main">
              <a:ext uri="{FF2B5EF4-FFF2-40B4-BE49-F238E27FC236}">
                <a16:creationId xmlns:a16="http://schemas.microsoft.com/office/drawing/2014/main" id="{D2B59896-8ED1-4BA4-BA26-E9E1C8DA5F23}"/>
              </a:ext>
            </a:extLst>
          </p:cNvPr>
          <p:cNvSpPr>
            <a:spLocks xmlns:a="http://schemas.openxmlformats.org/drawingml/2006/main" noGrp="1"/>
          </p:cNvSpPr>
          <p:nvPr/>
        </p:nvSpPr>
        <p:spPr>
          <a:xfrm xmlns:a="http://schemas.openxmlformats.org/drawingml/2006/main">
            <a:off x="6496050" y="4219575"/>
            <a:ext cx="476250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76200" bIns="19050" anchor="ctr">
            <a:normAutofit fontScale="100000"/>
          </a:bodyPr>
          <a:lstStyle xmlns:a="http://schemas.openxmlformats.org/drawingml/2006/main"/>
          <a:p xmlns:a="http://schemas.openxmlformats.org/drawingml/2006/main">
            <a:pPr algn="l">
              <a:buNone/>
              <a:defRPr sz="1500" b="0">
                <a:solidFill>
                  <a:srgbClr val="34485D"/>
                </a:solidFill>
                <a:latin typeface="Aptos"/>
                <a:ea typeface="Aptos"/>
                <a:cs typeface="Aptos"/>
              </a:defRPr>
            </a:pPr>
            <a:r>
              <a:rPr sz="1500" b="0">
                <a:solidFill>
                  <a:srgbClr val="34485D"/>
                </a:solidFill>
                <a:latin typeface="Aptos"/>
                <a:ea typeface="Aptos"/>
                <a:cs typeface="Aptos"/>
              </a:rPr>
              <a:t>•  No mide la optimalidad del scheduler.</a:t>
            </a:r>
          </a:p>
        </p:txBody>
      </p:sp>
      <p:sp>
        <p:nvSpPr>
          <p:cNvPr id="53" name="limit-7">
            <a:extLst xmlns:a="http://schemas.openxmlformats.org/drawingml/2006/main">
              <a:ext uri="{FF2B5EF4-FFF2-40B4-BE49-F238E27FC236}">
                <a16:creationId xmlns:a16="http://schemas.microsoft.com/office/drawing/2014/main" id="{0B426135-EE4F-492E-BFE8-C79777AB7194}"/>
              </a:ext>
            </a:extLst>
          </p:cNvPr>
          <p:cNvSpPr>
            <a:spLocks xmlns:a="http://schemas.openxmlformats.org/drawingml/2006/main" noGrp="1"/>
          </p:cNvSpPr>
          <p:nvPr/>
        </p:nvSpPr>
        <p:spPr>
          <a:xfrm xmlns:a="http://schemas.openxmlformats.org/drawingml/2006/main">
            <a:off x="6496050" y="4686300"/>
            <a:ext cx="476250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76200" bIns="19050" anchor="ctr">
            <a:normAutofit fontScale="100000"/>
          </a:bodyPr>
          <a:lstStyle xmlns:a="http://schemas.openxmlformats.org/drawingml/2006/main"/>
          <a:p xmlns:a="http://schemas.openxmlformats.org/drawingml/2006/main">
            <a:pPr algn="l">
              <a:buNone/>
              <a:defRPr sz="1500" b="0">
                <a:solidFill>
                  <a:srgbClr val="34485D"/>
                </a:solidFill>
                <a:latin typeface="Aptos"/>
                <a:ea typeface="Aptos"/>
                <a:cs typeface="Aptos"/>
              </a:defRPr>
            </a:pPr>
            <a:r>
              <a:rPr sz="1500" b="0">
                <a:solidFill>
                  <a:srgbClr val="34485D"/>
                </a:solidFill>
                <a:latin typeface="Aptos"/>
                <a:ea typeface="Aptos"/>
                <a:cs typeface="Aptos"/>
              </a:rPr>
              <a:t>•  No optimiza el placement.</a:t>
            </a:r>
          </a:p>
        </p:txBody>
      </p:sp>
      <p:sp>
        <p:nvSpPr>
          <p:cNvPr id="54" name="measurement-scope-summary">
            <a:extLst xmlns:a="http://schemas.openxmlformats.org/drawingml/2006/main">
              <a:ext uri="{FF2B5EF4-FFF2-40B4-BE49-F238E27FC236}">
                <a16:creationId xmlns:a16="http://schemas.microsoft.com/office/drawing/2014/main" id="{762FF22E-F0E8-4703-86D1-7D222AB8AFC6}"/>
              </a:ext>
            </a:extLst>
          </p:cNvPr>
          <p:cNvSpPr>
            <a:spLocks xmlns:a="http://schemas.openxmlformats.org/drawingml/2006/main" noGrp="1"/>
          </p:cNvSpPr>
          <p:nvPr/>
        </p:nvSpPr>
        <p:spPr>
          <a:xfrm xmlns:a="http://schemas.openxmlformats.org/drawingml/2006/main">
            <a:off x="990600" y="5324475"/>
            <a:ext cx="10210800" cy="533400"/>
          </a:xfrm>
          <a:prstGeom xmlns:a="http://schemas.openxmlformats.org/drawingml/2006/main" prst="roundRect">
            <a:avLst>
              <a:gd name="adj" fmla="val 12500"/>
            </a:avLst>
          </a:prstGeom>
          <a:solidFill xmlns:a="http://schemas.openxmlformats.org/drawingml/2006/main">
            <a:srgbClr val="EAF2FF"/>
          </a:solidFill>
          <a:ln xmlns:a="http://schemas.openxmlformats.org/drawingml/2006/main" w="9525">
            <a:solidFill>
              <a:srgbClr val="A8C4EA"/>
            </a:solidFill>
            <a:prstDash val="solid"/>
          </a:ln>
        </p:spPr>
        <p:txBody>
          <a:bodyPr xmlns:a="http://schemas.openxmlformats.org/drawingml/2006/main" lIns="114300" tIns="57150" rIns="114300" bIns="57150" anchor="ctr">
            <a:normAutofit fontScale="100000"/>
          </a:bodyPr>
          <a:lstStyle xmlns:a="http://schemas.openxmlformats.org/drawingml/2006/main"/>
          <a:p xmlns:a="http://schemas.openxmlformats.org/drawingml/2006/main">
            <a:pPr algn="ctr">
              <a:buNone/>
              <a:defRPr sz="1425" b="1">
                <a:solidFill>
                  <a:srgbClr val="142D45"/>
                </a:solidFill>
                <a:latin typeface="Aptos"/>
                <a:ea typeface="Aptos"/>
                <a:cs typeface="Aptos"/>
              </a:defRPr>
            </a:pPr>
            <a:r>
              <a:rPr sz="1425" b="1">
                <a:solidFill>
                  <a:srgbClr val="142D45"/>
                </a:solidFill>
                <a:latin typeface="Aptos"/>
                <a:ea typeface="Aptos"/>
                <a:cs typeface="Aptos"/>
              </a:rPr>
              <a:t>DME compara movimiento científico confirmado con el mínimo lógico para el placement que ocurrió.</a:t>
            </a:r>
          </a:p>
        </p:txBody>
      </p:sp>
    </p:spTree>
    <p:extLst>
      <p:ext uri="{BB962C8B-B14F-4D97-AF65-F5344CB8AC3E}">
        <p14:creationId xmlns:p14="http://schemas.microsoft.com/office/powerpoint/2010/main" val="1461570943"/>
      </p:ext>
    </p:extLst>
  </p:cSld>
</p:sld>
</file>

<file path=ppt/slides/slide25.xml><?xml version="1.0" encoding="utf-8"?>
<p:sld xmlns:p="http://schemas.openxmlformats.org/presentationml/2006/main">
  <p:cSld>
    <p:spTree>
      <p:nvGrpSpPr>
        <p:cNvPr id="1" name=""/>
        <p:cNvGrpSpPr/>
        <p:nvPr/>
      </p:nvGrpSpPr>
      <p:grpSpPr>
        <a:xfrm xmlns:a="http://schemas.openxmlformats.org/drawingml/2006/main"/>
      </p:grpSpPr>
      <p:sp>
        <p:nvSpPr>
          <p:cNvPr id="26" name="section-accent">
            <a:extLst xmlns:a="http://schemas.openxmlformats.org/drawingml/2006/main">
              <a:ext uri="{FF2B5EF4-FFF2-40B4-BE49-F238E27FC236}">
                <a16:creationId xmlns:a16="http://schemas.microsoft.com/office/drawing/2014/main" id="{BB1C13FD-FED0-499C-97D3-796B9EE07112}"/>
              </a:ext>
            </a:extLst>
          </p:cNvPr>
          <p:cNvSpPr>
            <a:spLocks xmlns:a="http://schemas.openxmlformats.org/drawingml/2006/main" noGrp="1"/>
          </p:cNvSpPr>
          <p:nvPr/>
        </p:nvSpPr>
        <p:spPr>
          <a:xfrm xmlns:a="http://schemas.openxmlformats.org/drawingml/2006/main">
            <a:off x="0" y="0"/>
            <a:ext cx="12192000" cy="114300"/>
          </a:xfrm>
          <a:prstGeom xmlns:a="http://schemas.openxmlformats.org/drawingml/2006/main" prst="rect">
            <a:avLst/>
          </a:prstGeom>
          <a:solidFill xmlns:a="http://schemas.openxmlformats.org/drawingml/2006/main">
            <a:srgbClr val="6D28D9"/>
          </a:solidFill>
          <a:ln xmlns:a="http://schemas.openxmlformats.org/drawingml/2006/main" w="0">
            <a:solidFill>
              <a:srgbClr val="6D28D9"/>
            </a:solidFill>
            <a:prstDash val="solid"/>
          </a:ln>
        </p:spPr>
        <p:txBody>
          <a:bodyPr xmlns:a="http://schemas.openxmlformats.org/drawingml/2006/main"/>
          <a:lstStyle xmlns:a="http://schemas.openxmlformats.org/drawingml/2006/main"/>
          <a:p xmlns:a="http://schemas.openxmlformats.org/drawingml/2006/main"/>
        </p:txBody>
      </p:sp>
      <p:sp>
        <p:nvSpPr>
          <p:cNvPr id="2" name="section-label">
            <a:extLst xmlns:a="http://schemas.openxmlformats.org/drawingml/2006/main">
              <a:ext uri="{FF2B5EF4-FFF2-40B4-BE49-F238E27FC236}">
                <a16:creationId xmlns:a16="http://schemas.microsoft.com/office/drawing/2014/main" id="{BD6A2AAD-9518-4FC3-838A-E879DA990904}"/>
              </a:ext>
            </a:extLst>
          </p:cNvPr>
          <p:cNvSpPr>
            <a:spLocks xmlns:a="http://schemas.openxmlformats.org/drawingml/2006/main" noGrp="1"/>
          </p:cNvSpPr>
          <p:nvPr/>
        </p:nvSpPr>
        <p:spPr>
          <a:xfrm xmlns:a="http://schemas.openxmlformats.org/drawingml/2006/main">
            <a:off x="647700" y="352425"/>
            <a:ext cx="10668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buNone/>
              <a:defRPr sz="825" b="1">
                <a:solidFill>
                  <a:srgbClr val="6D28D9"/>
                </a:solidFill>
                <a:latin typeface="Aptos"/>
                <a:ea typeface="Aptos"/>
                <a:cs typeface="Aptos"/>
              </a:defRPr>
            </a:pPr>
            <a:r>
              <a:rPr sz="825" b="1">
                <a:solidFill>
                  <a:srgbClr val="6D28D9"/>
                </a:solidFill>
                <a:latin typeface="Aptos"/>
                <a:ea typeface="Aptos"/>
                <a:cs typeface="Aptos"/>
              </a:rPr>
              <a:t>EVALUACIÓN · VALIDEZ</a:t>
            </a:r>
          </a:p>
        </p:txBody>
      </p:sp>
      <p:sp>
        <p:nvSpPr>
          <p:cNvPr id="3" name="slide-heading">
            <a:extLst xmlns:a="http://schemas.openxmlformats.org/drawingml/2006/main">
              <a:ext uri="{FF2B5EF4-FFF2-40B4-BE49-F238E27FC236}">
                <a16:creationId xmlns:a16="http://schemas.microsoft.com/office/drawing/2014/main" id="{AA764653-DB72-4DE4-8CD5-ECCE2C4336B5}"/>
              </a:ext>
            </a:extLst>
          </p:cNvPr>
          <p:cNvSpPr>
            <a:spLocks xmlns:a="http://schemas.openxmlformats.org/drawingml/2006/main" noGrp="1"/>
          </p:cNvSpPr>
          <p:nvPr/>
        </p:nvSpPr>
        <p:spPr>
          <a:xfrm xmlns:a="http://schemas.openxmlformats.org/drawingml/2006/main">
            <a:off x="609600" y="619125"/>
            <a:ext cx="109537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buNone/>
              <a:defRPr sz="2250" b="1">
                <a:solidFill>
                  <a:srgbClr val="142D45"/>
                </a:solidFill>
                <a:latin typeface="Aptos"/>
                <a:ea typeface="Aptos"/>
                <a:cs typeface="Aptos"/>
              </a:defRPr>
            </a:pPr>
            <a:r>
              <a:rPr sz="2250" b="1">
                <a:solidFill>
                  <a:srgbClr val="142D45"/>
                </a:solidFill>
                <a:latin typeface="Aptos"/>
                <a:ea typeface="Aptos"/>
                <a:cs typeface="Aptos"/>
              </a:rPr>
              <a:t>24. Alcance de la evidencia y límites de inferencia</a:t>
            </a:r>
          </a:p>
        </p:txBody>
      </p:sp>
      <p:sp>
        <p:nvSpPr>
          <p:cNvPr id="4" name="slide-subtitle">
            <a:extLst xmlns:a="http://schemas.openxmlformats.org/drawingml/2006/main">
              <a:ext uri="{FF2B5EF4-FFF2-40B4-BE49-F238E27FC236}">
                <a16:creationId xmlns:a16="http://schemas.microsoft.com/office/drawing/2014/main" id="{12F90EC2-78D5-4843-B929-C5C82BE0F8D3}"/>
              </a:ext>
            </a:extLst>
          </p:cNvPr>
          <p:cNvSpPr>
            <a:spLocks xmlns:a="http://schemas.openxmlformats.org/drawingml/2006/main" noGrp="1"/>
          </p:cNvSpPr>
          <p:nvPr/>
        </p:nvSpPr>
        <p:spPr>
          <a:xfrm xmlns:a="http://schemas.openxmlformats.org/drawingml/2006/main">
            <a:off x="647700" y="1219200"/>
            <a:ext cx="10858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buNone/>
              <a:defRPr sz="1200">
                <a:solidFill>
                  <a:srgbClr val="34485D"/>
                </a:solidFill>
                <a:latin typeface="Aptos"/>
                <a:ea typeface="Aptos"/>
                <a:cs typeface="Aptos"/>
              </a:defRPr>
            </a:pPr>
            <a:r>
              <a:rPr sz="1200">
                <a:solidFill>
                  <a:srgbClr val="34485D"/>
                </a:solidFill>
                <a:latin typeface="Aptos"/>
                <a:ea typeface="Aptos"/>
                <a:cs typeface="Aptos"/>
              </a:rPr>
              <a:t>Analyzer opera post-mortem sobre registros nativos; la recolección y el análisis añadidos ocurren después del workflow.</a:t>
            </a:r>
          </a:p>
        </p:txBody>
      </p:sp>
      <p:sp>
        <p:nvSpPr>
          <p:cNvPr id="5" name="editorial-rule">
            <a:extLst xmlns:a="http://schemas.openxmlformats.org/drawingml/2006/main">
              <a:ext uri="{FF2B5EF4-FFF2-40B4-BE49-F238E27FC236}">
                <a16:creationId xmlns:a16="http://schemas.microsoft.com/office/drawing/2014/main" id="{654967BA-9663-4496-8F0E-F740FA14FB0B}"/>
              </a:ext>
            </a:extLst>
          </p:cNvPr>
          <p:cNvSpPr>
            <a:spLocks xmlns:a="http://schemas.openxmlformats.org/drawingml/2006/main" noGrp="1"/>
          </p:cNvSpPr>
          <p:nvPr/>
        </p:nvSpPr>
        <p:spPr>
          <a:xfrm xmlns:a="http://schemas.openxmlformats.org/drawingml/2006/main">
            <a:off x="495300" y="6448425"/>
            <a:ext cx="11201400" cy="11430"/>
          </a:xfrm>
          <a:prstGeom xmlns:a="http://schemas.openxmlformats.org/drawingml/2006/main" prst="rect">
            <a:avLst/>
          </a:prstGeom>
          <a:solidFill xmlns:a="http://schemas.openxmlformats.org/drawingml/2006/main">
            <a:srgbClr val="CBD5E1"/>
          </a:solidFill>
          <a:ln xmlns:a="http://schemas.openxmlformats.org/drawingml/2006/main" w="0">
            <a:solidFill>
              <a:srgbClr val="CBD5E1"/>
            </a:solidFill>
            <a:prstDash val="solid"/>
          </a:ln>
        </p:spPr>
        <p:txBody>
          <a:bodyPr xmlns:a="http://schemas.openxmlformats.org/drawingml/2006/main"/>
          <a:lstStyle xmlns:a="http://schemas.openxmlformats.org/drawingml/2006/main"/>
          <a:p xmlns:a="http://schemas.openxmlformats.org/drawingml/2006/main"/>
        </p:txBody>
      </p:sp>
      <p:sp>
        <p:nvSpPr>
          <p:cNvPr id="6" name="footer-label">
            <a:extLst xmlns:a="http://schemas.openxmlformats.org/drawingml/2006/main">
              <a:ext uri="{FF2B5EF4-FFF2-40B4-BE49-F238E27FC236}">
                <a16:creationId xmlns:a16="http://schemas.microsoft.com/office/drawing/2014/main" id="{C56A2367-A96D-466A-A29A-D1EE9533DB46}"/>
              </a:ext>
            </a:extLst>
          </p:cNvPr>
          <p:cNvSpPr>
            <a:spLocks xmlns:a="http://schemas.openxmlformats.org/drawingml/2006/main" noGrp="1"/>
          </p:cNvSpPr>
          <p:nvPr/>
        </p:nvSpPr>
        <p:spPr>
          <a:xfrm xmlns:a="http://schemas.openxmlformats.org/drawingml/2006/main">
            <a:off x="590550" y="6496050"/>
            <a:ext cx="9620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buNone/>
              <a:defRPr sz="750">
                <a:solidFill>
                  <a:srgbClr val="64748B"/>
                </a:solidFill>
                <a:latin typeface="Aptos"/>
                <a:ea typeface="Aptos"/>
                <a:cs typeface="Aptos"/>
              </a:defRPr>
            </a:pPr>
            <a:r>
              <a:rPr sz="750">
                <a:solidFill>
                  <a:srgbClr val="64748B"/>
                </a:solidFill>
                <a:latin typeface="Aptos"/>
                <a:ea typeface="Aptos"/>
                <a:cs typeface="Aptos"/>
              </a:rPr>
              <a:t>Evaluación · lectura crítica</a:t>
            </a:r>
          </a:p>
        </p:txBody>
      </p:sp>
      <p:sp>
        <p:nvSpPr>
          <p:cNvPr id="7" name="folio">
            <a:extLst xmlns:a="http://schemas.openxmlformats.org/drawingml/2006/main">
              <a:ext uri="{FF2B5EF4-FFF2-40B4-BE49-F238E27FC236}">
                <a16:creationId xmlns:a16="http://schemas.microsoft.com/office/drawing/2014/main" id="{70DC3895-5A72-4D0D-8268-55877DB3496F}"/>
              </a:ext>
            </a:extLst>
          </p:cNvPr>
          <p:cNvSpPr>
            <a:spLocks xmlns:a="http://schemas.openxmlformats.org/drawingml/2006/main" noGrp="1"/>
          </p:cNvSpPr>
          <p:nvPr/>
        </p:nvSpPr>
        <p:spPr>
          <a:xfrm xmlns:a="http://schemas.openxmlformats.org/drawingml/2006/main">
            <a:off x="11201400" y="6496050"/>
            <a:ext cx="4572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r">
              <a:buNone/>
              <a:defRPr sz="750">
                <a:solidFill>
                  <a:srgbClr val="64748B"/>
                </a:solidFill>
                <a:latin typeface="Aptos"/>
                <a:ea typeface="Aptos"/>
                <a:cs typeface="Aptos"/>
              </a:defRPr>
            </a:pPr>
            <a:r>
              <a:rPr sz="750">
                <a:solidFill>
                  <a:srgbClr val="64748B"/>
                </a:solidFill>
                <a:latin typeface="Aptos"/>
                <a:ea typeface="Aptos"/>
                <a:cs typeface="Aptos"/>
              </a:rPr>
              <a:t>25</a:t>
            </a:r>
          </a:p>
        </p:txBody>
      </p:sp>
      <p:sp>
        <p:nvSpPr>
          <p:cNvPr id="8" name="validity-card-1">
            <a:extLst xmlns:a="http://schemas.openxmlformats.org/drawingml/2006/main">
              <a:ext uri="{FF2B5EF4-FFF2-40B4-BE49-F238E27FC236}">
                <a16:creationId xmlns:a16="http://schemas.microsoft.com/office/drawing/2014/main" id="{50D3091E-0A00-4C0A-BE03-5D7D54EE0F65}"/>
              </a:ext>
            </a:extLst>
          </p:cNvPr>
          <p:cNvSpPr>
            <a:spLocks xmlns:a="http://schemas.openxmlformats.org/drawingml/2006/main" noGrp="1"/>
          </p:cNvSpPr>
          <p:nvPr/>
        </p:nvSpPr>
        <p:spPr>
          <a:xfrm xmlns:a="http://schemas.openxmlformats.org/drawingml/2006/main">
            <a:off x="762000" y="1790700"/>
            <a:ext cx="5143500" cy="1657350"/>
          </a:xfrm>
          <a:prstGeom xmlns:a="http://schemas.openxmlformats.org/drawingml/2006/main" prst="roundRect">
            <a:avLst>
              <a:gd name="adj" fmla="val 4598"/>
            </a:avLst>
          </a:prstGeom>
          <a:solidFill xmlns:a="http://schemas.openxmlformats.org/drawingml/2006/main">
            <a:srgbClr val="EFF6FF"/>
          </a:solidFill>
          <a:ln xmlns:a="http://schemas.openxmlformats.org/drawingml/2006/main" w="9525">
            <a:solidFill>
              <a:srgbClr val="CBD5E1"/>
            </a:solidFill>
            <a:prstDash val="solid"/>
          </a:ln>
        </p:spPr>
        <p:txBody>
          <a:bodyPr xmlns:a="http://schemas.openxmlformats.org/drawingml/2006/main"/>
          <a:lstStyle xmlns:a="http://schemas.openxmlformats.org/drawingml/2006/main"/>
          <a:p xmlns:a="http://schemas.openxmlformats.org/drawingml/2006/main"/>
        </p:txBody>
      </p:sp>
      <p:sp>
        <p:nvSpPr>
          <p:cNvPr id="9" name="validity-accent-1">
            <a:extLst xmlns:a="http://schemas.openxmlformats.org/drawingml/2006/main">
              <a:ext uri="{FF2B5EF4-FFF2-40B4-BE49-F238E27FC236}">
                <a16:creationId xmlns:a16="http://schemas.microsoft.com/office/drawing/2014/main" id="{1A479AC5-2F31-4A08-B6ED-98F309FB080C}"/>
              </a:ext>
            </a:extLst>
          </p:cNvPr>
          <p:cNvSpPr>
            <a:spLocks xmlns:a="http://schemas.openxmlformats.org/drawingml/2006/main" noGrp="1"/>
          </p:cNvSpPr>
          <p:nvPr/>
        </p:nvSpPr>
        <p:spPr>
          <a:xfrm xmlns:a="http://schemas.openxmlformats.org/drawingml/2006/main">
            <a:off x="762000" y="1790700"/>
            <a:ext cx="66675" cy="1657350"/>
          </a:xfrm>
          <a:prstGeom xmlns:a="http://schemas.openxmlformats.org/drawingml/2006/main" prst="rect">
            <a:avLst/>
          </a:prstGeom>
          <a:solidFill xmlns:a="http://schemas.openxmlformats.org/drawingml/2006/main">
            <a:srgbClr val="2563EB"/>
          </a:solidFill>
          <a:ln xmlns:a="http://schemas.openxmlformats.org/drawingml/2006/main" w="0">
            <a:solidFill>
              <a:srgbClr val="2563EB"/>
            </a:solidFill>
            <a:prstDash val="solid"/>
          </a:ln>
        </p:spPr>
        <p:txBody>
          <a:bodyPr xmlns:a="http://schemas.openxmlformats.org/drawingml/2006/main"/>
          <a:lstStyle xmlns:a="http://schemas.openxmlformats.org/drawingml/2006/main"/>
          <a:p xmlns:a="http://schemas.openxmlformats.org/drawingml/2006/main"/>
        </p:txBody>
      </p:sp>
      <p:sp>
        <p:nvSpPr>
          <p:cNvPr id="10" name="validity-title-1">
            <a:extLst xmlns:a="http://schemas.openxmlformats.org/drawingml/2006/main">
              <a:ext uri="{FF2B5EF4-FFF2-40B4-BE49-F238E27FC236}">
                <a16:creationId xmlns:a16="http://schemas.microsoft.com/office/drawing/2014/main" id="{F4D354B2-D0DF-437A-815F-AF275971461B}"/>
              </a:ext>
            </a:extLst>
          </p:cNvPr>
          <p:cNvSpPr>
            <a:spLocks xmlns:a="http://schemas.openxmlformats.org/drawingml/2006/main" noGrp="1"/>
          </p:cNvSpPr>
          <p:nvPr/>
        </p:nvSpPr>
        <p:spPr>
          <a:xfrm xmlns:a="http://schemas.openxmlformats.org/drawingml/2006/main">
            <a:off x="990600" y="1952625"/>
            <a:ext cx="466725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buNone/>
              <a:defRPr sz="1275" b="1">
                <a:solidFill>
                  <a:srgbClr val="2563EB"/>
                </a:solidFill>
                <a:latin typeface="Aptos"/>
                <a:ea typeface="Aptos"/>
                <a:cs typeface="Aptos"/>
              </a:defRPr>
            </a:pPr>
            <a:r>
              <a:rPr sz="1275" b="1">
                <a:solidFill>
                  <a:srgbClr val="2563EB"/>
                </a:solidFill>
                <a:latin typeface="Aptos"/>
                <a:ea typeface="Aptos"/>
                <a:cs typeface="Aptos"/>
              </a:rPr>
              <a:t>Evidencia replicada</a:t>
            </a:r>
          </a:p>
        </p:txBody>
      </p:sp>
      <p:sp>
        <p:nvSpPr>
          <p:cNvPr id="11" name="validity-body-1">
            <a:extLst xmlns:a="http://schemas.openxmlformats.org/drawingml/2006/main">
              <a:ext uri="{FF2B5EF4-FFF2-40B4-BE49-F238E27FC236}">
                <a16:creationId xmlns:a16="http://schemas.microsoft.com/office/drawing/2014/main" id="{C7B6264A-16EB-4893-9050-E8B6FE8517A4}"/>
              </a:ext>
            </a:extLst>
          </p:cNvPr>
          <p:cNvSpPr>
            <a:spLocks xmlns:a="http://schemas.openxmlformats.org/drawingml/2006/main" noGrp="1"/>
          </p:cNvSpPr>
          <p:nvPr/>
        </p:nvSpPr>
        <p:spPr>
          <a:xfrm xmlns:a="http://schemas.openxmlformats.org/drawingml/2006/main">
            <a:off x="990600" y="2314575"/>
            <a:ext cx="4667250" cy="962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buNone/>
              <a:defRPr sz="1050">
                <a:solidFill>
                  <a:srgbClr val="34485D"/>
                </a:solidFill>
                <a:latin typeface="Aptos"/>
                <a:ea typeface="Aptos"/>
                <a:cs typeface="Aptos"/>
              </a:defRPr>
            </a:pPr>
            <a:r>
              <a:rPr sz="1050">
                <a:solidFill>
                  <a:srgbClr val="34485D"/>
                </a:solidFill>
                <a:latin typeface="Aptos"/>
                <a:ea typeface="Aptos"/>
                <a:cs typeface="Aptos"/>
              </a:rPr>
              <a:t>31 workflows · 10 condiciones</a:t>
            </a:r>
          </a:p>
          <a:p xmlns:a="http://schemas.openxmlformats.org/drawingml/2006/main">
            <a:pPr>
              <a:buNone/>
              <a:defRPr sz="1050">
                <a:solidFill>
                  <a:srgbClr val="34485D"/>
                </a:solidFill>
                <a:latin typeface="Aptos"/>
                <a:ea typeface="Aptos"/>
                <a:cs typeface="Aptos"/>
              </a:defRPr>
            </a:pPr>
            <a:r>
              <a:rPr sz="1050">
                <a:solidFill>
                  <a:srgbClr val="34485D"/>
                </a:solidFill>
                <a:latin typeface="Aptos"/>
                <a:ea typeface="Aptos"/>
                <a:cs typeface="Aptos"/>
              </a:rPr>
              <a:t>≥3 workflows independientes por condición</a:t>
            </a:r>
          </a:p>
          <a:p xmlns:a="http://schemas.openxmlformats.org/drawingml/2006/main">
            <a:pPr>
              <a:buNone/>
              <a:defRPr sz="1050">
                <a:solidFill>
                  <a:srgbClr val="34485D"/>
                </a:solidFill>
                <a:latin typeface="Aptos"/>
                <a:ea typeface="Aptos"/>
                <a:cs typeface="Aptos"/>
              </a:defRPr>
            </a:pPr>
            <a:r>
              <a:rPr sz="1050">
                <a:solidFill>
                  <a:srgbClr val="34485D"/>
                </a:solidFill>
                <a:latin typeface="Aptos"/>
                <a:ea typeface="Aptos"/>
                <a:cs typeface="Aptos"/>
              </a:rPr>
              <a:t>oráculo, placement y resultados concordantes</a:t>
            </a:r>
          </a:p>
        </p:txBody>
      </p:sp>
      <p:sp>
        <p:nvSpPr>
          <p:cNvPr id="12" name="validity-card-2">
            <a:extLst xmlns:a="http://schemas.openxmlformats.org/drawingml/2006/main">
              <a:ext uri="{FF2B5EF4-FFF2-40B4-BE49-F238E27FC236}">
                <a16:creationId xmlns:a16="http://schemas.microsoft.com/office/drawing/2014/main" id="{AA58CF45-0199-4149-8DEF-C1D53A6BB6F1}"/>
              </a:ext>
            </a:extLst>
          </p:cNvPr>
          <p:cNvSpPr>
            <a:spLocks xmlns:a="http://schemas.openxmlformats.org/drawingml/2006/main" noGrp="1"/>
          </p:cNvSpPr>
          <p:nvPr/>
        </p:nvSpPr>
        <p:spPr>
          <a:xfrm xmlns:a="http://schemas.openxmlformats.org/drawingml/2006/main">
            <a:off x="6286500" y="1790700"/>
            <a:ext cx="5143500" cy="1657350"/>
          </a:xfrm>
          <a:prstGeom xmlns:a="http://schemas.openxmlformats.org/drawingml/2006/main" prst="roundRect">
            <a:avLst>
              <a:gd name="adj" fmla="val 4598"/>
            </a:avLst>
          </a:prstGeom>
          <a:solidFill xmlns:a="http://schemas.openxmlformats.org/drawingml/2006/main">
            <a:srgbClr val="ECFDF5"/>
          </a:solidFill>
          <a:ln xmlns:a="http://schemas.openxmlformats.org/drawingml/2006/main" w="9525">
            <a:solidFill>
              <a:srgbClr val="CBD5E1"/>
            </a:solidFill>
            <a:prstDash val="solid"/>
          </a:ln>
        </p:spPr>
        <p:txBody>
          <a:bodyPr xmlns:a="http://schemas.openxmlformats.org/drawingml/2006/main"/>
          <a:lstStyle xmlns:a="http://schemas.openxmlformats.org/drawingml/2006/main"/>
          <a:p xmlns:a="http://schemas.openxmlformats.org/drawingml/2006/main"/>
        </p:txBody>
      </p:sp>
      <p:sp>
        <p:nvSpPr>
          <p:cNvPr id="13" name="validity-accent-2">
            <a:extLst xmlns:a="http://schemas.openxmlformats.org/drawingml/2006/main">
              <a:ext uri="{FF2B5EF4-FFF2-40B4-BE49-F238E27FC236}">
                <a16:creationId xmlns:a16="http://schemas.microsoft.com/office/drawing/2014/main" id="{F61C7F8E-3A7D-4DBF-A7C9-DF3CCF6CED39}"/>
              </a:ext>
            </a:extLst>
          </p:cNvPr>
          <p:cNvSpPr>
            <a:spLocks xmlns:a="http://schemas.openxmlformats.org/drawingml/2006/main" noGrp="1"/>
          </p:cNvSpPr>
          <p:nvPr/>
        </p:nvSpPr>
        <p:spPr>
          <a:xfrm xmlns:a="http://schemas.openxmlformats.org/drawingml/2006/main">
            <a:off x="6286500" y="1790700"/>
            <a:ext cx="66675" cy="1657350"/>
          </a:xfrm>
          <a:prstGeom xmlns:a="http://schemas.openxmlformats.org/drawingml/2006/main" prst="rect">
            <a:avLst/>
          </a:prstGeom>
          <a:solidFill xmlns:a="http://schemas.openxmlformats.org/drawingml/2006/main">
            <a:srgbClr val="0F766E"/>
          </a:solidFill>
          <a:ln xmlns:a="http://schemas.openxmlformats.org/drawingml/2006/main" w="0">
            <a:solidFill>
              <a:srgbClr val="0F766E"/>
            </a:solidFill>
            <a:prstDash val="solid"/>
          </a:ln>
        </p:spPr>
        <p:txBody>
          <a:bodyPr xmlns:a="http://schemas.openxmlformats.org/drawingml/2006/main"/>
          <a:lstStyle xmlns:a="http://schemas.openxmlformats.org/drawingml/2006/main"/>
          <a:p xmlns:a="http://schemas.openxmlformats.org/drawingml/2006/main"/>
        </p:txBody>
      </p:sp>
      <p:sp>
        <p:nvSpPr>
          <p:cNvPr id="14" name="validity-title-2">
            <a:extLst xmlns:a="http://schemas.openxmlformats.org/drawingml/2006/main">
              <a:ext uri="{FF2B5EF4-FFF2-40B4-BE49-F238E27FC236}">
                <a16:creationId xmlns:a16="http://schemas.microsoft.com/office/drawing/2014/main" id="{2A7191F0-EC84-413E-88DA-BC6014D47EB3}"/>
              </a:ext>
            </a:extLst>
          </p:cNvPr>
          <p:cNvSpPr>
            <a:spLocks xmlns:a="http://schemas.openxmlformats.org/drawingml/2006/main" noGrp="1"/>
          </p:cNvSpPr>
          <p:nvPr/>
        </p:nvSpPr>
        <p:spPr>
          <a:xfrm xmlns:a="http://schemas.openxmlformats.org/drawingml/2006/main">
            <a:off x="6515100" y="1952625"/>
            <a:ext cx="466725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buNone/>
              <a:defRPr sz="1275" b="1">
                <a:solidFill>
                  <a:srgbClr val="0F766E"/>
                </a:solidFill>
                <a:latin typeface="Aptos"/>
                <a:ea typeface="Aptos"/>
                <a:cs typeface="Aptos"/>
              </a:defRPr>
            </a:pPr>
            <a:r>
              <a:rPr sz="1275" b="1">
                <a:solidFill>
                  <a:srgbClr val="0F766E"/>
                </a:solidFill>
                <a:latin typeface="Aptos"/>
                <a:ea typeface="Aptos"/>
                <a:cs typeface="Aptos"/>
              </a:rPr>
              <a:t>Alcance externo</a:t>
            </a:r>
          </a:p>
        </p:txBody>
      </p:sp>
      <p:sp>
        <p:nvSpPr>
          <p:cNvPr id="15" name="validity-body-2">
            <a:extLst xmlns:a="http://schemas.openxmlformats.org/drawingml/2006/main">
              <a:ext uri="{FF2B5EF4-FFF2-40B4-BE49-F238E27FC236}">
                <a16:creationId xmlns:a16="http://schemas.microsoft.com/office/drawing/2014/main" id="{A8DEE21C-F4DB-4D5D-8C4B-0F087EF9389C}"/>
              </a:ext>
            </a:extLst>
          </p:cNvPr>
          <p:cNvSpPr>
            <a:spLocks xmlns:a="http://schemas.openxmlformats.org/drawingml/2006/main" noGrp="1"/>
          </p:cNvSpPr>
          <p:nvPr/>
        </p:nvSpPr>
        <p:spPr>
          <a:xfrm xmlns:a="http://schemas.openxmlformats.org/drawingml/2006/main">
            <a:off x="6515100" y="2314575"/>
            <a:ext cx="4667250" cy="962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buNone/>
              <a:defRPr sz="1050">
                <a:solidFill>
                  <a:srgbClr val="34485D"/>
                </a:solidFill>
                <a:latin typeface="Aptos"/>
                <a:ea typeface="Aptos"/>
                <a:cs typeface="Aptos"/>
              </a:defRPr>
            </a:pPr>
            <a:r>
              <a:rPr sz="1050">
                <a:solidFill>
                  <a:srgbClr val="34485D"/>
                </a:solidFill>
                <a:latin typeface="Aptos"/>
                <a:ea typeface="Aptos"/>
                <a:cs typeface="Aptos"/>
              </a:rPr>
              <a:t>Un pool virtualizado con dos workers</a:t>
            </a:r>
          </a:p>
          <a:p xmlns:a="http://schemas.openxmlformats.org/drawingml/2006/main">
            <a:pPr>
              <a:buNone/>
              <a:defRPr sz="1050">
                <a:solidFill>
                  <a:srgbClr val="34485D"/>
                </a:solidFill>
                <a:latin typeface="Aptos"/>
                <a:ea typeface="Aptos"/>
                <a:cs typeface="Aptos"/>
              </a:defRPr>
            </a:pPr>
            <a:r>
              <a:rPr sz="1050">
                <a:solidFill>
                  <a:srgbClr val="34485D"/>
                </a:solidFill>
                <a:latin typeface="Aptos"/>
                <a:ea typeface="Aptos"/>
                <a:cs typeface="Aptos"/>
              </a:rPr>
              <a:t>Pegasus 5.1.2 · HTCondor 25.12.2</a:t>
            </a:r>
          </a:p>
          <a:p xmlns:a="http://schemas.openxmlformats.org/drawingml/2006/main">
            <a:pPr>
              <a:buNone/>
              <a:defRPr sz="1050">
                <a:solidFill>
                  <a:srgbClr val="34485D"/>
                </a:solidFill>
                <a:latin typeface="Aptos"/>
                <a:ea typeface="Aptos"/>
                <a:cs typeface="Aptos"/>
              </a:defRPr>
            </a:pPr>
            <a:r>
              <a:rPr sz="1050">
                <a:solidFill>
                  <a:srgbClr val="34485D"/>
                </a:solidFill>
                <a:latin typeface="Aptos"/>
                <a:ea typeface="Aptos"/>
                <a:cs typeface="Aptos"/>
              </a:rPr>
              <a:t>condorio · jobs vanilla</a:t>
            </a:r>
          </a:p>
        </p:txBody>
      </p:sp>
      <p:sp>
        <p:nvSpPr>
          <p:cNvPr id="16" name="validity-card-3">
            <a:extLst xmlns:a="http://schemas.openxmlformats.org/drawingml/2006/main">
              <a:ext uri="{FF2B5EF4-FFF2-40B4-BE49-F238E27FC236}">
                <a16:creationId xmlns:a16="http://schemas.microsoft.com/office/drawing/2014/main" id="{6136772D-AF9C-46B8-8786-A40144858720}"/>
              </a:ext>
            </a:extLst>
          </p:cNvPr>
          <p:cNvSpPr>
            <a:spLocks xmlns:a="http://schemas.openxmlformats.org/drawingml/2006/main" noGrp="1"/>
          </p:cNvSpPr>
          <p:nvPr/>
        </p:nvSpPr>
        <p:spPr>
          <a:xfrm xmlns:a="http://schemas.openxmlformats.org/drawingml/2006/main">
            <a:off x="762000" y="3638550"/>
            <a:ext cx="5143500" cy="1657350"/>
          </a:xfrm>
          <a:prstGeom xmlns:a="http://schemas.openxmlformats.org/drawingml/2006/main" prst="roundRect">
            <a:avLst>
              <a:gd name="adj" fmla="val 4598"/>
            </a:avLst>
          </a:prstGeom>
          <a:solidFill xmlns:a="http://schemas.openxmlformats.org/drawingml/2006/main">
            <a:srgbClr val="FFF7ED"/>
          </a:solidFill>
          <a:ln xmlns:a="http://schemas.openxmlformats.org/drawingml/2006/main" w="9525">
            <a:solidFill>
              <a:srgbClr val="CBD5E1"/>
            </a:solidFill>
            <a:prstDash val="solid"/>
          </a:ln>
        </p:spPr>
        <p:txBody>
          <a:bodyPr xmlns:a="http://schemas.openxmlformats.org/drawingml/2006/main"/>
          <a:lstStyle xmlns:a="http://schemas.openxmlformats.org/drawingml/2006/main"/>
          <a:p xmlns:a="http://schemas.openxmlformats.org/drawingml/2006/main"/>
        </p:txBody>
      </p:sp>
      <p:sp>
        <p:nvSpPr>
          <p:cNvPr id="17" name="validity-accent-3">
            <a:extLst xmlns:a="http://schemas.openxmlformats.org/drawingml/2006/main">
              <a:ext uri="{FF2B5EF4-FFF2-40B4-BE49-F238E27FC236}">
                <a16:creationId xmlns:a16="http://schemas.microsoft.com/office/drawing/2014/main" id="{DB25B73B-C6A4-4F36-82B7-D293C6661375}"/>
              </a:ext>
            </a:extLst>
          </p:cNvPr>
          <p:cNvSpPr>
            <a:spLocks xmlns:a="http://schemas.openxmlformats.org/drawingml/2006/main" noGrp="1"/>
          </p:cNvSpPr>
          <p:nvPr/>
        </p:nvSpPr>
        <p:spPr>
          <a:xfrm xmlns:a="http://schemas.openxmlformats.org/drawingml/2006/main">
            <a:off x="762000" y="3638550"/>
            <a:ext cx="66675" cy="1657350"/>
          </a:xfrm>
          <a:prstGeom xmlns:a="http://schemas.openxmlformats.org/drawingml/2006/main" prst="rect">
            <a:avLst/>
          </a:prstGeom>
          <a:solidFill xmlns:a="http://schemas.openxmlformats.org/drawingml/2006/main">
            <a:srgbClr val="C2410C"/>
          </a:solidFill>
          <a:ln xmlns:a="http://schemas.openxmlformats.org/drawingml/2006/main" w="0">
            <a:solidFill>
              <a:srgbClr val="C2410C"/>
            </a:solidFill>
            <a:prstDash val="solid"/>
          </a:ln>
        </p:spPr>
        <p:txBody>
          <a:bodyPr xmlns:a="http://schemas.openxmlformats.org/drawingml/2006/main"/>
          <a:lstStyle xmlns:a="http://schemas.openxmlformats.org/drawingml/2006/main"/>
          <a:p xmlns:a="http://schemas.openxmlformats.org/drawingml/2006/main"/>
        </p:txBody>
      </p:sp>
      <p:sp>
        <p:nvSpPr>
          <p:cNvPr id="18" name="validity-title-3">
            <a:extLst xmlns:a="http://schemas.openxmlformats.org/drawingml/2006/main">
              <a:ext uri="{FF2B5EF4-FFF2-40B4-BE49-F238E27FC236}">
                <a16:creationId xmlns:a16="http://schemas.microsoft.com/office/drawing/2014/main" id="{011D7160-9BFF-4315-BBD4-624EBE8D0224}"/>
              </a:ext>
            </a:extLst>
          </p:cNvPr>
          <p:cNvSpPr>
            <a:spLocks xmlns:a="http://schemas.openxmlformats.org/drawingml/2006/main" noGrp="1"/>
          </p:cNvSpPr>
          <p:nvPr/>
        </p:nvSpPr>
        <p:spPr>
          <a:xfrm xmlns:a="http://schemas.openxmlformats.org/drawingml/2006/main">
            <a:off x="990600" y="3800475"/>
            <a:ext cx="466725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buNone/>
              <a:defRPr sz="1275" b="1">
                <a:solidFill>
                  <a:srgbClr val="C2410C"/>
                </a:solidFill>
                <a:latin typeface="Aptos"/>
                <a:ea typeface="Aptos"/>
                <a:cs typeface="Aptos"/>
              </a:defRPr>
            </a:pPr>
            <a:r>
              <a:rPr sz="1275" b="1">
                <a:solidFill>
                  <a:srgbClr val="C2410C"/>
                </a:solidFill>
                <a:latin typeface="Aptos"/>
                <a:ea typeface="Aptos"/>
                <a:cs typeface="Aptos"/>
              </a:rPr>
              <a:t>Costo de obtención</a:t>
            </a:r>
          </a:p>
        </p:txBody>
      </p:sp>
      <p:sp>
        <p:nvSpPr>
          <p:cNvPr id="19" name="validity-body-3">
            <a:extLst xmlns:a="http://schemas.openxmlformats.org/drawingml/2006/main">
              <a:ext uri="{FF2B5EF4-FFF2-40B4-BE49-F238E27FC236}">
                <a16:creationId xmlns:a16="http://schemas.microsoft.com/office/drawing/2014/main" id="{7B522AE6-9C80-4650-ADFC-388CB4EEED6B}"/>
              </a:ext>
            </a:extLst>
          </p:cNvPr>
          <p:cNvSpPr>
            <a:spLocks xmlns:a="http://schemas.openxmlformats.org/drawingml/2006/main" noGrp="1"/>
          </p:cNvSpPr>
          <p:nvPr/>
        </p:nvSpPr>
        <p:spPr>
          <a:xfrm xmlns:a="http://schemas.openxmlformats.org/drawingml/2006/main">
            <a:off x="990600" y="4162425"/>
            <a:ext cx="4667250" cy="962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buNone/>
              <a:defRPr sz="1050">
                <a:solidFill>
                  <a:srgbClr val="34485D"/>
                </a:solidFill>
                <a:latin typeface="Aptos"/>
                <a:ea typeface="Aptos"/>
                <a:cs typeface="Aptos"/>
              </a:defRPr>
            </a:pPr>
            <a:r>
              <a:rPr sz="1050">
                <a:solidFill>
                  <a:srgbClr val="34485D"/>
                </a:solidFill>
                <a:latin typeface="Aptos"/>
                <a:ea typeface="Aptos"/>
                <a:cs typeface="Aptos"/>
              </a:rPr>
              <a:t>Sin tracer, profiler ni logger dentro de los jobs. Analyzer consume history y artefactos estándar después del workflow.</a:t>
            </a:r>
          </a:p>
          <a:p xmlns:a="http://schemas.openxmlformats.org/drawingml/2006/main">
            <a:pPr>
              <a:buNone/>
              <a:defRPr sz="1050">
                <a:solidFill>
                  <a:srgbClr val="34485D"/>
                </a:solidFill>
                <a:latin typeface="Aptos"/>
                <a:ea typeface="Aptos"/>
                <a:cs typeface="Aptos"/>
              </a:defRPr>
            </a:pPr>
            <a:r>
              <a:rPr sz="1050">
                <a:solidFill>
                  <a:srgbClr val="34485D"/>
                </a:solidFill>
                <a:latin typeface="Aptos"/>
                <a:ea typeface="Aptos"/>
                <a:cs typeface="Aptos"/>
              </a:rPr>
              <a:t>T_gen incluye planificación y ciencia. Su CV de 5.8–27.1% por condición describe variabilidad de ejecución, no efecto del Analyzer.</a:t>
            </a:r>
          </a:p>
        </p:txBody>
      </p:sp>
      <p:sp>
        <p:nvSpPr>
          <p:cNvPr id="20" name="validity-card-4">
            <a:extLst xmlns:a="http://schemas.openxmlformats.org/drawingml/2006/main">
              <a:ext uri="{FF2B5EF4-FFF2-40B4-BE49-F238E27FC236}">
                <a16:creationId xmlns:a16="http://schemas.microsoft.com/office/drawing/2014/main" id="{50A0BAF2-0D72-4B3F-9C78-F88BEC1122B5}"/>
              </a:ext>
            </a:extLst>
          </p:cNvPr>
          <p:cNvSpPr>
            <a:spLocks xmlns:a="http://schemas.openxmlformats.org/drawingml/2006/main" noGrp="1"/>
          </p:cNvSpPr>
          <p:nvPr/>
        </p:nvSpPr>
        <p:spPr>
          <a:xfrm xmlns:a="http://schemas.openxmlformats.org/drawingml/2006/main">
            <a:off x="6286500" y="3638550"/>
            <a:ext cx="5143500" cy="1657350"/>
          </a:xfrm>
          <a:prstGeom xmlns:a="http://schemas.openxmlformats.org/drawingml/2006/main" prst="roundRect">
            <a:avLst>
              <a:gd name="adj" fmla="val 4598"/>
            </a:avLst>
          </a:prstGeom>
          <a:solidFill xmlns:a="http://schemas.openxmlformats.org/drawingml/2006/main">
            <a:srgbClr val="F5F3FF"/>
          </a:solidFill>
          <a:ln xmlns:a="http://schemas.openxmlformats.org/drawingml/2006/main" w="9525">
            <a:solidFill>
              <a:srgbClr val="CBD5E1"/>
            </a:solidFill>
            <a:prstDash val="solid"/>
          </a:ln>
        </p:spPr>
        <p:txBody>
          <a:bodyPr xmlns:a="http://schemas.openxmlformats.org/drawingml/2006/main"/>
          <a:lstStyle xmlns:a="http://schemas.openxmlformats.org/drawingml/2006/main"/>
          <a:p xmlns:a="http://schemas.openxmlformats.org/drawingml/2006/main"/>
        </p:txBody>
      </p:sp>
      <p:sp>
        <p:nvSpPr>
          <p:cNvPr id="21" name="validity-accent-4">
            <a:extLst xmlns:a="http://schemas.openxmlformats.org/drawingml/2006/main">
              <a:ext uri="{FF2B5EF4-FFF2-40B4-BE49-F238E27FC236}">
                <a16:creationId xmlns:a16="http://schemas.microsoft.com/office/drawing/2014/main" id="{ABA66C28-1254-4B81-B2DC-13BFAFD8A597}"/>
              </a:ext>
            </a:extLst>
          </p:cNvPr>
          <p:cNvSpPr>
            <a:spLocks xmlns:a="http://schemas.openxmlformats.org/drawingml/2006/main" noGrp="1"/>
          </p:cNvSpPr>
          <p:nvPr/>
        </p:nvSpPr>
        <p:spPr>
          <a:xfrm xmlns:a="http://schemas.openxmlformats.org/drawingml/2006/main">
            <a:off x="6286500" y="3638550"/>
            <a:ext cx="66675" cy="1657350"/>
          </a:xfrm>
          <a:prstGeom xmlns:a="http://schemas.openxmlformats.org/drawingml/2006/main" prst="rect">
            <a:avLst/>
          </a:prstGeom>
          <a:solidFill xmlns:a="http://schemas.openxmlformats.org/drawingml/2006/main">
            <a:srgbClr val="6D28D9"/>
          </a:solidFill>
          <a:ln xmlns:a="http://schemas.openxmlformats.org/drawingml/2006/main" w="0">
            <a:solidFill>
              <a:srgbClr val="6D28D9"/>
            </a:solidFill>
            <a:prstDash val="solid"/>
          </a:ln>
        </p:spPr>
        <p:txBody>
          <a:bodyPr xmlns:a="http://schemas.openxmlformats.org/drawingml/2006/main"/>
          <a:lstStyle xmlns:a="http://schemas.openxmlformats.org/drawingml/2006/main"/>
          <a:p xmlns:a="http://schemas.openxmlformats.org/drawingml/2006/main"/>
        </p:txBody>
      </p:sp>
      <p:sp>
        <p:nvSpPr>
          <p:cNvPr id="22" name="validity-title-4">
            <a:extLst xmlns:a="http://schemas.openxmlformats.org/drawingml/2006/main">
              <a:ext uri="{FF2B5EF4-FFF2-40B4-BE49-F238E27FC236}">
                <a16:creationId xmlns:a16="http://schemas.microsoft.com/office/drawing/2014/main" id="{4BACD0B9-32F5-4D24-B18F-DA598A2AD96F}"/>
              </a:ext>
            </a:extLst>
          </p:cNvPr>
          <p:cNvSpPr>
            <a:spLocks xmlns:a="http://schemas.openxmlformats.org/drawingml/2006/main" noGrp="1"/>
          </p:cNvSpPr>
          <p:nvPr/>
        </p:nvSpPr>
        <p:spPr>
          <a:xfrm xmlns:a="http://schemas.openxmlformats.org/drawingml/2006/main">
            <a:off x="6515100" y="3800475"/>
            <a:ext cx="466725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buNone/>
              <a:defRPr sz="1275" b="1">
                <a:solidFill>
                  <a:srgbClr val="6D28D9"/>
                </a:solidFill>
                <a:latin typeface="Aptos"/>
                <a:ea typeface="Aptos"/>
                <a:cs typeface="Aptos"/>
              </a:defRPr>
            </a:pPr>
            <a:r>
              <a:rPr sz="1275" b="1">
                <a:solidFill>
                  <a:srgbClr val="6D28D9"/>
                </a:solidFill>
                <a:latin typeface="Aptos"/>
                <a:ea typeface="Aptos"/>
                <a:cs typeface="Aptos"/>
              </a:rPr>
              <a:t>Frontera de evidencia</a:t>
            </a:r>
          </a:p>
        </p:txBody>
      </p:sp>
      <p:sp>
        <p:nvSpPr>
          <p:cNvPr id="23" name="validity-body-4">
            <a:extLst xmlns:a="http://schemas.openxmlformats.org/drawingml/2006/main">
              <a:ext uri="{FF2B5EF4-FFF2-40B4-BE49-F238E27FC236}">
                <a16:creationId xmlns:a16="http://schemas.microsoft.com/office/drawing/2014/main" id="{FFDEA4CA-558B-41EC-B18C-3C99FF35713F}"/>
              </a:ext>
            </a:extLst>
          </p:cNvPr>
          <p:cNvSpPr>
            <a:spLocks xmlns:a="http://schemas.openxmlformats.org/drawingml/2006/main" noGrp="1"/>
          </p:cNvSpPr>
          <p:nvPr/>
        </p:nvSpPr>
        <p:spPr>
          <a:xfrm xmlns:a="http://schemas.openxmlformats.org/drawingml/2006/main">
            <a:off x="6515100" y="4162425"/>
            <a:ext cx="4667250" cy="962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buNone/>
              <a:defRPr sz="1050">
                <a:solidFill>
                  <a:srgbClr val="34485D"/>
                </a:solidFill>
                <a:latin typeface="Aptos"/>
                <a:ea typeface="Aptos"/>
                <a:cs typeface="Aptos"/>
              </a:defRPr>
            </a:pPr>
            <a:r>
              <a:rPr sz="1050">
                <a:solidFill>
                  <a:srgbClr val="34485D"/>
                </a:solidFill>
                <a:latin typeface="Aptos"/>
                <a:ea typeface="Aptos"/>
                <a:cs typeface="Aptos"/>
              </a:rPr>
              <a:t>Manifests + HTCondor history: reconciliación a nivel job; no captura paquetes ni bytes físicos de red.</a:t>
            </a:r>
          </a:p>
          <a:p xmlns:a="http://schemas.openxmlformats.org/drawingml/2006/main">
            <a:pPr>
              <a:buNone/>
              <a:defRPr sz="1050">
                <a:solidFill>
                  <a:srgbClr val="34485D"/>
                </a:solidFill>
                <a:latin typeface="Aptos"/>
                <a:ea typeface="Aptos"/>
                <a:cs typeface="Aptos"/>
              </a:defRPr>
            </a:pPr>
            <a:r>
              <a:rPr sz="1050">
                <a:solidFill>
                  <a:srgbClr val="34485D"/>
                </a:solidFill>
                <a:latin typeface="Aptos"/>
                <a:ea typeface="Aptos"/>
                <a:cs typeface="Aptos"/>
              </a:rPr>
              <a:t>M_req es un lower bound lógico condicionado al placement.</a:t>
            </a:r>
          </a:p>
        </p:txBody>
      </p:sp>
      <p:sp>
        <p:nvSpPr>
          <p:cNvPr id="24" name="validity-conclusion-banner">
            <a:extLst xmlns:a="http://schemas.openxmlformats.org/drawingml/2006/main">
              <a:ext uri="{FF2B5EF4-FFF2-40B4-BE49-F238E27FC236}">
                <a16:creationId xmlns:a16="http://schemas.microsoft.com/office/drawing/2014/main" id="{A01ADD34-D80E-4C55-9096-FE2023D05E20}"/>
              </a:ext>
            </a:extLst>
          </p:cNvPr>
          <p:cNvSpPr>
            <a:spLocks xmlns:a="http://schemas.openxmlformats.org/drawingml/2006/main" noGrp="1"/>
          </p:cNvSpPr>
          <p:nvPr/>
        </p:nvSpPr>
        <p:spPr>
          <a:xfrm xmlns:a="http://schemas.openxmlformats.org/drawingml/2006/main">
            <a:off x="914400" y="5553075"/>
            <a:ext cx="10363200" cy="514350"/>
          </a:xfrm>
          <a:prstGeom xmlns:a="http://schemas.openxmlformats.org/drawingml/2006/main" prst="roundRect">
            <a:avLst>
              <a:gd name="adj" fmla="val 14815"/>
            </a:avLst>
          </a:prstGeom>
          <a:solidFill xmlns:a="http://schemas.openxmlformats.org/drawingml/2006/main">
            <a:srgbClr val="EAF2FF"/>
          </a:solidFill>
          <a:ln xmlns:a="http://schemas.openxmlformats.org/drawingml/2006/main" w="9525">
            <a:solidFill>
              <a:srgbClr val="93C5FD"/>
            </a:solidFill>
            <a:prstDash val="solid"/>
          </a:ln>
        </p:spPr>
        <p:txBody>
          <a:bodyPr xmlns:a="http://schemas.openxmlformats.org/drawingml/2006/main"/>
          <a:lstStyle xmlns:a="http://schemas.openxmlformats.org/drawingml/2006/main"/>
          <a:p xmlns:a="http://schemas.openxmlformats.org/drawingml/2006/main"/>
        </p:txBody>
      </p:sp>
      <p:sp>
        <p:nvSpPr>
          <p:cNvPr id="25" name="validity-conclusion">
            <a:extLst xmlns:a="http://schemas.openxmlformats.org/drawingml/2006/main">
              <a:ext uri="{FF2B5EF4-FFF2-40B4-BE49-F238E27FC236}">
                <a16:creationId xmlns:a16="http://schemas.microsoft.com/office/drawing/2014/main" id="{C8461B8E-396E-4A20-B244-EB99E83BE123}"/>
              </a:ext>
            </a:extLst>
          </p:cNvPr>
          <p:cNvSpPr>
            <a:spLocks xmlns:a="http://schemas.openxmlformats.org/drawingml/2006/main" noGrp="1"/>
          </p:cNvSpPr>
          <p:nvPr/>
        </p:nvSpPr>
        <p:spPr>
          <a:xfrm xmlns:a="http://schemas.openxmlformats.org/drawingml/2006/main">
            <a:off x="1133475" y="5648325"/>
            <a:ext cx="99250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buNone/>
              <a:defRPr sz="1050" b="1">
                <a:solidFill>
                  <a:srgbClr val="142D45"/>
                </a:solidFill>
                <a:latin typeface="Aptos"/>
                <a:ea typeface="Aptos"/>
                <a:cs typeface="Aptos"/>
              </a:defRPr>
            </a:pPr>
            <a:r>
              <a:rPr sz="1050" b="1">
                <a:solidFill>
                  <a:srgbClr val="142D45"/>
                </a:solidFill>
                <a:latin typeface="Aptos"/>
                <a:ea typeface="Aptos"/>
                <a:cs typeface="Aptos"/>
              </a:rPr>
              <a:t>Lectura inferencial: n = 3 es descriptivo; Coverage &lt; 1 solo se probó en software. No se añadió logging en runtime ni se afirma un efecto causal sobre T_gen.</a:t>
            </a:r>
          </a:p>
        </p:txBody>
      </p:sp>
    </p:spTree>
    <p:extLst>
      <p:ext uri="{BB962C8B-B14F-4D97-AF65-F5344CB8AC3E}">
        <p14:creationId xmlns:p14="http://schemas.microsoft.com/office/powerpoint/2010/main" val="1380586964"/>
      </p:ext>
    </p:extLst>
  </p:cSld>
</p:sld>
</file>

<file path=ppt/slides/slide26.xml><?xml version="1.0" encoding="utf-8"?>
<p:sld xmlns:p="http://schemas.openxmlformats.org/presentationml/2006/main">
  <p:cSld>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06B844C2-B32B-4CEE-BF09-F9A9B147C482}"/>
              </a:ext>
            </a:extLst>
          </p:cNvPr>
          <p:cNvSpPr>
            <a:spLocks xmlns:a="http://schemas.openxmlformats.org/drawingml/2006/main" noGrp="1"/>
          </p:cNvSpPr>
          <p:nvPr/>
        </p:nvSpPr>
        <p:spPr>
          <a:xfrm xmlns:a="http://schemas.openxmlformats.org/drawingml/2006/main">
            <a:off x="0" y="0"/>
            <a:ext cx="12191695" cy="109728"/>
          </a:xfrm>
          <a:prstGeom xmlns:a="http://schemas.openxmlformats.org/drawingml/2006/main" prst="rect">
            <a:avLst/>
          </a:prstGeom>
          <a:solidFill xmlns:a="http://schemas.openxmlformats.org/drawingml/2006/main">
            <a:srgbClr val="102A43"/>
          </a:solidFill>
          <a:ln xmlns:a="http://schemas.openxmlformats.org/drawingml/2006/main" w="12700">
            <a:solidFill>
              <a:srgbClr val="102A43"/>
            </a:solidFill>
            <a:prstDash val="solid"/>
          </a:ln>
        </p:spPr>
      </p:sp>
      <p:sp>
        <p:nvSpPr>
          <p:cNvPr id="3" name="Text 1">
            <a:extLst xmlns:a="http://schemas.openxmlformats.org/drawingml/2006/main">
              <a:ext uri="{FF2B5EF4-FFF2-40B4-BE49-F238E27FC236}">
                <a16:creationId xmlns:a16="http://schemas.microsoft.com/office/drawing/2014/main" id="{7943C09C-4061-46D6-B2B6-0F925CCE0CF4}"/>
              </a:ext>
            </a:extLst>
          </p:cNvPr>
          <p:cNvSpPr>
            <a:spLocks xmlns:a="http://schemas.openxmlformats.org/drawingml/2006/main" noGrp="1"/>
          </p:cNvSpPr>
          <p:nvPr/>
        </p:nvSpPr>
        <p:spPr>
          <a:xfrm xmlns:a="http://schemas.openxmlformats.org/drawingml/2006/main">
            <a:off x="658368" y="384048"/>
            <a:ext cx="292608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850" b="1">
                <a:solidFill>
                  <a:srgbClr val="2563EB"/>
                </a:solidFill>
                <a:latin typeface="Aptos"/>
                <a:ea typeface="Aptos"/>
                <a:cs typeface="Aptos"/>
              </a:rPr>
              <a:t>CIERRE</a:t>
            </a:r>
            <a:endParaRPr sz="850"/>
          </a:p>
        </p:txBody>
      </p:sp>
      <p:sp>
        <p:nvSpPr>
          <p:cNvPr id="4" name="Text 2">
            <a:extLst xmlns:a="http://schemas.openxmlformats.org/drawingml/2006/main">
              <a:ext uri="{FF2B5EF4-FFF2-40B4-BE49-F238E27FC236}">
                <a16:creationId xmlns:a16="http://schemas.microsoft.com/office/drawing/2014/main" id="{1E6C82DA-39F8-4F21-966E-C65AF99E814A}"/>
              </a:ext>
            </a:extLst>
          </p:cNvPr>
          <p:cNvSpPr>
            <a:spLocks xmlns:a="http://schemas.openxmlformats.org/drawingml/2006/main" noGrp="1"/>
          </p:cNvSpPr>
          <p:nvPr/>
        </p:nvSpPr>
        <p:spPr>
          <a:xfrm xmlns:a="http://schemas.openxmlformats.org/drawingml/2006/main">
            <a:off x="621792" y="621792"/>
            <a:ext cx="10881360" cy="530352"/>
          </a:xfrm>
          <a:prstGeom xmlns:a="http://schemas.openxmlformats.org/drawingml/2006/main" prst="rect">
            <a:avLst/>
          </a:prstGeom>
          <a:noFill xmlns:a="http://schemas.openxmlformats.org/drawingml/2006/main"/>
        </p:spPr>
        <p:txBody>
          <a:bodyPr xmlns:a="http://schemas.openxmlformats.org/drawingml/2006/main" wrap="square" lIns="254" tIns="254" rIns="254" bIns="254" anchor="ctr">
            <a:normAutofit fontScale="100000"/>
          </a:bodyPr>
          <a:lstStyle xmlns:a="http://schemas.openxmlformats.org/drawingml/2006/main"/>
          <a:p xmlns:a="http://schemas.openxmlformats.org/drawingml/2006/main">
            <a:pPr marL="0" indent="0">
              <a:buNone/>
            </a:pPr>
            <a:r>
              <a:rPr sz="2500" b="1">
                <a:solidFill>
                  <a:srgbClr val="102A43"/>
                </a:solidFill>
                <a:latin typeface="Aptos Display"/>
                <a:ea typeface="Aptos Display"/>
                <a:cs typeface="Aptos Display"/>
              </a:rPr>
              <a:t>25. Mensaje final</a:t>
            </a:r>
            <a:endParaRPr sz="2500"/>
          </a:p>
        </p:txBody>
      </p:sp>
      <p:sp>
        <p:nvSpPr>
          <p:cNvPr id="5" name="Shape 3">
            <a:extLst xmlns:a="http://schemas.openxmlformats.org/drawingml/2006/main">
              <a:ext uri="{FF2B5EF4-FFF2-40B4-BE49-F238E27FC236}">
                <a16:creationId xmlns:a16="http://schemas.microsoft.com/office/drawing/2014/main" id="{A73B77F7-A07C-4D61-8EC7-C16BF2994894}"/>
              </a:ext>
            </a:extLst>
          </p:cNvPr>
          <p:cNvSpPr>
            <a:spLocks xmlns:a="http://schemas.openxmlformats.org/drawingml/2006/main" noGrp="1"/>
          </p:cNvSpPr>
          <p:nvPr/>
        </p:nvSpPr>
        <p:spPr>
          <a:xfrm xmlns:a="http://schemas.openxmlformats.org/drawingml/2006/main">
            <a:off x="868680" y="1508760"/>
            <a:ext cx="73152" cy="914400"/>
          </a:xfrm>
          <a:prstGeom xmlns:a="http://schemas.openxmlformats.org/drawingml/2006/main" prst="rect">
            <a:avLst/>
          </a:prstGeom>
          <a:solidFill xmlns:a="http://schemas.openxmlformats.org/drawingml/2006/main">
            <a:srgbClr val="102A43"/>
          </a:solidFill>
          <a:ln xmlns:a="http://schemas.openxmlformats.org/drawingml/2006/main" w="12700">
            <a:solidFill>
              <a:srgbClr val="102A43"/>
            </a:solidFill>
            <a:prstDash val="solid"/>
          </a:ln>
        </p:spPr>
      </p:sp>
      <p:sp>
        <p:nvSpPr>
          <p:cNvPr id="6" name="Text 4">
            <a:extLst xmlns:a="http://schemas.openxmlformats.org/drawingml/2006/main">
              <a:ext uri="{FF2B5EF4-FFF2-40B4-BE49-F238E27FC236}">
                <a16:creationId xmlns:a16="http://schemas.microsoft.com/office/drawing/2014/main" id="{DBD71239-8BF0-4605-A04E-C0749B11029C}"/>
              </a:ext>
            </a:extLst>
          </p:cNvPr>
          <p:cNvSpPr>
            <a:spLocks xmlns:a="http://schemas.openxmlformats.org/drawingml/2006/main" noGrp="1"/>
          </p:cNvSpPr>
          <p:nvPr/>
        </p:nvSpPr>
        <p:spPr>
          <a:xfrm xmlns:a="http://schemas.openxmlformats.org/drawingml/2006/main">
            <a:off x="1097280" y="1545336"/>
            <a:ext cx="10378440" cy="914400"/>
          </a:xfrm>
          <a:prstGeom xmlns:a="http://schemas.openxmlformats.org/drawingml/2006/main" prst="rect">
            <a:avLst/>
          </a:prstGeom>
          <a:noFill xmlns:a="http://schemas.openxmlformats.org/drawingml/2006/main"/>
        </p:spPr>
        <p:txBody>
          <a:bodyPr xmlns:a="http://schemas.openxmlformats.org/drawingml/2006/main" wrap="square" lIns="254" tIns="254" rIns="254" bIns="254" anchor="ctr">
            <a:normAutofit/>
          </a:bodyPr>
          <a:lstStyle xmlns:a="http://schemas.openxmlformats.org/drawingml/2006/main"/>
          <a:p xmlns:a="http://schemas.openxmlformats.org/drawingml/2006/main">
            <a:pPr marL="0" indent="0">
              <a:buNone/>
            </a:pPr>
            <a:r>
              <a:rPr sz="2000" b="1">
                <a:solidFill>
                  <a:srgbClr val="102A43"/>
                </a:solidFill>
                <a:latin typeface="Aptos Display"/>
                <a:ea typeface="Aptos Display"/>
                <a:cs typeface="Aptos Display"/>
              </a:rPr>
              <a:t>La tesis no intenta mover menos datos por sí sola; intenta medir, con evidencia, cuánto del movimiento científico confirmado era necesario.</a:t>
            </a:r>
            <a:endParaRPr sz="2000"/>
          </a:p>
        </p:txBody>
      </p:sp>
      <p:sp>
        <p:nvSpPr>
          <p:cNvPr id="7" name="Shape 5">
            <a:extLst xmlns:a="http://schemas.openxmlformats.org/drawingml/2006/main">
              <a:ext uri="{FF2B5EF4-FFF2-40B4-BE49-F238E27FC236}">
                <a16:creationId xmlns:a16="http://schemas.microsoft.com/office/drawing/2014/main" id="{1D0E2AC2-4F9F-494C-9CED-742DE5F2E464}"/>
              </a:ext>
            </a:extLst>
          </p:cNvPr>
          <p:cNvSpPr>
            <a:spLocks xmlns:a="http://schemas.openxmlformats.org/drawingml/2006/main" noGrp="1"/>
          </p:cNvSpPr>
          <p:nvPr/>
        </p:nvSpPr>
        <p:spPr>
          <a:xfrm xmlns:a="http://schemas.openxmlformats.org/drawingml/2006/main">
            <a:off x="914400" y="3154680"/>
            <a:ext cx="2011680" cy="457200"/>
          </a:xfrm>
          <a:prstGeom xmlns:a="http://schemas.openxmlformats.org/drawingml/2006/main" prst="roundRect">
            <a:avLst>
              <a:gd name="adj" fmla="val 16000"/>
            </a:avLst>
          </a:prstGeom>
          <a:solidFill xmlns:a="http://schemas.openxmlformats.org/drawingml/2006/main">
            <a:srgbClr val="FEE2E2"/>
          </a:solidFill>
          <a:ln xmlns:a="http://schemas.openxmlformats.org/drawingml/2006/main" w="10160">
            <a:solidFill>
              <a:srgbClr val="B91C1C"/>
            </a:solidFill>
            <a:prstDash val="solid"/>
          </a:ln>
        </p:spPr>
      </p:sp>
      <p:sp>
        <p:nvSpPr>
          <p:cNvPr id="8" name="Text 6">
            <a:extLst xmlns:a="http://schemas.openxmlformats.org/drawingml/2006/main">
              <a:ext uri="{FF2B5EF4-FFF2-40B4-BE49-F238E27FC236}">
                <a16:creationId xmlns:a16="http://schemas.microsoft.com/office/drawing/2014/main" id="{F31722C8-200B-42F2-8CCE-6C27B5D24054}"/>
              </a:ext>
            </a:extLst>
          </p:cNvPr>
          <p:cNvSpPr>
            <a:spLocks xmlns:a="http://schemas.openxmlformats.org/drawingml/2006/main" noGrp="1"/>
          </p:cNvSpPr>
          <p:nvPr/>
        </p:nvSpPr>
        <p:spPr>
          <a:xfrm xmlns:a="http://schemas.openxmlformats.org/drawingml/2006/main">
            <a:off x="1024128" y="3246120"/>
            <a:ext cx="1792224" cy="274320"/>
          </a:xfrm>
          <a:prstGeom xmlns:a="http://schemas.openxmlformats.org/drawingml/2006/main" prst="rect">
            <a:avLst/>
          </a:prstGeom>
          <a:noFill xmlns:a="http://schemas.openxmlformats.org/drawingml/2006/main"/>
        </p:spPr>
        <p:txBody>
          <a:bodyPr xmlns:a="http://schemas.openxmlformats.org/drawingml/2006/main" wrap="square" lIns="381" tIns="381" rIns="381" bIns="381" anchor="ctr">
            <a:normAutofit/>
          </a:bodyPr>
          <a:lstStyle xmlns:a="http://schemas.openxmlformats.org/drawingml/2006/main"/>
          <a:p xmlns:a="http://schemas.openxmlformats.org/drawingml/2006/main">
            <a:pPr marL="0" indent="0" algn="ctr">
              <a:buNone/>
            </a:pPr>
            <a:r>
              <a:rPr sz="1200" b="1">
                <a:solidFill>
                  <a:srgbClr val="B91C1C"/>
                </a:solidFill>
                <a:latin typeface="Aptos"/>
                <a:ea typeface="Aptos"/>
                <a:cs typeface="Aptos"/>
              </a:rPr>
              <a:t>Problema central</a:t>
            </a:r>
            <a:endParaRPr sz="1200"/>
          </a:p>
        </p:txBody>
      </p:sp>
      <p:sp>
        <p:nvSpPr>
          <p:cNvPr id="9" name="Text 7">
            <a:extLst xmlns:a="http://schemas.openxmlformats.org/drawingml/2006/main">
              <a:ext uri="{FF2B5EF4-FFF2-40B4-BE49-F238E27FC236}">
                <a16:creationId xmlns:a16="http://schemas.microsoft.com/office/drawing/2014/main" id="{B03BAA2A-3157-49B6-9D92-8DFDED1F511F}"/>
              </a:ext>
            </a:extLst>
          </p:cNvPr>
          <p:cNvSpPr>
            <a:spLocks xmlns:a="http://schemas.openxmlformats.org/drawingml/2006/main" noGrp="1"/>
          </p:cNvSpPr>
          <p:nvPr/>
        </p:nvSpPr>
        <p:spPr>
          <a:xfrm xmlns:a="http://schemas.openxmlformats.org/drawingml/2006/main">
            <a:off x="3246120" y="3182112"/>
            <a:ext cx="7132320" cy="438912"/>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buNone/>
            </a:pPr>
            <a:r>
              <a:rPr sz="1350">
                <a:solidFill>
                  <a:srgbClr val="334155"/>
                </a:solidFill>
              </a:rPr>
              <a:t>Los bytes observados por el sistema no son automáticamente movimiento científico ni movimiento necesario.</a:t>
            </a:r>
            <a:endParaRPr sz="1350"/>
          </a:p>
        </p:txBody>
      </p:sp>
      <p:sp>
        <p:nvSpPr>
          <p:cNvPr id="10" name="Shape 8">
            <a:extLst xmlns:a="http://schemas.openxmlformats.org/drawingml/2006/main">
              <a:ext uri="{FF2B5EF4-FFF2-40B4-BE49-F238E27FC236}">
                <a16:creationId xmlns:a16="http://schemas.microsoft.com/office/drawing/2014/main" id="{FCF39D47-D7D9-40CA-BDF7-C8B2F99B384E}"/>
              </a:ext>
            </a:extLst>
          </p:cNvPr>
          <p:cNvSpPr>
            <a:spLocks xmlns:a="http://schemas.openxmlformats.org/drawingml/2006/main" noGrp="1"/>
          </p:cNvSpPr>
          <p:nvPr/>
        </p:nvSpPr>
        <p:spPr>
          <a:xfrm xmlns:a="http://schemas.openxmlformats.org/drawingml/2006/main">
            <a:off x="914400" y="4041648"/>
            <a:ext cx="2011680" cy="457200"/>
          </a:xfrm>
          <a:prstGeom xmlns:a="http://schemas.openxmlformats.org/drawingml/2006/main" prst="roundRect">
            <a:avLst>
              <a:gd name="adj" fmla="val 16000"/>
            </a:avLst>
          </a:prstGeom>
          <a:solidFill xmlns:a="http://schemas.openxmlformats.org/drawingml/2006/main">
            <a:srgbClr val="DCFCE7"/>
          </a:solidFill>
          <a:ln xmlns:a="http://schemas.openxmlformats.org/drawingml/2006/main" w="10160">
            <a:solidFill>
              <a:srgbClr val="16A34A"/>
            </a:solidFill>
            <a:prstDash val="solid"/>
          </a:ln>
        </p:spPr>
      </p:sp>
      <p:sp>
        <p:nvSpPr>
          <p:cNvPr id="11" name="Text 9">
            <a:extLst xmlns:a="http://schemas.openxmlformats.org/drawingml/2006/main">
              <a:ext uri="{FF2B5EF4-FFF2-40B4-BE49-F238E27FC236}">
                <a16:creationId xmlns:a16="http://schemas.microsoft.com/office/drawing/2014/main" id="{69F7BAE4-976F-4A54-AFFA-6C5868A1E75C}"/>
              </a:ext>
            </a:extLst>
          </p:cNvPr>
          <p:cNvSpPr>
            <a:spLocks xmlns:a="http://schemas.openxmlformats.org/drawingml/2006/main" noGrp="1"/>
          </p:cNvSpPr>
          <p:nvPr/>
        </p:nvSpPr>
        <p:spPr>
          <a:xfrm xmlns:a="http://schemas.openxmlformats.org/drawingml/2006/main">
            <a:off x="1024128" y="4133088"/>
            <a:ext cx="1792224" cy="274320"/>
          </a:xfrm>
          <a:prstGeom xmlns:a="http://schemas.openxmlformats.org/drawingml/2006/main" prst="rect">
            <a:avLst/>
          </a:prstGeom>
          <a:noFill xmlns:a="http://schemas.openxmlformats.org/drawingml/2006/main"/>
        </p:spPr>
        <p:txBody>
          <a:bodyPr xmlns:a="http://schemas.openxmlformats.org/drawingml/2006/main" wrap="square" lIns="381" tIns="381" rIns="381" bIns="381" anchor="ctr">
            <a:normAutofit/>
          </a:bodyPr>
          <a:lstStyle xmlns:a="http://schemas.openxmlformats.org/drawingml/2006/main"/>
          <a:p xmlns:a="http://schemas.openxmlformats.org/drawingml/2006/main">
            <a:pPr marL="0" indent="0" algn="ctr">
              <a:buNone/>
            </a:pPr>
            <a:r>
              <a:rPr sz="1200" b="1">
                <a:solidFill>
                  <a:srgbClr val="16A34A"/>
                </a:solidFill>
                <a:latin typeface="Aptos"/>
                <a:ea typeface="Aptos"/>
                <a:cs typeface="Aptos"/>
              </a:rPr>
              <a:t>Respuesta</a:t>
            </a:r>
            <a:endParaRPr sz="1200"/>
          </a:p>
        </p:txBody>
      </p:sp>
      <p:sp>
        <p:nvSpPr>
          <p:cNvPr id="12" name="Text 10">
            <a:extLst xmlns:a="http://schemas.openxmlformats.org/drawingml/2006/main">
              <a:ext uri="{FF2B5EF4-FFF2-40B4-BE49-F238E27FC236}">
                <a16:creationId xmlns:a16="http://schemas.microsoft.com/office/drawing/2014/main" id="{AF117743-1BF7-49D6-95F3-4F88002820F7}"/>
              </a:ext>
            </a:extLst>
          </p:cNvPr>
          <p:cNvSpPr>
            <a:spLocks xmlns:a="http://schemas.openxmlformats.org/drawingml/2006/main" noGrp="1"/>
          </p:cNvSpPr>
          <p:nvPr/>
        </p:nvSpPr>
        <p:spPr>
          <a:xfrm xmlns:a="http://schemas.openxmlformats.org/drawingml/2006/main">
            <a:off x="3246120" y="4069080"/>
            <a:ext cx="7132320" cy="438912"/>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buNone/>
            </a:pPr>
            <a:r>
              <a:rPr sz="1350">
                <a:solidFill>
                  <a:srgbClr val="334155"/>
                </a:solidFill>
              </a:rPr>
              <a:t>Una métrica y un Analyzer v1 que separan RequiredMovement, DeclaredMovement, ObservedMovement, Coverage y DME.</a:t>
            </a:r>
            <a:endParaRPr sz="1350"/>
          </a:p>
        </p:txBody>
      </p:sp>
      <p:sp>
        <p:nvSpPr>
          <p:cNvPr id="13" name="Shape 11">
            <a:extLst xmlns:a="http://schemas.openxmlformats.org/drawingml/2006/main">
              <a:ext uri="{FF2B5EF4-FFF2-40B4-BE49-F238E27FC236}">
                <a16:creationId xmlns:a16="http://schemas.microsoft.com/office/drawing/2014/main" id="{DB82FAF2-2999-4CEF-B4B2-C1EE2B55224F}"/>
              </a:ext>
            </a:extLst>
          </p:cNvPr>
          <p:cNvSpPr>
            <a:spLocks xmlns:a="http://schemas.openxmlformats.org/drawingml/2006/main" noGrp="1"/>
          </p:cNvSpPr>
          <p:nvPr/>
        </p:nvSpPr>
        <p:spPr>
          <a:xfrm xmlns:a="http://schemas.openxmlformats.org/drawingml/2006/main">
            <a:off x="914400" y="4928616"/>
            <a:ext cx="2011680" cy="457200"/>
          </a:xfrm>
          <a:prstGeom xmlns:a="http://schemas.openxmlformats.org/drawingml/2006/main" prst="roundRect">
            <a:avLst>
              <a:gd name="adj" fmla="val 16000"/>
            </a:avLst>
          </a:prstGeom>
          <a:solidFill xmlns:a="http://schemas.openxmlformats.org/drawingml/2006/main">
            <a:srgbClr val="DBEAFE"/>
          </a:solidFill>
          <a:ln xmlns:a="http://schemas.openxmlformats.org/drawingml/2006/main" w="10160">
            <a:solidFill>
              <a:srgbClr val="2563EB"/>
            </a:solidFill>
            <a:prstDash val="solid"/>
          </a:ln>
        </p:spPr>
      </p:sp>
      <p:sp>
        <p:nvSpPr>
          <p:cNvPr id="14" name="Text 12">
            <a:extLst xmlns:a="http://schemas.openxmlformats.org/drawingml/2006/main">
              <a:ext uri="{FF2B5EF4-FFF2-40B4-BE49-F238E27FC236}">
                <a16:creationId xmlns:a16="http://schemas.microsoft.com/office/drawing/2014/main" id="{0F7B17BD-06FB-495F-9DAC-2B4D00D7FD16}"/>
              </a:ext>
            </a:extLst>
          </p:cNvPr>
          <p:cNvSpPr>
            <a:spLocks xmlns:a="http://schemas.openxmlformats.org/drawingml/2006/main" noGrp="1"/>
          </p:cNvSpPr>
          <p:nvPr/>
        </p:nvSpPr>
        <p:spPr>
          <a:xfrm xmlns:a="http://schemas.openxmlformats.org/drawingml/2006/main">
            <a:off x="1024128" y="5020056"/>
            <a:ext cx="1792224" cy="274320"/>
          </a:xfrm>
          <a:prstGeom xmlns:a="http://schemas.openxmlformats.org/drawingml/2006/main" prst="rect">
            <a:avLst/>
          </a:prstGeom>
          <a:noFill xmlns:a="http://schemas.openxmlformats.org/drawingml/2006/main"/>
        </p:spPr>
        <p:txBody>
          <a:bodyPr xmlns:a="http://schemas.openxmlformats.org/drawingml/2006/main" wrap="square" lIns="381" tIns="381" rIns="381" bIns="381" anchor="ctr">
            <a:normAutofit/>
          </a:bodyPr>
          <a:lstStyle xmlns:a="http://schemas.openxmlformats.org/drawingml/2006/main"/>
          <a:p xmlns:a="http://schemas.openxmlformats.org/drawingml/2006/main">
            <a:pPr marL="0" indent="0" algn="ctr">
              <a:buNone/>
            </a:pPr>
            <a:r>
              <a:rPr sz="1200" b="1">
                <a:solidFill>
                  <a:srgbClr val="2563EB"/>
                </a:solidFill>
                <a:latin typeface="Aptos"/>
                <a:ea typeface="Aptos"/>
                <a:cs typeface="Aptos"/>
              </a:rPr>
              <a:t>Valor académico</a:t>
            </a:r>
            <a:endParaRPr sz="1200"/>
          </a:p>
        </p:txBody>
      </p:sp>
      <p:sp>
        <p:nvSpPr>
          <p:cNvPr id="15" name="Text 13">
            <a:extLst xmlns:a="http://schemas.openxmlformats.org/drawingml/2006/main">
              <a:ext uri="{FF2B5EF4-FFF2-40B4-BE49-F238E27FC236}">
                <a16:creationId xmlns:a16="http://schemas.microsoft.com/office/drawing/2014/main" id="{77C27EE3-0682-4ED9-8EE1-5AFBA4B23FE9}"/>
              </a:ext>
            </a:extLst>
          </p:cNvPr>
          <p:cNvSpPr>
            <a:spLocks xmlns:a="http://schemas.openxmlformats.org/drawingml/2006/main" noGrp="1"/>
          </p:cNvSpPr>
          <p:nvPr/>
        </p:nvSpPr>
        <p:spPr>
          <a:xfrm xmlns:a="http://schemas.openxmlformats.org/drawingml/2006/main">
            <a:off x="3246120" y="4956048"/>
            <a:ext cx="7132320" cy="438912"/>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buNone/>
            </a:pPr>
            <a:r>
              <a:rPr sz="1350">
                <a:solidFill>
                  <a:srgbClr val="334155"/>
                </a:solidFill>
              </a:rPr>
              <a:t>Convertir una fuente de ambigüedad en un objeto medible, auditable y reproducible.</a:t>
            </a:r>
            <a:endParaRPr sz="1350"/>
          </a:p>
        </p:txBody>
      </p:sp>
      <p:sp>
        <p:nvSpPr>
          <p:cNvPr id="16" name="Shape 14">
            <a:extLst xmlns:a="http://schemas.openxmlformats.org/drawingml/2006/main">
              <a:ext uri="{FF2B5EF4-FFF2-40B4-BE49-F238E27FC236}">
                <a16:creationId xmlns:a16="http://schemas.microsoft.com/office/drawing/2014/main" id="{B9ED9CC8-AC3A-4237-9BA9-0AD41C91CC46}"/>
              </a:ext>
            </a:extLst>
          </p:cNvPr>
          <p:cNvSpPr>
            <a:spLocks xmlns:a="http://schemas.openxmlformats.org/drawingml/2006/main" noGrp="1"/>
          </p:cNvSpPr>
          <p:nvPr/>
        </p:nvSpPr>
        <p:spPr>
          <a:xfrm xmlns:a="http://schemas.openxmlformats.org/drawingml/2006/main">
            <a:off x="502920" y="6446520"/>
            <a:ext cx="11201400" cy="0"/>
          </a:xfrm>
          <a:prstGeom xmlns:a="http://schemas.openxmlformats.org/drawingml/2006/main" prst="line">
            <a:avLst/>
          </a:prstGeom>
          <a:noFill xmlns:a="http://schemas.openxmlformats.org/drawingml/2006/main"/>
          <a:ln xmlns:a="http://schemas.openxmlformats.org/drawingml/2006/main" w="8890">
            <a:solidFill>
              <a:srgbClr val="CBD5E1"/>
            </a:solidFill>
            <a:prstDash val="solid"/>
          </a:ln>
        </p:spPr>
      </p:sp>
      <p:sp>
        <p:nvSpPr>
          <p:cNvPr id="17" name="Text 15">
            <a:extLst xmlns:a="http://schemas.openxmlformats.org/drawingml/2006/main">
              <a:ext uri="{FF2B5EF4-FFF2-40B4-BE49-F238E27FC236}">
                <a16:creationId xmlns:a16="http://schemas.microsoft.com/office/drawing/2014/main" id="{EC5AB786-8B4F-4996-AE07-3ECBA5A75469}"/>
              </a:ext>
            </a:extLst>
          </p:cNvPr>
          <p:cNvSpPr>
            <a:spLocks xmlns:a="http://schemas.openxmlformats.org/drawingml/2006/main" noGrp="1"/>
          </p:cNvSpPr>
          <p:nvPr/>
        </p:nvSpPr>
        <p:spPr>
          <a:xfrm xmlns:a="http://schemas.openxmlformats.org/drawingml/2006/main">
            <a:off x="594360" y="6510528"/>
            <a:ext cx="7223760" cy="2011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750">
                <a:solidFill>
                  <a:srgbClr val="64748B"/>
                </a:solidFill>
                <a:latin typeface="Aptos"/>
                <a:ea typeface="Aptos"/>
                <a:cs typeface="Aptos"/>
              </a:rPr>
              <a:t>Cierre</a:t>
            </a:r>
            <a:endParaRPr sz="750"/>
          </a:p>
        </p:txBody>
      </p:sp>
      <p:sp>
        <p:nvSpPr>
          <p:cNvPr id="18" name="Text 16">
            <a:extLst xmlns:a="http://schemas.openxmlformats.org/drawingml/2006/main">
              <a:ext uri="{FF2B5EF4-FFF2-40B4-BE49-F238E27FC236}">
                <a16:creationId xmlns:a16="http://schemas.microsoft.com/office/drawing/2014/main" id="{4CBB0FEB-AEB2-445A-8925-409EA43C8A74}"/>
              </a:ext>
            </a:extLst>
          </p:cNvPr>
          <p:cNvSpPr>
            <a:spLocks xmlns:a="http://schemas.openxmlformats.org/drawingml/2006/main" noGrp="1"/>
          </p:cNvSpPr>
          <p:nvPr/>
        </p:nvSpPr>
        <p:spPr>
          <a:xfrm xmlns:a="http://schemas.openxmlformats.org/drawingml/2006/main">
            <a:off x="11228832" y="6492240"/>
            <a:ext cx="411480" cy="2286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800">
                <a:solidFill>
                  <a:srgbClr val="64748B"/>
                </a:solidFill>
                <a:latin typeface="Aptos"/>
                <a:ea typeface="Aptos"/>
                <a:cs typeface="Aptos"/>
              </a:rPr>
              <a:t>26</a:t>
            </a:r>
            <a:endParaRPr sz="800"/>
          </a:p>
        </p:txBody>
      </p:sp>
    </p:spTree>
    <p:extLst>
      <p:ext uri="{BB962C8B-B14F-4D97-AF65-F5344CB8AC3E}">
        <p14:creationId xmlns:p14="http://schemas.microsoft.com/office/powerpoint/2010/main" val="853936349"/>
      </p:ext>
    </p:extLst>
  </p:cSld>
</p:sld>
</file>

<file path=ppt/slides/slide27.xml><?xml version="1.0" encoding="utf-8"?>
<p:sld xmlns:p="http://schemas.openxmlformats.org/presentationml/2006/main">
  <p:cSld>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84F9C860-1701-4F14-927A-72D8A74B52DA}"/>
              </a:ext>
            </a:extLst>
          </p:cNvPr>
          <p:cNvSpPr>
            <a:spLocks xmlns:a="http://schemas.openxmlformats.org/drawingml/2006/main" noGrp="1"/>
          </p:cNvSpPr>
          <p:nvPr/>
        </p:nvSpPr>
        <p:spPr>
          <a:xfrm xmlns:a="http://schemas.openxmlformats.org/drawingml/2006/main">
            <a:off x="0" y="0"/>
            <a:ext cx="12191695" cy="109728"/>
          </a:xfrm>
          <a:prstGeom xmlns:a="http://schemas.openxmlformats.org/drawingml/2006/main" prst="rect">
            <a:avLst/>
          </a:prstGeom>
          <a:solidFill xmlns:a="http://schemas.openxmlformats.org/drawingml/2006/main">
            <a:srgbClr val="102A43"/>
          </a:solidFill>
          <a:ln xmlns:a="http://schemas.openxmlformats.org/drawingml/2006/main" w="12700">
            <a:solidFill>
              <a:srgbClr val="102A43"/>
            </a:solidFill>
            <a:prstDash val="solid"/>
          </a:ln>
        </p:spPr>
      </p:sp>
      <p:sp>
        <p:nvSpPr>
          <p:cNvPr id="3" name="Text 1">
            <a:extLst xmlns:a="http://schemas.openxmlformats.org/drawingml/2006/main">
              <a:ext uri="{FF2B5EF4-FFF2-40B4-BE49-F238E27FC236}">
                <a16:creationId xmlns:a16="http://schemas.microsoft.com/office/drawing/2014/main" id="{973C7353-7410-49A8-9AD9-B580ADCEFC7F}"/>
              </a:ext>
            </a:extLst>
          </p:cNvPr>
          <p:cNvSpPr>
            <a:spLocks xmlns:a="http://schemas.openxmlformats.org/drawingml/2006/main" noGrp="1"/>
          </p:cNvSpPr>
          <p:nvPr/>
        </p:nvSpPr>
        <p:spPr>
          <a:xfrm xmlns:a="http://schemas.openxmlformats.org/drawingml/2006/main">
            <a:off x="658368" y="384048"/>
            <a:ext cx="292608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850" b="1">
                <a:solidFill>
                  <a:srgbClr val="2563EB"/>
                </a:solidFill>
                <a:latin typeface="Aptos"/>
                <a:ea typeface="Aptos"/>
                <a:cs typeface="Aptos"/>
              </a:rPr>
              <a:t>REFERENCIAS</a:t>
            </a:r>
            <a:endParaRPr sz="850"/>
          </a:p>
        </p:txBody>
      </p:sp>
      <p:sp>
        <p:nvSpPr>
          <p:cNvPr id="4" name="Text 2">
            <a:extLst xmlns:a="http://schemas.openxmlformats.org/drawingml/2006/main">
              <a:ext uri="{FF2B5EF4-FFF2-40B4-BE49-F238E27FC236}">
                <a16:creationId xmlns:a16="http://schemas.microsoft.com/office/drawing/2014/main" id="{BB9744E9-4C39-4D3F-9202-3E1344274412}"/>
              </a:ext>
            </a:extLst>
          </p:cNvPr>
          <p:cNvSpPr>
            <a:spLocks xmlns:a="http://schemas.openxmlformats.org/drawingml/2006/main" noGrp="1"/>
          </p:cNvSpPr>
          <p:nvPr/>
        </p:nvSpPr>
        <p:spPr>
          <a:xfrm xmlns:a="http://schemas.openxmlformats.org/drawingml/2006/main">
            <a:off x="621792" y="621792"/>
            <a:ext cx="10881360" cy="530352"/>
          </a:xfrm>
          <a:prstGeom xmlns:a="http://schemas.openxmlformats.org/drawingml/2006/main" prst="rect">
            <a:avLst/>
          </a:prstGeom>
          <a:noFill xmlns:a="http://schemas.openxmlformats.org/drawingml/2006/main"/>
        </p:spPr>
        <p:txBody>
          <a:bodyPr xmlns:a="http://schemas.openxmlformats.org/drawingml/2006/main" wrap="square" lIns="254" tIns="254" rIns="254" bIns="254" anchor="ctr">
            <a:normAutofit fontScale="100000"/>
          </a:bodyPr>
          <a:lstStyle xmlns:a="http://schemas.openxmlformats.org/drawingml/2006/main"/>
          <a:p xmlns:a="http://schemas.openxmlformats.org/drawingml/2006/main">
            <a:pPr marL="0" indent="0">
              <a:buNone/>
            </a:pPr>
            <a:r>
              <a:rPr sz="2500" b="1">
                <a:solidFill>
                  <a:srgbClr val="102A43"/>
                </a:solidFill>
                <a:latin typeface="Aptos Display"/>
                <a:ea typeface="Aptos Display"/>
                <a:cs typeface="Aptos Display"/>
              </a:rPr>
              <a:t>Referencias académicas para los modelos y el alcance de Analyzer v1</a:t>
            </a:r>
            <a:endParaRPr sz="2500"/>
          </a:p>
        </p:txBody>
      </p:sp>
      <p:sp>
        <p:nvSpPr>
          <p:cNvPr id="12" name="Shape 10">
            <a:extLst xmlns:a="http://schemas.openxmlformats.org/drawingml/2006/main">
              <a:ext uri="{FF2B5EF4-FFF2-40B4-BE49-F238E27FC236}">
                <a16:creationId xmlns:a16="http://schemas.microsoft.com/office/drawing/2014/main" id="{5CC3C94C-9B26-45D5-ABE6-5B7800B94E99}"/>
              </a:ext>
            </a:extLst>
          </p:cNvPr>
          <p:cNvSpPr>
            <a:spLocks xmlns:a="http://schemas.openxmlformats.org/drawingml/2006/main" noGrp="1"/>
          </p:cNvSpPr>
          <p:nvPr/>
        </p:nvSpPr>
        <p:spPr>
          <a:xfrm xmlns:a="http://schemas.openxmlformats.org/drawingml/2006/main">
            <a:off x="502920" y="6446520"/>
            <a:ext cx="11201400" cy="0"/>
          </a:xfrm>
          <a:prstGeom xmlns:a="http://schemas.openxmlformats.org/drawingml/2006/main" prst="line">
            <a:avLst/>
          </a:prstGeom>
          <a:noFill xmlns:a="http://schemas.openxmlformats.org/drawingml/2006/main"/>
          <a:ln xmlns:a="http://schemas.openxmlformats.org/drawingml/2006/main" w="8890">
            <a:solidFill>
              <a:srgbClr val="CBD5E1"/>
            </a:solidFill>
            <a:prstDash val="solid"/>
          </a:ln>
        </p:spPr>
      </p:sp>
      <p:sp>
        <p:nvSpPr>
          <p:cNvPr id="13" name="Text 11">
            <a:extLst xmlns:a="http://schemas.openxmlformats.org/drawingml/2006/main">
              <a:ext uri="{FF2B5EF4-FFF2-40B4-BE49-F238E27FC236}">
                <a16:creationId xmlns:a16="http://schemas.microsoft.com/office/drawing/2014/main" id="{4B69B7B8-280A-4510-9030-2F35F013F039}"/>
              </a:ext>
            </a:extLst>
          </p:cNvPr>
          <p:cNvSpPr>
            <a:spLocks xmlns:a="http://schemas.openxmlformats.org/drawingml/2006/main" noGrp="1"/>
          </p:cNvSpPr>
          <p:nvPr/>
        </p:nvSpPr>
        <p:spPr>
          <a:xfrm xmlns:a="http://schemas.openxmlformats.org/drawingml/2006/main">
            <a:off x="594360" y="6510528"/>
            <a:ext cx="7223760" cy="2011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750">
                <a:solidFill>
                  <a:srgbClr val="64748B"/>
                </a:solidFill>
                <a:latin typeface="Aptos"/>
                <a:ea typeface="Aptos"/>
                <a:cs typeface="Aptos"/>
              </a:rPr>
              <a:t>Referencias</a:t>
            </a:r>
            <a:endParaRPr sz="750"/>
          </a:p>
        </p:txBody>
      </p:sp>
      <p:sp>
        <p:nvSpPr>
          <p:cNvPr id="14" name="Text 12">
            <a:extLst xmlns:a="http://schemas.openxmlformats.org/drawingml/2006/main">
              <a:ext uri="{FF2B5EF4-FFF2-40B4-BE49-F238E27FC236}">
                <a16:creationId xmlns:a16="http://schemas.microsoft.com/office/drawing/2014/main" id="{2485F617-AFBF-41B1-A724-301EFBB133D0}"/>
              </a:ext>
            </a:extLst>
          </p:cNvPr>
          <p:cNvSpPr>
            <a:spLocks xmlns:a="http://schemas.openxmlformats.org/drawingml/2006/main" noGrp="1"/>
          </p:cNvSpPr>
          <p:nvPr/>
        </p:nvSpPr>
        <p:spPr>
          <a:xfrm xmlns:a="http://schemas.openxmlformats.org/drawingml/2006/main">
            <a:off x="11228832" y="6492240"/>
            <a:ext cx="411480" cy="2286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800">
                <a:solidFill>
                  <a:srgbClr val="64748B"/>
                </a:solidFill>
                <a:latin typeface="Aptos"/>
                <a:ea typeface="Aptos"/>
                <a:cs typeface="Aptos"/>
              </a:rPr>
              <a:t>27</a:t>
            </a:r>
            <a:endParaRPr sz="800"/>
          </a:p>
        </p:txBody>
      </p:sp>
      <p:sp>
        <p:nvSpPr>
          <p:cNvPr id="15" name="reference-1">
            <a:extLst xmlns:a="http://schemas.openxmlformats.org/drawingml/2006/main">
              <a:ext uri="{FF2B5EF4-FFF2-40B4-BE49-F238E27FC236}">
                <a16:creationId xmlns:a16="http://schemas.microsoft.com/office/drawing/2014/main" id="{FC718F1C-1147-4694-9E8E-F8AA536C72B4}"/>
              </a:ext>
            </a:extLst>
          </p:cNvPr>
          <p:cNvSpPr>
            <a:spLocks xmlns:a="http://schemas.openxmlformats.org/drawingml/2006/main" noGrp="1"/>
          </p:cNvSpPr>
          <p:nvPr/>
        </p:nvSpPr>
        <p:spPr>
          <a:xfrm xmlns:a="http://schemas.openxmlformats.org/drawingml/2006/main">
            <a:off x="781050" y="1352550"/>
            <a:ext cx="10572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19050" rIns="57150" bIns="19050" anchor="ctr">
            <a:normAutofit fontScale="100000"/>
          </a:bodyPr>
          <a:lstStyle xmlns:a="http://schemas.openxmlformats.org/drawingml/2006/main"/>
          <a:p xmlns:a="http://schemas.openxmlformats.org/drawingml/2006/main">
            <a:pPr algn="l">
              <a:buNone/>
              <a:defRPr sz="1050" b="0">
                <a:solidFill>
                  <a:srgbClr val="34485D"/>
                </a:solidFill>
                <a:latin typeface="Aptos"/>
                <a:ea typeface="Aptos"/>
                <a:cs typeface="Aptos"/>
              </a:defRPr>
            </a:pPr>
            <a:r>
              <a:rPr sz="953" b="0">
                <a:solidFill>
                  <a:srgbClr val="34485D"/>
                </a:solidFill>
                <a:latin typeface="Aptos"/>
                <a:ea typeface="Aptos"/>
                <a:cs typeface="Aptos"/>
              </a:rPr>
              <a:t>Deelman et al. (2015). Pegasus WMS. Future Generation Computer Systems 46:17–35. doi:10.1016/j.future.2014.10.008.</a:t>
            </a:r>
          </a:p>
        </p:txBody>
      </p:sp>
      <p:sp>
        <p:nvSpPr>
          <p:cNvPr id="16" name="reference-2">
            <a:extLst xmlns:a="http://schemas.openxmlformats.org/drawingml/2006/main">
              <a:ext uri="{FF2B5EF4-FFF2-40B4-BE49-F238E27FC236}">
                <a16:creationId xmlns:a16="http://schemas.microsoft.com/office/drawing/2014/main" id="{2060B5DF-6726-4E23-871C-CE5273677418}"/>
              </a:ext>
            </a:extLst>
          </p:cNvPr>
          <p:cNvSpPr>
            <a:spLocks xmlns:a="http://schemas.openxmlformats.org/drawingml/2006/main" noGrp="1"/>
          </p:cNvSpPr>
          <p:nvPr/>
        </p:nvSpPr>
        <p:spPr>
          <a:xfrm xmlns:a="http://schemas.openxmlformats.org/drawingml/2006/main">
            <a:off x="781050" y="1647825"/>
            <a:ext cx="10572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19050" rIns="57150" bIns="19050" anchor="ctr">
            <a:normAutofit fontScale="100000"/>
          </a:bodyPr>
          <a:lstStyle xmlns:a="http://schemas.openxmlformats.org/drawingml/2006/main"/>
          <a:p xmlns:a="http://schemas.openxmlformats.org/drawingml/2006/main">
            <a:pPr algn="l">
              <a:buNone/>
              <a:defRPr sz="1050" b="0">
                <a:solidFill>
                  <a:srgbClr val="34485D"/>
                </a:solidFill>
                <a:latin typeface="Aptos"/>
                <a:ea typeface="Aptos"/>
                <a:cs typeface="Aptos"/>
              </a:defRPr>
            </a:pPr>
            <a:r>
              <a:rPr sz="953" b="0">
                <a:solidFill>
                  <a:srgbClr val="34485D"/>
                </a:solidFill>
                <a:latin typeface="Aptos"/>
                <a:ea typeface="Aptos"/>
                <a:cs typeface="Aptos"/>
              </a:rPr>
              <a:t>Pietri &amp; Sakellariou (2018). Scheduling data-intensive workflows with reduced communication. SSDBM. doi:10.1145/3221269.3221298.</a:t>
            </a:r>
          </a:p>
        </p:txBody>
      </p:sp>
      <p:sp>
        <p:nvSpPr>
          <p:cNvPr id="17" name="reference-3">
            <a:extLst xmlns:a="http://schemas.openxmlformats.org/drawingml/2006/main">
              <a:ext uri="{FF2B5EF4-FFF2-40B4-BE49-F238E27FC236}">
                <a16:creationId xmlns:a16="http://schemas.microsoft.com/office/drawing/2014/main" id="{A480B6EA-3DEC-4114-9038-A48751706949}"/>
              </a:ext>
            </a:extLst>
          </p:cNvPr>
          <p:cNvSpPr>
            <a:spLocks xmlns:a="http://schemas.openxmlformats.org/drawingml/2006/main" noGrp="1"/>
          </p:cNvSpPr>
          <p:nvPr/>
        </p:nvSpPr>
        <p:spPr>
          <a:xfrm xmlns:a="http://schemas.openxmlformats.org/drawingml/2006/main">
            <a:off x="781050" y="1943100"/>
            <a:ext cx="10572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19050" rIns="57150" bIns="19050" anchor="ctr">
            <a:normAutofit fontScale="100000"/>
          </a:bodyPr>
          <a:lstStyle xmlns:a="http://schemas.openxmlformats.org/drawingml/2006/main"/>
          <a:p xmlns:a="http://schemas.openxmlformats.org/drawingml/2006/main">
            <a:pPr algn="l">
              <a:buNone/>
              <a:defRPr sz="1050" b="0">
                <a:solidFill>
                  <a:srgbClr val="34485D"/>
                </a:solidFill>
                <a:latin typeface="Aptos"/>
                <a:ea typeface="Aptos"/>
                <a:cs typeface="Aptos"/>
              </a:defRPr>
            </a:pPr>
            <a:r>
              <a:rPr sz="953" b="0">
                <a:solidFill>
                  <a:srgbClr val="34485D"/>
                </a:solidFill>
                <a:latin typeface="Aptos"/>
                <a:ea typeface="Aptos"/>
                <a:cs typeface="Aptos"/>
              </a:rPr>
              <a:t>Do et al. (2021). Lightweight evaluation of in situ workflow efficiency. J. Computational Science 48:101259. doi:10.1016/j.jocs.2020.101259.</a:t>
            </a:r>
          </a:p>
        </p:txBody>
      </p:sp>
      <p:sp>
        <p:nvSpPr>
          <p:cNvPr id="18" name="reference-4">
            <a:extLst xmlns:a="http://schemas.openxmlformats.org/drawingml/2006/main">
              <a:ext uri="{FF2B5EF4-FFF2-40B4-BE49-F238E27FC236}">
                <a16:creationId xmlns:a16="http://schemas.microsoft.com/office/drawing/2014/main" id="{AF3D04A9-B304-45E5-9ACF-67A6E3C1FC32}"/>
              </a:ext>
            </a:extLst>
          </p:cNvPr>
          <p:cNvSpPr>
            <a:spLocks xmlns:a="http://schemas.openxmlformats.org/drawingml/2006/main" noGrp="1"/>
          </p:cNvSpPr>
          <p:nvPr/>
        </p:nvSpPr>
        <p:spPr>
          <a:xfrm xmlns:a="http://schemas.openxmlformats.org/drawingml/2006/main">
            <a:off x="781050" y="2238375"/>
            <a:ext cx="10572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19050" rIns="57150" bIns="19050" anchor="ctr">
            <a:normAutofit fontScale="100000"/>
          </a:bodyPr>
          <a:lstStyle xmlns:a="http://schemas.openxmlformats.org/drawingml/2006/main"/>
          <a:p xmlns:a="http://schemas.openxmlformats.org/drawingml/2006/main">
            <a:pPr algn="l">
              <a:buNone/>
              <a:defRPr sz="1050" b="0">
                <a:solidFill>
                  <a:srgbClr val="34485D"/>
                </a:solidFill>
                <a:latin typeface="Aptos"/>
                <a:ea typeface="Aptos"/>
                <a:cs typeface="Aptos"/>
              </a:defRPr>
            </a:pPr>
            <a:r>
              <a:rPr sz="953" b="0">
                <a:solidFill>
                  <a:srgbClr val="34485D"/>
                </a:solidFill>
                <a:latin typeface="Aptos"/>
                <a:ea typeface="Aptos"/>
                <a:cs typeface="Aptos"/>
              </a:rPr>
              <a:t>Lee et al. (2023). Data flow lifecycles for workflow coordination. SC ’23. doi:10.1145/3581784.3607104.</a:t>
            </a:r>
          </a:p>
        </p:txBody>
      </p:sp>
      <p:sp>
        <p:nvSpPr>
          <p:cNvPr id="19" name="reference-5">
            <a:extLst xmlns:a="http://schemas.openxmlformats.org/drawingml/2006/main">
              <a:ext uri="{FF2B5EF4-FFF2-40B4-BE49-F238E27FC236}">
                <a16:creationId xmlns:a16="http://schemas.microsoft.com/office/drawing/2014/main" id="{4D54EEFE-5321-4981-90D1-EC62C2554960}"/>
              </a:ext>
            </a:extLst>
          </p:cNvPr>
          <p:cNvSpPr>
            <a:spLocks xmlns:a="http://schemas.openxmlformats.org/drawingml/2006/main" noGrp="1"/>
          </p:cNvSpPr>
          <p:nvPr/>
        </p:nvSpPr>
        <p:spPr>
          <a:xfrm xmlns:a="http://schemas.openxmlformats.org/drawingml/2006/main">
            <a:off x="781050" y="2533650"/>
            <a:ext cx="10572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19050" rIns="57150" bIns="19050" anchor="ctr">
            <a:normAutofit fontScale="100000"/>
          </a:bodyPr>
          <a:lstStyle xmlns:a="http://schemas.openxmlformats.org/drawingml/2006/main"/>
          <a:p xmlns:a="http://schemas.openxmlformats.org/drawingml/2006/main">
            <a:pPr algn="l">
              <a:buNone/>
              <a:defRPr sz="1050" b="0">
                <a:solidFill>
                  <a:srgbClr val="34485D"/>
                </a:solidFill>
                <a:latin typeface="Aptos"/>
                <a:ea typeface="Aptos"/>
                <a:cs typeface="Aptos"/>
              </a:defRPr>
            </a:pPr>
            <a:r>
              <a:rPr sz="953" b="0">
                <a:solidFill>
                  <a:srgbClr val="34485D"/>
                </a:solidFill>
                <a:latin typeface="Aptos"/>
                <a:ea typeface="Aptos"/>
                <a:cs typeface="Aptos"/>
              </a:rPr>
              <a:t>Tang et al. (2024). DaYu: distributed scientific workflow dataflow semantics. IEEE CLUSTER. doi:10.1109/CLUSTER59578.2024.00038.</a:t>
            </a:r>
          </a:p>
        </p:txBody>
      </p:sp>
      <p:sp>
        <p:nvSpPr>
          <p:cNvPr id="20" name="reference-6">
            <a:extLst xmlns:a="http://schemas.openxmlformats.org/drawingml/2006/main">
              <a:ext uri="{FF2B5EF4-FFF2-40B4-BE49-F238E27FC236}">
                <a16:creationId xmlns:a16="http://schemas.microsoft.com/office/drawing/2014/main" id="{18F78B56-9FEB-43C8-A07F-8AF35823E060}"/>
              </a:ext>
            </a:extLst>
          </p:cNvPr>
          <p:cNvSpPr>
            <a:spLocks xmlns:a="http://schemas.openxmlformats.org/drawingml/2006/main" noGrp="1"/>
          </p:cNvSpPr>
          <p:nvPr/>
        </p:nvSpPr>
        <p:spPr>
          <a:xfrm xmlns:a="http://schemas.openxmlformats.org/drawingml/2006/main">
            <a:off x="781050" y="2828925"/>
            <a:ext cx="10572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19050" rIns="57150" bIns="19050" anchor="ctr">
            <a:normAutofit fontScale="100000"/>
          </a:bodyPr>
          <a:lstStyle xmlns:a="http://schemas.openxmlformats.org/drawingml/2006/main"/>
          <a:p xmlns:a="http://schemas.openxmlformats.org/drawingml/2006/main">
            <a:pPr algn="l">
              <a:buNone/>
              <a:defRPr sz="1050" b="0">
                <a:solidFill>
                  <a:srgbClr val="34485D"/>
                </a:solidFill>
                <a:latin typeface="Aptos"/>
                <a:ea typeface="Aptos"/>
                <a:cs typeface="Aptos"/>
              </a:defRPr>
            </a:pPr>
            <a:r>
              <a:rPr sz="953" b="0">
                <a:solidFill>
                  <a:srgbClr val="34485D"/>
                </a:solidFill>
                <a:latin typeface="Aptos"/>
                <a:ea typeface="Aptos"/>
                <a:cs typeface="Aptos"/>
              </a:rPr>
              <a:t>Devarajan et al. (2024). DFTracer: analysis-friendly data flow tracing. SC ’24. doi:10.1109/SC41406.2024.00023.</a:t>
            </a:r>
          </a:p>
        </p:txBody>
      </p:sp>
      <p:sp>
        <p:nvSpPr>
          <p:cNvPr id="21" name="reference-7">
            <a:extLst xmlns:a="http://schemas.openxmlformats.org/drawingml/2006/main">
              <a:ext uri="{FF2B5EF4-FFF2-40B4-BE49-F238E27FC236}">
                <a16:creationId xmlns:a16="http://schemas.microsoft.com/office/drawing/2014/main" id="{96BE0FD8-2C0E-472F-9069-6E94F8B84520}"/>
              </a:ext>
            </a:extLst>
          </p:cNvPr>
          <p:cNvSpPr>
            <a:spLocks xmlns:a="http://schemas.openxmlformats.org/drawingml/2006/main" noGrp="1"/>
          </p:cNvSpPr>
          <p:nvPr/>
        </p:nvSpPr>
        <p:spPr>
          <a:xfrm xmlns:a="http://schemas.openxmlformats.org/drawingml/2006/main">
            <a:off x="781050" y="3124200"/>
            <a:ext cx="10572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19050" rIns="57150" bIns="19050" anchor="ctr">
            <a:normAutofit fontScale="100000"/>
          </a:bodyPr>
          <a:lstStyle xmlns:a="http://schemas.openxmlformats.org/drawingml/2006/main"/>
          <a:p xmlns:a="http://schemas.openxmlformats.org/drawingml/2006/main">
            <a:pPr algn="l">
              <a:buNone/>
              <a:defRPr sz="1050" b="0">
                <a:solidFill>
                  <a:srgbClr val="34485D"/>
                </a:solidFill>
                <a:latin typeface="Aptos"/>
                <a:ea typeface="Aptos"/>
                <a:cs typeface="Aptos"/>
              </a:defRPr>
            </a:pPr>
            <a:r>
              <a:rPr sz="953" b="0">
                <a:solidFill>
                  <a:srgbClr val="34485D"/>
                </a:solidFill>
                <a:latin typeface="Aptos"/>
                <a:ea typeface="Aptos"/>
                <a:cs typeface="Aptos"/>
              </a:rPr>
              <a:t>Vivas Meza (2026). Scheduling strategies for data movement in scientific workflows. Doctoral dissertation, Universidad de los Andes.</a:t>
            </a:r>
          </a:p>
        </p:txBody>
      </p:sp>
      <p:sp>
        <p:nvSpPr>
          <p:cNvPr id="22" name="reference-8">
            <a:extLst xmlns:a="http://schemas.openxmlformats.org/drawingml/2006/main">
              <a:ext uri="{FF2B5EF4-FFF2-40B4-BE49-F238E27FC236}">
                <a16:creationId xmlns:a16="http://schemas.microsoft.com/office/drawing/2014/main" id="{539EE97A-B83E-41B5-BDDA-BF2708F8961A}"/>
              </a:ext>
            </a:extLst>
          </p:cNvPr>
          <p:cNvSpPr>
            <a:spLocks xmlns:a="http://schemas.openxmlformats.org/drawingml/2006/main" noGrp="1"/>
          </p:cNvSpPr>
          <p:nvPr/>
        </p:nvSpPr>
        <p:spPr>
          <a:xfrm xmlns:a="http://schemas.openxmlformats.org/drawingml/2006/main">
            <a:off x="781050" y="3419475"/>
            <a:ext cx="10572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19050" rIns="57150" bIns="19050" anchor="ctr">
            <a:normAutofit fontScale="100000"/>
          </a:bodyPr>
          <a:lstStyle xmlns:a="http://schemas.openxmlformats.org/drawingml/2006/main"/>
          <a:p xmlns:a="http://schemas.openxmlformats.org/drawingml/2006/main">
            <a:pPr algn="l">
              <a:buNone/>
              <a:defRPr sz="1050" b="0">
                <a:solidFill>
                  <a:srgbClr val="34485D"/>
                </a:solidFill>
                <a:latin typeface="Aptos"/>
                <a:ea typeface="Aptos"/>
                <a:cs typeface="Aptos"/>
              </a:defRPr>
            </a:pPr>
            <a:r>
              <a:rPr sz="953" b="0">
                <a:solidFill>
                  <a:srgbClr val="34485D"/>
                </a:solidFill>
                <a:latin typeface="Aptos"/>
                <a:ea typeface="Aptos"/>
                <a:cs typeface="Aptos"/>
              </a:rPr>
              <a:t>Bharathi et al. (2008). Characterization of scientific workflows. WORKS ’08. doi:10.1109/WORKS.2008.4723958.</a:t>
            </a:r>
          </a:p>
        </p:txBody>
      </p:sp>
      <p:sp>
        <p:nvSpPr>
          <p:cNvPr id="23" name="reference-scope-note">
            <a:extLst xmlns:a="http://schemas.openxmlformats.org/drawingml/2006/main">
              <a:ext uri="{FF2B5EF4-FFF2-40B4-BE49-F238E27FC236}">
                <a16:creationId xmlns:a16="http://schemas.microsoft.com/office/drawing/2014/main" id="{A97AA759-6418-4329-9E0E-EABA5FEEA635}"/>
              </a:ext>
            </a:extLst>
          </p:cNvPr>
          <p:cNvSpPr>
            <a:spLocks xmlns:a="http://schemas.openxmlformats.org/drawingml/2006/main" noGrp="1"/>
          </p:cNvSpPr>
          <p:nvPr/>
        </p:nvSpPr>
        <p:spPr>
          <a:xfrm xmlns:a="http://schemas.openxmlformats.org/drawingml/2006/main">
            <a:off x="904875" y="5591175"/>
            <a:ext cx="10287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buNone/>
              <a:defRPr sz="1125" b="1">
                <a:solidFill>
                  <a:srgbClr val="142D45"/>
                </a:solidFill>
                <a:latin typeface="Aptos"/>
                <a:ea typeface="Aptos"/>
                <a:cs typeface="Aptos"/>
              </a:defRPr>
            </a:pPr>
            <a:r>
              <a:rPr sz="938" b="1">
                <a:solidFill>
                  <a:srgbClr val="142D45"/>
                </a:solidFill>
                <a:latin typeface="Aptos"/>
                <a:ea typeface="Aptos"/>
                <a:cs typeface="Aptos"/>
              </a:rPr>
              <a:t>La literatura y documentación sustentan constructos y alcance; no sustituyen evidencia empírica del Analyzer.</a:t>
            </a:r>
          </a:p>
        </p:txBody>
      </p:sp>
      <p:sp>
        <p:nvSpPr>
          <p:cNvPr id="24" name="reference-9">
            <a:extLst xmlns:a="http://schemas.openxmlformats.org/drawingml/2006/main">
              <a:ext uri="{FF2B5EF4-FFF2-40B4-BE49-F238E27FC236}">
                <a16:creationId xmlns:a16="http://schemas.microsoft.com/office/drawing/2014/main" id="{CE375EE6-1287-4273-A84A-891C0BD629E4}"/>
              </a:ext>
            </a:extLst>
          </p:cNvPr>
          <p:cNvSpPr>
            <a:spLocks xmlns:a="http://schemas.openxmlformats.org/drawingml/2006/main" noGrp="1"/>
          </p:cNvSpPr>
          <p:nvPr/>
        </p:nvSpPr>
        <p:spPr>
          <a:xfrm xmlns:a="http://schemas.openxmlformats.org/drawingml/2006/main">
            <a:off x="781050" y="3714750"/>
            <a:ext cx="10572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buNone/>
              <a:defRPr sz="953">
                <a:solidFill>
                  <a:srgbClr val="34485D"/>
                </a:solidFill>
                <a:latin typeface="Aptos"/>
                <a:ea typeface="Aptos"/>
                <a:cs typeface="Aptos"/>
              </a:defRPr>
            </a:pPr>
            <a:r>
              <a:rPr sz="953">
                <a:solidFill>
                  <a:srgbClr val="34485D"/>
                </a:solidFill>
                <a:latin typeface="Aptos"/>
                <a:ea typeface="Aptos"/>
                <a:cs typeface="Aptos"/>
              </a:rPr>
              <a:t>Juve et al. (2013). Characterizing and profiling scientific workflows. FGCS 29:682–692. doi:10.1016/j.future.2012.08.015.</a:t>
            </a:r>
          </a:p>
        </p:txBody>
      </p:sp>
      <p:sp>
        <p:nvSpPr>
          <p:cNvPr id="25" name="reference-10">
            <a:extLst xmlns:a="http://schemas.openxmlformats.org/drawingml/2006/main">
              <a:ext uri="{FF2B5EF4-FFF2-40B4-BE49-F238E27FC236}">
                <a16:creationId xmlns:a16="http://schemas.microsoft.com/office/drawing/2014/main" id="{D464D6DE-C276-4EB8-B174-522200E28486}"/>
              </a:ext>
            </a:extLst>
          </p:cNvPr>
          <p:cNvSpPr>
            <a:spLocks xmlns:a="http://schemas.openxmlformats.org/drawingml/2006/main" noGrp="1"/>
          </p:cNvSpPr>
          <p:nvPr/>
        </p:nvSpPr>
        <p:spPr>
          <a:xfrm xmlns:a="http://schemas.openxmlformats.org/drawingml/2006/main">
            <a:off x="781050" y="4010025"/>
            <a:ext cx="10572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buNone/>
              <a:defRPr sz="953">
                <a:solidFill>
                  <a:srgbClr val="34485D"/>
                </a:solidFill>
                <a:latin typeface="Aptos"/>
                <a:ea typeface="Aptos"/>
                <a:cs typeface="Aptos"/>
              </a:defRPr>
            </a:pPr>
            <a:r>
              <a:rPr sz="953">
                <a:solidFill>
                  <a:srgbClr val="34485D"/>
                </a:solidFill>
                <a:latin typeface="Aptos"/>
                <a:ea typeface="Aptos"/>
                <a:cs typeface="Aptos"/>
              </a:rPr>
              <a:t>Georges, Buytaert &amp; Eeckhout (2007). Statistically rigorous Java performance evaluation. OOPSLA. doi:10.1145/1297027.1297033.</a:t>
            </a:r>
          </a:p>
        </p:txBody>
      </p:sp>
      <p:sp>
        <p:nvSpPr>
          <p:cNvPr id="26" name="reference-11">
            <a:extLst xmlns:a="http://schemas.openxmlformats.org/drawingml/2006/main">
              <a:ext uri="{FF2B5EF4-FFF2-40B4-BE49-F238E27FC236}">
                <a16:creationId xmlns:a16="http://schemas.microsoft.com/office/drawing/2014/main" id="{5370D20F-EBCE-4DFA-BC35-24146419835B}"/>
              </a:ext>
            </a:extLst>
          </p:cNvPr>
          <p:cNvSpPr>
            <a:spLocks xmlns:a="http://schemas.openxmlformats.org/drawingml/2006/main" noGrp="1"/>
          </p:cNvSpPr>
          <p:nvPr/>
        </p:nvSpPr>
        <p:spPr>
          <a:xfrm xmlns:a="http://schemas.openxmlformats.org/drawingml/2006/main">
            <a:off x="781050" y="4305300"/>
            <a:ext cx="10572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buNone/>
              <a:defRPr sz="953">
                <a:solidFill>
                  <a:srgbClr val="34485D"/>
                </a:solidFill>
                <a:latin typeface="Aptos"/>
                <a:ea typeface="Aptos"/>
                <a:cs typeface="Aptos"/>
              </a:defRPr>
            </a:pPr>
            <a:r>
              <a:rPr sz="953">
                <a:solidFill>
                  <a:srgbClr val="34485D"/>
                </a:solidFill>
                <a:latin typeface="Aptos"/>
                <a:ea typeface="Aptos"/>
                <a:cs typeface="Aptos"/>
              </a:rPr>
              <a:t>Nguyen &amp; Karavanic (2021). Workflow Critical Path. BenchCouncil Trans. Benchmarks 1:100001. doi:10.1016/j.tbench.2021.100001.</a:t>
            </a:r>
          </a:p>
        </p:txBody>
      </p:sp>
      <p:sp>
        <p:nvSpPr>
          <p:cNvPr id="27" name="reference-12">
            <a:extLst xmlns:a="http://schemas.openxmlformats.org/drawingml/2006/main">
              <a:ext uri="{FF2B5EF4-FFF2-40B4-BE49-F238E27FC236}">
                <a16:creationId xmlns:a16="http://schemas.microsoft.com/office/drawing/2014/main" id="{A69121EE-E53C-43EC-B7CE-60B44297846C}"/>
              </a:ext>
            </a:extLst>
          </p:cNvPr>
          <p:cNvSpPr>
            <a:spLocks xmlns:a="http://schemas.openxmlformats.org/drawingml/2006/main" noGrp="1"/>
          </p:cNvSpPr>
          <p:nvPr/>
        </p:nvSpPr>
        <p:spPr>
          <a:xfrm xmlns:a="http://schemas.openxmlformats.org/drawingml/2006/main">
            <a:off x="781050" y="4600575"/>
            <a:ext cx="10572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buNone/>
              <a:defRPr sz="953">
                <a:solidFill>
                  <a:srgbClr val="34485D"/>
                </a:solidFill>
                <a:latin typeface="Aptos"/>
                <a:ea typeface="Aptos"/>
                <a:cs typeface="Aptos"/>
              </a:defRPr>
            </a:pPr>
            <a:r>
              <a:rPr sz="953">
                <a:solidFill>
                  <a:srgbClr val="34485D"/>
                </a:solidFill>
                <a:latin typeface="Aptos"/>
                <a:ea typeface="Aptos"/>
                <a:cs typeface="Aptos"/>
              </a:rPr>
              <a:t>Pegasus WMS 5.1.3 User Guide: Data Transfers. The measured pool used Pegasus 5.1.2. pegasus.isi.edu/documentation/.</a:t>
            </a:r>
          </a:p>
        </p:txBody>
      </p:sp>
      <p:sp>
        <p:nvSpPr>
          <p:cNvPr id="28" name="reference-13">
            <a:extLst xmlns:a="http://schemas.openxmlformats.org/drawingml/2006/main">
              <a:ext uri="{FF2B5EF4-FFF2-40B4-BE49-F238E27FC236}">
                <a16:creationId xmlns:a16="http://schemas.microsoft.com/office/drawing/2014/main" id="{1A663F9A-14F2-4035-B821-34715CDA6AE0}"/>
              </a:ext>
            </a:extLst>
          </p:cNvPr>
          <p:cNvSpPr>
            <a:spLocks xmlns:a="http://schemas.openxmlformats.org/drawingml/2006/main" noGrp="1"/>
          </p:cNvSpPr>
          <p:nvPr/>
        </p:nvSpPr>
        <p:spPr>
          <a:xfrm xmlns:a="http://schemas.openxmlformats.org/drawingml/2006/main">
            <a:off x="781050" y="4895850"/>
            <a:ext cx="10572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buNone/>
              <a:defRPr sz="953">
                <a:solidFill>
                  <a:srgbClr val="34485D"/>
                </a:solidFill>
                <a:latin typeface="Aptos"/>
                <a:ea typeface="Aptos"/>
                <a:cs typeface="Aptos"/>
              </a:defRPr>
            </a:pPr>
            <a:r>
              <a:rPr sz="953">
                <a:solidFill>
                  <a:srgbClr val="34485D"/>
                </a:solidFill>
                <a:latin typeface="Aptos"/>
                <a:ea typeface="Aptos"/>
                <a:cs typeface="Aptos"/>
              </a:rPr>
              <a:t>HTCondor Manual 25.x. File Transfer and condor_history. htcondor.readthedocs.io/en/25.x/.</a:t>
            </a:r>
          </a:p>
        </p:txBody>
      </p:sp>
      <p:sp>
        <p:nvSpPr>
          <p:cNvPr id="29" name="reference-14">
            <a:extLst xmlns:a="http://schemas.openxmlformats.org/drawingml/2006/main">
              <a:ext uri="{FF2B5EF4-FFF2-40B4-BE49-F238E27FC236}">
                <a16:creationId xmlns:a16="http://schemas.microsoft.com/office/drawing/2014/main" id="{392778DA-1741-4B47-8BF0-31728CD668E3}"/>
              </a:ext>
            </a:extLst>
          </p:cNvPr>
          <p:cNvSpPr>
            <a:spLocks xmlns:a="http://schemas.openxmlformats.org/drawingml/2006/main" noGrp="1"/>
          </p:cNvSpPr>
          <p:nvPr/>
        </p:nvSpPr>
        <p:spPr>
          <a:xfrm xmlns:a="http://schemas.openxmlformats.org/drawingml/2006/main">
            <a:off x="781050" y="5191125"/>
            <a:ext cx="10572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buNone/>
              <a:defRPr sz="953">
                <a:solidFill>
                  <a:srgbClr val="34485D"/>
                </a:solidFill>
                <a:latin typeface="Aptos"/>
                <a:ea typeface="Aptos"/>
                <a:cs typeface="Aptos"/>
              </a:defRPr>
            </a:pPr>
            <a:r>
              <a:rPr sz="953">
                <a:solidFill>
                  <a:srgbClr val="34485D"/>
                </a:solidFill>
                <a:latin typeface="Aptos"/>
                <a:ea typeface="Aptos"/>
                <a:cs typeface="Aptos"/>
              </a:rPr>
              <a:t>W3C (2013). PROV-DM: The PROV Data Model. w3.org/TR/prov-dm/.</a:t>
            </a:r>
          </a:p>
        </p:txBody>
      </p:sp>
    </p:spTree>
    <p:extLst>
      <p:ext uri="{BB962C8B-B14F-4D97-AF65-F5344CB8AC3E}">
        <p14:creationId xmlns:p14="http://schemas.microsoft.com/office/powerpoint/2010/main" val="63728076"/>
      </p:ext>
    </p:extLst>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2026-10-05T02:45:23.1720000Z</dcterms:created>
  <dcterms:modified xsi:type="dcterms:W3CDTF">2026-10-05T02:45:23.1720000Z</dcterms:modified>
</coreProperties>
</file>