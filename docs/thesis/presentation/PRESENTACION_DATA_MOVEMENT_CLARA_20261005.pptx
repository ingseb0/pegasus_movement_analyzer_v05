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938591abea433d" /><Relationship Type="http://schemas.openxmlformats.org/officeDocument/2006/relationships/extended-properties" Target="/docProps/app.xml" Id="Rfa857b159b174051" /><Relationship Type="http://schemas.openxmlformats.org/officeDocument/2006/relationships/officeDocument" Target="/ppt/presentation.xml" Id="Re13b6e6152714e99" /></Relationships>
</file>

<file path=ppt/presentation.xml><?xml version="1.0" encoding="utf-8"?>
<p:presentation xmlns:p="http://schemas.openxmlformats.org/presentationml/2006/main">
  <p:sldMasterIdLst>
    <p:sldMasterId xmlns:r="http://schemas.openxmlformats.org/officeDocument/2006/relationships" id="2147483648" r:id="Rbed56fec5f7843c6"/>
  </p:sldMasterIdLst>
  <p:notesMasterIdLst>
    <p:notesMasterId xmlns:r="http://schemas.openxmlformats.org/officeDocument/2006/relationships" r:id="Rddffbb3086a54ce9"/>
  </p:notesMasterIdLst>
  <p:sldIdLst>
    <p:sldId xmlns:r="http://schemas.openxmlformats.org/officeDocument/2006/relationships" id="256" r:id="R076e5df1c5ba4447"/>
    <p:sldId xmlns:r="http://schemas.openxmlformats.org/officeDocument/2006/relationships" id="257" r:id="Rfd459282b4f3447b"/>
    <p:sldId xmlns:r="http://schemas.openxmlformats.org/officeDocument/2006/relationships" id="258" r:id="Rd90ad63229f44c41"/>
    <p:sldId xmlns:r="http://schemas.openxmlformats.org/officeDocument/2006/relationships" id="259" r:id="R59366481e7e346e4"/>
    <p:sldId xmlns:r="http://schemas.openxmlformats.org/officeDocument/2006/relationships" id="260" r:id="R448ba933059749a1"/>
    <p:sldId xmlns:r="http://schemas.openxmlformats.org/officeDocument/2006/relationships" id="261" r:id="Rff2d4e392cd947ed"/>
    <p:sldId xmlns:r="http://schemas.openxmlformats.org/officeDocument/2006/relationships" id="262" r:id="Ra36099c93c134e38"/>
    <p:sldId xmlns:r="http://schemas.openxmlformats.org/officeDocument/2006/relationships" id="263" r:id="Rf304070529214f32"/>
    <p:sldId xmlns:r="http://schemas.openxmlformats.org/officeDocument/2006/relationships" id="264" r:id="R63ac7ec77c9e4091"/>
    <p:sldId xmlns:r="http://schemas.openxmlformats.org/officeDocument/2006/relationships" id="265" r:id="R528b046f05554057"/>
    <p:sldId xmlns:r="http://schemas.openxmlformats.org/officeDocument/2006/relationships" id="266" r:id="Reb44f418e531487e"/>
    <p:sldId xmlns:r="http://schemas.openxmlformats.org/officeDocument/2006/relationships" id="267" r:id="R0f443666a4764758"/>
    <p:sldId xmlns:r="http://schemas.openxmlformats.org/officeDocument/2006/relationships" id="268" r:id="R70385ddb7be64ed7"/>
    <p:sldId xmlns:r="http://schemas.openxmlformats.org/officeDocument/2006/relationships" id="269" r:id="Rb48fb0e76adc49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f5eb84e8984d47" /><Relationship Type="http://schemas.openxmlformats.org/officeDocument/2006/relationships/slideMaster" Target="/ppt/slideMasters/slideMaster1.xml" Id="Rbed56fec5f7843c6" /><Relationship Type="http://schemas.openxmlformats.org/officeDocument/2006/relationships/notesMaster" Target="/ppt/notesMasters/notesMaster1.xml" Id="Rddffbb3086a54ce9" /><Relationship Type="http://schemas.openxmlformats.org/officeDocument/2006/relationships/presProps" Target="/ppt/presProps.xml" Id="Rf442b200719948d1" /><Relationship Type="http://schemas.openxmlformats.org/officeDocument/2006/relationships/tableStyles" Target="/ppt/tableStyles.xml" Id="R2a12f985e59541b7" /><Relationship Type="http://schemas.openxmlformats.org/officeDocument/2006/relationships/slide" Target="/ppt/slides/slide1.xml" Id="R076e5df1c5ba4447" /><Relationship Type="http://schemas.openxmlformats.org/officeDocument/2006/relationships/slide" Target="/ppt/slides/slide2.xml" Id="Rfd459282b4f3447b" /><Relationship Type="http://schemas.openxmlformats.org/officeDocument/2006/relationships/slide" Target="/ppt/slides/slide3.xml" Id="Rd90ad63229f44c41" /><Relationship Type="http://schemas.openxmlformats.org/officeDocument/2006/relationships/slide" Target="/ppt/slides/slide4.xml" Id="R59366481e7e346e4" /><Relationship Type="http://schemas.openxmlformats.org/officeDocument/2006/relationships/slide" Target="/ppt/slides/slide5.xml" Id="R448ba933059749a1" /><Relationship Type="http://schemas.openxmlformats.org/officeDocument/2006/relationships/slide" Target="/ppt/slides/slide6.xml" Id="Rff2d4e392cd947ed" /><Relationship Type="http://schemas.openxmlformats.org/officeDocument/2006/relationships/slide" Target="/ppt/slides/slide7.xml" Id="Ra36099c93c134e38" /><Relationship Type="http://schemas.openxmlformats.org/officeDocument/2006/relationships/slide" Target="/ppt/slides/slide8.xml" Id="Rf304070529214f32" /><Relationship Type="http://schemas.openxmlformats.org/officeDocument/2006/relationships/slide" Target="/ppt/slides/slide9.xml" Id="R63ac7ec77c9e4091" /><Relationship Type="http://schemas.openxmlformats.org/officeDocument/2006/relationships/slide" Target="/ppt/slides/slide10.xml" Id="R528b046f05554057" /><Relationship Type="http://schemas.openxmlformats.org/officeDocument/2006/relationships/slide" Target="/ppt/slides/slide11.xml" Id="Reb44f418e531487e" /><Relationship Type="http://schemas.openxmlformats.org/officeDocument/2006/relationships/slide" Target="/ppt/slides/slide12.xml" Id="R0f443666a4764758" /><Relationship Type="http://schemas.openxmlformats.org/officeDocument/2006/relationships/slide" Target="/ppt/slides/slide13.xml" Id="R70385ddb7be64ed7" /><Relationship Type="http://schemas.openxmlformats.org/officeDocument/2006/relationships/slide" Target="/ppt/slides/slide14.xml" Id="Rb48fb0e76adc49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be0e9a4ca445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fb7a4208fa46ed" /><Relationship Type="http://schemas.openxmlformats.org/officeDocument/2006/relationships/notesMaster" Target="/ppt/notesMasters/notesMaster1.xml" Id="R3ef571a286a142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5e00904dab48ad" /><Relationship Type="http://schemas.openxmlformats.org/officeDocument/2006/relationships/notesMaster" Target="/ppt/notesMasters/notesMaster1.xml" Id="R938cc40d301a4f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6d6086315a405c" /><Relationship Type="http://schemas.openxmlformats.org/officeDocument/2006/relationships/notesMaster" Target="/ppt/notesMasters/notesMaster1.xml" Id="R709fd5187ba246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aa52145c6e4503" /><Relationship Type="http://schemas.openxmlformats.org/officeDocument/2006/relationships/notesMaster" Target="/ppt/notesMasters/notesMaster1.xml" Id="R90c415cad2f049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c15a67f6914f9c" /><Relationship Type="http://schemas.openxmlformats.org/officeDocument/2006/relationships/notesMaster" Target="/ppt/notesMasters/notesMaster1.xml" Id="R7ba7154c5ef04f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ba2ddf06bb4ea0" /><Relationship Type="http://schemas.openxmlformats.org/officeDocument/2006/relationships/notesMaster" Target="/ppt/notesMasters/notesMaster1.xml" Id="R82753848c79141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2ee6d2bd544e77" /><Relationship Type="http://schemas.openxmlformats.org/officeDocument/2006/relationships/notesMaster" Target="/ppt/notesMasters/notesMaster1.xml" Id="R3594dc299be742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a4fa46096341e4" /><Relationship Type="http://schemas.openxmlformats.org/officeDocument/2006/relationships/notesMaster" Target="/ppt/notesMasters/notesMaster1.xml" Id="R9db8c5cdc17a48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1fd08e73154b48" /><Relationship Type="http://schemas.openxmlformats.org/officeDocument/2006/relationships/notesMaster" Target="/ppt/notesMasters/notesMaster1.xml" Id="R18b50257dc1044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110b103acc4c5f" /><Relationship Type="http://schemas.openxmlformats.org/officeDocument/2006/relationships/notesMaster" Target="/ppt/notesMasters/notesMaster1.xml" Id="Rda7613ead2d54b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a27ac60b754b9c" /><Relationship Type="http://schemas.openxmlformats.org/officeDocument/2006/relationships/notesMaster" Target="/ppt/notesMasters/notesMaster1.xml" Id="R186d07e25a3d4f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bfa1f4d9164ec3" /><Relationship Type="http://schemas.openxmlformats.org/officeDocument/2006/relationships/notesMaster" Target="/ppt/notesMasters/notesMaster1.xml" Id="Rabeb5bc47da042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4afa226e9a489c" /><Relationship Type="http://schemas.openxmlformats.org/officeDocument/2006/relationships/notesMaster" Target="/ppt/notesMasters/notesMaster1.xml" Id="R4a48b060dc7d47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b88d2a9a9841a0" /><Relationship Type="http://schemas.openxmlformats.org/officeDocument/2006/relationships/notesMaster" Target="/ppt/notesMasters/notesMaster1.xml" Id="R0bd11e67fa3346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tesis pregunta cuánto movimiento de archivos requiere la estructura del workflow en las ubicaciones donde realmente se ejecutaron las tareas, y cuánto payload científico podemos confirmar a partir de las listas de transferencia y el historial de HTCondor. La palabra confirmado importa: no contamos paquetes de red. El objetivo de esta exposición es mostrar la idea, el cálculo y la evidencia de forma directa.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dependencias entre tareas también son dependencias entre archivos. Si un archivo se produce en un worker y otra tarea lo consume en otro, el archivo tiene que estar disponible en la ubicación consumidora. La literatura de workflows intensivos en datos señala que la comunicación y el acceso a datos pueden limitar la ejecución. Eso motiva medir el movimiento, pero no significa que esta tesis haya medido tiempo perdido ni un cuello de botella físico en la red. La flecha representa una necesidad de ubicación, no una ruta de paquetes.</a:t>
            </a:r>
          </a:p>
          <a:p xmlns:a="http://schemas.openxmlformats.org/drawingml/2006/main">
            <a:r>
              <a:t/>
            </a:r>
          </a:p>
          <a:p xmlns:a="http://schemas.openxmlformats.org/drawingml/2006/main">
            <a:r>
              <a:t>Fuentes: Pietri, I., y Sakellariou, R. (2018), https://doi.org/10.1145/3221269.3221298 ; Tang, M. et al. (2024), https://doi.org/10.1109/CLUSTER59578.2024.00038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Bharathi y coautores describen estructuras recurrentes y una manera de generar workflows parametrizables. Por eso nuestra validación cubre proceso, pipeline, distribución, agregación y redistribución. Pietri y Sakellariou incorporan comunicación al proceso de scheduling: su interés es decidir una asignación que reduzca costos. Lee y coautores proponen DataLife para razonar sobre el ciclo de vida de datos y coordinar tareas. Tang y coautores presentan DaYu para conectar semántica de datasets con operaciones de I/O de formatos como HDF5. Devarajan y coautores presentan DFTracer para registrar eventos de flujo de datos de distintas capas con contexto de workflow. Aurelio Antonio Vivas Meza estudia estrategias de scheduling conscientes de NUMA; esto ayuda a explicar la importancia de localidad y arquitectura, aunque la localidad NUMA dentro de un nodo no es la misma capa que mover archivos entre workers.</a:t>
            </a:r>
          </a:p>
          <a:p xmlns:a="http://schemas.openxmlformats.org/drawingml/2006/main">
            <a:r>
              <a:t/>
            </a:r>
          </a:p>
          <a:p xmlns:a="http://schemas.openxmlformats.org/drawingml/2006/main">
            <a:r>
              <a:t>La tesis no afirma que esos autores no estudiaran movimiento de datos. Su aporte inicial es integrar, por run, una referencia lógica condicionada al placement con movimientos científicos declarados y evidencia de HTCondor a nivel de job. La afirmación de que ninguna métrica existente ofrece la misma combinación debe limitarse a las fuentes consultadas, no presentarse como novedad universal.</a:t>
            </a:r>
          </a:p>
          <a:p xmlns:a="http://schemas.openxmlformats.org/drawingml/2006/main">
            <a:r>
              <a:t/>
            </a:r>
          </a:p>
          <a:p xmlns:a="http://schemas.openxmlformats.org/drawingml/2006/main">
            <a:r>
              <a:t>Fuentes: Bharathi et al. (2008), https://doi.org/10.1109/WORKS.2008.4723958 ; Pietri y Sakellariou (2018), https://doi.org/10.1145/3221269.3221298 ; Lee et al. (2023), https://doi.org/10.1145/3581784.3607104 ; Tang et al. (2024), https://doi.org/10.1109/CLUSTER59578.2024.00038 ; Devarajan et al. (2024), https://doi.org/10.1109/SC41406.2024.00023 ; Vivas Meza (2026), disertación doctoral, Universidad de los Andes.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pregunta central del proyecto. La formulación es útil porque indica los datos que hacen falta: el workflow, su placement realmente observado y la evidencia de transferencias. Ajusto oralmente el verbo 'produce realmente': en nuestro caso significa volumen de archivos declarado y confirmado a nivel de trabajo, no bytes físicos observados en un cable. Analyzer trabaja después de la ejecución; no decide el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separación es la parte más importante para no sobreinterpretar. M_req se deriva de dependencias, tamaños y ubicaciones. M_rec sale de listas efectivas de archivos de entrada y salida de los jobs. M_obs no toma BytesSent o BytesRecvd como si fueran bytes científicos por archivo. La implementación usa estadísticas de transferencia por dirección del historial de HTCondor, como método, cantidad de archivos y bytes de la última ejecución, junto con estado, worker y número de intentos. La reconciliación confirma las ocurrencias declaradas a nivel de job. Luego M_obs suma tamaños de esas ocurrencias científicas del manifiesto. Coverage es por ocurrencia declarada. En las 31 ejecuciones experimentales Coverage fue 1; eso no equivale a una captura packet-level ni prueba la ruta física.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fórmula de RequiredMovement se puede leer como: tome el tamaño de cada archivo y multiplíquelo por el número de ubicaciones distintas, además de su origen, donde una tarea lo necesita. Luego sume esos valores. La reutilización local evita contar otra vez el mismo archivo para dos tareas en el mismo worker. Coverage pregunta cuántas ocurrencias declaradas fueron confirmadas. Solo si se confirmaron todas se calcula M_obs. Finalmente, DME divide el movimiento lógico requerido entre el volumen confirmado. Por ejemplo, una DME de un tercio dice que, en ese caso y bajo las definiciones acordadas, el requerimiento lógico representa un tercio del volumen confirmado. No demuestra que los otros dos tercios se pudieran evitar.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pool probado tiene un master y dos workers. Pegasus y los servicios centrales HTCondor se ubican en pegasus-master; los jobs científicos se ejecutan en worker1 o worker2. El historial exportado aporta dónde corrió el job y estadísticas agregadas de transferencia por dirección. El análisis toma los artefactos preservados después del workflow. Analyzer no se inserta en la ruta de ejecución científica. Las flechas sólidas representan control y el flujo de artefactos hacia el análisis. El dibujo no afirma que el payload pase físicamente por el master ni que viaje directamente de worker a worker. Las versiones y el perfil `condorio` corresponden al entorno de validación documentado.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Bharathi y coautores describen patrones para representar formas distintas de workflows científicos. En nuestro banco controlado, process usa una transformación; pipeline conecta etapas; distribución comparte una salida con varias tareas; agregación combina salidas de varias tareas; y redistribución reparte los datos entre varias tareas posteriores. Estos nombres describen la forma de dependencias del workflow. El placement se define aparte, por ejemplo tareas en un mismo worker o distribuidas entre los dos workers. No todos los patrones se validaron con las mismas variantes de ubicación: la matriz tiene diez condiciones en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Congelamos el DAG y la lista de archivos, calculamos un oráculo independiente y luego verificamos que el placement observado coincidiera con el diseñado. Reconciliamos entradas y salidas declaradas con estadísticas de HTCondor a nivel de job. Corremos cinco patrones en diez condiciones y 31 workflows independientes, con al menos tres en cada condición. Todas las salidas coincidieron con los oráculos en M_req y M_rec, todas tuvieron Coverage igual a uno y el análisis fue determinista. Process, same-w1, 10 MiB cuenta con cuatro réplicas métricas; el desglose de tiempo completo tiene tres porque falta un registro histórico. La validación es acotada al pool de dos workers y a los tamaños/configuraciones ensayados.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ejemplo es el caso de pipeline de tres tareas. Cada una de las seis ocurrencias científicas pesa 10 MiB: el input, dos archivos intermedios y las tres salidas incluidas por el contrato de los jobs. La reconciliación confirmó seis de seis y el volumen manifestado confirmado es 60 MiB.</a:t>
            </a:r>
          </a:p>
          <a:p xmlns:a="http://schemas.openxmlformats.org/drawingml/2006/main">
            <a:r>
              <a:t/>
            </a:r>
          </a:p>
          <a:p xmlns:a="http://schemas.openxmlformats.org/drawingml/2006/main">
            <a:r>
              <a:t>Con todas las tareas en W1, solo el input tiene que llegar a W1 y el resultado final se ubica en el destino final: 20 MiB de M_req. Los intermedios pasan entre tareas locales. DME es 20/60, aproximadamente 0.33.</a:t>
            </a:r>
          </a:p>
          <a:p xmlns:a="http://schemas.openxmlformats.org/drawingml/2006/main">
            <a:r>
              <a:t/>
            </a:r>
          </a:p>
          <a:p xmlns:a="http://schemas.openxmlformats.org/drawingml/2006/main">
            <a:r>
              <a:t>Con T1 en W1, T2 en W2 y T3 en W1, los dos intermedios requieren ubicaciones nuevas; junto con input y salida final, M_req es 40 MiB. M_obs sigue en 60 MiB, de modo que DME es 40/60, aproximadamente 0.67. Las flechas representan exigencias lógicas de disponibilidad de archivos; las trazas actuales no prueban la ruta física de red ni una transferencia directa entre workers.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gráfico presenta DME para los cuatro patrones con comparación de ubicación. Pipeline cambia de un tercio a dos tercios. Distribución y agregación cambian de 0.50 a 0.75. Redistribución cambia de 0.25 a 0.625. En esas comparaciones M_rec y M_obs se mantuvieron constantes dentro del patrón; M_req aumentó porque el placement requería más ubicaciones nuevas. Para process, la condición de 20 MiB duplicó tanto M_req como M_obs frente a 10 MiB, y DME quedó en 1. Un valor menor de DME señala que el M_req de este modelo es menor respecto al M_obs confirmado; no identifica por sí solo bytes desperdiciados o evitables. Estas son respuestas de la métrica bajo los factores ensayados, no mejoras o caídas de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Separamos tres conceptos. El logging nativo de Pegasus y HTCondor aparece durante la ejecución, pero en esta campaña no se añadió un tracer adicional dentro de los jobs ni se hizo un control emparejado sin logging; por ello no estimamos una fracción causal del runtime atribuible al Analyzer. La preparación posterior de los artefactos tomó en promedio 2.527 segundos. Analyzer tomó 0.726 segundos de wall-clock, con 0.272 segundos de CPU usuario y 0.083 de CPU sistema, que suman 0.355 segundos; la cifra de 0.36 se redondeó. La memoria RSS pico media fue 22.49 MiB. El input lógico del análisis promedió 18.617 MiB; los informes primarios 0.185 MiB por ejecución y la evidencia post-mortem adicional preservada 0.701 MiB por run. Esos resultados describen este runner, no una tasa universal.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utilidad inmediata es descriptiva. Un equipo puede comparar placements para un mismo workflow, observar qué patrones piden más ubicaciones nuevas y usar esos casos para decidir qué medir después. En un contexto de negocio o de operación, esto puede ayudar a priorizar experimentos de staging, almacenamiento o asignación de tareas. No demuestra que vaya a reducir costos ni que un placement sea el óptimo. Para afirmar impacto en runtime, ancho de banda o gasto harían falta mediciones específicas y controles adecuados. El modelo puede representar más ubicaciones, pero la evidencia empírica actual cubre dos workers. Tampoco mezclamos tráfico de red con I/O físico, memoria RAM o localidad NUMA.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completas y enlaces primarios:</a:t>
            </a:r>
          </a:p>
          <a:p xmlns:a="http://schemas.openxmlformats.org/drawingml/2006/main">
            <a:r>
              <a:t/>
            </a:r>
          </a:p>
          <a:p xmlns:a="http://schemas.openxmlformats.org/drawingml/2006/main">
            <a:r>
              <a:t>Bharathi, S., Chervenak, A., Deelman, E., Mehta, G., Su, M.-H., y Vahi, K. (2008). Characterization of scientific workflows. https://doi.org/10.1109/WORKS.2008.4723958</a:t>
            </a:r>
          </a:p>
          <a:p xmlns:a="http://schemas.openxmlformats.org/drawingml/2006/main">
            <a:r>
              <a:t>Deelman, E. et al. (2015). Pegasus, a workflow management system for science automation. https://doi.org/10.1016/j.future.2014.10.008</a:t>
            </a:r>
          </a:p>
          <a:p xmlns:a="http://schemas.openxmlformats.org/drawingml/2006/main">
            <a:r>
              <a:t>Pietri, I., y Sakellariou, R. (2018). Scheduling data-intensive scientific workflows with reduced communication. https://doi.org/10.1145/3221269.3221298</a:t>
            </a:r>
          </a:p>
          <a:p xmlns:a="http://schemas.openxmlformats.org/drawingml/2006/main">
            <a:r>
              <a:t>Lee, H. et al. (2023). Data Flow Lifecycles for Optimizing Workflow Coordination. https://doi.org/10.1145/3581784.3607104</a:t>
            </a:r>
          </a:p>
          <a:p xmlns:a="http://schemas.openxmlformats.org/drawingml/2006/main">
            <a:r>
              <a:t>Tang, M. et al. (2024). DaYu: Optimizing Distributed Scientific Workflows by Decoding Dataflow Semantics and Dynamics. https://doi.org/10.1109/CLUSTER59578.2024.00038</a:t>
            </a:r>
          </a:p>
          <a:p xmlns:a="http://schemas.openxmlformats.org/drawingml/2006/main">
            <a:r>
              <a:t>Devarajan, H. et al. (2024). DFTracer: An Analysis-Friendly Data Flow Tracer for AI-Driven Workflows. https://doi.org/10.1109/SC41406.2024.00023</a:t>
            </a:r>
          </a:p>
          <a:p xmlns:a="http://schemas.openxmlformats.org/drawingml/2006/main">
            <a:r>
              <a:t>Vivas Meza, A. A. (2026). Scheduling strategies for efficient data movement in data-intensive scientific workflow execution. Disertación doctoral, Universidad de los Andes. Descripción institucional del trabajo: https://www.alcf.anl.gov/events/scheduling-strategies-efficient-data-movement-data-intensive-scientific-workflow-execution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1dd16f96e14a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7637fc003b4c17" /><Relationship Type="http://schemas.openxmlformats.org/officeDocument/2006/relationships/slideLayout" Target="/ppt/slideLayouts/slideLayout1.xml" Id="R83979e7fb24440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979e7fb24440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c3d389e59048a8" /><Relationship Type="http://schemas.openxmlformats.org/officeDocument/2006/relationships/notesSlide" Target="/ppt/notesSlides/notesSlide1.xml" Id="R118715d499634d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a73b4635fc4661" /><Relationship Type="http://schemas.openxmlformats.org/officeDocument/2006/relationships/notesSlide" Target="/ppt/notesSlides/notesSlide2.xml" Id="R02c1007b14d14c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10b3dd2e314e17" /><Relationship Type="http://schemas.openxmlformats.org/officeDocument/2006/relationships/notesSlide" Target="/ppt/notesSlides/notesSlide3.xml" Id="Re161bc28ef804e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2a0e63b12c489f" /><Relationship Type="http://schemas.openxmlformats.org/officeDocument/2006/relationships/notesSlide" Target="/ppt/notesSlides/notesSlide4.xml" Id="R28190e2e796e4e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c4da4eb5c64458" /><Relationship Type="http://schemas.openxmlformats.org/officeDocument/2006/relationships/notesSlide" Target="/ppt/notesSlides/notesSlide5.xml" Id="R101dce324c4446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f85ca20cf54c18" /><Relationship Type="http://schemas.openxmlformats.org/officeDocument/2006/relationships/notesSlide" Target="/ppt/notesSlides/notesSlide6.xml" Id="Re2284532376d42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d47637d6114a94" /><Relationship Type="http://schemas.openxmlformats.org/officeDocument/2006/relationships/notesSlide" Target="/ppt/notesSlides/notesSlide7.xml" Id="R5cae5eb56c3f47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8ac4b5e5da4324" /><Relationship Type="http://schemas.openxmlformats.org/officeDocument/2006/relationships/notesSlide" Target="/ppt/notesSlides/notesSlide8.xml" Id="R2e00b236f3ee4c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a1476f94c44054" /><Relationship Type="http://schemas.openxmlformats.org/officeDocument/2006/relationships/notesSlide" Target="/ppt/notesSlides/notesSlide9.xml" Id="Rfa0946a35f6b4c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0f5c1082944e83" /><Relationship Type="http://schemas.openxmlformats.org/officeDocument/2006/relationships/notesSlide" Target="/ppt/notesSlides/notesSlide10.xml" Id="R8f1ed3d2f1204b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d0a3597988448f" /><Relationship Type="http://schemas.openxmlformats.org/officeDocument/2006/relationships/chart" Target="/ppt/slides/charts/chart1.xml" Id="R20a17beb61854d3e" /><Relationship Type="http://schemas.openxmlformats.org/officeDocument/2006/relationships/notesSlide" Target="/ppt/notesSlides/notesSlide11.xml" Id="Rca222205b55a4b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d629572f7274ad6" /><Relationship Type="http://schemas.openxmlformats.org/officeDocument/2006/relationships/notesSlide" Target="/ppt/notesSlides/notesSlide12.xml" Id="R83d1257b153b4b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6ad09cadb34d59" /><Relationship Type="http://schemas.openxmlformats.org/officeDocument/2006/relationships/notesSlide" Target="/ppt/notesSlides/notesSlide13.xml" Id="R53e67e1e9b2d4b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459576b000496d" /><Relationship Type="http://schemas.openxmlformats.org/officeDocument/2006/relationships/notesSlide" Target="/ppt/notesSlides/notesSlide14.xml" Id="R3e20fd53dd8243b1" /></Relationships>
</file>

<file path=ppt/slides/charts/chart1.xml><?xml version="1.0" encoding="utf-8"?>
<c:chartSpace xmlns:c="http://schemas.openxmlformats.org/drawingml/2006/chart">
  <c:lang val="en-US"/>
  <c:chart>
    <c:plotArea>
      <c:barChart>
        <c:barDir val="col"/>
        <c:grouping val="clustered"/>
        <c:varyColors val="0"/>
        <c:ser>
          <c:idx val="0"/>
          <c:order val="0"/>
          <c:tx>
            <c:v>Local en W1</c:v>
          </c:tx>
          <c:spPr>
            <a:solidFill xmlns:a="http://schemas.openxmlformats.org/drawingml/2006/main">
              <a:srgbClr val="4B626D"/>
            </a:solidFill>
          </c:spPr>
          <c:cat>
            <c:strLit>
              <c:ptCount val="4"/>
              <c:pt idx="0">
                <c:v>Pipeline</c:v>
              </c:pt>
              <c:pt idx="1">
                <c:v>Distribución</c:v>
              </c:pt>
              <c:pt idx="2">
                <c:v>Agregación</c:v>
              </c:pt>
              <c:pt idx="3">
                <c:v>Redistribución</c:v>
              </c:pt>
            </c:strLit>
          </c:cat>
          <c:val>
            <c:numLit>
              <c:formatCode>0.00</c:formatCode>
              <c:ptCount val="4"/>
              <c:pt idx="0">
                <c:v>0.33</c:v>
              </c:pt>
              <c:pt idx="1">
                <c:v>0.5</c:v>
              </c:pt>
              <c:pt idx="2">
                <c:v>0.5</c:v>
              </c:pt>
              <c:pt idx="3">
                <c:v>0.25</c:v>
              </c:pt>
            </c:numLit>
          </c:val>
        </c:ser>
        <c:ser>
          <c:idx val="1"/>
          <c:order val="1"/>
          <c:tx>
            <c:v>Repartido W1–W2</c:v>
          </c:tx>
          <c:spPr>
            <a:solidFill xmlns:a="http://schemas.openxmlformats.org/drawingml/2006/main">
              <a:srgbClr val="087E78"/>
            </a:solidFill>
          </c:spPr>
          <c:cat>
            <c:strLit>
              <c:ptCount val="4"/>
              <c:pt idx="0">
                <c:v>Pipeline</c:v>
              </c:pt>
              <c:pt idx="1">
                <c:v>Distribución</c:v>
              </c:pt>
              <c:pt idx="2">
                <c:v>Agregación</c:v>
              </c:pt>
              <c:pt idx="3">
                <c:v>Redistribución</c:v>
              </c:pt>
            </c:strLit>
          </c:cat>
          <c:val>
            <c:numLit>
              <c:formatCode>0.00</c:formatCode>
              <c:ptCount val="4"/>
              <c:pt idx="0">
                <c:v>0.67</c:v>
              </c:pt>
              <c:pt idx="1">
                <c:v>0.75</c:v>
              </c:pt>
              <c:pt idx="2">
                <c:v>0.75</c:v>
              </c:pt>
              <c:pt idx="3">
                <c:v>0.63</c:v>
              </c:pt>
            </c:numLit>
          </c:val>
        </c:ser>
        <c:dLbls>
          <c:txPr>
            <a:bodyPr xmlns:a="http://schemas.openxmlformats.org/drawingml/2006/main" anchorCtr="1"/>
            <a:lstStyle xmlns:a="http://schemas.openxmlformats.org/drawingml/2006/main"/>
            <a:p xmlns:a="http://schemas.openxmlformats.org/drawingml/2006/main">
              <a:pPr>
                <a:defRPr sz="1200" b="1">
                  <a:solidFill>
                    <a:srgbClr val="172A3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2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93A4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BD2D4"/>
              </a:solidFill>
              <a:prstDash val="solid"/>
            </a:ln>
          </c:spPr>
        </c:majorGridlines>
        <c:numFmt formatCode="0.00"/>
        <c:majorTickMark val="none"/>
        <c:minorTickMark val="none"/>
        <c:spPr>
          <a:ln xmlns:a="http://schemas.openxmlformats.org/drawingml/2006/main" w="9525">
            <a:solidFill>
              <a:srgbClr val="CBD2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5757C"/>
                </a:solidFill>
                <a:latin typeface="Arial"/>
                <a:ea typeface="Arial"/>
                <a:cs typeface="Arial"/>
              </a:defRPr>
            </a:pPr>
          </a:p>
        </c:txPr>
        <c:crossAx val="48650112"/>
        <c:crossBetween val="between"/>
        <c:majorUnit val="0.25"/>
      </c:valAx>
      <c:spPr>
        <a:solidFill xmlns:a="http://schemas.openxmlformats.org/drawingml/2006/main">
          <a:srgbClr val="F8F8F5"/>
        </a:solidFill>
        <a:ln xmlns:a="http://schemas.openxmlformats.org/drawingml/2006/main" w="0">
          <a:solidFill>
            <a:srgbClr val="F8F8F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93A42"/>
              </a:solidFill>
              <a:latin typeface="Arial"/>
              <a:ea typeface="Arial"/>
              <a:cs typeface="Arial"/>
            </a:defRPr>
          </a:pPr>
        </a:p>
      </c:txPr>
    </c:legend>
    <c:plotVisOnly val="1"/>
  </c:chart>
  <c:spPr>
    <a:solidFill xmlns:a="http://schemas.openxmlformats.org/drawingml/2006/main">
      <a:srgbClr val="F8F8F5"/>
    </a:solidFill>
    <a:ln xmlns:a="http://schemas.openxmlformats.org/drawingml/2006/main" w="0">
      <a:solidFill>
        <a:srgbClr val="F8F8F5"/>
      </a:solidFill>
      <a:prstDash val="solid"/>
    </a:ln>
  </c:spPr>
</c:chartSpace>
</file>

<file path=ppt/slides/slide1.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5" name="cover-accent">
            <a:extLst xmlns:a="http://schemas.openxmlformats.org/drawingml/2006/main">
              <a:ext uri="{FF2B5EF4-FFF2-40B4-BE49-F238E27FC236}">
                <a16:creationId xmlns:a16="http://schemas.microsoft.com/office/drawing/2014/main" id="{A78A7297-078C-41AE-99CE-3DFDF50D3ED5}"/>
              </a:ext>
            </a:extLst>
          </p:cNvPr>
          <p:cNvSpPr>
            <a:spLocks xmlns:a="http://schemas.openxmlformats.org/drawingml/2006/main" noGrp="1"/>
          </p:cNvSpPr>
          <p:nvPr/>
        </p:nvSpPr>
        <p:spPr>
          <a:xfrm xmlns:a="http://schemas.openxmlformats.org/drawingml/2006/main">
            <a:off x="685800" y="1085850"/>
            <a:ext cx="876300" cy="47625"/>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cover-title">
            <a:extLst xmlns:a="http://schemas.openxmlformats.org/drawingml/2006/main">
              <a:ext uri="{FF2B5EF4-FFF2-40B4-BE49-F238E27FC236}">
                <a16:creationId xmlns:a16="http://schemas.microsoft.com/office/drawing/2014/main" id="{25BAF0EA-1F9A-4967-A9F3-57E24F40102E}"/>
              </a:ext>
            </a:extLst>
          </p:cNvPr>
          <p:cNvSpPr>
            <a:spLocks xmlns:a="http://schemas.openxmlformats.org/drawingml/2006/main" noGrp="1"/>
          </p:cNvSpPr>
          <p:nvPr/>
        </p:nvSpPr>
        <p:spPr>
          <a:xfrm xmlns:a="http://schemas.openxmlformats.org/drawingml/2006/main">
            <a:off x="685800" y="1543050"/>
            <a:ext cx="1000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18"/>
          </a:bodyPr>
          <a:lstStyle xmlns:a="http://schemas.openxmlformats.org/drawingml/2006/main"/>
          <a:p xmlns:a="http://schemas.openxmlformats.org/drawingml/2006/main">
            <a:pPr algn="l">
              <a:lnSpc>
                <a:spcPct val="95000"/>
              </a:lnSpc>
              <a:buNone/>
              <a:defRPr sz="4350" b="1" i="0">
                <a:solidFill>
                  <a:srgbClr val="172A33"/>
                </a:solidFill>
                <a:latin typeface="Arial"/>
                <a:ea typeface="Arial"/>
                <a:cs typeface="Arial"/>
              </a:defRPr>
            </a:pPr>
            <a:r>
              <a:rPr sz="4350" b="1" i="0">
                <a:solidFill>
                  <a:srgbClr val="172A33"/>
                </a:solidFill>
                <a:latin typeface="Arial"/>
                <a:ea typeface="Arial"/>
                <a:cs typeface="Arial"/>
              </a:rPr>
              <a:t>Movimiento de datos en</a:t>
            </a:r>
          </a:p>
          <a:p xmlns:a="http://schemas.openxmlformats.org/drawingml/2006/main">
            <a:pPr algn="l">
              <a:lnSpc>
                <a:spcPct val="95000"/>
              </a:lnSpc>
              <a:buNone/>
              <a:defRPr sz="4350" b="1" i="0">
                <a:solidFill>
                  <a:srgbClr val="172A33"/>
                </a:solidFill>
                <a:latin typeface="Arial"/>
                <a:ea typeface="Arial"/>
                <a:cs typeface="Arial"/>
              </a:defRPr>
            </a:pPr>
            <a:r>
              <a:rPr sz="4350" b="1" i="0">
                <a:solidFill>
                  <a:srgbClr val="172A33"/>
                </a:solidFill>
                <a:latin typeface="Arial"/>
                <a:ea typeface="Arial"/>
                <a:cs typeface="Arial"/>
              </a:rPr>
              <a:t>workflows científicos</a:t>
            </a:r>
          </a:p>
        </p:txBody>
      </p:sp>
      <p:sp>
        <p:nvSpPr>
          <p:cNvPr id="3" name="cover-subtitle">
            <a:extLst xmlns:a="http://schemas.openxmlformats.org/drawingml/2006/main">
              <a:ext uri="{FF2B5EF4-FFF2-40B4-BE49-F238E27FC236}">
                <a16:creationId xmlns:a16="http://schemas.microsoft.com/office/drawing/2014/main" id="{1B00D6F1-531A-49E8-81FC-727184E3FF2E}"/>
              </a:ext>
            </a:extLst>
          </p:cNvPr>
          <p:cNvSpPr>
            <a:spLocks xmlns:a="http://schemas.openxmlformats.org/drawingml/2006/main" noGrp="1"/>
          </p:cNvSpPr>
          <p:nvPr/>
        </p:nvSpPr>
        <p:spPr>
          <a:xfrm xmlns:a="http://schemas.openxmlformats.org/drawingml/2006/main">
            <a:off x="704850" y="318135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5000"/>
              </a:lnSpc>
              <a:buNone/>
              <a:defRPr sz="2250" b="0" i="0">
                <a:solidFill>
                  <a:srgbClr val="293A42"/>
                </a:solidFill>
                <a:latin typeface="Arial"/>
                <a:ea typeface="Arial"/>
                <a:cs typeface="Arial"/>
              </a:defRPr>
            </a:pPr>
            <a:r>
              <a:rPr sz="2250" b="0" i="0">
                <a:solidFill>
                  <a:srgbClr val="293A42"/>
                </a:solidFill>
                <a:latin typeface="Arial"/>
                <a:ea typeface="Arial"/>
                <a:cs typeface="Arial"/>
              </a:rPr>
              <a:t>Dado un workflow y el placement real de sus tareas, ¿cuánto movimiento de datos exigen sus dependencias entre ubicaciones y cuánto movimiento produce realmente el mecanismo de ejecución?</a:t>
            </a:r>
          </a:p>
        </p:txBody>
      </p:sp>
      <p:sp>
        <p:nvSpPr>
          <p:cNvPr id="4" name="cover-author">
            <a:extLst xmlns:a="http://schemas.openxmlformats.org/drawingml/2006/main">
              <a:ext uri="{FF2B5EF4-FFF2-40B4-BE49-F238E27FC236}">
                <a16:creationId xmlns:a16="http://schemas.microsoft.com/office/drawing/2014/main" id="{1FAE97E2-5429-420E-9A61-658DFA184E25}"/>
              </a:ext>
            </a:extLst>
          </p:cNvPr>
          <p:cNvSpPr>
            <a:spLocks xmlns:a="http://schemas.openxmlformats.org/drawingml/2006/main" noGrp="1"/>
          </p:cNvSpPr>
          <p:nvPr/>
        </p:nvSpPr>
        <p:spPr>
          <a:xfrm xmlns:a="http://schemas.openxmlformats.org/drawingml/2006/main">
            <a:off x="704850" y="54102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Luis Sebastián Contreras Díaz  ·  Octubre de 2026</a:t>
            </a:r>
          </a:p>
        </p:txBody>
      </p:sp>
    </p:spTree>
    <p:extLst>
      <p:ext uri="{BB962C8B-B14F-4D97-AF65-F5344CB8AC3E}">
        <p14:creationId xmlns:p14="http://schemas.microsoft.com/office/powerpoint/2010/main" val="1037780936"/>
      </p:ext>
    </p:extLst>
  </p:cSld>
</p:sld>
</file>

<file path=ppt/slides/slide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8" name="slide-title-2">
            <a:extLst xmlns:a="http://schemas.openxmlformats.org/drawingml/2006/main">
              <a:ext uri="{FF2B5EF4-FFF2-40B4-BE49-F238E27FC236}">
                <a16:creationId xmlns:a16="http://schemas.microsoft.com/office/drawing/2014/main" id="{AD9394AE-E1BA-45CF-9875-A2E0DD3014AD}"/>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El dato también debe llegar a la tarea</a:t>
            </a:r>
          </a:p>
        </p:txBody>
      </p:sp>
      <p:sp>
        <p:nvSpPr>
          <p:cNvPr id="2" name="title-rule-2">
            <a:extLst xmlns:a="http://schemas.openxmlformats.org/drawingml/2006/main">
              <a:ext uri="{FF2B5EF4-FFF2-40B4-BE49-F238E27FC236}">
                <a16:creationId xmlns:a16="http://schemas.microsoft.com/office/drawing/2014/main" id="{36A8AE39-7A57-4A3D-8172-9ADC76C05B50}"/>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2">
            <a:extLst xmlns:a="http://schemas.openxmlformats.org/drawingml/2006/main">
              <a:ext uri="{FF2B5EF4-FFF2-40B4-BE49-F238E27FC236}">
                <a16:creationId xmlns:a16="http://schemas.microsoft.com/office/drawing/2014/main" id="{49342816-8E06-421A-AF05-229EDD95CE16}"/>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02</a:t>
            </a:r>
          </a:p>
        </p:txBody>
      </p:sp>
      <p:sp>
        <p:nvSpPr>
          <p:cNvPr id="4" name="problem-intro">
            <a:extLst xmlns:a="http://schemas.openxmlformats.org/drawingml/2006/main">
              <a:ext uri="{FF2B5EF4-FFF2-40B4-BE49-F238E27FC236}">
                <a16:creationId xmlns:a16="http://schemas.microsoft.com/office/drawing/2014/main" id="{89F346B7-D2DD-4600-B9AE-E2141E6545B5}"/>
              </a:ext>
            </a:extLst>
          </p:cNvPr>
          <p:cNvSpPr>
            <a:spLocks xmlns:a="http://schemas.openxmlformats.org/drawingml/2006/main" noGrp="1"/>
          </p:cNvSpPr>
          <p:nvPr/>
        </p:nvSpPr>
        <p:spPr>
          <a:xfrm xmlns:a="http://schemas.openxmlformats.org/drawingml/2006/main">
            <a:off x="685800" y="13525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14"/>
          </a:bodyPr>
          <a:lstStyle xmlns:a="http://schemas.openxmlformats.org/drawingml/2006/main"/>
          <a:p xmlns:a="http://schemas.openxmlformats.org/drawingml/2006/main">
            <a:pPr algn="l">
              <a:lnSpc>
                <a:spcPct val="100000"/>
              </a:lnSpc>
              <a:buNone/>
              <a:defRPr sz="2100" b="0" i="0">
                <a:solidFill>
                  <a:srgbClr val="293A42"/>
                </a:solidFill>
                <a:latin typeface="Arial"/>
                <a:ea typeface="Arial"/>
                <a:cs typeface="Arial"/>
              </a:defRPr>
            </a:pPr>
            <a:r>
              <a:rPr sz="2100" b="0" i="0">
                <a:solidFill>
                  <a:srgbClr val="293A42"/>
                </a:solidFill>
                <a:latin typeface="Arial"/>
                <a:ea typeface="Arial"/>
                <a:cs typeface="Arial"/>
              </a:rPr>
              <a:t>En workflows de big data, mover archivos entre tareas y máquinas puede convertirse en un cuello de botella.</a:t>
            </a:r>
          </a:p>
        </p:txBody>
      </p:sp>
      <p:sp>
        <p:nvSpPr>
          <p:cNvPr id="5" name="problem-worker-1">
            <a:extLst xmlns:a="http://schemas.openxmlformats.org/drawingml/2006/main">
              <a:ext uri="{FF2B5EF4-FFF2-40B4-BE49-F238E27FC236}">
                <a16:creationId xmlns:a16="http://schemas.microsoft.com/office/drawing/2014/main" id="{EC289E7D-3C01-4EEB-88D0-7DFDAB4294D6}"/>
              </a:ext>
            </a:extLst>
          </p:cNvPr>
          <p:cNvSpPr>
            <a:spLocks xmlns:a="http://schemas.openxmlformats.org/drawingml/2006/main" noGrp="1"/>
          </p:cNvSpPr>
          <p:nvPr/>
        </p:nvSpPr>
        <p:spPr>
          <a:xfrm xmlns:a="http://schemas.openxmlformats.org/drawingml/2006/main">
            <a:off x="876300" y="2438400"/>
            <a:ext cx="3905250" cy="2266950"/>
          </a:xfrm>
          <a:prstGeom xmlns:a="http://schemas.openxmlformats.org/drawingml/2006/main" prst="rect">
            <a:avLst/>
          </a:prstGeom>
          <a:solidFill xmlns:a="http://schemas.openxmlformats.org/drawingml/2006/main">
            <a:srgbClr val="EFF2F2"/>
          </a:solidFill>
          <a:ln xmlns:a="http://schemas.openxmlformats.org/drawingml/2006/main" w="15240">
            <a:solidFill>
              <a:srgbClr val="4B626D"/>
            </a:solidFill>
            <a:prstDash val="solid"/>
          </a:ln>
        </p:spPr>
      </p:sp>
      <p:sp>
        <p:nvSpPr>
          <p:cNvPr id="6" name="problem-worker-2">
            <a:extLst xmlns:a="http://schemas.openxmlformats.org/drawingml/2006/main">
              <a:ext uri="{FF2B5EF4-FFF2-40B4-BE49-F238E27FC236}">
                <a16:creationId xmlns:a16="http://schemas.microsoft.com/office/drawing/2014/main" id="{C02CB103-45DD-4744-996A-631FEA16CEE9}"/>
              </a:ext>
            </a:extLst>
          </p:cNvPr>
          <p:cNvSpPr>
            <a:spLocks xmlns:a="http://schemas.openxmlformats.org/drawingml/2006/main" noGrp="1"/>
          </p:cNvSpPr>
          <p:nvPr/>
        </p:nvSpPr>
        <p:spPr>
          <a:xfrm xmlns:a="http://schemas.openxmlformats.org/drawingml/2006/main">
            <a:off x="7410450" y="2438400"/>
            <a:ext cx="3905250" cy="2266950"/>
          </a:xfrm>
          <a:prstGeom xmlns:a="http://schemas.openxmlformats.org/drawingml/2006/main" prst="rect">
            <a:avLst/>
          </a:prstGeom>
          <a:solidFill xmlns:a="http://schemas.openxmlformats.org/drawingml/2006/main">
            <a:srgbClr val="EFF2F2"/>
          </a:solidFill>
          <a:ln xmlns:a="http://schemas.openxmlformats.org/drawingml/2006/main" w="15240">
            <a:solidFill>
              <a:srgbClr val="4B626D"/>
            </a:solidFill>
            <a:prstDash val="solid"/>
          </a:ln>
        </p:spPr>
      </p:sp>
      <p:sp>
        <p:nvSpPr>
          <p:cNvPr id="7" name="problem-worker-1-title">
            <a:extLst xmlns:a="http://schemas.openxmlformats.org/drawingml/2006/main">
              <a:ext uri="{FF2B5EF4-FFF2-40B4-BE49-F238E27FC236}">
                <a16:creationId xmlns:a16="http://schemas.microsoft.com/office/drawing/2014/main" id="{00932141-6D16-4E60-8675-C79F5887932D}"/>
              </a:ext>
            </a:extLst>
          </p:cNvPr>
          <p:cNvSpPr>
            <a:spLocks xmlns:a="http://schemas.openxmlformats.org/drawingml/2006/main" noGrp="1"/>
          </p:cNvSpPr>
          <p:nvPr/>
        </p:nvSpPr>
        <p:spPr>
          <a:xfrm xmlns:a="http://schemas.openxmlformats.org/drawingml/2006/main">
            <a:off x="110490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WORKER 1</a:t>
            </a:r>
          </a:p>
        </p:txBody>
      </p:sp>
      <p:sp>
        <p:nvSpPr>
          <p:cNvPr id="8" name="problem-worker-2-title">
            <a:extLst xmlns:a="http://schemas.openxmlformats.org/drawingml/2006/main">
              <a:ext uri="{FF2B5EF4-FFF2-40B4-BE49-F238E27FC236}">
                <a16:creationId xmlns:a16="http://schemas.microsoft.com/office/drawing/2014/main" id="{74C0F509-EBF2-4B46-B47A-196548FB9085}"/>
              </a:ext>
            </a:extLst>
          </p:cNvPr>
          <p:cNvSpPr>
            <a:spLocks xmlns:a="http://schemas.openxmlformats.org/drawingml/2006/main" noGrp="1"/>
          </p:cNvSpPr>
          <p:nvPr/>
        </p:nvSpPr>
        <p:spPr>
          <a:xfrm xmlns:a="http://schemas.openxmlformats.org/drawingml/2006/main">
            <a:off x="763905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WORKER 2</a:t>
            </a:r>
          </a:p>
        </p:txBody>
      </p:sp>
      <p:sp>
        <p:nvSpPr>
          <p:cNvPr id="9" name="problem-task-1">
            <a:extLst xmlns:a="http://schemas.openxmlformats.org/drawingml/2006/main">
              <a:ext uri="{FF2B5EF4-FFF2-40B4-BE49-F238E27FC236}">
                <a16:creationId xmlns:a16="http://schemas.microsoft.com/office/drawing/2014/main" id="{E787BDB3-1A87-4966-A984-530B1A00749C}"/>
              </a:ext>
            </a:extLst>
          </p:cNvPr>
          <p:cNvSpPr>
            <a:spLocks xmlns:a="http://schemas.openxmlformats.org/drawingml/2006/main" noGrp="1"/>
          </p:cNvSpPr>
          <p:nvPr/>
        </p:nvSpPr>
        <p:spPr>
          <a:xfrm xmlns:a="http://schemas.openxmlformats.org/drawingml/2006/main">
            <a:off x="1409700" y="3257550"/>
            <a:ext cx="1619250" cy="7239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725" b="1">
                <a:solidFill>
                  <a:srgbClr val="172A33"/>
                </a:solidFill>
                <a:latin typeface="Arial"/>
                <a:ea typeface="Arial"/>
                <a:cs typeface="Arial"/>
              </a:defRPr>
            </a:pPr>
            <a:r>
              <a:rPr sz="1725" b="1">
                <a:solidFill>
                  <a:srgbClr val="172A33"/>
                </a:solidFill>
                <a:latin typeface="Arial"/>
                <a:ea typeface="Arial"/>
                <a:cs typeface="Arial"/>
              </a:rPr>
              <a:t>Tarea T1</a:t>
            </a:r>
          </a:p>
        </p:txBody>
      </p:sp>
      <p:sp>
        <p:nvSpPr>
          <p:cNvPr id="10" name="problem-file-1">
            <a:extLst xmlns:a="http://schemas.openxmlformats.org/drawingml/2006/main">
              <a:ext uri="{FF2B5EF4-FFF2-40B4-BE49-F238E27FC236}">
                <a16:creationId xmlns:a16="http://schemas.microsoft.com/office/drawing/2014/main" id="{8ED6C96C-8DB2-45BF-B429-FB1E5358746A}"/>
              </a:ext>
            </a:extLst>
          </p:cNvPr>
          <p:cNvSpPr>
            <a:spLocks xmlns:a="http://schemas.openxmlformats.org/drawingml/2006/main" noGrp="1"/>
          </p:cNvSpPr>
          <p:nvPr/>
        </p:nvSpPr>
        <p:spPr>
          <a:xfrm xmlns:a="http://schemas.openxmlformats.org/drawingml/2006/main">
            <a:off x="3238500" y="3409950"/>
            <a:ext cx="1104900" cy="4572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80125"/>
          </a:bodyPr>
          <a:lstStyle xmlns:a="http://schemas.openxmlformats.org/drawingml/2006/main"/>
          <a:p xmlns:a="http://schemas.openxmlformats.org/drawingml/2006/main">
            <a:pPr algn="ctr">
              <a:defRPr sz="1350" b="1">
                <a:solidFill>
                  <a:srgbClr val="172A33"/>
                </a:solidFill>
                <a:latin typeface="Arial"/>
                <a:ea typeface="Arial"/>
                <a:cs typeface="Arial"/>
              </a:defRPr>
            </a:pPr>
            <a:r>
              <a:rPr sz="1350" b="1">
                <a:solidFill>
                  <a:srgbClr val="172A33"/>
                </a:solidFill>
                <a:latin typeface="Arial"/>
                <a:ea typeface="Arial"/>
                <a:cs typeface="Arial"/>
              </a:rPr>
              <a:t>f1 · 10 MiB</a:t>
            </a:r>
          </a:p>
        </p:txBody>
      </p:sp>
      <p:sp>
        <p:nvSpPr>
          <p:cNvPr id="11" name="problem-task-2">
            <a:extLst xmlns:a="http://schemas.openxmlformats.org/drawingml/2006/main">
              <a:ext uri="{FF2B5EF4-FFF2-40B4-BE49-F238E27FC236}">
                <a16:creationId xmlns:a16="http://schemas.microsoft.com/office/drawing/2014/main" id="{9B78C101-168D-4060-AF69-1DA8B64DFBD6}"/>
              </a:ext>
            </a:extLst>
          </p:cNvPr>
          <p:cNvSpPr>
            <a:spLocks xmlns:a="http://schemas.openxmlformats.org/drawingml/2006/main" noGrp="1"/>
          </p:cNvSpPr>
          <p:nvPr/>
        </p:nvSpPr>
        <p:spPr>
          <a:xfrm xmlns:a="http://schemas.openxmlformats.org/drawingml/2006/main">
            <a:off x="8591550" y="3257550"/>
            <a:ext cx="1619250" cy="7239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725" b="1">
                <a:solidFill>
                  <a:srgbClr val="172A33"/>
                </a:solidFill>
                <a:latin typeface="Arial"/>
                <a:ea typeface="Arial"/>
                <a:cs typeface="Arial"/>
              </a:defRPr>
            </a:pPr>
            <a:r>
              <a:rPr sz="1725" b="1">
                <a:solidFill>
                  <a:srgbClr val="172A33"/>
                </a:solidFill>
                <a:latin typeface="Arial"/>
                <a:ea typeface="Arial"/>
                <a:cs typeface="Arial"/>
              </a:rPr>
              <a:t>Tarea T2</a:t>
            </a:r>
          </a:p>
        </p:txBody>
      </p:sp>
      <p:cxnSp>
        <p:nvCxnSpPr>
          <p:cNvPr id="29" name=""/>
          <p:cNvCxnSpPr>
            <a:stCxn xmlns:a="http://schemas.openxmlformats.org/drawingml/2006/main" id="9" idx="3"/>
            <a:endCxn xmlns:a="http://schemas.openxmlformats.org/drawingml/2006/main" id="10" idx="2"/>
          </p:cNvCxnSpPr>
          <p:nvPr/>
        </p:nvCxnSpPr>
        <p:spPr>
          <a:xfrm xmlns:a="http://schemas.openxmlformats.org/drawingml/2006/main">
            <a:off x="3028950" y="3619500"/>
            <a:ext cx="209550" cy="19050"/>
          </a:xfrm>
          <a:prstGeom xmlns:a="http://schemas.openxmlformats.org/drawingml/2006/main" prst="straightConnector1">
            <a:avLst/>
          </a:prstGeom>
          <a:ln xmlns:a="http://schemas.openxmlformats.org/drawingml/2006/main" w="28575">
            <a:solidFill>
              <a:srgbClr val="087E78"/>
            </a:solidFill>
            <a:prstDash val="solid"/>
            <a:tailEnd type="triangle" w="med" len="med"/>
          </a:ln>
        </p:spPr>
      </p:cxnSp>
      <p:cxnSp>
        <p:nvCxnSpPr>
          <p:cNvPr id="30" name=""/>
          <p:cNvCxnSpPr>
            <a:stCxn xmlns:a="http://schemas.openxmlformats.org/drawingml/2006/main" id="10" idx="6"/>
            <a:endCxn xmlns:a="http://schemas.openxmlformats.org/drawingml/2006/main" id="11" idx="1"/>
          </p:cNvCxnSpPr>
          <p:nvPr/>
        </p:nvCxnSpPr>
        <p:spPr>
          <a:xfrm xmlns:a="http://schemas.openxmlformats.org/drawingml/2006/main" flipV="1">
            <a:off x="4343400" y="3619500"/>
            <a:ext cx="4248150" cy="19050"/>
          </a:xfrm>
          <a:prstGeom xmlns:a="http://schemas.openxmlformats.org/drawingml/2006/main" prst="straightConnector1">
            <a:avLst/>
          </a:prstGeom>
          <a:ln xmlns:a="http://schemas.openxmlformats.org/drawingml/2006/main" w="28575">
            <a:solidFill>
              <a:srgbClr val="087E78"/>
            </a:solidFill>
            <a:prstDash val="solid"/>
            <a:tailEnd type="triangle" w="med" len="med"/>
          </a:ln>
        </p:spPr>
      </p:cxnSp>
      <p:sp>
        <p:nvSpPr>
          <p:cNvPr id="14" name="problem-arrow-label">
            <a:extLst xmlns:a="http://schemas.openxmlformats.org/drawingml/2006/main">
              <a:ext uri="{FF2B5EF4-FFF2-40B4-BE49-F238E27FC236}">
                <a16:creationId xmlns:a16="http://schemas.microsoft.com/office/drawing/2014/main" id="{6668FBEF-2FD0-4456-8F44-281DCECC3909}"/>
              </a:ext>
            </a:extLst>
          </p:cNvPr>
          <p:cNvSpPr>
            <a:spLocks xmlns:a="http://schemas.openxmlformats.org/drawingml/2006/main" noGrp="1"/>
          </p:cNvSpPr>
          <p:nvPr/>
        </p:nvSpPr>
        <p:spPr>
          <a:xfrm xmlns:a="http://schemas.openxmlformats.org/drawingml/2006/main">
            <a:off x="5010150" y="33242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087E78"/>
                </a:solidFill>
                <a:latin typeface="Arial"/>
                <a:ea typeface="Arial"/>
                <a:cs typeface="Arial"/>
              </a:defRPr>
            </a:pPr>
            <a:r>
              <a:rPr sz="1500" b="1" i="0">
                <a:solidFill>
                  <a:srgbClr val="087E78"/>
                </a:solidFill>
                <a:latin typeface="Arial"/>
                <a:ea typeface="Arial"/>
                <a:cs typeface="Arial"/>
              </a:rPr>
              <a:t>archivo requerido</a:t>
            </a:r>
          </a:p>
        </p:txBody>
      </p:sp>
      <p:sp>
        <p:nvSpPr>
          <p:cNvPr id="15" name="problem-arrow-caveat">
            <a:extLst xmlns:a="http://schemas.openxmlformats.org/drawingml/2006/main">
              <a:ext uri="{FF2B5EF4-FFF2-40B4-BE49-F238E27FC236}">
                <a16:creationId xmlns:a16="http://schemas.microsoft.com/office/drawing/2014/main" id="{1B7FA577-D141-45CC-8CAC-4F08DD61124A}"/>
              </a:ext>
            </a:extLst>
          </p:cNvPr>
          <p:cNvSpPr>
            <a:spLocks xmlns:a="http://schemas.openxmlformats.org/drawingml/2006/main" noGrp="1"/>
          </p:cNvSpPr>
          <p:nvPr/>
        </p:nvSpPr>
        <p:spPr>
          <a:xfrm xmlns:a="http://schemas.openxmlformats.org/drawingml/2006/main">
            <a:off x="876300" y="4791075"/>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La flecha muestra una dependencia de archivo; no una ruta física de red.</a:t>
            </a:r>
          </a:p>
        </p:txBody>
      </p:sp>
      <p:sp>
        <p:nvSpPr>
          <p:cNvPr id="16" name="problem-summary">
            <a:extLst xmlns:a="http://schemas.openxmlformats.org/drawingml/2006/main">
              <a:ext uri="{FF2B5EF4-FFF2-40B4-BE49-F238E27FC236}">
                <a16:creationId xmlns:a16="http://schemas.microsoft.com/office/drawing/2014/main" id="{7142BA79-0DD9-4BC8-8F7F-81A82CB9ADFB}"/>
              </a:ext>
            </a:extLst>
          </p:cNvPr>
          <p:cNvSpPr>
            <a:spLocks xmlns:a="http://schemas.openxmlformats.org/drawingml/2006/main" noGrp="1"/>
          </p:cNvSpPr>
          <p:nvPr/>
        </p:nvSpPr>
        <p:spPr>
          <a:xfrm xmlns:a="http://schemas.openxmlformats.org/drawingml/2006/main">
            <a:off x="876300" y="5095875"/>
            <a:ext cx="1043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950" b="1" i="0">
                <a:solidFill>
                  <a:srgbClr val="172A33"/>
                </a:solidFill>
                <a:latin typeface="Arial"/>
                <a:ea typeface="Arial"/>
                <a:cs typeface="Arial"/>
              </a:defRPr>
            </a:pPr>
            <a:r>
              <a:rPr sz="1950" b="1" i="0">
                <a:solidFill>
                  <a:srgbClr val="172A33"/>
                </a:solidFill>
                <a:latin typeface="Arial"/>
                <a:ea typeface="Arial"/>
                <a:cs typeface="Arial"/>
              </a:rPr>
              <a:t>La pregunta práctica: ¿cuánto movimiento exige este placement y cuánto confirma la ejecución?</a:t>
            </a:r>
          </a:p>
        </p:txBody>
      </p:sp>
      <p:sp>
        <p:nvSpPr>
          <p:cNvPr id="17" name="problem-citation">
            <a:extLst xmlns:a="http://schemas.openxmlformats.org/drawingml/2006/main">
              <a:ext uri="{FF2B5EF4-FFF2-40B4-BE49-F238E27FC236}">
                <a16:creationId xmlns:a16="http://schemas.microsoft.com/office/drawing/2014/main" id="{5097AAA2-8DB5-413B-BADA-B7DF0661D858}"/>
              </a:ext>
            </a:extLst>
          </p:cNvPr>
          <p:cNvSpPr>
            <a:spLocks xmlns:a="http://schemas.openxmlformats.org/drawingml/2006/main" noGrp="1"/>
          </p:cNvSpPr>
          <p:nvPr/>
        </p:nvSpPr>
        <p:spPr>
          <a:xfrm xmlns:a="http://schemas.openxmlformats.org/drawingml/2006/main">
            <a:off x="876300" y="592455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Contexto respaldado por Pietri y Sakellariou (2018) y Tang et al. (2024).</a:t>
            </a:r>
          </a:p>
        </p:txBody>
      </p:sp>
    </p:spTree>
    <p:extLst>
      <p:ext uri="{BB962C8B-B14F-4D97-AF65-F5344CB8AC3E}">
        <p14:creationId xmlns:p14="http://schemas.microsoft.com/office/powerpoint/2010/main" val="1516221021"/>
      </p:ext>
    </p:extLst>
  </p:cSld>
</p:sld>
</file>

<file path=ppt/slides/slide3.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3" name="slide-title-3">
            <a:extLst xmlns:a="http://schemas.openxmlformats.org/drawingml/2006/main">
              <a:ext uri="{FF2B5EF4-FFF2-40B4-BE49-F238E27FC236}">
                <a16:creationId xmlns:a16="http://schemas.microsoft.com/office/drawing/2014/main" id="{6B73ED15-B781-4182-BCA7-00128EE093F6}"/>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Qué encontró la investigación previa</a:t>
            </a:r>
          </a:p>
        </p:txBody>
      </p:sp>
      <p:sp>
        <p:nvSpPr>
          <p:cNvPr id="2" name="title-rule-3">
            <a:extLst xmlns:a="http://schemas.openxmlformats.org/drawingml/2006/main">
              <a:ext uri="{FF2B5EF4-FFF2-40B4-BE49-F238E27FC236}">
                <a16:creationId xmlns:a16="http://schemas.microsoft.com/office/drawing/2014/main" id="{1E02B778-E4AD-484D-A363-8EFB69F190EC}"/>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3">
            <a:extLst xmlns:a="http://schemas.openxmlformats.org/drawingml/2006/main">
              <a:ext uri="{FF2B5EF4-FFF2-40B4-BE49-F238E27FC236}">
                <a16:creationId xmlns:a16="http://schemas.microsoft.com/office/drawing/2014/main" id="{1AE1F104-4B2D-418A-B60F-C53A6932EFE5}"/>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03</a:t>
            </a:r>
          </a:p>
        </p:txBody>
      </p:sp>
      <p:sp>
        <p:nvSpPr>
          <p:cNvPr id="4" name="literature-lead">
            <a:extLst xmlns:a="http://schemas.openxmlformats.org/drawingml/2006/main">
              <a:ext uri="{FF2B5EF4-FFF2-40B4-BE49-F238E27FC236}">
                <a16:creationId xmlns:a16="http://schemas.microsoft.com/office/drawing/2014/main" id="{89D74233-44B6-4B08-BEC2-383DDD8CC562}"/>
              </a:ext>
            </a:extLst>
          </p:cNvPr>
          <p:cNvSpPr>
            <a:spLocks xmlns:a="http://schemas.openxmlformats.org/drawingml/2006/main" noGrp="1"/>
          </p:cNvSpPr>
          <p:nvPr/>
        </p:nvSpPr>
        <p:spPr>
          <a:xfrm xmlns:a="http://schemas.openxmlformats.org/drawingml/2006/main">
            <a:off x="685800" y="13049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0">
                <a:solidFill>
                  <a:srgbClr val="65757C"/>
                </a:solidFill>
                <a:latin typeface="Arial"/>
                <a:ea typeface="Arial"/>
                <a:cs typeface="Arial"/>
              </a:defRPr>
            </a:pPr>
            <a:r>
              <a:rPr sz="1875" b="0" i="0">
                <a:solidFill>
                  <a:srgbClr val="65757C"/>
                </a:solidFill>
                <a:latin typeface="Arial"/>
                <a:ea typeface="Arial"/>
                <a:cs typeface="Arial"/>
              </a:rPr>
              <a:t>Cada línea ayuda a entender una parte del problema.</a:t>
            </a:r>
          </a:p>
        </p:txBody>
      </p:sp>
      <p:sp>
        <p:nvSpPr>
          <p:cNvPr id="5" name="literature-author-0">
            <a:extLst xmlns:a="http://schemas.openxmlformats.org/drawingml/2006/main">
              <a:ext uri="{FF2B5EF4-FFF2-40B4-BE49-F238E27FC236}">
                <a16:creationId xmlns:a16="http://schemas.microsoft.com/office/drawing/2014/main" id="{717744B2-E5D8-4071-87D2-D02E0391398B}"/>
              </a:ext>
            </a:extLst>
          </p:cNvPr>
          <p:cNvSpPr>
            <a:spLocks xmlns:a="http://schemas.openxmlformats.org/drawingml/2006/main" noGrp="1"/>
          </p:cNvSpPr>
          <p:nvPr/>
        </p:nvSpPr>
        <p:spPr>
          <a:xfrm xmlns:a="http://schemas.openxmlformats.org/drawingml/2006/main">
            <a:off x="781050" y="18097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Bharathi et al. (2008)</a:t>
            </a:r>
          </a:p>
        </p:txBody>
      </p:sp>
      <p:sp>
        <p:nvSpPr>
          <p:cNvPr id="6" name="literature-finding-0">
            <a:extLst xmlns:a="http://schemas.openxmlformats.org/drawingml/2006/main">
              <a:ext uri="{FF2B5EF4-FFF2-40B4-BE49-F238E27FC236}">
                <a16:creationId xmlns:a16="http://schemas.microsoft.com/office/drawing/2014/main" id="{17BB230C-EE74-4F4B-B1DE-866BC92A8C41}"/>
              </a:ext>
            </a:extLst>
          </p:cNvPr>
          <p:cNvSpPr>
            <a:spLocks xmlns:a="http://schemas.openxmlformats.org/drawingml/2006/main" noGrp="1"/>
          </p:cNvSpPr>
          <p:nvPr/>
        </p:nvSpPr>
        <p:spPr>
          <a:xfrm xmlns:a="http://schemas.openxmlformats.org/drawingml/2006/main">
            <a:off x="3905250" y="1809750"/>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Describen patrones de workflows científicos. Nos orientan a validar más de una forma de dependencia.</a:t>
            </a:r>
          </a:p>
        </p:txBody>
      </p:sp>
      <p:sp>
        <p:nvSpPr>
          <p:cNvPr id="7" name="literature-rule-0">
            <a:extLst xmlns:a="http://schemas.openxmlformats.org/drawingml/2006/main">
              <a:ext uri="{FF2B5EF4-FFF2-40B4-BE49-F238E27FC236}">
                <a16:creationId xmlns:a16="http://schemas.microsoft.com/office/drawing/2014/main" id="{8D42C268-3EDB-421B-AC2C-551D5207875B}"/>
              </a:ext>
            </a:extLst>
          </p:cNvPr>
          <p:cNvSpPr>
            <a:spLocks xmlns:a="http://schemas.openxmlformats.org/drawingml/2006/main" noGrp="1"/>
          </p:cNvSpPr>
          <p:nvPr/>
        </p:nvSpPr>
        <p:spPr>
          <a:xfrm xmlns:a="http://schemas.openxmlformats.org/drawingml/2006/main">
            <a:off x="781050" y="2428875"/>
            <a:ext cx="1053465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8" name="literature-author-1">
            <a:extLst xmlns:a="http://schemas.openxmlformats.org/drawingml/2006/main">
              <a:ext uri="{FF2B5EF4-FFF2-40B4-BE49-F238E27FC236}">
                <a16:creationId xmlns:a16="http://schemas.microsoft.com/office/drawing/2014/main" id="{92EE70BB-DCF3-4D47-8B4F-26D8DD691D72}"/>
              </a:ext>
            </a:extLst>
          </p:cNvPr>
          <p:cNvSpPr>
            <a:spLocks xmlns:a="http://schemas.openxmlformats.org/drawingml/2006/main" noGrp="1"/>
          </p:cNvSpPr>
          <p:nvPr/>
        </p:nvSpPr>
        <p:spPr>
          <a:xfrm xmlns:a="http://schemas.openxmlformats.org/drawingml/2006/main">
            <a:off x="781050" y="25241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Pietri y Sakellariou (2018)</a:t>
            </a:r>
          </a:p>
        </p:txBody>
      </p:sp>
      <p:sp>
        <p:nvSpPr>
          <p:cNvPr id="9" name="literature-finding-1">
            <a:extLst xmlns:a="http://schemas.openxmlformats.org/drawingml/2006/main">
              <a:ext uri="{FF2B5EF4-FFF2-40B4-BE49-F238E27FC236}">
                <a16:creationId xmlns:a16="http://schemas.microsoft.com/office/drawing/2014/main" id="{924A1C13-E177-487E-9795-9B46C1B25090}"/>
              </a:ext>
            </a:extLst>
          </p:cNvPr>
          <p:cNvSpPr>
            <a:spLocks xmlns:a="http://schemas.openxmlformats.org/drawingml/2006/main" noGrp="1"/>
          </p:cNvSpPr>
          <p:nvPr/>
        </p:nvSpPr>
        <p:spPr>
          <a:xfrm xmlns:a="http://schemas.openxmlformats.org/drawingml/2006/main">
            <a:off x="3905250" y="2524125"/>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Incluyen costo de comunicación al ubicar tareas. Muestran por qué importa el placement.</a:t>
            </a:r>
          </a:p>
        </p:txBody>
      </p:sp>
      <p:sp>
        <p:nvSpPr>
          <p:cNvPr id="10" name="literature-rule-1">
            <a:extLst xmlns:a="http://schemas.openxmlformats.org/drawingml/2006/main">
              <a:ext uri="{FF2B5EF4-FFF2-40B4-BE49-F238E27FC236}">
                <a16:creationId xmlns:a16="http://schemas.microsoft.com/office/drawing/2014/main" id="{106A4BE3-1EF8-426E-834E-1F10DF1E17BC}"/>
              </a:ext>
            </a:extLst>
          </p:cNvPr>
          <p:cNvSpPr>
            <a:spLocks xmlns:a="http://schemas.openxmlformats.org/drawingml/2006/main" noGrp="1"/>
          </p:cNvSpPr>
          <p:nvPr/>
        </p:nvSpPr>
        <p:spPr>
          <a:xfrm xmlns:a="http://schemas.openxmlformats.org/drawingml/2006/main">
            <a:off x="781050" y="3143250"/>
            <a:ext cx="1053465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1" name="literature-author-2">
            <a:extLst xmlns:a="http://schemas.openxmlformats.org/drawingml/2006/main">
              <a:ext uri="{FF2B5EF4-FFF2-40B4-BE49-F238E27FC236}">
                <a16:creationId xmlns:a16="http://schemas.microsoft.com/office/drawing/2014/main" id="{6323FC6A-8735-45F1-BBC8-305C6E306AA0}"/>
              </a:ext>
            </a:extLst>
          </p:cNvPr>
          <p:cNvSpPr>
            <a:spLocks xmlns:a="http://schemas.openxmlformats.org/drawingml/2006/main" noGrp="1"/>
          </p:cNvSpPr>
          <p:nvPr/>
        </p:nvSpPr>
        <p:spPr>
          <a:xfrm xmlns:a="http://schemas.openxmlformats.org/drawingml/2006/main">
            <a:off x="781050" y="32385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Lee et al. (2023) · DataLife</a:t>
            </a:r>
          </a:p>
        </p:txBody>
      </p:sp>
      <p:sp>
        <p:nvSpPr>
          <p:cNvPr id="12" name="literature-finding-2">
            <a:extLst xmlns:a="http://schemas.openxmlformats.org/drawingml/2006/main">
              <a:ext uri="{FF2B5EF4-FFF2-40B4-BE49-F238E27FC236}">
                <a16:creationId xmlns:a16="http://schemas.microsoft.com/office/drawing/2014/main" id="{233790C8-C469-445E-8B37-2A68114EEEE2}"/>
              </a:ext>
            </a:extLst>
          </p:cNvPr>
          <p:cNvSpPr>
            <a:spLocks xmlns:a="http://schemas.openxmlformats.org/drawingml/2006/main" noGrp="1"/>
          </p:cNvSpPr>
          <p:nvPr/>
        </p:nvSpPr>
        <p:spPr>
          <a:xfrm xmlns:a="http://schemas.openxmlformats.org/drawingml/2006/main">
            <a:off x="3905250" y="3238500"/>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Siguen el ciclo de vida de datos entre tareas. Apoyan mirar archivos y consumidores, además del grafo.</a:t>
            </a:r>
          </a:p>
        </p:txBody>
      </p:sp>
      <p:sp>
        <p:nvSpPr>
          <p:cNvPr id="13" name="literature-rule-2">
            <a:extLst xmlns:a="http://schemas.openxmlformats.org/drawingml/2006/main">
              <a:ext uri="{FF2B5EF4-FFF2-40B4-BE49-F238E27FC236}">
                <a16:creationId xmlns:a16="http://schemas.microsoft.com/office/drawing/2014/main" id="{F4B0563C-68BC-4E24-89AB-F1A0BB047BC5}"/>
              </a:ext>
            </a:extLst>
          </p:cNvPr>
          <p:cNvSpPr>
            <a:spLocks xmlns:a="http://schemas.openxmlformats.org/drawingml/2006/main" noGrp="1"/>
          </p:cNvSpPr>
          <p:nvPr/>
        </p:nvSpPr>
        <p:spPr>
          <a:xfrm xmlns:a="http://schemas.openxmlformats.org/drawingml/2006/main">
            <a:off x="781050" y="3857625"/>
            <a:ext cx="1053465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4" name="literature-author-3">
            <a:extLst xmlns:a="http://schemas.openxmlformats.org/drawingml/2006/main">
              <a:ext uri="{FF2B5EF4-FFF2-40B4-BE49-F238E27FC236}">
                <a16:creationId xmlns:a16="http://schemas.microsoft.com/office/drawing/2014/main" id="{F63C6D5C-B0C7-464F-ADCA-34E3250F5A3B}"/>
              </a:ext>
            </a:extLst>
          </p:cNvPr>
          <p:cNvSpPr>
            <a:spLocks xmlns:a="http://schemas.openxmlformats.org/drawingml/2006/main" noGrp="1"/>
          </p:cNvSpPr>
          <p:nvPr/>
        </p:nvSpPr>
        <p:spPr>
          <a:xfrm xmlns:a="http://schemas.openxmlformats.org/drawingml/2006/main">
            <a:off x="781050" y="395287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Tang et al. (2024) · DaYu</a:t>
            </a:r>
          </a:p>
        </p:txBody>
      </p:sp>
      <p:sp>
        <p:nvSpPr>
          <p:cNvPr id="15" name="literature-finding-3">
            <a:extLst xmlns:a="http://schemas.openxmlformats.org/drawingml/2006/main">
              <a:ext uri="{FF2B5EF4-FFF2-40B4-BE49-F238E27FC236}">
                <a16:creationId xmlns:a16="http://schemas.microsoft.com/office/drawing/2014/main" id="{A60E61B0-724B-4D0B-8AD1-3D85445BF96E}"/>
              </a:ext>
            </a:extLst>
          </p:cNvPr>
          <p:cNvSpPr>
            <a:spLocks xmlns:a="http://schemas.openxmlformats.org/drawingml/2006/main" noGrp="1"/>
          </p:cNvSpPr>
          <p:nvPr/>
        </p:nvSpPr>
        <p:spPr>
          <a:xfrm xmlns:a="http://schemas.openxmlformats.org/drawingml/2006/main">
            <a:off x="3905250" y="3952875"/>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Relacionan datasets con operaciones I/O. Sus conclusiones requieren evidencia de I/O más detallada.</a:t>
            </a:r>
          </a:p>
        </p:txBody>
      </p:sp>
      <p:sp>
        <p:nvSpPr>
          <p:cNvPr id="16" name="literature-rule-3">
            <a:extLst xmlns:a="http://schemas.openxmlformats.org/drawingml/2006/main">
              <a:ext uri="{FF2B5EF4-FFF2-40B4-BE49-F238E27FC236}">
                <a16:creationId xmlns:a16="http://schemas.microsoft.com/office/drawing/2014/main" id="{EFB740AE-0F97-49A0-B2AB-E5BA44B105C8}"/>
              </a:ext>
            </a:extLst>
          </p:cNvPr>
          <p:cNvSpPr>
            <a:spLocks xmlns:a="http://schemas.openxmlformats.org/drawingml/2006/main" noGrp="1"/>
          </p:cNvSpPr>
          <p:nvPr/>
        </p:nvSpPr>
        <p:spPr>
          <a:xfrm xmlns:a="http://schemas.openxmlformats.org/drawingml/2006/main">
            <a:off x="781050" y="4572000"/>
            <a:ext cx="1053465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7" name="literature-author-4">
            <a:extLst xmlns:a="http://schemas.openxmlformats.org/drawingml/2006/main">
              <a:ext uri="{FF2B5EF4-FFF2-40B4-BE49-F238E27FC236}">
                <a16:creationId xmlns:a16="http://schemas.microsoft.com/office/drawing/2014/main" id="{89841220-1B22-4D38-ACB4-CED843345CCA}"/>
              </a:ext>
            </a:extLst>
          </p:cNvPr>
          <p:cNvSpPr>
            <a:spLocks xmlns:a="http://schemas.openxmlformats.org/drawingml/2006/main" noGrp="1"/>
          </p:cNvSpPr>
          <p:nvPr/>
        </p:nvSpPr>
        <p:spPr>
          <a:xfrm xmlns:a="http://schemas.openxmlformats.org/drawingml/2006/main">
            <a:off x="781050" y="466725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Devarajan et al. (2024) · DFTracer</a:t>
            </a:r>
          </a:p>
        </p:txBody>
      </p:sp>
      <p:sp>
        <p:nvSpPr>
          <p:cNvPr id="18" name="literature-finding-4">
            <a:extLst xmlns:a="http://schemas.openxmlformats.org/drawingml/2006/main">
              <a:ext uri="{FF2B5EF4-FFF2-40B4-BE49-F238E27FC236}">
                <a16:creationId xmlns:a16="http://schemas.microsoft.com/office/drawing/2014/main" id="{3AB6AD96-E8EB-4562-A38E-5DEE39B7BFA3}"/>
              </a:ext>
            </a:extLst>
          </p:cNvPr>
          <p:cNvSpPr>
            <a:spLocks xmlns:a="http://schemas.openxmlformats.org/drawingml/2006/main" noGrp="1"/>
          </p:cNvSpPr>
          <p:nvPr/>
        </p:nvSpPr>
        <p:spPr>
          <a:xfrm xmlns:a="http://schemas.openxmlformats.org/drawingml/2006/main">
            <a:off x="3905250" y="4667250"/>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Capturan trazas de varias capas. Es más instrumentación que el análisis post-mortem de esta tesis.</a:t>
            </a:r>
          </a:p>
        </p:txBody>
      </p:sp>
      <p:sp>
        <p:nvSpPr>
          <p:cNvPr id="19" name="literature-rule-4">
            <a:extLst xmlns:a="http://schemas.openxmlformats.org/drawingml/2006/main">
              <a:ext uri="{FF2B5EF4-FFF2-40B4-BE49-F238E27FC236}">
                <a16:creationId xmlns:a16="http://schemas.microsoft.com/office/drawing/2014/main" id="{EEEB626C-541B-44E9-BAB9-B2F3E71B0855}"/>
              </a:ext>
            </a:extLst>
          </p:cNvPr>
          <p:cNvSpPr>
            <a:spLocks xmlns:a="http://schemas.openxmlformats.org/drawingml/2006/main" noGrp="1"/>
          </p:cNvSpPr>
          <p:nvPr/>
        </p:nvSpPr>
        <p:spPr>
          <a:xfrm xmlns:a="http://schemas.openxmlformats.org/drawingml/2006/main">
            <a:off x="781050" y="5286375"/>
            <a:ext cx="1053465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0" name="literature-author-5">
            <a:extLst xmlns:a="http://schemas.openxmlformats.org/drawingml/2006/main">
              <a:ext uri="{FF2B5EF4-FFF2-40B4-BE49-F238E27FC236}">
                <a16:creationId xmlns:a16="http://schemas.microsoft.com/office/drawing/2014/main" id="{66C83011-8F3F-4C2D-9244-113D9D9F4E0F}"/>
              </a:ext>
            </a:extLst>
          </p:cNvPr>
          <p:cNvSpPr>
            <a:spLocks xmlns:a="http://schemas.openxmlformats.org/drawingml/2006/main" noGrp="1"/>
          </p:cNvSpPr>
          <p:nvPr/>
        </p:nvSpPr>
        <p:spPr>
          <a:xfrm xmlns:a="http://schemas.openxmlformats.org/drawingml/2006/main">
            <a:off x="781050" y="53816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Aurelio Vivas Meza (2026)</a:t>
            </a:r>
          </a:p>
        </p:txBody>
      </p:sp>
      <p:sp>
        <p:nvSpPr>
          <p:cNvPr id="21" name="literature-finding-5">
            <a:extLst xmlns:a="http://schemas.openxmlformats.org/drawingml/2006/main">
              <a:ext uri="{FF2B5EF4-FFF2-40B4-BE49-F238E27FC236}">
                <a16:creationId xmlns:a16="http://schemas.microsoft.com/office/drawing/2014/main" id="{C4D29D36-019D-46A2-AC09-DF8FDDCFA4FB}"/>
              </a:ext>
            </a:extLst>
          </p:cNvPr>
          <p:cNvSpPr>
            <a:spLocks xmlns:a="http://schemas.openxmlformats.org/drawingml/2006/main" noGrp="1"/>
          </p:cNvSpPr>
          <p:nvPr/>
        </p:nvSpPr>
        <p:spPr>
          <a:xfrm xmlns:a="http://schemas.openxmlformats.org/drawingml/2006/main">
            <a:off x="3905250" y="5381625"/>
            <a:ext cx="742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Estudia scheduling que considera movimiento y NUMA. Su foco de localidad interna es distinto al staging entre workers.</a:t>
            </a:r>
          </a:p>
        </p:txBody>
      </p:sp>
      <p:sp>
        <p:nvSpPr>
          <p:cNvPr id="22" name="literature-takeaway">
            <a:extLst xmlns:a="http://schemas.openxmlformats.org/drawingml/2006/main">
              <a:ext uri="{FF2B5EF4-FFF2-40B4-BE49-F238E27FC236}">
                <a16:creationId xmlns:a16="http://schemas.microsoft.com/office/drawing/2014/main" id="{8E4716C7-D038-47B6-BD0D-5CCE8FB55D88}"/>
              </a:ext>
            </a:extLst>
          </p:cNvPr>
          <p:cNvSpPr>
            <a:spLocks xmlns:a="http://schemas.openxmlformats.org/drawingml/2006/main" noGrp="1"/>
          </p:cNvSpPr>
          <p:nvPr/>
        </p:nvSpPr>
        <p:spPr>
          <a:xfrm xmlns:a="http://schemas.openxmlformats.org/drawingml/2006/main">
            <a:off x="781050" y="61912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87E78"/>
                </a:solidFill>
                <a:latin typeface="Arial"/>
                <a:ea typeface="Arial"/>
                <a:cs typeface="Arial"/>
              </a:defRPr>
            </a:pPr>
            <a:r>
              <a:rPr sz="1350" b="1" i="0">
                <a:solidFill>
                  <a:srgbClr val="087E78"/>
                </a:solidFill>
                <a:latin typeface="Arial"/>
                <a:ea typeface="Arial"/>
                <a:cs typeface="Arial"/>
              </a:rPr>
              <a:t>La métrica de esta tesis complementa estos trabajos; responde una pregunta de medición diferente.</a:t>
            </a:r>
          </a:p>
        </p:txBody>
      </p:sp>
    </p:spTree>
    <p:extLst>
      <p:ext uri="{BB962C8B-B14F-4D97-AF65-F5344CB8AC3E}">
        <p14:creationId xmlns:p14="http://schemas.microsoft.com/office/powerpoint/2010/main" val="1766819612"/>
      </p:ext>
    </p:extLst>
  </p:cSld>
</p:sld>
</file>

<file path=ppt/slides/slide4.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8" name="slide-title-4">
            <a:extLst xmlns:a="http://schemas.openxmlformats.org/drawingml/2006/main">
              <a:ext uri="{FF2B5EF4-FFF2-40B4-BE49-F238E27FC236}">
                <a16:creationId xmlns:a16="http://schemas.microsoft.com/office/drawing/2014/main" id="{77B32BF4-3931-4402-81A7-3A340E30EF79}"/>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La pregunta de esta tesis</a:t>
            </a:r>
          </a:p>
        </p:txBody>
      </p:sp>
      <p:sp>
        <p:nvSpPr>
          <p:cNvPr id="2" name="title-rule-4">
            <a:extLst xmlns:a="http://schemas.openxmlformats.org/drawingml/2006/main">
              <a:ext uri="{FF2B5EF4-FFF2-40B4-BE49-F238E27FC236}">
                <a16:creationId xmlns:a16="http://schemas.microsoft.com/office/drawing/2014/main" id="{202DE537-E194-4E37-A0F3-6FBC06D94D33}"/>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4">
            <a:extLst xmlns:a="http://schemas.openxmlformats.org/drawingml/2006/main">
              <a:ext uri="{FF2B5EF4-FFF2-40B4-BE49-F238E27FC236}">
                <a16:creationId xmlns:a16="http://schemas.microsoft.com/office/drawing/2014/main" id="{6364C657-F162-499A-8994-24E74E21B93F}"/>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04</a:t>
            </a:r>
          </a:p>
        </p:txBody>
      </p:sp>
      <p:sp>
        <p:nvSpPr>
          <p:cNvPr id="4" name="research-question">
            <a:extLst xmlns:a="http://schemas.openxmlformats.org/drawingml/2006/main">
              <a:ext uri="{FF2B5EF4-FFF2-40B4-BE49-F238E27FC236}">
                <a16:creationId xmlns:a16="http://schemas.microsoft.com/office/drawing/2014/main" id="{DE44143C-C2BA-49A2-9466-FB280E073BCF}"/>
              </a:ext>
            </a:extLst>
          </p:cNvPr>
          <p:cNvSpPr>
            <a:spLocks xmlns:a="http://schemas.openxmlformats.org/drawingml/2006/main" noGrp="1"/>
          </p:cNvSpPr>
          <p:nvPr/>
        </p:nvSpPr>
        <p:spPr>
          <a:xfrm xmlns:a="http://schemas.openxmlformats.org/drawingml/2006/main">
            <a:off x="1104900" y="1809750"/>
            <a:ext cx="99822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2850" b="1" i="0">
                <a:solidFill>
                  <a:srgbClr val="172A33"/>
                </a:solidFill>
                <a:latin typeface="Arial"/>
                <a:ea typeface="Arial"/>
                <a:cs typeface="Arial"/>
              </a:defRPr>
            </a:pPr>
            <a:r>
              <a:rPr sz="2850" b="1" i="0">
                <a:solidFill>
                  <a:srgbClr val="172A33"/>
                </a:solidFill>
                <a:latin typeface="Arial"/>
                <a:ea typeface="Arial"/>
                <a:cs typeface="Arial"/>
              </a:rPr>
              <a:t>Dado un workflow y el placement real de sus tareas, ¿cuánto movimiento de datos exigen sus dependencias entre ubicaciones y cuánto movimiento produce realmente el mecanismo de ejecución?</a:t>
            </a:r>
          </a:p>
        </p:txBody>
      </p:sp>
      <p:sp>
        <p:nvSpPr>
          <p:cNvPr id="5" name="rq-accent">
            <a:extLst xmlns:a="http://schemas.openxmlformats.org/drawingml/2006/main">
              <a:ext uri="{FF2B5EF4-FFF2-40B4-BE49-F238E27FC236}">
                <a16:creationId xmlns:a16="http://schemas.microsoft.com/office/drawing/2014/main" id="{1BB5DD04-7B8E-4B4C-9EEA-A922AAF2A3C4}"/>
              </a:ext>
            </a:extLst>
          </p:cNvPr>
          <p:cNvSpPr>
            <a:spLocks xmlns:a="http://schemas.openxmlformats.org/drawingml/2006/main" noGrp="1"/>
          </p:cNvSpPr>
          <p:nvPr/>
        </p:nvSpPr>
        <p:spPr>
          <a:xfrm xmlns:a="http://schemas.openxmlformats.org/drawingml/2006/main">
            <a:off x="5048250" y="3933825"/>
            <a:ext cx="2095500" cy="38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6" name="research-contribution">
            <a:extLst xmlns:a="http://schemas.openxmlformats.org/drawingml/2006/main">
              <a:ext uri="{FF2B5EF4-FFF2-40B4-BE49-F238E27FC236}">
                <a16:creationId xmlns:a16="http://schemas.microsoft.com/office/drawing/2014/main" id="{7EB3A9E4-79F0-4DDA-BAD2-FCD9E707FA4E}"/>
              </a:ext>
            </a:extLst>
          </p:cNvPr>
          <p:cNvSpPr>
            <a:spLocks xmlns:a="http://schemas.openxmlformats.org/drawingml/2006/main" noGrp="1"/>
          </p:cNvSpPr>
          <p:nvPr/>
        </p:nvSpPr>
        <p:spPr>
          <a:xfrm xmlns:a="http://schemas.openxmlformats.org/drawingml/2006/main">
            <a:off x="1476375" y="4343400"/>
            <a:ext cx="923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0" i="0">
                <a:solidFill>
                  <a:srgbClr val="293A42"/>
                </a:solidFill>
                <a:latin typeface="Arial"/>
                <a:ea typeface="Arial"/>
                <a:cs typeface="Arial"/>
              </a:defRPr>
            </a:pPr>
            <a:r>
              <a:rPr sz="2025" b="0" i="0">
                <a:solidFill>
                  <a:srgbClr val="293A42"/>
                </a:solidFill>
                <a:latin typeface="Arial"/>
                <a:ea typeface="Arial"/>
                <a:cs typeface="Arial"/>
              </a:rPr>
              <a:t>La respuesta combina el workflow, el worker donde corrió cada tarea, los tamaños de archivo y la evidencia de transferencia de cada job.</a:t>
            </a:r>
          </a:p>
        </p:txBody>
      </p:sp>
      <p:sp>
        <p:nvSpPr>
          <p:cNvPr id="7" name="research-boundary">
            <a:extLst xmlns:a="http://schemas.openxmlformats.org/drawingml/2006/main">
              <a:ext uri="{FF2B5EF4-FFF2-40B4-BE49-F238E27FC236}">
                <a16:creationId xmlns:a16="http://schemas.microsoft.com/office/drawing/2014/main" id="{E0063A4F-2C52-435B-9D64-4EF91587F9E7}"/>
              </a:ext>
            </a:extLst>
          </p:cNvPr>
          <p:cNvSpPr>
            <a:spLocks xmlns:a="http://schemas.openxmlformats.org/drawingml/2006/main" noGrp="1"/>
          </p:cNvSpPr>
          <p:nvPr/>
        </p:nvSpPr>
        <p:spPr>
          <a:xfrm xmlns:a="http://schemas.openxmlformats.org/drawingml/2006/main">
            <a:off x="1714500" y="54292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17"/>
          </a:bodyPr>
          <a:lstStyle xmlns:a="http://schemas.openxmlformats.org/drawingml/2006/main"/>
          <a:p xmlns:a="http://schemas.openxmlformats.org/drawingml/2006/main">
            <a:pPr algn="ctr">
              <a:lnSpc>
                <a:spcPct val="100000"/>
              </a:lnSpc>
              <a:buNone/>
              <a:defRPr sz="1575" b="0" i="0">
                <a:solidFill>
                  <a:srgbClr val="65757C"/>
                </a:solidFill>
                <a:latin typeface="Arial"/>
                <a:ea typeface="Arial"/>
                <a:cs typeface="Arial"/>
              </a:defRPr>
            </a:pPr>
            <a:r>
              <a:rPr sz="1575" b="0" i="0">
                <a:solidFill>
                  <a:srgbClr val="65757C"/>
                </a:solidFill>
                <a:latin typeface="Arial"/>
                <a:ea typeface="Arial"/>
                <a:cs typeface="Arial"/>
              </a:rPr>
              <a:t>‘Lo que produce’ se estima con manifiestos y evidencia HTCondor por job; no con paquetes de red.</a:t>
            </a:r>
          </a:p>
        </p:txBody>
      </p:sp>
    </p:spTree>
    <p:extLst>
      <p:ext uri="{BB962C8B-B14F-4D97-AF65-F5344CB8AC3E}">
        <p14:creationId xmlns:p14="http://schemas.microsoft.com/office/powerpoint/2010/main" val="294570565"/>
      </p:ext>
    </p:extLst>
  </p:cSld>
</p:sld>
</file>

<file path=ppt/slides/slide5.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6" name="slide-title-5">
            <a:extLst xmlns:a="http://schemas.openxmlformats.org/drawingml/2006/main">
              <a:ext uri="{FF2B5EF4-FFF2-40B4-BE49-F238E27FC236}">
                <a16:creationId xmlns:a16="http://schemas.microsoft.com/office/drawing/2014/main" id="{5657124E-F1E7-4BEE-821F-D871AAD4616E}"/>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Tres cantidades, tres tipos de evidencia</a:t>
            </a:r>
          </a:p>
        </p:txBody>
      </p:sp>
      <p:sp>
        <p:nvSpPr>
          <p:cNvPr id="2" name="title-rule-5">
            <a:extLst xmlns:a="http://schemas.openxmlformats.org/drawingml/2006/main">
              <a:ext uri="{FF2B5EF4-FFF2-40B4-BE49-F238E27FC236}">
                <a16:creationId xmlns:a16="http://schemas.microsoft.com/office/drawing/2014/main" id="{4EF30F9F-012D-41CB-9E66-E96C21A82727}"/>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5">
            <a:extLst xmlns:a="http://schemas.openxmlformats.org/drawingml/2006/main">
              <a:ext uri="{FF2B5EF4-FFF2-40B4-BE49-F238E27FC236}">
                <a16:creationId xmlns:a16="http://schemas.microsoft.com/office/drawing/2014/main" id="{109143D8-A637-46BA-B159-5BF7D3C48F8F}"/>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05</a:t>
            </a:r>
          </a:p>
        </p:txBody>
      </p:sp>
      <p:sp>
        <p:nvSpPr>
          <p:cNvPr id="4" name="boundary-title-0">
            <a:extLst xmlns:a="http://schemas.openxmlformats.org/drawingml/2006/main">
              <a:ext uri="{FF2B5EF4-FFF2-40B4-BE49-F238E27FC236}">
                <a16:creationId xmlns:a16="http://schemas.microsoft.com/office/drawing/2014/main" id="{68392142-2579-414B-8082-4B9087B9E6F9}"/>
              </a:ext>
            </a:extLst>
          </p:cNvPr>
          <p:cNvSpPr>
            <a:spLocks xmlns:a="http://schemas.openxmlformats.org/drawingml/2006/main" noGrp="1"/>
          </p:cNvSpPr>
          <p:nvPr/>
        </p:nvSpPr>
        <p:spPr>
          <a:xfrm xmlns:a="http://schemas.openxmlformats.org/drawingml/2006/main">
            <a:off x="781050" y="16954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72A33"/>
                </a:solidFill>
                <a:latin typeface="Arial"/>
                <a:ea typeface="Arial"/>
                <a:cs typeface="Arial"/>
              </a:defRPr>
            </a:pPr>
            <a:r>
              <a:rPr sz="2025" b="1" i="0">
                <a:solidFill>
                  <a:srgbClr val="172A33"/>
                </a:solidFill>
                <a:latin typeface="Arial"/>
                <a:ea typeface="Arial"/>
                <a:cs typeface="Arial"/>
              </a:rPr>
              <a:t>M_req · requerido</a:t>
            </a:r>
          </a:p>
        </p:txBody>
      </p:sp>
      <p:sp>
        <p:nvSpPr>
          <p:cNvPr id="5" name="boundary-rule-0">
            <a:extLst xmlns:a="http://schemas.openxmlformats.org/drawingml/2006/main">
              <a:ext uri="{FF2B5EF4-FFF2-40B4-BE49-F238E27FC236}">
                <a16:creationId xmlns:a16="http://schemas.microsoft.com/office/drawing/2014/main" id="{E1ADA1B8-C0C9-4A1F-891E-C733E43C5E4C}"/>
              </a:ext>
            </a:extLst>
          </p:cNvPr>
          <p:cNvSpPr>
            <a:spLocks xmlns:a="http://schemas.openxmlformats.org/drawingml/2006/main" noGrp="1"/>
          </p:cNvSpPr>
          <p:nvPr/>
        </p:nvSpPr>
        <p:spPr>
          <a:xfrm xmlns:a="http://schemas.openxmlformats.org/drawingml/2006/main">
            <a:off x="781050" y="2247900"/>
            <a:ext cx="31432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6" name="boundary-body-0">
            <a:extLst xmlns:a="http://schemas.openxmlformats.org/drawingml/2006/main">
              <a:ext uri="{FF2B5EF4-FFF2-40B4-BE49-F238E27FC236}">
                <a16:creationId xmlns:a16="http://schemas.microsoft.com/office/drawing/2014/main" id="{C31ED4AE-0B4E-40BB-BE5E-34D67A6A4B2E}"/>
              </a:ext>
            </a:extLst>
          </p:cNvPr>
          <p:cNvSpPr>
            <a:spLocks xmlns:a="http://schemas.openxmlformats.org/drawingml/2006/main" noGrp="1"/>
          </p:cNvSpPr>
          <p:nvPr/>
        </p:nvSpPr>
        <p:spPr>
          <a:xfrm xmlns:a="http://schemas.openxmlformats.org/drawingml/2006/main">
            <a:off x="781050" y="24955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Workflow + tamaños + ubicación real de las tareas.</a:t>
            </a:r>
          </a:p>
          <a:p xmlns:a="http://schemas.openxmlformats.org/drawingml/2006/main">
            <a:r>
              <a:t/>
            </a:r>
          </a:p>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Cuenta ubicaciones nuevas distintas donde cada archivo se necesita.</a:t>
            </a:r>
          </a:p>
        </p:txBody>
      </p:sp>
      <p:sp>
        <p:nvSpPr>
          <p:cNvPr id="7" name="boundary-title-1">
            <a:extLst xmlns:a="http://schemas.openxmlformats.org/drawingml/2006/main">
              <a:ext uri="{FF2B5EF4-FFF2-40B4-BE49-F238E27FC236}">
                <a16:creationId xmlns:a16="http://schemas.microsoft.com/office/drawing/2014/main" id="{CACBCA5C-9CB0-400C-9A5F-13962F5BD536}"/>
              </a:ext>
            </a:extLst>
          </p:cNvPr>
          <p:cNvSpPr>
            <a:spLocks xmlns:a="http://schemas.openxmlformats.org/drawingml/2006/main" noGrp="1"/>
          </p:cNvSpPr>
          <p:nvPr/>
        </p:nvSpPr>
        <p:spPr>
          <a:xfrm xmlns:a="http://schemas.openxmlformats.org/drawingml/2006/main">
            <a:off x="4438650" y="16954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72A33"/>
                </a:solidFill>
                <a:latin typeface="Arial"/>
                <a:ea typeface="Arial"/>
                <a:cs typeface="Arial"/>
              </a:defRPr>
            </a:pPr>
            <a:r>
              <a:rPr sz="2025" b="1" i="0">
                <a:solidFill>
                  <a:srgbClr val="172A33"/>
                </a:solidFill>
                <a:latin typeface="Arial"/>
                <a:ea typeface="Arial"/>
                <a:cs typeface="Arial"/>
              </a:rPr>
              <a:t>M_rec · declarado</a:t>
            </a:r>
          </a:p>
        </p:txBody>
      </p:sp>
      <p:sp>
        <p:nvSpPr>
          <p:cNvPr id="8" name="boundary-rule-1">
            <a:extLst xmlns:a="http://schemas.openxmlformats.org/drawingml/2006/main">
              <a:ext uri="{FF2B5EF4-FFF2-40B4-BE49-F238E27FC236}">
                <a16:creationId xmlns:a16="http://schemas.microsoft.com/office/drawing/2014/main" id="{68878EF0-5D74-47AC-9FCA-21186066ED88}"/>
              </a:ext>
            </a:extLst>
          </p:cNvPr>
          <p:cNvSpPr>
            <a:spLocks xmlns:a="http://schemas.openxmlformats.org/drawingml/2006/main" noGrp="1"/>
          </p:cNvSpPr>
          <p:nvPr/>
        </p:nvSpPr>
        <p:spPr>
          <a:xfrm xmlns:a="http://schemas.openxmlformats.org/drawingml/2006/main">
            <a:off x="4438650" y="2247900"/>
            <a:ext cx="31432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9" name="boundary-body-1">
            <a:extLst xmlns:a="http://schemas.openxmlformats.org/drawingml/2006/main">
              <a:ext uri="{FF2B5EF4-FFF2-40B4-BE49-F238E27FC236}">
                <a16:creationId xmlns:a16="http://schemas.microsoft.com/office/drawing/2014/main" id="{BBE4B78B-12AA-4CDC-9C76-9FD06234A599}"/>
              </a:ext>
            </a:extLst>
          </p:cNvPr>
          <p:cNvSpPr>
            <a:spLocks xmlns:a="http://schemas.openxmlformats.org/drawingml/2006/main" noGrp="1"/>
          </p:cNvSpPr>
          <p:nvPr/>
        </p:nvSpPr>
        <p:spPr>
          <a:xfrm xmlns:a="http://schemas.openxmlformats.org/drawingml/2006/main">
            <a:off x="4438650" y="24955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Manifiestos efectivos de cada job.</a:t>
            </a:r>
          </a:p>
          <a:p xmlns:a="http://schemas.openxmlformats.org/drawingml/2006/main">
            <a:r>
              <a:t/>
            </a:r>
          </a:p>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Suma las ocurrencias científicas que Pegasus/HTCondor declaran transferir.</a:t>
            </a:r>
          </a:p>
        </p:txBody>
      </p:sp>
      <p:sp>
        <p:nvSpPr>
          <p:cNvPr id="10" name="boundary-title-2">
            <a:extLst xmlns:a="http://schemas.openxmlformats.org/drawingml/2006/main">
              <a:ext uri="{FF2B5EF4-FFF2-40B4-BE49-F238E27FC236}">
                <a16:creationId xmlns:a16="http://schemas.microsoft.com/office/drawing/2014/main" id="{26F09F9E-3848-4C00-BBAB-DF432633309B}"/>
              </a:ext>
            </a:extLst>
          </p:cNvPr>
          <p:cNvSpPr>
            <a:spLocks xmlns:a="http://schemas.openxmlformats.org/drawingml/2006/main" noGrp="1"/>
          </p:cNvSpPr>
          <p:nvPr/>
        </p:nvSpPr>
        <p:spPr>
          <a:xfrm xmlns:a="http://schemas.openxmlformats.org/drawingml/2006/main">
            <a:off x="8096250" y="16954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087E78"/>
                </a:solidFill>
                <a:latin typeface="Arial"/>
                <a:ea typeface="Arial"/>
                <a:cs typeface="Arial"/>
              </a:defRPr>
            </a:pPr>
            <a:r>
              <a:rPr sz="2025" b="1" i="0">
                <a:solidFill>
                  <a:srgbClr val="087E78"/>
                </a:solidFill>
                <a:latin typeface="Arial"/>
                <a:ea typeface="Arial"/>
                <a:cs typeface="Arial"/>
              </a:rPr>
              <a:t>M_obs · confirmado</a:t>
            </a:r>
          </a:p>
        </p:txBody>
      </p:sp>
      <p:sp>
        <p:nvSpPr>
          <p:cNvPr id="11" name="boundary-rule-2">
            <a:extLst xmlns:a="http://schemas.openxmlformats.org/drawingml/2006/main">
              <a:ext uri="{FF2B5EF4-FFF2-40B4-BE49-F238E27FC236}">
                <a16:creationId xmlns:a16="http://schemas.microsoft.com/office/drawing/2014/main" id="{6832AF14-EF80-4619-9B98-74DA5B3C7877}"/>
              </a:ext>
            </a:extLst>
          </p:cNvPr>
          <p:cNvSpPr>
            <a:spLocks xmlns:a="http://schemas.openxmlformats.org/drawingml/2006/main" noGrp="1"/>
          </p:cNvSpPr>
          <p:nvPr/>
        </p:nvSpPr>
        <p:spPr>
          <a:xfrm xmlns:a="http://schemas.openxmlformats.org/drawingml/2006/main">
            <a:off x="8096250" y="2247900"/>
            <a:ext cx="3143250" cy="28575"/>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2" name="boundary-body-2">
            <a:extLst xmlns:a="http://schemas.openxmlformats.org/drawingml/2006/main">
              <a:ext uri="{FF2B5EF4-FFF2-40B4-BE49-F238E27FC236}">
                <a16:creationId xmlns:a16="http://schemas.microsoft.com/office/drawing/2014/main" id="{C2A6D32A-45FA-4C2C-A148-D559D95CC924}"/>
              </a:ext>
            </a:extLst>
          </p:cNvPr>
          <p:cNvSpPr>
            <a:spLocks xmlns:a="http://schemas.openxmlformats.org/drawingml/2006/main" noGrp="1"/>
          </p:cNvSpPr>
          <p:nvPr/>
        </p:nvSpPr>
        <p:spPr>
          <a:xfrm xmlns:a="http://schemas.openxmlformats.org/drawingml/2006/main">
            <a:off x="8096250" y="24955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Manifiesto reconciliado con historial HTCondor.</a:t>
            </a:r>
          </a:p>
          <a:p xmlns:a="http://schemas.openxmlformats.org/drawingml/2006/main">
            <a:r>
              <a:t/>
            </a:r>
          </a:p>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Suma las ocurrencias científicas confirmadas, solo con cobertura completa.</a:t>
            </a:r>
          </a:p>
        </p:txBody>
      </p:sp>
      <p:sp>
        <p:nvSpPr>
          <p:cNvPr id="13" name="boundary-coverage">
            <a:extLst xmlns:a="http://schemas.openxmlformats.org/drawingml/2006/main">
              <a:ext uri="{FF2B5EF4-FFF2-40B4-BE49-F238E27FC236}">
                <a16:creationId xmlns:a16="http://schemas.microsoft.com/office/drawing/2014/main" id="{B72356C7-C863-4CEE-A7C7-3CA2E4AD8085}"/>
              </a:ext>
            </a:extLst>
          </p:cNvPr>
          <p:cNvSpPr>
            <a:spLocks xmlns:a="http://schemas.openxmlformats.org/drawingml/2006/main" noGrp="1"/>
          </p:cNvSpPr>
          <p:nvPr/>
        </p:nvSpPr>
        <p:spPr>
          <a:xfrm xmlns:a="http://schemas.openxmlformats.org/drawingml/2006/main">
            <a:off x="781050" y="46672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lnSpc>
                <a:spcPct val="100000"/>
              </a:lnSpc>
              <a:buNone/>
              <a:defRPr sz="1800" b="1" i="0">
                <a:solidFill>
                  <a:srgbClr val="172A33"/>
                </a:solidFill>
                <a:latin typeface="Arial"/>
                <a:ea typeface="Arial"/>
                <a:cs typeface="Arial"/>
              </a:defRPr>
            </a:pPr>
            <a:r>
              <a:rPr sz="1800" b="1" i="0">
                <a:solidFill>
                  <a:srgbClr val="172A33"/>
                </a:solidFill>
                <a:latin typeface="Arial"/>
                <a:ea typeface="Arial"/>
                <a:cs typeface="Arial"/>
              </a:rPr>
              <a:t>Coverage = ocurrencias confirmadas / ocurrencias declaradas. Si Coverage &lt; 1, M_obs y DME quedan indeterminadas.</a:t>
            </a:r>
          </a:p>
        </p:txBody>
      </p:sp>
      <p:sp>
        <p:nvSpPr>
          <p:cNvPr id="14" name="boundary-note-bg">
            <a:extLst xmlns:a="http://schemas.openxmlformats.org/drawingml/2006/main">
              <a:ext uri="{FF2B5EF4-FFF2-40B4-BE49-F238E27FC236}">
                <a16:creationId xmlns:a16="http://schemas.microsoft.com/office/drawing/2014/main" id="{52FB4B2E-64A7-4890-AC7A-89B8A1FF2553}"/>
              </a:ext>
            </a:extLst>
          </p:cNvPr>
          <p:cNvSpPr>
            <a:spLocks xmlns:a="http://schemas.openxmlformats.org/drawingml/2006/main" noGrp="1"/>
          </p:cNvSpPr>
          <p:nvPr/>
        </p:nvSpPr>
        <p:spPr>
          <a:xfrm xmlns:a="http://schemas.openxmlformats.org/drawingml/2006/main">
            <a:off x="781050" y="5381625"/>
            <a:ext cx="10534650" cy="704850"/>
          </a:xfrm>
          <a:prstGeom xmlns:a="http://schemas.openxmlformats.org/drawingml/2006/main" prst="rect">
            <a:avLst/>
          </a:prstGeom>
          <a:solidFill xmlns:a="http://schemas.openxmlformats.org/drawingml/2006/main">
            <a:srgbClr val="E7F2F0"/>
          </a:solidFill>
          <a:ln xmlns:a="http://schemas.openxmlformats.org/drawingml/2006/main" w="9525">
            <a:solidFill>
              <a:srgbClr val="087E78"/>
            </a:solidFill>
            <a:prstDash val="solid"/>
          </a:ln>
        </p:spPr>
      </p:sp>
      <p:sp>
        <p:nvSpPr>
          <p:cNvPr id="15" name="boundary-note">
            <a:extLst xmlns:a="http://schemas.openxmlformats.org/drawingml/2006/main">
              <a:ext uri="{FF2B5EF4-FFF2-40B4-BE49-F238E27FC236}">
                <a16:creationId xmlns:a16="http://schemas.microsoft.com/office/drawing/2014/main" id="{B9A20CB4-C88F-4285-BABC-5C5586B3E0D8}"/>
              </a:ext>
            </a:extLst>
          </p:cNvPr>
          <p:cNvSpPr>
            <a:spLocks xmlns:a="http://schemas.openxmlformats.org/drawingml/2006/main" noGrp="1"/>
          </p:cNvSpPr>
          <p:nvPr/>
        </p:nvSpPr>
        <p:spPr>
          <a:xfrm xmlns:a="http://schemas.openxmlformats.org/drawingml/2006/main">
            <a:off x="990600" y="5495925"/>
            <a:ext cx="1011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172A33"/>
                </a:solidFill>
                <a:latin typeface="Arial"/>
                <a:ea typeface="Arial"/>
                <a:cs typeface="Arial"/>
              </a:defRPr>
            </a:pPr>
            <a:r>
              <a:rPr sz="1500" b="0" i="0">
                <a:solidFill>
                  <a:srgbClr val="172A33"/>
                </a:solidFill>
                <a:latin typeface="Arial"/>
                <a:ea typeface="Arial"/>
                <a:cs typeface="Arial"/>
              </a:rPr>
              <a:t>Comparten el payload científico y el run, pero no la misma regla de conteo: M_req cuenta destinos distintos; M_obs cuenta ocurrencias confirmadas por job. Ninguna mide paquetes de red.</a:t>
            </a:r>
          </a:p>
        </p:txBody>
      </p:sp>
    </p:spTree>
    <p:extLst>
      <p:ext uri="{BB962C8B-B14F-4D97-AF65-F5344CB8AC3E}">
        <p14:creationId xmlns:p14="http://schemas.microsoft.com/office/powerpoint/2010/main" val="688578723"/>
      </p:ext>
    </p:extLst>
  </p:cSld>
</p:sld>
</file>

<file path=ppt/slides/slide6.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4" name="slide-title-6">
            <a:extLst xmlns:a="http://schemas.openxmlformats.org/drawingml/2006/main">
              <a:ext uri="{FF2B5EF4-FFF2-40B4-BE49-F238E27FC236}">
                <a16:creationId xmlns:a16="http://schemas.microsoft.com/office/drawing/2014/main" id="{5CC0CA5B-4EFC-49DE-8CE3-F9010F499892}"/>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La matemática en palabras sencillas</a:t>
            </a:r>
          </a:p>
        </p:txBody>
      </p:sp>
      <p:sp>
        <p:nvSpPr>
          <p:cNvPr id="2" name="title-rule-6">
            <a:extLst xmlns:a="http://schemas.openxmlformats.org/drawingml/2006/main">
              <a:ext uri="{FF2B5EF4-FFF2-40B4-BE49-F238E27FC236}">
                <a16:creationId xmlns:a16="http://schemas.microsoft.com/office/drawing/2014/main" id="{4C97B1C3-5DAE-43B7-AFFB-DF81FC592F85}"/>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6">
            <a:extLst xmlns:a="http://schemas.openxmlformats.org/drawingml/2006/main">
              <a:ext uri="{FF2B5EF4-FFF2-40B4-BE49-F238E27FC236}">
                <a16:creationId xmlns:a16="http://schemas.microsoft.com/office/drawing/2014/main" id="{B4D27AB7-F2F1-4077-B96A-96D68AAFD10B}"/>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06</a:t>
            </a:r>
          </a:p>
        </p:txBody>
      </p:sp>
      <p:sp>
        <p:nvSpPr>
          <p:cNvPr id="4" name="formula-req-label">
            <a:extLst xmlns:a="http://schemas.openxmlformats.org/drawingml/2006/main">
              <a:ext uri="{FF2B5EF4-FFF2-40B4-BE49-F238E27FC236}">
                <a16:creationId xmlns:a16="http://schemas.microsoft.com/office/drawing/2014/main" id="{2EFD208C-51B0-4215-90A7-40577EC4976C}"/>
              </a:ext>
            </a:extLst>
          </p:cNvPr>
          <p:cNvSpPr>
            <a:spLocks xmlns:a="http://schemas.openxmlformats.org/drawingml/2006/main" noGrp="1"/>
          </p:cNvSpPr>
          <p:nvPr/>
        </p:nvSpPr>
        <p:spPr>
          <a:xfrm xmlns:a="http://schemas.openxmlformats.org/drawingml/2006/main">
            <a:off x="857250" y="1409700"/>
            <a:ext cx="1009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4B626D"/>
                </a:solidFill>
                <a:latin typeface="Arial"/>
                <a:ea typeface="Arial"/>
                <a:cs typeface="Arial"/>
              </a:defRPr>
            </a:pPr>
            <a:r>
              <a:rPr sz="1800" b="1" i="0">
                <a:solidFill>
                  <a:srgbClr val="4B626D"/>
                </a:solidFill>
                <a:latin typeface="Arial"/>
                <a:ea typeface="Arial"/>
                <a:cs typeface="Arial"/>
              </a:rPr>
              <a:t>1. Movimiento lógico requerido</a:t>
            </a:r>
          </a:p>
        </p:txBody>
      </p:sp>
      <p:sp>
        <p:nvSpPr>
          <p:cNvPr id="5" name="formula-req">
            <a:extLst xmlns:a="http://schemas.openxmlformats.org/drawingml/2006/main">
              <a:ext uri="{FF2B5EF4-FFF2-40B4-BE49-F238E27FC236}">
                <a16:creationId xmlns:a16="http://schemas.microsoft.com/office/drawing/2014/main" id="{9B735EF8-C32F-43D8-BC3E-0BA52F92E16E}"/>
              </a:ext>
            </a:extLst>
          </p:cNvPr>
          <p:cNvSpPr>
            <a:spLocks xmlns:a="http://schemas.openxmlformats.org/drawingml/2006/main" noGrp="1"/>
          </p:cNvSpPr>
          <p:nvPr/>
        </p:nvSpPr>
        <p:spPr>
          <a:xfrm xmlns:a="http://schemas.openxmlformats.org/drawingml/2006/main">
            <a:off x="876300" y="1847850"/>
            <a:ext cx="1043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325" b="1" i="0">
                <a:solidFill>
                  <a:srgbClr val="172A33"/>
                </a:solidFill>
                <a:latin typeface="Cambria Math"/>
                <a:ea typeface="Cambria Math"/>
                <a:cs typeface="Cambria Math"/>
              </a:defRPr>
            </a:pPr>
            <a:r>
              <a:rPr sz="2325" b="1" i="0">
                <a:solidFill>
                  <a:srgbClr val="172A33"/>
                </a:solidFill>
                <a:latin typeface="Cambria Math"/>
                <a:ea typeface="Cambria Math"/>
                <a:cs typeface="Cambria Math"/>
              </a:rPr>
              <a:t>M_req = Σ por archivo [ tamaño del archivo × número de ubicaciones nuevas requeridas ]</a:t>
            </a:r>
          </a:p>
        </p:txBody>
      </p:sp>
      <p:sp>
        <p:nvSpPr>
          <p:cNvPr id="6" name="formula-req-explain">
            <a:extLst xmlns:a="http://schemas.openxmlformats.org/drawingml/2006/main">
              <a:ext uri="{FF2B5EF4-FFF2-40B4-BE49-F238E27FC236}">
                <a16:creationId xmlns:a16="http://schemas.microsoft.com/office/drawing/2014/main" id="{5323162C-0296-481F-8FDE-74C79927525C}"/>
              </a:ext>
            </a:extLst>
          </p:cNvPr>
          <p:cNvSpPr>
            <a:spLocks xmlns:a="http://schemas.openxmlformats.org/drawingml/2006/main" noGrp="1"/>
          </p:cNvSpPr>
          <p:nvPr/>
        </p:nvSpPr>
        <p:spPr>
          <a:xfrm xmlns:a="http://schemas.openxmlformats.org/drawingml/2006/main">
            <a:off x="1123950" y="26670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Si varios consumidores están en el mismo worker, esa ubicación se cuenta una sola vez.</a:t>
            </a:r>
          </a:p>
        </p:txBody>
      </p:sp>
      <p:sp>
        <p:nvSpPr>
          <p:cNvPr id="7" name="formula-rule">
            <a:extLst xmlns:a="http://schemas.openxmlformats.org/drawingml/2006/main">
              <a:ext uri="{FF2B5EF4-FFF2-40B4-BE49-F238E27FC236}">
                <a16:creationId xmlns:a16="http://schemas.microsoft.com/office/drawing/2014/main" id="{B6741C3A-11DC-44E0-8700-BEA2DB15CC3A}"/>
              </a:ext>
            </a:extLst>
          </p:cNvPr>
          <p:cNvSpPr>
            <a:spLocks xmlns:a="http://schemas.openxmlformats.org/drawingml/2006/main" noGrp="1"/>
          </p:cNvSpPr>
          <p:nvPr/>
        </p:nvSpPr>
        <p:spPr>
          <a:xfrm xmlns:a="http://schemas.openxmlformats.org/drawingml/2006/main">
            <a:off x="876300" y="3343275"/>
            <a:ext cx="10439400" cy="1333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8" name="formula-coverage-label">
            <a:extLst xmlns:a="http://schemas.openxmlformats.org/drawingml/2006/main">
              <a:ext uri="{FF2B5EF4-FFF2-40B4-BE49-F238E27FC236}">
                <a16:creationId xmlns:a16="http://schemas.microsoft.com/office/drawing/2014/main" id="{75FA88B5-4A8A-4ACF-9FAE-B224808453F6}"/>
              </a:ext>
            </a:extLst>
          </p:cNvPr>
          <p:cNvSpPr>
            <a:spLocks xmlns:a="http://schemas.openxmlformats.org/drawingml/2006/main" noGrp="1"/>
          </p:cNvSpPr>
          <p:nvPr/>
        </p:nvSpPr>
        <p:spPr>
          <a:xfrm xmlns:a="http://schemas.openxmlformats.org/drawingml/2006/main">
            <a:off x="857250" y="3581400"/>
            <a:ext cx="1009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4B626D"/>
                </a:solidFill>
                <a:latin typeface="Arial"/>
                <a:ea typeface="Arial"/>
                <a:cs typeface="Arial"/>
              </a:defRPr>
            </a:pPr>
            <a:r>
              <a:rPr sz="1800" b="1" i="0">
                <a:solidFill>
                  <a:srgbClr val="4B626D"/>
                </a:solidFill>
                <a:latin typeface="Arial"/>
                <a:ea typeface="Arial"/>
                <a:cs typeface="Arial"/>
              </a:rPr>
              <a:t>2. Movimiento confirmado y razón</a:t>
            </a:r>
          </a:p>
        </p:txBody>
      </p:sp>
      <p:sp>
        <p:nvSpPr>
          <p:cNvPr id="9" name="formula-coverage">
            <a:extLst xmlns:a="http://schemas.openxmlformats.org/drawingml/2006/main">
              <a:ext uri="{FF2B5EF4-FFF2-40B4-BE49-F238E27FC236}">
                <a16:creationId xmlns:a16="http://schemas.microsoft.com/office/drawing/2014/main" id="{3D82C83E-8715-48E1-A873-730CFD2129BB}"/>
              </a:ext>
            </a:extLst>
          </p:cNvPr>
          <p:cNvSpPr>
            <a:spLocks xmlns:a="http://schemas.openxmlformats.org/drawingml/2006/main" noGrp="1"/>
          </p:cNvSpPr>
          <p:nvPr/>
        </p:nvSpPr>
        <p:spPr>
          <a:xfrm xmlns:a="http://schemas.openxmlformats.org/drawingml/2006/main">
            <a:off x="876300" y="3914775"/>
            <a:ext cx="1043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72A33"/>
                </a:solidFill>
                <a:latin typeface="Cambria Math"/>
                <a:ea typeface="Cambria Math"/>
                <a:cs typeface="Cambria Math"/>
              </a:defRPr>
            </a:pPr>
            <a:r>
              <a:rPr sz="2175" b="1" i="0">
                <a:solidFill>
                  <a:srgbClr val="172A33"/>
                </a:solidFill>
                <a:latin typeface="Cambria Math"/>
                <a:ea typeface="Cambria Math"/>
                <a:cs typeface="Cambria Math"/>
              </a:rPr>
              <a:t>Coverage = |C_sci| / |D_sci|</a:t>
            </a:r>
          </a:p>
        </p:txBody>
      </p:sp>
      <p:sp>
        <p:nvSpPr>
          <p:cNvPr id="10" name="formula-coverage-defs">
            <a:extLst xmlns:a="http://schemas.openxmlformats.org/drawingml/2006/main">
              <a:ext uri="{FF2B5EF4-FFF2-40B4-BE49-F238E27FC236}">
                <a16:creationId xmlns:a16="http://schemas.microsoft.com/office/drawing/2014/main" id="{DDC01367-8C9E-48A8-9B7B-BCC2E4D7B8DB}"/>
              </a:ext>
            </a:extLst>
          </p:cNvPr>
          <p:cNvSpPr>
            <a:spLocks xmlns:a="http://schemas.openxmlformats.org/drawingml/2006/main" noGrp="1"/>
          </p:cNvSpPr>
          <p:nvPr/>
        </p:nvSpPr>
        <p:spPr>
          <a:xfrm xmlns:a="http://schemas.openxmlformats.org/drawingml/2006/main">
            <a:off x="876300" y="4352925"/>
            <a:ext cx="1043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D_sci: ocurrencias declaradas · C_sci: ocurrencias confirmadas por HTCondor a nivel de job</a:t>
            </a:r>
          </a:p>
        </p:txBody>
      </p:sp>
      <p:sp>
        <p:nvSpPr>
          <p:cNvPr id="11" name="formula-obs">
            <a:extLst xmlns:a="http://schemas.openxmlformats.org/drawingml/2006/main">
              <a:ext uri="{FF2B5EF4-FFF2-40B4-BE49-F238E27FC236}">
                <a16:creationId xmlns:a16="http://schemas.microsoft.com/office/drawing/2014/main" id="{EEEDA44F-6501-43CF-B95B-6CD58D212DE9}"/>
              </a:ext>
            </a:extLst>
          </p:cNvPr>
          <p:cNvSpPr>
            <a:spLocks xmlns:a="http://schemas.openxmlformats.org/drawingml/2006/main" noGrp="1"/>
          </p:cNvSpPr>
          <p:nvPr/>
        </p:nvSpPr>
        <p:spPr>
          <a:xfrm xmlns:a="http://schemas.openxmlformats.org/drawingml/2006/main">
            <a:off x="876300" y="472440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172A33"/>
                </a:solidFill>
                <a:latin typeface="Cambria Math"/>
                <a:ea typeface="Cambria Math"/>
                <a:cs typeface="Cambria Math"/>
              </a:defRPr>
            </a:pPr>
            <a:r>
              <a:rPr sz="1725" b="1" i="0">
                <a:solidFill>
                  <a:srgbClr val="172A33"/>
                </a:solidFill>
                <a:latin typeface="Cambria Math"/>
                <a:ea typeface="Cambria Math"/>
                <a:cs typeface="Cambria Math"/>
              </a:rPr>
              <a:t>M_obs = tamaños de C_sci, solo si Coverage = 1</a:t>
            </a:r>
          </a:p>
        </p:txBody>
      </p:sp>
      <p:sp>
        <p:nvSpPr>
          <p:cNvPr id="12" name="formula-dme">
            <a:extLst xmlns:a="http://schemas.openxmlformats.org/drawingml/2006/main">
              <a:ext uri="{FF2B5EF4-FFF2-40B4-BE49-F238E27FC236}">
                <a16:creationId xmlns:a16="http://schemas.microsoft.com/office/drawing/2014/main" id="{FAC22D2D-987A-403E-9E50-6473C79EE8AF}"/>
              </a:ext>
            </a:extLst>
          </p:cNvPr>
          <p:cNvSpPr>
            <a:spLocks xmlns:a="http://schemas.openxmlformats.org/drawingml/2006/main" noGrp="1"/>
          </p:cNvSpPr>
          <p:nvPr/>
        </p:nvSpPr>
        <p:spPr>
          <a:xfrm xmlns:a="http://schemas.openxmlformats.org/drawingml/2006/main">
            <a:off x="876300" y="5210175"/>
            <a:ext cx="10439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Cambria Math"/>
                <a:ea typeface="Cambria Math"/>
                <a:cs typeface="Cambria Math"/>
              </a:defRPr>
            </a:pPr>
            <a:r>
              <a:rPr sz="2850" b="1" i="0">
                <a:solidFill>
                  <a:srgbClr val="087E78"/>
                </a:solidFill>
                <a:latin typeface="Cambria Math"/>
                <a:ea typeface="Cambria Math"/>
                <a:cs typeface="Cambria Math"/>
              </a:rPr>
              <a:t>DME = M_req / M_obs</a:t>
            </a:r>
          </a:p>
        </p:txBody>
      </p:sp>
      <p:sp>
        <p:nvSpPr>
          <p:cNvPr id="13" name="formula-dme-note">
            <a:extLst xmlns:a="http://schemas.openxmlformats.org/drawingml/2006/main">
              <a:ext uri="{FF2B5EF4-FFF2-40B4-BE49-F238E27FC236}">
                <a16:creationId xmlns:a16="http://schemas.microsoft.com/office/drawing/2014/main" id="{AFE69048-4A2D-4A55-AE56-22D51D9328D0}"/>
              </a:ext>
            </a:extLst>
          </p:cNvPr>
          <p:cNvSpPr>
            <a:spLocks xmlns:a="http://schemas.openxmlformats.org/drawingml/2006/main" noGrp="1"/>
          </p:cNvSpPr>
          <p:nvPr/>
        </p:nvSpPr>
        <p:spPr>
          <a:xfrm xmlns:a="http://schemas.openxmlformats.org/drawingml/2006/main">
            <a:off x="876300" y="5829300"/>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0">
                <a:solidFill>
                  <a:srgbClr val="65757C"/>
                </a:solidFill>
                <a:latin typeface="Arial"/>
                <a:ea typeface="Arial"/>
                <a:cs typeface="Arial"/>
              </a:defRPr>
            </a:pPr>
            <a:r>
              <a:rPr sz="1425" b="0" i="0">
                <a:solidFill>
                  <a:srgbClr val="65757C"/>
                </a:solidFill>
                <a:latin typeface="Arial"/>
                <a:ea typeface="Arial"/>
                <a:cs typeface="Arial"/>
              </a:rPr>
              <a:t>La DME es una razón de volúmenes, no una medida de rapidez o rendimiento.</a:t>
            </a:r>
          </a:p>
        </p:txBody>
      </p:sp>
    </p:spTree>
    <p:extLst>
      <p:ext uri="{BB962C8B-B14F-4D97-AF65-F5344CB8AC3E}">
        <p14:creationId xmlns:p14="http://schemas.microsoft.com/office/powerpoint/2010/main" val="1048024589"/>
      </p:ext>
    </p:extLst>
  </p:cSld>
</p:sld>
</file>

<file path=ppt/slides/slide7.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6" name="slide-title-7">
            <a:extLst xmlns:a="http://schemas.openxmlformats.org/drawingml/2006/main">
              <a:ext uri="{FF2B5EF4-FFF2-40B4-BE49-F238E27FC236}">
                <a16:creationId xmlns:a16="http://schemas.microsoft.com/office/drawing/2014/main" id="{97BB33E5-810E-4C1B-A2D1-D8DBD6016A1E}"/>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Dónde corre cada parte del sistema</a:t>
            </a:r>
          </a:p>
        </p:txBody>
      </p:sp>
      <p:sp>
        <p:nvSpPr>
          <p:cNvPr id="2" name="title-rule-7">
            <a:extLst xmlns:a="http://schemas.openxmlformats.org/drawingml/2006/main">
              <a:ext uri="{FF2B5EF4-FFF2-40B4-BE49-F238E27FC236}">
                <a16:creationId xmlns:a16="http://schemas.microsoft.com/office/drawing/2014/main" id="{6E9F9806-4943-4D3D-82CA-3F674BBEA595}"/>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7">
            <a:extLst xmlns:a="http://schemas.openxmlformats.org/drawingml/2006/main">
              <a:ext uri="{FF2B5EF4-FFF2-40B4-BE49-F238E27FC236}">
                <a16:creationId xmlns:a16="http://schemas.microsoft.com/office/drawing/2014/main" id="{34D2C49A-AECE-4CAC-869F-ACFE3702C287}"/>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07</a:t>
            </a:r>
          </a:p>
        </p:txBody>
      </p:sp>
      <p:sp>
        <p:nvSpPr>
          <p:cNvPr id="4" name="deploy-phase">
            <a:extLst xmlns:a="http://schemas.openxmlformats.org/drawingml/2006/main">
              <a:ext uri="{FF2B5EF4-FFF2-40B4-BE49-F238E27FC236}">
                <a16:creationId xmlns:a16="http://schemas.microsoft.com/office/drawing/2014/main" id="{0EBD6565-4DD3-43EC-879D-6522F0A3D6B3}"/>
              </a:ext>
            </a:extLst>
          </p:cNvPr>
          <p:cNvSpPr>
            <a:spLocks xmlns:a="http://schemas.openxmlformats.org/drawingml/2006/main" noGrp="1"/>
          </p:cNvSpPr>
          <p:nvPr/>
        </p:nvSpPr>
        <p:spPr>
          <a:xfrm xmlns:a="http://schemas.openxmlformats.org/drawingml/2006/main">
            <a:off x="781050" y="130492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5757C"/>
                </a:solidFill>
                <a:latin typeface="Arial"/>
                <a:ea typeface="Arial"/>
                <a:cs typeface="Arial"/>
              </a:defRPr>
            </a:pPr>
            <a:r>
              <a:rPr sz="1350" b="1" i="0">
                <a:solidFill>
                  <a:srgbClr val="65757C"/>
                </a:solidFill>
                <a:latin typeface="Arial"/>
                <a:ea typeface="Arial"/>
                <a:cs typeface="Arial"/>
              </a:rPr>
              <a:t>DURANTE EL WORKFLOW</a:t>
            </a:r>
          </a:p>
        </p:txBody>
      </p:sp>
      <p:sp>
        <p:nvSpPr>
          <p:cNvPr id="5" name="deploy-master">
            <a:extLst xmlns:a="http://schemas.openxmlformats.org/drawingml/2006/main">
              <a:ext uri="{FF2B5EF4-FFF2-40B4-BE49-F238E27FC236}">
                <a16:creationId xmlns:a16="http://schemas.microsoft.com/office/drawing/2014/main" id="{2F138FA6-3F3A-4A9C-9575-17FE9536BCE2}"/>
              </a:ext>
            </a:extLst>
          </p:cNvPr>
          <p:cNvSpPr>
            <a:spLocks xmlns:a="http://schemas.openxmlformats.org/drawingml/2006/main" noGrp="1"/>
          </p:cNvSpPr>
          <p:nvPr/>
        </p:nvSpPr>
        <p:spPr>
          <a:xfrm xmlns:a="http://schemas.openxmlformats.org/drawingml/2006/main">
            <a:off x="4333875" y="1714500"/>
            <a:ext cx="35242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3"/>
            </a:solidFill>
            <a:prstDash val="solid"/>
          </a:ln>
        </p:spPr>
      </p:sp>
      <p:sp>
        <p:nvSpPr>
          <p:cNvPr id="6" name="deploy-worker1">
            <a:extLst xmlns:a="http://schemas.openxmlformats.org/drawingml/2006/main">
              <a:ext uri="{FF2B5EF4-FFF2-40B4-BE49-F238E27FC236}">
                <a16:creationId xmlns:a16="http://schemas.microsoft.com/office/drawing/2014/main" id="{9C4DAE00-D560-44F2-9896-AD8EFDFCFA76}"/>
              </a:ext>
            </a:extLst>
          </p:cNvPr>
          <p:cNvSpPr>
            <a:spLocks xmlns:a="http://schemas.openxmlformats.org/drawingml/2006/main" noGrp="1"/>
          </p:cNvSpPr>
          <p:nvPr/>
        </p:nvSpPr>
        <p:spPr>
          <a:xfrm xmlns:a="http://schemas.openxmlformats.org/drawingml/2006/main">
            <a:off x="1381125" y="3448050"/>
            <a:ext cx="3714750" cy="876300"/>
          </a:xfrm>
          <a:prstGeom xmlns:a="http://schemas.openxmlformats.org/drawingml/2006/main" prst="rect">
            <a:avLst/>
          </a:prstGeom>
          <a:solidFill xmlns:a="http://schemas.openxmlformats.org/drawingml/2006/main">
            <a:srgbClr val="FFFFFF"/>
          </a:solidFill>
          <a:ln xmlns:a="http://schemas.openxmlformats.org/drawingml/2006/main" w="16193">
            <a:solidFill>
              <a:srgbClr val="4B626D"/>
            </a:solidFill>
            <a:prstDash val="solid"/>
          </a:ln>
        </p:spPr>
      </p:sp>
      <p:sp>
        <p:nvSpPr>
          <p:cNvPr id="7" name="deploy-worker2">
            <a:extLst xmlns:a="http://schemas.openxmlformats.org/drawingml/2006/main">
              <a:ext uri="{FF2B5EF4-FFF2-40B4-BE49-F238E27FC236}">
                <a16:creationId xmlns:a16="http://schemas.microsoft.com/office/drawing/2014/main" id="{6880FEA3-C3D3-4D5A-9E23-7E37AE3ABA70}"/>
              </a:ext>
            </a:extLst>
          </p:cNvPr>
          <p:cNvSpPr>
            <a:spLocks xmlns:a="http://schemas.openxmlformats.org/drawingml/2006/main" noGrp="1"/>
          </p:cNvSpPr>
          <p:nvPr/>
        </p:nvSpPr>
        <p:spPr>
          <a:xfrm xmlns:a="http://schemas.openxmlformats.org/drawingml/2006/main">
            <a:off x="7096125" y="3448050"/>
            <a:ext cx="3714750" cy="876300"/>
          </a:xfrm>
          <a:prstGeom xmlns:a="http://schemas.openxmlformats.org/drawingml/2006/main" prst="rect">
            <a:avLst/>
          </a:prstGeom>
          <a:solidFill xmlns:a="http://schemas.openxmlformats.org/drawingml/2006/main">
            <a:srgbClr val="FFFFFF"/>
          </a:solidFill>
          <a:ln xmlns:a="http://schemas.openxmlformats.org/drawingml/2006/main" w="16193">
            <a:solidFill>
              <a:srgbClr val="4B626D"/>
            </a:solidFill>
            <a:prstDash val="solid"/>
          </a:ln>
        </p:spPr>
      </p:sp>
      <p:sp>
        <p:nvSpPr>
          <p:cNvPr id="8" name="deploy-master-title">
            <a:extLst xmlns:a="http://schemas.openxmlformats.org/drawingml/2006/main">
              <a:ext uri="{FF2B5EF4-FFF2-40B4-BE49-F238E27FC236}">
                <a16:creationId xmlns:a16="http://schemas.microsoft.com/office/drawing/2014/main" id="{4CD7CC44-8480-426D-97EE-D5331776A4E2}"/>
              </a:ext>
            </a:extLst>
          </p:cNvPr>
          <p:cNvSpPr>
            <a:spLocks xmlns:a="http://schemas.openxmlformats.org/drawingml/2006/main" noGrp="1"/>
          </p:cNvSpPr>
          <p:nvPr/>
        </p:nvSpPr>
        <p:spPr>
          <a:xfrm xmlns:a="http://schemas.openxmlformats.org/drawingml/2006/main">
            <a:off x="4543425" y="1809750"/>
            <a:ext cx="3105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pegasus-master</a:t>
            </a:r>
          </a:p>
        </p:txBody>
      </p:sp>
      <p:sp>
        <p:nvSpPr>
          <p:cNvPr id="9" name="deploy-master-body">
            <a:extLst xmlns:a="http://schemas.openxmlformats.org/drawingml/2006/main">
              <a:ext uri="{FF2B5EF4-FFF2-40B4-BE49-F238E27FC236}">
                <a16:creationId xmlns:a16="http://schemas.microsoft.com/office/drawing/2014/main" id="{50CB3D03-55A9-4AA8-AA26-0FA9FDA1EFFB}"/>
              </a:ext>
            </a:extLst>
          </p:cNvPr>
          <p:cNvSpPr>
            <a:spLocks xmlns:a="http://schemas.openxmlformats.org/drawingml/2006/main" noGrp="1"/>
          </p:cNvSpPr>
          <p:nvPr/>
        </p:nvSpPr>
        <p:spPr>
          <a:xfrm xmlns:a="http://schemas.openxmlformats.org/drawingml/2006/main">
            <a:off x="4543425" y="2124075"/>
            <a:ext cx="3105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431"/>
          </a:bodyPr>
          <a:lstStyle xmlns:a="http://schemas.openxmlformats.org/drawingml/2006/main"/>
          <a:p xmlns:a="http://schemas.openxmlformats.org/drawingml/2006/main">
            <a:pPr algn="ctr">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Pegasus</a:t>
            </a:r>
          </a:p>
          <a:p xmlns:a="http://schemas.openxmlformats.org/drawingml/2006/main">
            <a:pPr algn="ctr">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HTCondor central services</a:t>
            </a:r>
          </a:p>
          <a:p xmlns:a="http://schemas.openxmlformats.org/drawingml/2006/main">
            <a:pPr algn="ctr">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Schedd · Collector · Negotiator</a:t>
            </a:r>
          </a:p>
        </p:txBody>
      </p:sp>
      <p:sp>
        <p:nvSpPr>
          <p:cNvPr id="10" name="deploy-worker1-title">
            <a:extLst xmlns:a="http://schemas.openxmlformats.org/drawingml/2006/main">
              <a:ext uri="{FF2B5EF4-FFF2-40B4-BE49-F238E27FC236}">
                <a16:creationId xmlns:a16="http://schemas.microsoft.com/office/drawing/2014/main" id="{CF08613D-E6B3-48E7-B5FD-9506F4870B4A}"/>
              </a:ext>
            </a:extLst>
          </p:cNvPr>
          <p:cNvSpPr>
            <a:spLocks xmlns:a="http://schemas.openxmlformats.org/drawingml/2006/main" noGrp="1"/>
          </p:cNvSpPr>
          <p:nvPr/>
        </p:nvSpPr>
        <p:spPr>
          <a:xfrm xmlns:a="http://schemas.openxmlformats.org/drawingml/2006/main">
            <a:off x="1609725" y="3533775"/>
            <a:ext cx="3257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72A33"/>
                </a:solidFill>
                <a:latin typeface="Arial"/>
                <a:ea typeface="Arial"/>
                <a:cs typeface="Arial"/>
              </a:defRPr>
            </a:pPr>
            <a:r>
              <a:rPr sz="1575" b="1" i="0">
                <a:solidFill>
                  <a:srgbClr val="172A33"/>
                </a:solidFill>
                <a:latin typeface="Arial"/>
                <a:ea typeface="Arial"/>
                <a:cs typeface="Arial"/>
              </a:rPr>
              <a:t>pegasus-worker1</a:t>
            </a:r>
          </a:p>
        </p:txBody>
      </p:sp>
      <p:sp>
        <p:nvSpPr>
          <p:cNvPr id="11" name="deploy-worker1-body">
            <a:extLst xmlns:a="http://schemas.openxmlformats.org/drawingml/2006/main">
              <a:ext uri="{FF2B5EF4-FFF2-40B4-BE49-F238E27FC236}">
                <a16:creationId xmlns:a16="http://schemas.microsoft.com/office/drawing/2014/main" id="{4448DB63-9DCB-40BF-8B18-FF5D8F085A33}"/>
              </a:ext>
            </a:extLst>
          </p:cNvPr>
          <p:cNvSpPr>
            <a:spLocks xmlns:a="http://schemas.openxmlformats.org/drawingml/2006/main" noGrp="1"/>
          </p:cNvSpPr>
          <p:nvPr/>
        </p:nvSpPr>
        <p:spPr>
          <a:xfrm xmlns:a="http://schemas.openxmlformats.org/drawingml/2006/main">
            <a:off x="1609725" y="3810000"/>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HTCondor slot · ejecuta tareas científicas</a:t>
            </a:r>
          </a:p>
        </p:txBody>
      </p:sp>
      <p:sp>
        <p:nvSpPr>
          <p:cNvPr id="12" name="deploy-worker2-title">
            <a:extLst xmlns:a="http://schemas.openxmlformats.org/drawingml/2006/main">
              <a:ext uri="{FF2B5EF4-FFF2-40B4-BE49-F238E27FC236}">
                <a16:creationId xmlns:a16="http://schemas.microsoft.com/office/drawing/2014/main" id="{8CAC9B2F-B0F9-4158-958F-08200FBF310B}"/>
              </a:ext>
            </a:extLst>
          </p:cNvPr>
          <p:cNvSpPr>
            <a:spLocks xmlns:a="http://schemas.openxmlformats.org/drawingml/2006/main" noGrp="1"/>
          </p:cNvSpPr>
          <p:nvPr/>
        </p:nvSpPr>
        <p:spPr>
          <a:xfrm xmlns:a="http://schemas.openxmlformats.org/drawingml/2006/main">
            <a:off x="7324725" y="3533775"/>
            <a:ext cx="3257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72A33"/>
                </a:solidFill>
                <a:latin typeface="Arial"/>
                <a:ea typeface="Arial"/>
                <a:cs typeface="Arial"/>
              </a:defRPr>
            </a:pPr>
            <a:r>
              <a:rPr sz="1575" b="1" i="0">
                <a:solidFill>
                  <a:srgbClr val="172A33"/>
                </a:solidFill>
                <a:latin typeface="Arial"/>
                <a:ea typeface="Arial"/>
                <a:cs typeface="Arial"/>
              </a:rPr>
              <a:t>pegasus-worker2</a:t>
            </a:r>
          </a:p>
        </p:txBody>
      </p:sp>
      <p:sp>
        <p:nvSpPr>
          <p:cNvPr id="13" name="deploy-worker2-body">
            <a:extLst xmlns:a="http://schemas.openxmlformats.org/drawingml/2006/main">
              <a:ext uri="{FF2B5EF4-FFF2-40B4-BE49-F238E27FC236}">
                <a16:creationId xmlns:a16="http://schemas.microsoft.com/office/drawing/2014/main" id="{D68559C1-506E-421B-BFDF-A0C7C36929C5}"/>
              </a:ext>
            </a:extLst>
          </p:cNvPr>
          <p:cNvSpPr>
            <a:spLocks xmlns:a="http://schemas.openxmlformats.org/drawingml/2006/main" noGrp="1"/>
          </p:cNvSpPr>
          <p:nvPr/>
        </p:nvSpPr>
        <p:spPr>
          <a:xfrm xmlns:a="http://schemas.openxmlformats.org/drawingml/2006/main">
            <a:off x="7324725" y="3810000"/>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HTCondor slot · ejecuta tareas científicas</a:t>
            </a:r>
          </a:p>
        </p:txBody>
      </p:sp>
      <p:cxnSp>
        <p:nvCxnSpPr>
          <p:cNvPr id="39" name=""/>
          <p:cNvCxnSpPr>
            <a:stCxn xmlns:a="http://schemas.openxmlformats.org/drawingml/2006/main" id="5" idx="2"/>
            <a:endCxn xmlns:a="http://schemas.openxmlformats.org/drawingml/2006/main" id="6" idx="0"/>
          </p:cNvCxnSpPr>
          <p:nvPr/>
        </p:nvCxnSpPr>
        <p:spPr>
          <a:xfrm xmlns:a="http://schemas.openxmlformats.org/drawingml/2006/main" flipH="1">
            <a:off x="3238500" y="2667000"/>
            <a:ext cx="2857500" cy="781050"/>
          </a:xfrm>
          <a:prstGeom xmlns:a="http://schemas.openxmlformats.org/drawingml/2006/main" prst="bentConnector4">
            <a:avLst>
              <a:gd name="adj1" fmla="val 0"/>
              <a:gd name="adj2" fmla="val 50000"/>
            </a:avLst>
          </a:prstGeom>
          <a:ln xmlns:a="http://schemas.openxmlformats.org/drawingml/2006/main" w="19050">
            <a:solidFill>
              <a:srgbClr val="4B626D"/>
            </a:solidFill>
            <a:prstDash val="solid"/>
            <a:tailEnd type="triangle" w="med" len="med"/>
          </a:ln>
        </p:spPr>
      </p:cxnSp>
      <p:cxnSp>
        <p:nvCxnSpPr>
          <p:cNvPr id="40" name=""/>
          <p:cNvCxnSpPr>
            <a:stCxn xmlns:a="http://schemas.openxmlformats.org/drawingml/2006/main" id="5" idx="2"/>
            <a:endCxn xmlns:a="http://schemas.openxmlformats.org/drawingml/2006/main" id="7" idx="0"/>
          </p:cNvCxnSpPr>
          <p:nvPr/>
        </p:nvCxnSpPr>
        <p:spPr>
          <a:xfrm xmlns:a="http://schemas.openxmlformats.org/drawingml/2006/main">
            <a:off x="6096000" y="2667000"/>
            <a:ext cx="2857500" cy="781050"/>
          </a:xfrm>
          <a:prstGeom xmlns:a="http://schemas.openxmlformats.org/drawingml/2006/main" prst="bentConnector4">
            <a:avLst>
              <a:gd name="adj1" fmla="val 0"/>
              <a:gd name="adj2" fmla="val 50000"/>
            </a:avLst>
          </a:prstGeom>
          <a:ln xmlns:a="http://schemas.openxmlformats.org/drawingml/2006/main" w="19050">
            <a:solidFill>
              <a:srgbClr val="4B626D"/>
            </a:solidFill>
            <a:prstDash val="solid"/>
            <a:tailEnd type="triangle" w="med" len="med"/>
          </a:ln>
        </p:spPr>
      </p:cxnSp>
      <p:sp>
        <p:nvSpPr>
          <p:cNvPr id="16" name="deploy-control-label">
            <a:extLst xmlns:a="http://schemas.openxmlformats.org/drawingml/2006/main">
              <a:ext uri="{FF2B5EF4-FFF2-40B4-BE49-F238E27FC236}">
                <a16:creationId xmlns:a16="http://schemas.microsoft.com/office/drawing/2014/main" id="{21259172-EFC0-4D2A-BB7F-1CE1A0B10D1C}"/>
              </a:ext>
            </a:extLst>
          </p:cNvPr>
          <p:cNvSpPr>
            <a:spLocks xmlns:a="http://schemas.openxmlformats.org/drawingml/2006/main" noGrp="1"/>
          </p:cNvSpPr>
          <p:nvPr/>
        </p:nvSpPr>
        <p:spPr>
          <a:xfrm xmlns:a="http://schemas.openxmlformats.org/drawingml/2006/main">
            <a:off x="781050" y="1466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El master coordina; los workers ejecutan los jobs.</a:t>
            </a:r>
          </a:p>
        </p:txBody>
      </p:sp>
      <p:sp>
        <p:nvSpPr>
          <p:cNvPr id="17" name="deploy-config">
            <a:extLst xmlns:a="http://schemas.openxmlformats.org/drawingml/2006/main">
              <a:ext uri="{FF2B5EF4-FFF2-40B4-BE49-F238E27FC236}">
                <a16:creationId xmlns:a16="http://schemas.microsoft.com/office/drawing/2014/main" id="{3F65AD23-6845-47D7-BA35-4E5AEAD5DEF3}"/>
              </a:ext>
            </a:extLst>
          </p:cNvPr>
          <p:cNvSpPr>
            <a:spLocks xmlns:a="http://schemas.openxmlformats.org/drawingml/2006/main" noGrp="1"/>
          </p:cNvSpPr>
          <p:nvPr/>
        </p:nvSpPr>
        <p:spPr>
          <a:xfrm xmlns:a="http://schemas.openxmlformats.org/drawingml/2006/main">
            <a:off x="2857500" y="441007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Pegasus 5.1.2 · HTCondor 25.12.2 · condorio</a:t>
            </a:r>
          </a:p>
        </p:txBody>
      </p:sp>
      <p:sp>
        <p:nvSpPr>
          <p:cNvPr id="18" name="deploy-separator">
            <a:extLst xmlns:a="http://schemas.openxmlformats.org/drawingml/2006/main">
              <a:ext uri="{FF2B5EF4-FFF2-40B4-BE49-F238E27FC236}">
                <a16:creationId xmlns:a16="http://schemas.microsoft.com/office/drawing/2014/main" id="{F94CAE2C-F6D2-4BE1-B411-31098073829E}"/>
              </a:ext>
            </a:extLst>
          </p:cNvPr>
          <p:cNvSpPr>
            <a:spLocks xmlns:a="http://schemas.openxmlformats.org/drawingml/2006/main" noGrp="1"/>
          </p:cNvSpPr>
          <p:nvPr/>
        </p:nvSpPr>
        <p:spPr>
          <a:xfrm xmlns:a="http://schemas.openxmlformats.org/drawingml/2006/main">
            <a:off x="781050" y="4705350"/>
            <a:ext cx="10477500" cy="1333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9" name="deploy-post-phase">
            <a:extLst xmlns:a="http://schemas.openxmlformats.org/drawingml/2006/main">
              <a:ext uri="{FF2B5EF4-FFF2-40B4-BE49-F238E27FC236}">
                <a16:creationId xmlns:a16="http://schemas.microsoft.com/office/drawing/2014/main" id="{F93244A3-42B9-40AB-BBDF-4D3F16C53A80}"/>
              </a:ext>
            </a:extLst>
          </p:cNvPr>
          <p:cNvSpPr>
            <a:spLocks xmlns:a="http://schemas.openxmlformats.org/drawingml/2006/main" noGrp="1"/>
          </p:cNvSpPr>
          <p:nvPr/>
        </p:nvSpPr>
        <p:spPr>
          <a:xfrm xmlns:a="http://schemas.openxmlformats.org/drawingml/2006/main">
            <a:off x="781050" y="4838700"/>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5757C"/>
                </a:solidFill>
                <a:latin typeface="Arial"/>
                <a:ea typeface="Arial"/>
                <a:cs typeface="Arial"/>
              </a:defRPr>
            </a:pPr>
            <a:r>
              <a:rPr sz="1350" b="1" i="0">
                <a:solidFill>
                  <a:srgbClr val="65757C"/>
                </a:solidFill>
                <a:latin typeface="Arial"/>
                <a:ea typeface="Arial"/>
                <a:cs typeface="Arial"/>
              </a:rPr>
              <a:t>DESPUÉS DE LA EJECUCIÓN</a:t>
            </a:r>
          </a:p>
        </p:txBody>
      </p:sp>
      <p:sp>
        <p:nvSpPr>
          <p:cNvPr id="20" name="deploy-artifacts">
            <a:extLst xmlns:a="http://schemas.openxmlformats.org/drawingml/2006/main">
              <a:ext uri="{FF2B5EF4-FFF2-40B4-BE49-F238E27FC236}">
                <a16:creationId xmlns:a16="http://schemas.microsoft.com/office/drawing/2014/main" id="{8F51F443-E064-4121-9596-301EA72D6A48}"/>
              </a:ext>
            </a:extLst>
          </p:cNvPr>
          <p:cNvSpPr>
            <a:spLocks xmlns:a="http://schemas.openxmlformats.org/drawingml/2006/main" noGrp="1"/>
          </p:cNvSpPr>
          <p:nvPr/>
        </p:nvSpPr>
        <p:spPr>
          <a:xfrm xmlns:a="http://schemas.openxmlformats.org/drawingml/2006/main">
            <a:off x="1028700" y="5191125"/>
            <a:ext cx="3238500" cy="6096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Run Pegasus preservado</a:t>
            </a:r>
          </a:p>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 HTCondor history</a:t>
            </a:r>
          </a:p>
        </p:txBody>
      </p:sp>
      <p:sp>
        <p:nvSpPr>
          <p:cNvPr id="21" name="deploy-analyzer">
            <a:extLst xmlns:a="http://schemas.openxmlformats.org/drawingml/2006/main">
              <a:ext uri="{FF2B5EF4-FFF2-40B4-BE49-F238E27FC236}">
                <a16:creationId xmlns:a16="http://schemas.microsoft.com/office/drawing/2014/main" id="{CB9A3C64-3DCC-4149-B70E-A5F62D9005FB}"/>
              </a:ext>
            </a:extLst>
          </p:cNvPr>
          <p:cNvSpPr>
            <a:spLocks xmlns:a="http://schemas.openxmlformats.org/drawingml/2006/main" noGrp="1"/>
          </p:cNvSpPr>
          <p:nvPr/>
        </p:nvSpPr>
        <p:spPr>
          <a:xfrm xmlns:a="http://schemas.openxmlformats.org/drawingml/2006/main">
            <a:off x="4981575" y="5191125"/>
            <a:ext cx="2514600" cy="609600"/>
          </a:xfrm>
          <a:prstGeom xmlns:a="http://schemas.openxmlformats.org/drawingml/2006/main" prst="rect">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Analyzer v1 · post-mortem</a:t>
            </a:r>
          </a:p>
        </p:txBody>
      </p:sp>
      <p:sp>
        <p:nvSpPr>
          <p:cNvPr id="22" name="deploy-reports">
            <a:extLst xmlns:a="http://schemas.openxmlformats.org/drawingml/2006/main">
              <a:ext uri="{FF2B5EF4-FFF2-40B4-BE49-F238E27FC236}">
                <a16:creationId xmlns:a16="http://schemas.microsoft.com/office/drawing/2014/main" id="{4F544A85-98C1-4A78-91EB-28C4BB825D71}"/>
              </a:ext>
            </a:extLst>
          </p:cNvPr>
          <p:cNvSpPr>
            <a:spLocks xmlns:a="http://schemas.openxmlformats.org/drawingml/2006/main" noGrp="1"/>
          </p:cNvSpPr>
          <p:nvPr/>
        </p:nvSpPr>
        <p:spPr>
          <a:xfrm xmlns:a="http://schemas.openxmlformats.org/drawingml/2006/main">
            <a:off x="8334375" y="5191125"/>
            <a:ext cx="2647950" cy="6096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Métricas + diagnósticos</a:t>
            </a:r>
          </a:p>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 procedencia</a:t>
            </a:r>
          </a:p>
        </p:txBody>
      </p:sp>
      <p:cxnSp>
        <p:nvCxnSpPr>
          <p:cNvPr id="48" name=""/>
          <p:cNvCxnSpPr>
            <a:stCxn xmlns:a="http://schemas.openxmlformats.org/drawingml/2006/main" id="20" idx="3"/>
            <a:endCxn xmlns:a="http://schemas.openxmlformats.org/drawingml/2006/main" id="21" idx="1"/>
          </p:cNvCxnSpPr>
          <p:nvPr/>
        </p:nvCxnSpPr>
        <p:spPr>
          <a:xfrm xmlns:a="http://schemas.openxmlformats.org/drawingml/2006/main">
            <a:off x="4267200" y="5495925"/>
            <a:ext cx="7143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49" name=""/>
          <p:cNvCxnSpPr>
            <a:stCxn xmlns:a="http://schemas.openxmlformats.org/drawingml/2006/main" id="21" idx="3"/>
            <a:endCxn xmlns:a="http://schemas.openxmlformats.org/drawingml/2006/main" id="22" idx="1"/>
          </p:cNvCxnSpPr>
          <p:nvPr/>
        </p:nvCxnSpPr>
        <p:spPr>
          <a:xfrm xmlns:a="http://schemas.openxmlformats.org/drawingml/2006/main">
            <a:off x="7496175" y="5495925"/>
            <a:ext cx="8382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25" name="deploy-path-caveat">
            <a:extLst xmlns:a="http://schemas.openxmlformats.org/drawingml/2006/main">
              <a:ext uri="{FF2B5EF4-FFF2-40B4-BE49-F238E27FC236}">
                <a16:creationId xmlns:a16="http://schemas.microsoft.com/office/drawing/2014/main" id="{83B600CA-3322-4C58-8587-441D2B960E96}"/>
              </a:ext>
            </a:extLst>
          </p:cNvPr>
          <p:cNvSpPr>
            <a:spLocks xmlns:a="http://schemas.openxmlformats.org/drawingml/2006/main" noGrp="1"/>
          </p:cNvSpPr>
          <p:nvPr/>
        </p:nvSpPr>
        <p:spPr>
          <a:xfrm xmlns:a="http://schemas.openxmlformats.org/drawingml/2006/main">
            <a:off x="781050" y="5972175"/>
            <a:ext cx="1000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El diagrama no afirma una ruta física para los archivos.</a:t>
            </a:r>
          </a:p>
        </p:txBody>
      </p:sp>
    </p:spTree>
    <p:extLst>
      <p:ext uri="{BB962C8B-B14F-4D97-AF65-F5344CB8AC3E}">
        <p14:creationId xmlns:p14="http://schemas.microsoft.com/office/powerpoint/2010/main" val="202512694"/>
      </p:ext>
    </p:extLst>
  </p:cSld>
</p:sld>
</file>

<file path=ppt/slides/slide8.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38" name="slide-title-8">
            <a:extLst xmlns:a="http://schemas.openxmlformats.org/drawingml/2006/main">
              <a:ext uri="{FF2B5EF4-FFF2-40B4-BE49-F238E27FC236}">
                <a16:creationId xmlns:a16="http://schemas.microsoft.com/office/drawing/2014/main" id="{95AA88C2-1037-4FDE-B91F-6BDC53946258}"/>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Cinco formas de organizar las tareas</a:t>
            </a:r>
          </a:p>
        </p:txBody>
      </p:sp>
      <p:sp>
        <p:nvSpPr>
          <p:cNvPr id="2" name="title-rule-8">
            <a:extLst xmlns:a="http://schemas.openxmlformats.org/drawingml/2006/main">
              <a:ext uri="{FF2B5EF4-FFF2-40B4-BE49-F238E27FC236}">
                <a16:creationId xmlns:a16="http://schemas.microsoft.com/office/drawing/2014/main" id="{D072F2FE-8AA2-4E65-916A-2D1C64443D1F}"/>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8">
            <a:extLst xmlns:a="http://schemas.openxmlformats.org/drawingml/2006/main">
              <a:ext uri="{FF2B5EF4-FFF2-40B4-BE49-F238E27FC236}">
                <a16:creationId xmlns:a16="http://schemas.microsoft.com/office/drawing/2014/main" id="{3BC38788-33D7-49F0-9AB7-EC600EC32ACA}"/>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08</a:t>
            </a:r>
          </a:p>
        </p:txBody>
      </p:sp>
      <p:sp>
        <p:nvSpPr>
          <p:cNvPr id="4" name="patterns-intro">
            <a:extLst xmlns:a="http://schemas.openxmlformats.org/drawingml/2006/main">
              <a:ext uri="{FF2B5EF4-FFF2-40B4-BE49-F238E27FC236}">
                <a16:creationId xmlns:a16="http://schemas.microsoft.com/office/drawing/2014/main" id="{7B29E4C2-9A2B-432A-9385-FAB5EFC1C570}"/>
              </a:ext>
            </a:extLst>
          </p:cNvPr>
          <p:cNvSpPr>
            <a:spLocks xmlns:a="http://schemas.openxmlformats.org/drawingml/2006/main" noGrp="1"/>
          </p:cNvSpPr>
          <p:nvPr/>
        </p:nvSpPr>
        <p:spPr>
          <a:xfrm xmlns:a="http://schemas.openxmlformats.org/drawingml/2006/main">
            <a:off x="781050" y="12954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65757C"/>
                </a:solidFill>
                <a:latin typeface="Arial"/>
                <a:ea typeface="Arial"/>
                <a:cs typeface="Arial"/>
              </a:defRPr>
            </a:pPr>
            <a:r>
              <a:rPr sz="1725" b="0" i="0">
                <a:solidFill>
                  <a:srgbClr val="65757C"/>
                </a:solidFill>
                <a:latin typeface="Arial"/>
                <a:ea typeface="Arial"/>
                <a:cs typeface="Arial"/>
              </a:rPr>
              <a:t>Los patrones cambian quién produce archivos y quién los consume.</a:t>
            </a:r>
          </a:p>
        </p:txBody>
      </p:sp>
      <p:sp>
        <p:nvSpPr>
          <p:cNvPr id="5" name="pattern-label-0">
            <a:extLst xmlns:a="http://schemas.openxmlformats.org/drawingml/2006/main">
              <a:ext uri="{FF2B5EF4-FFF2-40B4-BE49-F238E27FC236}">
                <a16:creationId xmlns:a16="http://schemas.microsoft.com/office/drawing/2014/main" id="{6D78A34D-D42B-4A51-928A-6C0E1C561567}"/>
              </a:ext>
            </a:extLst>
          </p:cNvPr>
          <p:cNvSpPr>
            <a:spLocks xmlns:a="http://schemas.openxmlformats.org/drawingml/2006/main" noGrp="1"/>
          </p:cNvSpPr>
          <p:nvPr/>
        </p:nvSpPr>
        <p:spPr>
          <a:xfrm xmlns:a="http://schemas.openxmlformats.org/drawingml/2006/main">
            <a:off x="781050" y="18288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Process</a:t>
            </a:r>
          </a:p>
        </p:txBody>
      </p:sp>
      <p:sp>
        <p:nvSpPr>
          <p:cNvPr id="6" name="pattern-label-1">
            <a:extLst xmlns:a="http://schemas.openxmlformats.org/drawingml/2006/main">
              <a:ext uri="{FF2B5EF4-FFF2-40B4-BE49-F238E27FC236}">
                <a16:creationId xmlns:a16="http://schemas.microsoft.com/office/drawing/2014/main" id="{FB5F829E-AADB-439A-ACFD-EFE69A1F23DC}"/>
              </a:ext>
            </a:extLst>
          </p:cNvPr>
          <p:cNvSpPr>
            <a:spLocks xmlns:a="http://schemas.openxmlformats.org/drawingml/2006/main" noGrp="1"/>
          </p:cNvSpPr>
          <p:nvPr/>
        </p:nvSpPr>
        <p:spPr>
          <a:xfrm xmlns:a="http://schemas.openxmlformats.org/drawingml/2006/main">
            <a:off x="781050" y="26670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Pipeline</a:t>
            </a:r>
          </a:p>
        </p:txBody>
      </p:sp>
      <p:sp>
        <p:nvSpPr>
          <p:cNvPr id="7" name="pattern-label-2">
            <a:extLst xmlns:a="http://schemas.openxmlformats.org/drawingml/2006/main">
              <a:ext uri="{FF2B5EF4-FFF2-40B4-BE49-F238E27FC236}">
                <a16:creationId xmlns:a16="http://schemas.microsoft.com/office/drawing/2014/main" id="{9549F34B-8BD6-4FCD-949F-F311EF9ED292}"/>
              </a:ext>
            </a:extLst>
          </p:cNvPr>
          <p:cNvSpPr>
            <a:spLocks xmlns:a="http://schemas.openxmlformats.org/drawingml/2006/main" noGrp="1"/>
          </p:cNvSpPr>
          <p:nvPr/>
        </p:nvSpPr>
        <p:spPr>
          <a:xfrm xmlns:a="http://schemas.openxmlformats.org/drawingml/2006/main">
            <a:off x="781050" y="35052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Distribución</a:t>
            </a:r>
          </a:p>
        </p:txBody>
      </p:sp>
      <p:sp>
        <p:nvSpPr>
          <p:cNvPr id="8" name="pattern-label-3">
            <a:extLst xmlns:a="http://schemas.openxmlformats.org/drawingml/2006/main">
              <a:ext uri="{FF2B5EF4-FFF2-40B4-BE49-F238E27FC236}">
                <a16:creationId xmlns:a16="http://schemas.microsoft.com/office/drawing/2014/main" id="{76B5496B-3FA9-4D01-89CE-B58FBBC63481}"/>
              </a:ext>
            </a:extLst>
          </p:cNvPr>
          <p:cNvSpPr>
            <a:spLocks xmlns:a="http://schemas.openxmlformats.org/drawingml/2006/main" noGrp="1"/>
          </p:cNvSpPr>
          <p:nvPr/>
        </p:nvSpPr>
        <p:spPr>
          <a:xfrm xmlns:a="http://schemas.openxmlformats.org/drawingml/2006/main">
            <a:off x="781050" y="43434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Agregación</a:t>
            </a:r>
          </a:p>
        </p:txBody>
      </p:sp>
      <p:sp>
        <p:nvSpPr>
          <p:cNvPr id="9" name="pattern-label-4">
            <a:extLst xmlns:a="http://schemas.openxmlformats.org/drawingml/2006/main">
              <a:ext uri="{FF2B5EF4-FFF2-40B4-BE49-F238E27FC236}">
                <a16:creationId xmlns:a16="http://schemas.microsoft.com/office/drawing/2014/main" id="{6730E597-4D9D-4F6D-8E12-B3C10E46D8AC}"/>
              </a:ext>
            </a:extLst>
          </p:cNvPr>
          <p:cNvSpPr>
            <a:spLocks xmlns:a="http://schemas.openxmlformats.org/drawingml/2006/main" noGrp="1"/>
          </p:cNvSpPr>
          <p:nvPr/>
        </p:nvSpPr>
        <p:spPr>
          <a:xfrm xmlns:a="http://schemas.openxmlformats.org/drawingml/2006/main">
            <a:off x="781050" y="51816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Redistribución</a:t>
            </a:r>
          </a:p>
        </p:txBody>
      </p:sp>
      <p:sp>
        <p:nvSpPr>
          <p:cNvPr id="10" name="pattern-process-in">
            <a:extLst xmlns:a="http://schemas.openxmlformats.org/drawingml/2006/main">
              <a:ext uri="{FF2B5EF4-FFF2-40B4-BE49-F238E27FC236}">
                <a16:creationId xmlns:a16="http://schemas.microsoft.com/office/drawing/2014/main" id="{ECE1FA84-A2E6-414D-856D-EA2B561BC8DD}"/>
              </a:ext>
            </a:extLst>
          </p:cNvPr>
          <p:cNvSpPr>
            <a:spLocks xmlns:a="http://schemas.openxmlformats.org/drawingml/2006/main" noGrp="1"/>
          </p:cNvSpPr>
          <p:nvPr/>
        </p:nvSpPr>
        <p:spPr>
          <a:xfrm xmlns:a="http://schemas.openxmlformats.org/drawingml/2006/main">
            <a:off x="2876550" y="1828800"/>
            <a:ext cx="1104900" cy="4572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Entrada</a:t>
            </a:r>
          </a:p>
        </p:txBody>
      </p:sp>
      <p:sp>
        <p:nvSpPr>
          <p:cNvPr id="11" name="pattern-process-task">
            <a:extLst xmlns:a="http://schemas.openxmlformats.org/drawingml/2006/main">
              <a:ext uri="{FF2B5EF4-FFF2-40B4-BE49-F238E27FC236}">
                <a16:creationId xmlns:a16="http://schemas.microsoft.com/office/drawing/2014/main" id="{63D9D489-6E89-4F06-A6A2-033F7EF122B1}"/>
              </a:ext>
            </a:extLst>
          </p:cNvPr>
          <p:cNvSpPr>
            <a:spLocks xmlns:a="http://schemas.openxmlformats.org/drawingml/2006/main" noGrp="1"/>
          </p:cNvSpPr>
          <p:nvPr/>
        </p:nvSpPr>
        <p:spPr>
          <a:xfrm xmlns:a="http://schemas.openxmlformats.org/drawingml/2006/main">
            <a:off x="4914900" y="1828800"/>
            <a:ext cx="12763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75" b="1">
                <a:solidFill>
                  <a:srgbClr val="172A33"/>
                </a:solidFill>
                <a:latin typeface="Arial"/>
                <a:ea typeface="Arial"/>
                <a:cs typeface="Arial"/>
              </a:defRPr>
            </a:pPr>
            <a:r>
              <a:rPr sz="1575" b="1">
                <a:solidFill>
                  <a:srgbClr val="172A33"/>
                </a:solidFill>
                <a:latin typeface="Arial"/>
                <a:ea typeface="Arial"/>
                <a:cs typeface="Arial"/>
              </a:rPr>
              <a:t>T1</a:t>
            </a:r>
          </a:p>
        </p:txBody>
      </p:sp>
      <p:sp>
        <p:nvSpPr>
          <p:cNvPr id="12" name="pattern-process-out">
            <a:extLst xmlns:a="http://schemas.openxmlformats.org/drawingml/2006/main">
              <a:ext uri="{FF2B5EF4-FFF2-40B4-BE49-F238E27FC236}">
                <a16:creationId xmlns:a16="http://schemas.microsoft.com/office/drawing/2014/main" id="{A904F44E-225F-44E1-BB80-DC68C42B9C19}"/>
              </a:ext>
            </a:extLst>
          </p:cNvPr>
          <p:cNvSpPr>
            <a:spLocks xmlns:a="http://schemas.openxmlformats.org/drawingml/2006/main" noGrp="1"/>
          </p:cNvSpPr>
          <p:nvPr/>
        </p:nvSpPr>
        <p:spPr>
          <a:xfrm xmlns:a="http://schemas.openxmlformats.org/drawingml/2006/main">
            <a:off x="7219950" y="1828800"/>
            <a:ext cx="1104900" cy="4572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Salida</a:t>
            </a:r>
          </a:p>
        </p:txBody>
      </p:sp>
      <p:cxnSp>
        <p:nvCxnSpPr>
          <p:cNvPr id="50" name=""/>
          <p:cNvCxnSpPr>
            <a:stCxn xmlns:a="http://schemas.openxmlformats.org/drawingml/2006/main" id="10" idx="6"/>
            <a:endCxn xmlns:a="http://schemas.openxmlformats.org/drawingml/2006/main" id="11" idx="1"/>
          </p:cNvCxnSpPr>
          <p:nvPr/>
        </p:nvCxnSpPr>
        <p:spPr>
          <a:xfrm xmlns:a="http://schemas.openxmlformats.org/drawingml/2006/main">
            <a:off x="3981450" y="2057400"/>
            <a:ext cx="93345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51" name=""/>
          <p:cNvCxnSpPr>
            <a:stCxn xmlns:a="http://schemas.openxmlformats.org/drawingml/2006/main" id="11" idx="3"/>
            <a:endCxn xmlns:a="http://schemas.openxmlformats.org/drawingml/2006/main" id="12" idx="2"/>
          </p:cNvCxnSpPr>
          <p:nvPr/>
        </p:nvCxnSpPr>
        <p:spPr>
          <a:xfrm xmlns:a="http://schemas.openxmlformats.org/drawingml/2006/main">
            <a:off x="6191250" y="2057400"/>
            <a:ext cx="10287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15" name="pattern-pipe-t1">
            <a:extLst xmlns:a="http://schemas.openxmlformats.org/drawingml/2006/main">
              <a:ext uri="{FF2B5EF4-FFF2-40B4-BE49-F238E27FC236}">
                <a16:creationId xmlns:a16="http://schemas.microsoft.com/office/drawing/2014/main" id="{5BC898BC-1106-4823-9CA1-A19BAD6ECE51}"/>
              </a:ext>
            </a:extLst>
          </p:cNvPr>
          <p:cNvSpPr>
            <a:spLocks xmlns:a="http://schemas.openxmlformats.org/drawingml/2006/main" noGrp="1"/>
          </p:cNvSpPr>
          <p:nvPr/>
        </p:nvSpPr>
        <p:spPr>
          <a:xfrm xmlns:a="http://schemas.openxmlformats.org/drawingml/2006/main">
            <a:off x="3448050" y="2667000"/>
            <a:ext cx="106680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16" name="pattern-pipe-t2">
            <a:extLst xmlns:a="http://schemas.openxmlformats.org/drawingml/2006/main">
              <a:ext uri="{FF2B5EF4-FFF2-40B4-BE49-F238E27FC236}">
                <a16:creationId xmlns:a16="http://schemas.microsoft.com/office/drawing/2014/main" id="{94E79750-3CB0-4B5C-A973-6015FC666896}"/>
              </a:ext>
            </a:extLst>
          </p:cNvPr>
          <p:cNvSpPr>
            <a:spLocks xmlns:a="http://schemas.openxmlformats.org/drawingml/2006/main" noGrp="1"/>
          </p:cNvSpPr>
          <p:nvPr/>
        </p:nvSpPr>
        <p:spPr>
          <a:xfrm xmlns:a="http://schemas.openxmlformats.org/drawingml/2006/main">
            <a:off x="5495925" y="2667000"/>
            <a:ext cx="106680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T2</a:t>
            </a:r>
          </a:p>
        </p:txBody>
      </p:sp>
      <p:sp>
        <p:nvSpPr>
          <p:cNvPr id="17" name="pattern-pipe-t3">
            <a:extLst xmlns:a="http://schemas.openxmlformats.org/drawingml/2006/main">
              <a:ext uri="{FF2B5EF4-FFF2-40B4-BE49-F238E27FC236}">
                <a16:creationId xmlns:a16="http://schemas.microsoft.com/office/drawing/2014/main" id="{EA2897E7-A81D-4AD6-8930-A80558AF5401}"/>
              </a:ext>
            </a:extLst>
          </p:cNvPr>
          <p:cNvSpPr>
            <a:spLocks xmlns:a="http://schemas.openxmlformats.org/drawingml/2006/main" noGrp="1"/>
          </p:cNvSpPr>
          <p:nvPr/>
        </p:nvSpPr>
        <p:spPr>
          <a:xfrm xmlns:a="http://schemas.openxmlformats.org/drawingml/2006/main">
            <a:off x="7543800" y="2667000"/>
            <a:ext cx="106680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T3</a:t>
            </a:r>
          </a:p>
        </p:txBody>
      </p:sp>
      <p:cxnSp>
        <p:nvCxnSpPr>
          <p:cNvPr id="55" name=""/>
          <p:cNvCxnSpPr>
            <a:stCxn xmlns:a="http://schemas.openxmlformats.org/drawingml/2006/main" id="15" idx="3"/>
            <a:endCxn xmlns:a="http://schemas.openxmlformats.org/drawingml/2006/main" id="16" idx="1"/>
          </p:cNvCxnSpPr>
          <p:nvPr/>
        </p:nvCxnSpPr>
        <p:spPr>
          <a:xfrm xmlns:a="http://schemas.openxmlformats.org/drawingml/2006/main">
            <a:off x="4514850" y="2895600"/>
            <a:ext cx="9810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56" name=""/>
          <p:cNvCxnSpPr>
            <a:stCxn xmlns:a="http://schemas.openxmlformats.org/drawingml/2006/main" id="16" idx="3"/>
            <a:endCxn xmlns:a="http://schemas.openxmlformats.org/drawingml/2006/main" id="17" idx="1"/>
          </p:cNvCxnSpPr>
          <p:nvPr/>
        </p:nvCxnSpPr>
        <p:spPr>
          <a:xfrm xmlns:a="http://schemas.openxmlformats.org/drawingml/2006/main">
            <a:off x="6562725" y="2895600"/>
            <a:ext cx="9810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20" name="pattern-dist-t1">
            <a:extLst xmlns:a="http://schemas.openxmlformats.org/drawingml/2006/main">
              <a:ext uri="{FF2B5EF4-FFF2-40B4-BE49-F238E27FC236}">
                <a16:creationId xmlns:a16="http://schemas.microsoft.com/office/drawing/2014/main" id="{9FE68A61-1518-4F2D-B71F-385D343B43D3}"/>
              </a:ext>
            </a:extLst>
          </p:cNvPr>
          <p:cNvSpPr>
            <a:spLocks xmlns:a="http://schemas.openxmlformats.org/drawingml/2006/main" noGrp="1"/>
          </p:cNvSpPr>
          <p:nvPr/>
        </p:nvSpPr>
        <p:spPr>
          <a:xfrm xmlns:a="http://schemas.openxmlformats.org/drawingml/2006/main">
            <a:off x="3105150" y="3505200"/>
            <a:ext cx="10477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21" name="pattern-dist-t2">
            <a:extLst xmlns:a="http://schemas.openxmlformats.org/drawingml/2006/main">
              <a:ext uri="{FF2B5EF4-FFF2-40B4-BE49-F238E27FC236}">
                <a16:creationId xmlns:a16="http://schemas.microsoft.com/office/drawing/2014/main" id="{4716934E-2BA7-436E-AE26-052C7BEA3B9E}"/>
              </a:ext>
            </a:extLst>
          </p:cNvPr>
          <p:cNvSpPr>
            <a:spLocks xmlns:a="http://schemas.openxmlformats.org/drawingml/2006/main" noGrp="1"/>
          </p:cNvSpPr>
          <p:nvPr/>
        </p:nvSpPr>
        <p:spPr>
          <a:xfrm xmlns:a="http://schemas.openxmlformats.org/drawingml/2006/main">
            <a:off x="7239000" y="3448050"/>
            <a:ext cx="10477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T2</a:t>
            </a:r>
          </a:p>
        </p:txBody>
      </p:sp>
      <p:sp>
        <p:nvSpPr>
          <p:cNvPr id="22" name="pattern-dist-t3">
            <a:extLst xmlns:a="http://schemas.openxmlformats.org/drawingml/2006/main">
              <a:ext uri="{FF2B5EF4-FFF2-40B4-BE49-F238E27FC236}">
                <a16:creationId xmlns:a16="http://schemas.microsoft.com/office/drawing/2014/main" id="{9AE56C11-9AF8-4E45-B444-C80370834F14}"/>
              </a:ext>
            </a:extLst>
          </p:cNvPr>
          <p:cNvSpPr>
            <a:spLocks xmlns:a="http://schemas.openxmlformats.org/drawingml/2006/main" noGrp="1"/>
          </p:cNvSpPr>
          <p:nvPr/>
        </p:nvSpPr>
        <p:spPr>
          <a:xfrm xmlns:a="http://schemas.openxmlformats.org/drawingml/2006/main">
            <a:off x="8801100" y="3790950"/>
            <a:ext cx="10477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T3</a:t>
            </a:r>
          </a:p>
        </p:txBody>
      </p:sp>
      <p:cxnSp>
        <p:nvCxnSpPr>
          <p:cNvPr id="60" name=""/>
          <p:cNvCxnSpPr>
            <a:stCxn xmlns:a="http://schemas.openxmlformats.org/drawingml/2006/main" id="20" idx="3"/>
            <a:endCxn xmlns:a="http://schemas.openxmlformats.org/drawingml/2006/main" id="21" idx="1"/>
          </p:cNvCxnSpPr>
          <p:nvPr/>
        </p:nvCxnSpPr>
        <p:spPr>
          <a:xfrm xmlns:a="http://schemas.openxmlformats.org/drawingml/2006/main" flipV="1">
            <a:off x="4152900" y="3648075"/>
            <a:ext cx="3086100" cy="8572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1" name=""/>
          <p:cNvCxnSpPr>
            <a:stCxn xmlns:a="http://schemas.openxmlformats.org/drawingml/2006/main" id="20" idx="3"/>
            <a:endCxn xmlns:a="http://schemas.openxmlformats.org/drawingml/2006/main" id="22" idx="1"/>
          </p:cNvCxnSpPr>
          <p:nvPr/>
        </p:nvCxnSpPr>
        <p:spPr>
          <a:xfrm xmlns:a="http://schemas.openxmlformats.org/drawingml/2006/main">
            <a:off x="4152900" y="3733800"/>
            <a:ext cx="4648200" cy="25717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25" name="pattern-dist-note">
            <a:extLst xmlns:a="http://schemas.openxmlformats.org/drawingml/2006/main">
              <a:ext uri="{FF2B5EF4-FFF2-40B4-BE49-F238E27FC236}">
                <a16:creationId xmlns:a16="http://schemas.microsoft.com/office/drawing/2014/main" id="{9E5B7116-8411-4351-AE31-A0CD83CBC03E}"/>
              </a:ext>
            </a:extLst>
          </p:cNvPr>
          <p:cNvSpPr>
            <a:spLocks xmlns:a="http://schemas.openxmlformats.org/drawingml/2006/main" noGrp="1"/>
          </p:cNvSpPr>
          <p:nvPr/>
        </p:nvSpPr>
        <p:spPr>
          <a:xfrm xmlns:a="http://schemas.openxmlformats.org/drawingml/2006/main">
            <a:off x="9886950" y="3533775"/>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750"/>
          </a:bodyPr>
          <a:lstStyle xmlns:a="http://schemas.openxmlformats.org/drawingml/2006/main"/>
          <a:p xmlns:a="http://schemas.openxmlformats.org/drawingml/2006/main">
            <a:pPr algn="l">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1 productor</a:t>
            </a:r>
          </a:p>
          <a:p xmlns:a="http://schemas.openxmlformats.org/drawingml/2006/main">
            <a:pPr algn="l">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 varios</a:t>
            </a:r>
          </a:p>
        </p:txBody>
      </p:sp>
      <p:sp>
        <p:nvSpPr>
          <p:cNvPr id="26" name="pattern-agg-t1">
            <a:extLst xmlns:a="http://schemas.openxmlformats.org/drawingml/2006/main">
              <a:ext uri="{FF2B5EF4-FFF2-40B4-BE49-F238E27FC236}">
                <a16:creationId xmlns:a16="http://schemas.microsoft.com/office/drawing/2014/main" id="{EC37313D-6E25-44E4-9183-E40041C88ED3}"/>
              </a:ext>
            </a:extLst>
          </p:cNvPr>
          <p:cNvSpPr>
            <a:spLocks xmlns:a="http://schemas.openxmlformats.org/drawingml/2006/main" noGrp="1"/>
          </p:cNvSpPr>
          <p:nvPr/>
        </p:nvSpPr>
        <p:spPr>
          <a:xfrm xmlns:a="http://schemas.openxmlformats.org/drawingml/2006/main">
            <a:off x="3105150" y="4152900"/>
            <a:ext cx="1047750" cy="257175"/>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93137"/>
          </a:bodyPr>
          <a:lstStyle xmlns:a="http://schemas.openxmlformats.org/drawingml/2006/main"/>
          <a:p xmlns:a="http://schemas.openxmlformats.org/drawingml/2006/main">
            <a:pPr algn="ctr">
              <a:defRPr sz="1275" b="1">
                <a:solidFill>
                  <a:srgbClr val="172A33"/>
                </a:solidFill>
                <a:latin typeface="Arial"/>
                <a:ea typeface="Arial"/>
                <a:cs typeface="Arial"/>
              </a:defRPr>
            </a:pPr>
            <a:r>
              <a:rPr sz="1275" b="1">
                <a:solidFill>
                  <a:srgbClr val="172A33"/>
                </a:solidFill>
                <a:latin typeface="Arial"/>
                <a:ea typeface="Arial"/>
                <a:cs typeface="Arial"/>
              </a:rPr>
              <a:t>T1</a:t>
            </a:r>
          </a:p>
        </p:txBody>
      </p:sp>
      <p:sp>
        <p:nvSpPr>
          <p:cNvPr id="27" name="pattern-agg-t2">
            <a:extLst xmlns:a="http://schemas.openxmlformats.org/drawingml/2006/main">
              <a:ext uri="{FF2B5EF4-FFF2-40B4-BE49-F238E27FC236}">
                <a16:creationId xmlns:a16="http://schemas.microsoft.com/office/drawing/2014/main" id="{A636981A-7A72-4D40-91C1-8649F4ADDBDA}"/>
              </a:ext>
            </a:extLst>
          </p:cNvPr>
          <p:cNvSpPr>
            <a:spLocks xmlns:a="http://schemas.openxmlformats.org/drawingml/2006/main" noGrp="1"/>
          </p:cNvSpPr>
          <p:nvPr/>
        </p:nvSpPr>
        <p:spPr>
          <a:xfrm xmlns:a="http://schemas.openxmlformats.org/drawingml/2006/main">
            <a:off x="3105150" y="4457700"/>
            <a:ext cx="1047750" cy="257175"/>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93137"/>
          </a:bodyPr>
          <a:lstStyle xmlns:a="http://schemas.openxmlformats.org/drawingml/2006/main"/>
          <a:p xmlns:a="http://schemas.openxmlformats.org/drawingml/2006/main">
            <a:pPr algn="ctr">
              <a:defRPr sz="1275" b="1">
                <a:solidFill>
                  <a:srgbClr val="172A33"/>
                </a:solidFill>
                <a:latin typeface="Arial"/>
                <a:ea typeface="Arial"/>
                <a:cs typeface="Arial"/>
              </a:defRPr>
            </a:pPr>
            <a:r>
              <a:rPr sz="1275" b="1">
                <a:solidFill>
                  <a:srgbClr val="172A33"/>
                </a:solidFill>
                <a:latin typeface="Arial"/>
                <a:ea typeface="Arial"/>
                <a:cs typeface="Arial"/>
              </a:rPr>
              <a:t>T2</a:t>
            </a:r>
          </a:p>
        </p:txBody>
      </p:sp>
      <p:sp>
        <p:nvSpPr>
          <p:cNvPr id="28" name="pattern-agg-t3">
            <a:extLst xmlns:a="http://schemas.openxmlformats.org/drawingml/2006/main">
              <a:ext uri="{FF2B5EF4-FFF2-40B4-BE49-F238E27FC236}">
                <a16:creationId xmlns:a16="http://schemas.microsoft.com/office/drawing/2014/main" id="{25E810F9-3ABC-465D-BB77-0C265C21F009}"/>
              </a:ext>
            </a:extLst>
          </p:cNvPr>
          <p:cNvSpPr>
            <a:spLocks xmlns:a="http://schemas.openxmlformats.org/drawingml/2006/main" noGrp="1"/>
          </p:cNvSpPr>
          <p:nvPr/>
        </p:nvSpPr>
        <p:spPr>
          <a:xfrm xmlns:a="http://schemas.openxmlformats.org/drawingml/2006/main">
            <a:off x="3105150" y="4762500"/>
            <a:ext cx="1047750" cy="257175"/>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93137"/>
          </a:bodyPr>
          <a:lstStyle xmlns:a="http://schemas.openxmlformats.org/drawingml/2006/main"/>
          <a:p xmlns:a="http://schemas.openxmlformats.org/drawingml/2006/main">
            <a:pPr algn="ctr">
              <a:defRPr sz="1275" b="1">
                <a:solidFill>
                  <a:srgbClr val="172A33"/>
                </a:solidFill>
                <a:latin typeface="Arial"/>
                <a:ea typeface="Arial"/>
                <a:cs typeface="Arial"/>
              </a:defRPr>
            </a:pPr>
            <a:r>
              <a:rPr sz="1275" b="1">
                <a:solidFill>
                  <a:srgbClr val="172A33"/>
                </a:solidFill>
                <a:latin typeface="Arial"/>
                <a:ea typeface="Arial"/>
                <a:cs typeface="Arial"/>
              </a:rPr>
              <a:t>T3</a:t>
            </a:r>
          </a:p>
        </p:txBody>
      </p:sp>
      <p:sp>
        <p:nvSpPr>
          <p:cNvPr id="29" name="pattern-agg-t4">
            <a:extLst xmlns:a="http://schemas.openxmlformats.org/drawingml/2006/main">
              <a:ext uri="{FF2B5EF4-FFF2-40B4-BE49-F238E27FC236}">
                <a16:creationId xmlns:a16="http://schemas.microsoft.com/office/drawing/2014/main" id="{6BD6D2CD-A517-4FB4-8BBA-33CB4A8E0CB3}"/>
              </a:ext>
            </a:extLst>
          </p:cNvPr>
          <p:cNvSpPr>
            <a:spLocks xmlns:a="http://schemas.openxmlformats.org/drawingml/2006/main" noGrp="1"/>
          </p:cNvSpPr>
          <p:nvPr/>
        </p:nvSpPr>
        <p:spPr>
          <a:xfrm xmlns:a="http://schemas.openxmlformats.org/drawingml/2006/main">
            <a:off x="7239000" y="4400550"/>
            <a:ext cx="11620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T4</a:t>
            </a:r>
          </a:p>
        </p:txBody>
      </p:sp>
      <p:cxnSp>
        <p:nvCxnSpPr>
          <p:cNvPr id="67" name=""/>
          <p:cNvCxnSpPr>
            <a:stCxn xmlns:a="http://schemas.openxmlformats.org/drawingml/2006/main" id="26" idx="3"/>
            <a:endCxn xmlns:a="http://schemas.openxmlformats.org/drawingml/2006/main" id="29" idx="1"/>
          </p:cNvCxnSpPr>
          <p:nvPr/>
        </p:nvCxnSpPr>
        <p:spPr>
          <a:xfrm xmlns:a="http://schemas.openxmlformats.org/drawingml/2006/main">
            <a:off x="4152900" y="4281488"/>
            <a:ext cx="3086100" cy="347663"/>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8" name=""/>
          <p:cNvCxnSpPr>
            <a:stCxn xmlns:a="http://schemas.openxmlformats.org/drawingml/2006/main" id="27" idx="3"/>
            <a:endCxn xmlns:a="http://schemas.openxmlformats.org/drawingml/2006/main" id="29" idx="1"/>
          </p:cNvCxnSpPr>
          <p:nvPr/>
        </p:nvCxnSpPr>
        <p:spPr>
          <a:xfrm xmlns:a="http://schemas.openxmlformats.org/drawingml/2006/main">
            <a:off x="4152900" y="4586288"/>
            <a:ext cx="3086100" cy="42863"/>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9" name=""/>
          <p:cNvCxnSpPr>
            <a:stCxn xmlns:a="http://schemas.openxmlformats.org/drawingml/2006/main" id="28" idx="3"/>
            <a:endCxn xmlns:a="http://schemas.openxmlformats.org/drawingml/2006/main" id="29" idx="1"/>
          </p:cNvCxnSpPr>
          <p:nvPr/>
        </p:nvCxnSpPr>
        <p:spPr>
          <a:xfrm xmlns:a="http://schemas.openxmlformats.org/drawingml/2006/main" flipV="1">
            <a:off x="4152900" y="4629150"/>
            <a:ext cx="3086100" cy="261938"/>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33" name="pattern-agg-note">
            <a:extLst xmlns:a="http://schemas.openxmlformats.org/drawingml/2006/main">
              <a:ext uri="{FF2B5EF4-FFF2-40B4-BE49-F238E27FC236}">
                <a16:creationId xmlns:a16="http://schemas.microsoft.com/office/drawing/2014/main" id="{8DA0017D-90B6-46BC-87FB-D999E3B0D24C}"/>
              </a:ext>
            </a:extLst>
          </p:cNvPr>
          <p:cNvSpPr>
            <a:spLocks xmlns:a="http://schemas.openxmlformats.org/drawingml/2006/main" noGrp="1"/>
          </p:cNvSpPr>
          <p:nvPr/>
        </p:nvSpPr>
        <p:spPr>
          <a:xfrm xmlns:a="http://schemas.openxmlformats.org/drawingml/2006/main">
            <a:off x="8782050" y="44862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varios → 1</a:t>
            </a:r>
          </a:p>
        </p:txBody>
      </p:sp>
      <p:sp>
        <p:nvSpPr>
          <p:cNvPr id="34" name="pattern-redist-producers">
            <a:extLst xmlns:a="http://schemas.openxmlformats.org/drawingml/2006/main">
              <a:ext uri="{FF2B5EF4-FFF2-40B4-BE49-F238E27FC236}">
                <a16:creationId xmlns:a16="http://schemas.microsoft.com/office/drawing/2014/main" id="{AB4E5C53-3087-4D60-B486-3B0A8C05EB82}"/>
              </a:ext>
            </a:extLst>
          </p:cNvPr>
          <p:cNvSpPr>
            <a:spLocks xmlns:a="http://schemas.openxmlformats.org/drawingml/2006/main" noGrp="1"/>
          </p:cNvSpPr>
          <p:nvPr/>
        </p:nvSpPr>
        <p:spPr>
          <a:xfrm xmlns:a="http://schemas.openxmlformats.org/drawingml/2006/main">
            <a:off x="3114675" y="5181600"/>
            <a:ext cx="21907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Productores T1, T2</a:t>
            </a:r>
          </a:p>
        </p:txBody>
      </p:sp>
      <p:sp>
        <p:nvSpPr>
          <p:cNvPr id="35" name="pattern-redist-consumers">
            <a:extLst xmlns:a="http://schemas.openxmlformats.org/drawingml/2006/main">
              <a:ext uri="{FF2B5EF4-FFF2-40B4-BE49-F238E27FC236}">
                <a16:creationId xmlns:a16="http://schemas.microsoft.com/office/drawing/2014/main" id="{8A20D297-C1E0-48E2-84EB-F779343EA16F}"/>
              </a:ext>
            </a:extLst>
          </p:cNvPr>
          <p:cNvSpPr>
            <a:spLocks xmlns:a="http://schemas.openxmlformats.org/drawingml/2006/main" noGrp="1"/>
          </p:cNvSpPr>
          <p:nvPr/>
        </p:nvSpPr>
        <p:spPr>
          <a:xfrm xmlns:a="http://schemas.openxmlformats.org/drawingml/2006/main">
            <a:off x="7734300" y="5181600"/>
            <a:ext cx="2333625"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Consumidores T3, T4</a:t>
            </a:r>
          </a:p>
        </p:txBody>
      </p:sp>
      <p:cxnSp>
        <p:nvCxnSpPr>
          <p:cNvPr id="73" name=""/>
          <p:cNvCxnSpPr>
            <a:stCxn xmlns:a="http://schemas.openxmlformats.org/drawingml/2006/main" id="34" idx="3"/>
            <a:endCxn xmlns:a="http://schemas.openxmlformats.org/drawingml/2006/main" id="35" idx="1"/>
          </p:cNvCxnSpPr>
          <p:nvPr/>
        </p:nvCxnSpPr>
        <p:spPr>
          <a:xfrm xmlns:a="http://schemas.openxmlformats.org/drawingml/2006/main">
            <a:off x="5305425" y="5410200"/>
            <a:ext cx="24288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37" name="patterns-note">
            <a:extLst xmlns:a="http://schemas.openxmlformats.org/drawingml/2006/main">
              <a:ext uri="{FF2B5EF4-FFF2-40B4-BE49-F238E27FC236}">
                <a16:creationId xmlns:a16="http://schemas.microsoft.com/office/drawing/2014/main" id="{CF4EEACD-E814-4D76-9C52-409B4E23E03E}"/>
              </a:ext>
            </a:extLst>
          </p:cNvPr>
          <p:cNvSpPr>
            <a:spLocks xmlns:a="http://schemas.openxmlformats.org/drawingml/2006/main" noGrp="1"/>
          </p:cNvSpPr>
          <p:nvPr/>
        </p:nvSpPr>
        <p:spPr>
          <a:xfrm xmlns:a="http://schemas.openxmlformats.org/drawingml/2006/main">
            <a:off x="781050" y="603885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La estructura del workflow se valida por separado del worker que recibe cada tarea.</a:t>
            </a:r>
          </a:p>
        </p:txBody>
      </p:sp>
    </p:spTree>
    <p:extLst>
      <p:ext uri="{BB962C8B-B14F-4D97-AF65-F5344CB8AC3E}">
        <p14:creationId xmlns:p14="http://schemas.microsoft.com/office/powerpoint/2010/main" val="1073672986"/>
      </p:ext>
    </p:extLst>
  </p:cSld>
</p:sld>
</file>

<file path=ppt/slides/slide9.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3" name="slide-title-9">
            <a:extLst xmlns:a="http://schemas.openxmlformats.org/drawingml/2006/main">
              <a:ext uri="{FF2B5EF4-FFF2-40B4-BE49-F238E27FC236}">
                <a16:creationId xmlns:a16="http://schemas.microsoft.com/office/drawing/2014/main" id="{1A0392E5-7654-4BFE-B337-5FAF5C79FD4E}"/>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Cómo validamos el cálculo</a:t>
            </a:r>
          </a:p>
        </p:txBody>
      </p:sp>
      <p:sp>
        <p:nvSpPr>
          <p:cNvPr id="2" name="title-rule-9">
            <a:extLst xmlns:a="http://schemas.openxmlformats.org/drawingml/2006/main">
              <a:ext uri="{FF2B5EF4-FFF2-40B4-BE49-F238E27FC236}">
                <a16:creationId xmlns:a16="http://schemas.microsoft.com/office/drawing/2014/main" id="{E04896CC-C21D-43B4-971A-671737E38AAF}"/>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9">
            <a:extLst xmlns:a="http://schemas.openxmlformats.org/drawingml/2006/main">
              <a:ext uri="{FF2B5EF4-FFF2-40B4-BE49-F238E27FC236}">
                <a16:creationId xmlns:a16="http://schemas.microsoft.com/office/drawing/2014/main" id="{5B6D21CE-2F9F-45AF-A217-32600DADCA71}"/>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09</a:t>
            </a:r>
          </a:p>
        </p:txBody>
      </p:sp>
      <p:sp>
        <p:nvSpPr>
          <p:cNvPr id="4" name="method-step-number-0">
            <a:extLst xmlns:a="http://schemas.openxmlformats.org/drawingml/2006/main">
              <a:ext uri="{FF2B5EF4-FFF2-40B4-BE49-F238E27FC236}">
                <a16:creationId xmlns:a16="http://schemas.microsoft.com/office/drawing/2014/main" id="{D3CC7FAE-2030-4A5E-9FB9-C33E2C82BEC1}"/>
              </a:ext>
            </a:extLst>
          </p:cNvPr>
          <p:cNvSpPr>
            <a:spLocks xmlns:a="http://schemas.openxmlformats.org/drawingml/2006/main" noGrp="1"/>
          </p:cNvSpPr>
          <p:nvPr/>
        </p:nvSpPr>
        <p:spPr>
          <a:xfrm xmlns:a="http://schemas.openxmlformats.org/drawingml/2006/main">
            <a:off x="78105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1</a:t>
            </a:r>
          </a:p>
        </p:txBody>
      </p:sp>
      <p:sp>
        <p:nvSpPr>
          <p:cNvPr id="5" name="method-step-title-0">
            <a:extLst xmlns:a="http://schemas.openxmlformats.org/drawingml/2006/main">
              <a:ext uri="{FF2B5EF4-FFF2-40B4-BE49-F238E27FC236}">
                <a16:creationId xmlns:a16="http://schemas.microsoft.com/office/drawing/2014/main" id="{86217E93-10B1-482F-9D75-7C4407A9456A}"/>
              </a:ext>
            </a:extLst>
          </p:cNvPr>
          <p:cNvSpPr>
            <a:spLocks xmlns:a="http://schemas.openxmlformats.org/drawingml/2006/main" noGrp="1"/>
          </p:cNvSpPr>
          <p:nvPr/>
        </p:nvSpPr>
        <p:spPr>
          <a:xfrm xmlns:a="http://schemas.openxmlformats.org/drawingml/2006/main">
            <a:off x="140017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Fijar</a:t>
            </a:r>
          </a:p>
        </p:txBody>
      </p:sp>
      <p:sp>
        <p:nvSpPr>
          <p:cNvPr id="6" name="method-step-body-0">
            <a:extLst xmlns:a="http://schemas.openxmlformats.org/drawingml/2006/main">
              <a:ext uri="{FF2B5EF4-FFF2-40B4-BE49-F238E27FC236}">
                <a16:creationId xmlns:a16="http://schemas.microsoft.com/office/drawing/2014/main" id="{F3F3B756-4F91-4C3B-9508-E8A937DB2B36}"/>
              </a:ext>
            </a:extLst>
          </p:cNvPr>
          <p:cNvSpPr>
            <a:spLocks xmlns:a="http://schemas.openxmlformats.org/drawingml/2006/main" noGrp="1"/>
          </p:cNvSpPr>
          <p:nvPr/>
        </p:nvSpPr>
        <p:spPr>
          <a:xfrm xmlns:a="http://schemas.openxmlformats.org/drawingml/2006/main">
            <a:off x="140017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workflow, archivos, tamaños y placement esperado</a:t>
            </a:r>
          </a:p>
        </p:txBody>
      </p:sp>
      <p:sp>
        <p:nvSpPr>
          <p:cNvPr id="7" name="method-divider-0">
            <a:extLst xmlns:a="http://schemas.openxmlformats.org/drawingml/2006/main">
              <a:ext uri="{FF2B5EF4-FFF2-40B4-BE49-F238E27FC236}">
                <a16:creationId xmlns:a16="http://schemas.microsoft.com/office/drawing/2014/main" id="{7A07D9CB-0E0D-4B09-9AD9-B4481E207713}"/>
              </a:ext>
            </a:extLst>
          </p:cNvPr>
          <p:cNvSpPr>
            <a:spLocks xmlns:a="http://schemas.openxmlformats.org/drawingml/2006/main" noGrp="1"/>
          </p:cNvSpPr>
          <p:nvPr/>
        </p:nvSpPr>
        <p:spPr>
          <a:xfrm xmlns:a="http://schemas.openxmlformats.org/drawingml/2006/main">
            <a:off x="3562350" y="1657350"/>
            <a:ext cx="13335" cy="114300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8" name="method-step-number-1">
            <a:extLst xmlns:a="http://schemas.openxmlformats.org/drawingml/2006/main">
              <a:ext uri="{FF2B5EF4-FFF2-40B4-BE49-F238E27FC236}">
                <a16:creationId xmlns:a16="http://schemas.microsoft.com/office/drawing/2014/main" id="{27408DCD-89CA-40D5-A0DA-2F2D887D50F1}"/>
              </a:ext>
            </a:extLst>
          </p:cNvPr>
          <p:cNvSpPr>
            <a:spLocks xmlns:a="http://schemas.openxmlformats.org/drawingml/2006/main" noGrp="1"/>
          </p:cNvSpPr>
          <p:nvPr/>
        </p:nvSpPr>
        <p:spPr>
          <a:xfrm xmlns:a="http://schemas.openxmlformats.org/drawingml/2006/main">
            <a:off x="350520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2</a:t>
            </a:r>
          </a:p>
        </p:txBody>
      </p:sp>
      <p:sp>
        <p:nvSpPr>
          <p:cNvPr id="9" name="method-step-title-1">
            <a:extLst xmlns:a="http://schemas.openxmlformats.org/drawingml/2006/main">
              <a:ext uri="{FF2B5EF4-FFF2-40B4-BE49-F238E27FC236}">
                <a16:creationId xmlns:a16="http://schemas.microsoft.com/office/drawing/2014/main" id="{CAC56F69-8C28-4B9A-98BE-600170A64F07}"/>
              </a:ext>
            </a:extLst>
          </p:cNvPr>
          <p:cNvSpPr>
            <a:spLocks xmlns:a="http://schemas.openxmlformats.org/drawingml/2006/main" noGrp="1"/>
          </p:cNvSpPr>
          <p:nvPr/>
        </p:nvSpPr>
        <p:spPr>
          <a:xfrm xmlns:a="http://schemas.openxmlformats.org/drawingml/2006/main">
            <a:off x="412432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Ejecutar</a:t>
            </a:r>
          </a:p>
        </p:txBody>
      </p:sp>
      <p:sp>
        <p:nvSpPr>
          <p:cNvPr id="10" name="method-step-body-1">
            <a:extLst xmlns:a="http://schemas.openxmlformats.org/drawingml/2006/main">
              <a:ext uri="{FF2B5EF4-FFF2-40B4-BE49-F238E27FC236}">
                <a16:creationId xmlns:a16="http://schemas.microsoft.com/office/drawing/2014/main" id="{A5A4BAC2-8E58-494E-8774-273D90B9E0C4}"/>
              </a:ext>
            </a:extLst>
          </p:cNvPr>
          <p:cNvSpPr>
            <a:spLocks xmlns:a="http://schemas.openxmlformats.org/drawingml/2006/main" noGrp="1"/>
          </p:cNvSpPr>
          <p:nvPr/>
        </p:nvSpPr>
        <p:spPr>
          <a:xfrm xmlns:a="http://schemas.openxmlformats.org/drawingml/2006/main">
            <a:off x="412432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Pegasus/HTCondor en el pool de dos workers</a:t>
            </a:r>
          </a:p>
        </p:txBody>
      </p:sp>
      <p:sp>
        <p:nvSpPr>
          <p:cNvPr id="11" name="method-divider-1">
            <a:extLst xmlns:a="http://schemas.openxmlformats.org/drawingml/2006/main">
              <a:ext uri="{FF2B5EF4-FFF2-40B4-BE49-F238E27FC236}">
                <a16:creationId xmlns:a16="http://schemas.microsoft.com/office/drawing/2014/main" id="{41FB7FDE-089B-4442-B21B-A30B28AA835D}"/>
              </a:ext>
            </a:extLst>
          </p:cNvPr>
          <p:cNvSpPr>
            <a:spLocks xmlns:a="http://schemas.openxmlformats.org/drawingml/2006/main" noGrp="1"/>
          </p:cNvSpPr>
          <p:nvPr/>
        </p:nvSpPr>
        <p:spPr>
          <a:xfrm xmlns:a="http://schemas.openxmlformats.org/drawingml/2006/main">
            <a:off x="6286500" y="1657350"/>
            <a:ext cx="13335" cy="114300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2" name="method-step-number-2">
            <a:extLst xmlns:a="http://schemas.openxmlformats.org/drawingml/2006/main">
              <a:ext uri="{FF2B5EF4-FFF2-40B4-BE49-F238E27FC236}">
                <a16:creationId xmlns:a16="http://schemas.microsoft.com/office/drawing/2014/main" id="{69563C35-4FED-4EC8-8FEE-E3A652224F05}"/>
              </a:ext>
            </a:extLst>
          </p:cNvPr>
          <p:cNvSpPr>
            <a:spLocks xmlns:a="http://schemas.openxmlformats.org/drawingml/2006/main" noGrp="1"/>
          </p:cNvSpPr>
          <p:nvPr/>
        </p:nvSpPr>
        <p:spPr>
          <a:xfrm xmlns:a="http://schemas.openxmlformats.org/drawingml/2006/main">
            <a:off x="622935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3</a:t>
            </a:r>
          </a:p>
        </p:txBody>
      </p:sp>
      <p:sp>
        <p:nvSpPr>
          <p:cNvPr id="13" name="method-step-title-2">
            <a:extLst xmlns:a="http://schemas.openxmlformats.org/drawingml/2006/main">
              <a:ext uri="{FF2B5EF4-FFF2-40B4-BE49-F238E27FC236}">
                <a16:creationId xmlns:a16="http://schemas.microsoft.com/office/drawing/2014/main" id="{7581A5D5-E107-4579-BC81-D45F3194DEBE}"/>
              </a:ext>
            </a:extLst>
          </p:cNvPr>
          <p:cNvSpPr>
            <a:spLocks xmlns:a="http://schemas.openxmlformats.org/drawingml/2006/main" noGrp="1"/>
          </p:cNvSpPr>
          <p:nvPr/>
        </p:nvSpPr>
        <p:spPr>
          <a:xfrm xmlns:a="http://schemas.openxmlformats.org/drawingml/2006/main">
            <a:off x="684847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Reconciliar</a:t>
            </a:r>
          </a:p>
        </p:txBody>
      </p:sp>
      <p:sp>
        <p:nvSpPr>
          <p:cNvPr id="14" name="method-step-body-2">
            <a:extLst xmlns:a="http://schemas.openxmlformats.org/drawingml/2006/main">
              <a:ext uri="{FF2B5EF4-FFF2-40B4-BE49-F238E27FC236}">
                <a16:creationId xmlns:a16="http://schemas.microsoft.com/office/drawing/2014/main" id="{88D084DE-1E87-4E75-864E-ACAD64B0EF61}"/>
              </a:ext>
            </a:extLst>
          </p:cNvPr>
          <p:cNvSpPr>
            <a:spLocks xmlns:a="http://schemas.openxmlformats.org/drawingml/2006/main" noGrp="1"/>
          </p:cNvSpPr>
          <p:nvPr/>
        </p:nvSpPr>
        <p:spPr>
          <a:xfrm xmlns:a="http://schemas.openxmlformats.org/drawingml/2006/main">
            <a:off x="684847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manifiestos con el historial por job</a:t>
            </a:r>
          </a:p>
        </p:txBody>
      </p:sp>
      <p:sp>
        <p:nvSpPr>
          <p:cNvPr id="15" name="method-divider-2">
            <a:extLst xmlns:a="http://schemas.openxmlformats.org/drawingml/2006/main">
              <a:ext uri="{FF2B5EF4-FFF2-40B4-BE49-F238E27FC236}">
                <a16:creationId xmlns:a16="http://schemas.microsoft.com/office/drawing/2014/main" id="{98809143-DAD0-4059-90ED-4672DB03A8A6}"/>
              </a:ext>
            </a:extLst>
          </p:cNvPr>
          <p:cNvSpPr>
            <a:spLocks xmlns:a="http://schemas.openxmlformats.org/drawingml/2006/main" noGrp="1"/>
          </p:cNvSpPr>
          <p:nvPr/>
        </p:nvSpPr>
        <p:spPr>
          <a:xfrm xmlns:a="http://schemas.openxmlformats.org/drawingml/2006/main">
            <a:off x="9010650" y="1657350"/>
            <a:ext cx="13335" cy="114300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6" name="method-step-number-3">
            <a:extLst xmlns:a="http://schemas.openxmlformats.org/drawingml/2006/main">
              <a:ext uri="{FF2B5EF4-FFF2-40B4-BE49-F238E27FC236}">
                <a16:creationId xmlns:a16="http://schemas.microsoft.com/office/drawing/2014/main" id="{63AF05B8-E9A6-4741-8E08-1CF1C12B31AA}"/>
              </a:ext>
            </a:extLst>
          </p:cNvPr>
          <p:cNvSpPr>
            <a:spLocks xmlns:a="http://schemas.openxmlformats.org/drawingml/2006/main" noGrp="1"/>
          </p:cNvSpPr>
          <p:nvPr/>
        </p:nvSpPr>
        <p:spPr>
          <a:xfrm xmlns:a="http://schemas.openxmlformats.org/drawingml/2006/main">
            <a:off x="895350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4</a:t>
            </a:r>
          </a:p>
        </p:txBody>
      </p:sp>
      <p:sp>
        <p:nvSpPr>
          <p:cNvPr id="17" name="method-step-title-3">
            <a:extLst xmlns:a="http://schemas.openxmlformats.org/drawingml/2006/main">
              <a:ext uri="{FF2B5EF4-FFF2-40B4-BE49-F238E27FC236}">
                <a16:creationId xmlns:a16="http://schemas.microsoft.com/office/drawing/2014/main" id="{8BE2DAA2-F9D8-46FB-AEE6-8B2E9A519315}"/>
              </a:ext>
            </a:extLst>
          </p:cNvPr>
          <p:cNvSpPr>
            <a:spLocks xmlns:a="http://schemas.openxmlformats.org/drawingml/2006/main" noGrp="1"/>
          </p:cNvSpPr>
          <p:nvPr/>
        </p:nvSpPr>
        <p:spPr>
          <a:xfrm xmlns:a="http://schemas.openxmlformats.org/drawingml/2006/main">
            <a:off x="957262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Comparar</a:t>
            </a:r>
          </a:p>
        </p:txBody>
      </p:sp>
      <p:sp>
        <p:nvSpPr>
          <p:cNvPr id="18" name="method-step-body-3">
            <a:extLst xmlns:a="http://schemas.openxmlformats.org/drawingml/2006/main">
              <a:ext uri="{FF2B5EF4-FFF2-40B4-BE49-F238E27FC236}">
                <a16:creationId xmlns:a16="http://schemas.microsoft.com/office/drawing/2014/main" id="{6F46A271-B656-4850-9DCE-F0B40F8A5B67}"/>
              </a:ext>
            </a:extLst>
          </p:cNvPr>
          <p:cNvSpPr>
            <a:spLocks xmlns:a="http://schemas.openxmlformats.org/drawingml/2006/main" noGrp="1"/>
          </p:cNvSpPr>
          <p:nvPr/>
        </p:nvSpPr>
        <p:spPr>
          <a:xfrm xmlns:a="http://schemas.openxmlformats.org/drawingml/2006/main">
            <a:off x="957262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salidas del Analyzer con cálculos manuales independientes</a:t>
            </a:r>
          </a:p>
        </p:txBody>
      </p:sp>
      <p:sp>
        <p:nvSpPr>
          <p:cNvPr id="19" name="method-stat-rule">
            <a:extLst xmlns:a="http://schemas.openxmlformats.org/drawingml/2006/main">
              <a:ext uri="{FF2B5EF4-FFF2-40B4-BE49-F238E27FC236}">
                <a16:creationId xmlns:a16="http://schemas.microsoft.com/office/drawing/2014/main" id="{498521BD-34C3-4A41-8DC1-12549470EF97}"/>
              </a:ext>
            </a:extLst>
          </p:cNvPr>
          <p:cNvSpPr>
            <a:spLocks xmlns:a="http://schemas.openxmlformats.org/drawingml/2006/main" noGrp="1"/>
          </p:cNvSpPr>
          <p:nvPr/>
        </p:nvSpPr>
        <p:spPr>
          <a:xfrm xmlns:a="http://schemas.openxmlformats.org/drawingml/2006/main">
            <a:off x="781050" y="3219450"/>
            <a:ext cx="10439400" cy="12383"/>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0" name="method-stat-main">
            <a:extLst xmlns:a="http://schemas.openxmlformats.org/drawingml/2006/main">
              <a:ext uri="{FF2B5EF4-FFF2-40B4-BE49-F238E27FC236}">
                <a16:creationId xmlns:a16="http://schemas.microsoft.com/office/drawing/2014/main" id="{002C884A-FFBD-42D4-B9F5-147678156F90}"/>
              </a:ext>
            </a:extLst>
          </p:cNvPr>
          <p:cNvSpPr>
            <a:spLocks xmlns:a="http://schemas.openxmlformats.org/drawingml/2006/main" noGrp="1"/>
          </p:cNvSpPr>
          <p:nvPr/>
        </p:nvSpPr>
        <p:spPr>
          <a:xfrm xmlns:a="http://schemas.openxmlformats.org/drawingml/2006/main">
            <a:off x="781050" y="3514725"/>
            <a:ext cx="1043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102"/>
          </a:bodyPr>
          <a:lstStyle xmlns:a="http://schemas.openxmlformats.org/drawingml/2006/main"/>
          <a:p xmlns:a="http://schemas.openxmlformats.org/drawingml/2006/main">
            <a:pPr algn="ctr">
              <a:lnSpc>
                <a:spcPct val="100000"/>
              </a:lnSpc>
              <a:buNone/>
              <a:defRPr sz="1875" b="1" i="0">
                <a:solidFill>
                  <a:srgbClr val="172A33"/>
                </a:solidFill>
                <a:latin typeface="Arial"/>
                <a:ea typeface="Arial"/>
                <a:cs typeface="Arial"/>
              </a:defRPr>
            </a:pPr>
            <a:r>
              <a:rPr sz="1875" b="1" i="0">
                <a:solidFill>
                  <a:srgbClr val="172A33"/>
                </a:solidFill>
                <a:latin typeface="Arial"/>
                <a:ea typeface="Arial"/>
                <a:cs typeface="Arial"/>
              </a:rPr>
              <a:t>5 patrones  ·  10 condiciones  ·  31 workflows independientes  ·  3 o más réplicas por condición</a:t>
            </a:r>
          </a:p>
        </p:txBody>
      </p:sp>
      <p:sp>
        <p:nvSpPr>
          <p:cNvPr id="21" name="method-stat-detail">
            <a:extLst xmlns:a="http://schemas.openxmlformats.org/drawingml/2006/main">
              <a:ext uri="{FF2B5EF4-FFF2-40B4-BE49-F238E27FC236}">
                <a16:creationId xmlns:a16="http://schemas.microsoft.com/office/drawing/2014/main" id="{D1A6561C-5C38-4BCF-8C25-BF486FE57DB4}"/>
              </a:ext>
            </a:extLst>
          </p:cNvPr>
          <p:cNvSpPr>
            <a:spLocks xmlns:a="http://schemas.openxmlformats.org/drawingml/2006/main" noGrp="1"/>
          </p:cNvSpPr>
          <p:nvPr/>
        </p:nvSpPr>
        <p:spPr>
          <a:xfrm xmlns:a="http://schemas.openxmlformats.org/drawingml/2006/main">
            <a:off x="1190625" y="4248150"/>
            <a:ext cx="962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Placement, M_req y M_rec coincidieron con los oráculos. Las 31 ejecuciones fueron válidas y tuvieron Coverage = 1.</a:t>
            </a:r>
          </a:p>
        </p:txBody>
      </p:sp>
      <p:sp>
        <p:nvSpPr>
          <p:cNvPr id="22" name="method-caveat">
            <a:extLst xmlns:a="http://schemas.openxmlformats.org/drawingml/2006/main">
              <a:ext uri="{FF2B5EF4-FFF2-40B4-BE49-F238E27FC236}">
                <a16:creationId xmlns:a16="http://schemas.microsoft.com/office/drawing/2014/main" id="{870D190A-0784-4E91-A227-2632E9618727}"/>
              </a:ext>
            </a:extLst>
          </p:cNvPr>
          <p:cNvSpPr>
            <a:spLocks xmlns:a="http://schemas.openxmlformats.org/drawingml/2006/main" noGrp="1"/>
          </p:cNvSpPr>
          <p:nvPr/>
        </p:nvSpPr>
        <p:spPr>
          <a:xfrm xmlns:a="http://schemas.openxmlformats.org/drawingml/2006/main">
            <a:off x="1333500" y="5162550"/>
            <a:ext cx="933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La evidencia valida estas condiciones y este pool. No demuestra el mismo comportamiento en cualquier arquitectura.</a:t>
            </a:r>
          </a:p>
        </p:txBody>
      </p:sp>
    </p:spTree>
    <p:extLst>
      <p:ext uri="{BB962C8B-B14F-4D97-AF65-F5344CB8AC3E}">
        <p14:creationId xmlns:p14="http://schemas.microsoft.com/office/powerpoint/2010/main" val="2038741395"/>
      </p:ext>
    </p:extLst>
  </p:cSld>
</p:sld>
</file>

<file path=ppt/slides/slide10.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35" name="slide-title-10">
            <a:extLst xmlns:a="http://schemas.openxmlformats.org/drawingml/2006/main">
              <a:ext uri="{FF2B5EF4-FFF2-40B4-BE49-F238E27FC236}">
                <a16:creationId xmlns:a16="http://schemas.microsoft.com/office/drawing/2014/main" id="{F836690F-614F-4BD9-969A-796325A480E2}"/>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Ejemplo manual: el mismo pipeline, dos placements</a:t>
            </a:r>
          </a:p>
        </p:txBody>
      </p:sp>
      <p:sp>
        <p:nvSpPr>
          <p:cNvPr id="2" name="title-rule-10">
            <a:extLst xmlns:a="http://schemas.openxmlformats.org/drawingml/2006/main">
              <a:ext uri="{FF2B5EF4-FFF2-40B4-BE49-F238E27FC236}">
                <a16:creationId xmlns:a16="http://schemas.microsoft.com/office/drawing/2014/main" id="{D16B68DB-7A77-44B7-9126-FCBE1A80ACA6}"/>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0">
            <a:extLst xmlns:a="http://schemas.openxmlformats.org/drawingml/2006/main">
              <a:ext uri="{FF2B5EF4-FFF2-40B4-BE49-F238E27FC236}">
                <a16:creationId xmlns:a16="http://schemas.microsoft.com/office/drawing/2014/main" id="{E041EE44-D885-413B-B2D7-35F7629A4AC6}"/>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10</a:t>
            </a:r>
          </a:p>
        </p:txBody>
      </p:sp>
      <p:sp>
        <p:nvSpPr>
          <p:cNvPr id="4" name="example-sub">
            <a:extLst xmlns:a="http://schemas.openxmlformats.org/drawingml/2006/main">
              <a:ext uri="{FF2B5EF4-FFF2-40B4-BE49-F238E27FC236}">
                <a16:creationId xmlns:a16="http://schemas.microsoft.com/office/drawing/2014/main" id="{1EA4CEB8-FC79-4650-9274-F75D42BEF1B8}"/>
              </a:ext>
            </a:extLst>
          </p:cNvPr>
          <p:cNvSpPr>
            <a:spLocks xmlns:a="http://schemas.openxmlformats.org/drawingml/2006/main" noGrp="1"/>
          </p:cNvSpPr>
          <p:nvPr/>
        </p:nvSpPr>
        <p:spPr>
          <a:xfrm xmlns:a="http://schemas.openxmlformats.org/drawingml/2006/main">
            <a:off x="781050" y="12954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65757C"/>
                </a:solidFill>
                <a:latin typeface="Arial"/>
                <a:ea typeface="Arial"/>
                <a:cs typeface="Arial"/>
              </a:defRPr>
            </a:pPr>
            <a:r>
              <a:rPr sz="1650" b="0" i="0">
                <a:solidFill>
                  <a:srgbClr val="65757C"/>
                </a:solidFill>
                <a:latin typeface="Arial"/>
                <a:ea typeface="Arial"/>
                <a:cs typeface="Arial"/>
              </a:rPr>
              <a:t>Tres tareas, seis ocurrencias científicas de 10 MiB; el historial confirma las seis.</a:t>
            </a:r>
          </a:p>
        </p:txBody>
      </p:sp>
      <p:sp>
        <p:nvSpPr>
          <p:cNvPr id="5" name="example-local-label">
            <a:extLst xmlns:a="http://schemas.openxmlformats.org/drawingml/2006/main">
              <a:ext uri="{FF2B5EF4-FFF2-40B4-BE49-F238E27FC236}">
                <a16:creationId xmlns:a16="http://schemas.microsoft.com/office/drawing/2014/main" id="{A96B9B90-93B0-4EBE-9046-C099B4D519FF}"/>
              </a:ext>
            </a:extLst>
          </p:cNvPr>
          <p:cNvSpPr>
            <a:spLocks xmlns:a="http://schemas.openxmlformats.org/drawingml/2006/main" noGrp="1"/>
          </p:cNvSpPr>
          <p:nvPr/>
        </p:nvSpPr>
        <p:spPr>
          <a:xfrm xmlns:a="http://schemas.openxmlformats.org/drawingml/2006/main">
            <a:off x="781050" y="179070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Todas en W1</a:t>
            </a:r>
          </a:p>
        </p:txBody>
      </p:sp>
      <p:sp>
        <p:nvSpPr>
          <p:cNvPr id="6" name="example-local-lane">
            <a:extLst xmlns:a="http://schemas.openxmlformats.org/drawingml/2006/main">
              <a:ext uri="{FF2B5EF4-FFF2-40B4-BE49-F238E27FC236}">
                <a16:creationId xmlns:a16="http://schemas.microsoft.com/office/drawing/2014/main" id="{9436AAAB-A4B6-43E6-923C-4252962468A3}"/>
              </a:ext>
            </a:extLst>
          </p:cNvPr>
          <p:cNvSpPr>
            <a:spLocks xmlns:a="http://schemas.openxmlformats.org/drawingml/2006/main" noGrp="1"/>
          </p:cNvSpPr>
          <p:nvPr/>
        </p:nvSpPr>
        <p:spPr>
          <a:xfrm xmlns:a="http://schemas.openxmlformats.org/drawingml/2006/main">
            <a:off x="781050" y="2133600"/>
            <a:ext cx="72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W1</a:t>
            </a:r>
          </a:p>
        </p:txBody>
      </p:sp>
      <p:sp>
        <p:nvSpPr>
          <p:cNvPr id="7" name="example-local-input">
            <a:extLst xmlns:a="http://schemas.openxmlformats.org/drawingml/2006/main">
              <a:ext uri="{FF2B5EF4-FFF2-40B4-BE49-F238E27FC236}">
                <a16:creationId xmlns:a16="http://schemas.microsoft.com/office/drawing/2014/main" id="{F713B7E3-FF88-4330-8877-7885FBE8A82A}"/>
              </a:ext>
            </a:extLst>
          </p:cNvPr>
          <p:cNvSpPr>
            <a:spLocks xmlns:a="http://schemas.openxmlformats.org/drawingml/2006/main" noGrp="1"/>
          </p:cNvSpPr>
          <p:nvPr/>
        </p:nvSpPr>
        <p:spPr>
          <a:xfrm xmlns:a="http://schemas.openxmlformats.org/drawingml/2006/main">
            <a:off x="1600200" y="2152650"/>
            <a:ext cx="904875"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input</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sp>
        <p:nvSpPr>
          <p:cNvPr id="8" name="example-local-t1">
            <a:extLst xmlns:a="http://schemas.openxmlformats.org/drawingml/2006/main">
              <a:ext uri="{FF2B5EF4-FFF2-40B4-BE49-F238E27FC236}">
                <a16:creationId xmlns:a16="http://schemas.microsoft.com/office/drawing/2014/main" id="{7EE21D2F-77DF-46A8-9C75-BB3B4BBD16F6}"/>
              </a:ext>
            </a:extLst>
          </p:cNvPr>
          <p:cNvSpPr>
            <a:spLocks xmlns:a="http://schemas.openxmlformats.org/drawingml/2006/main" noGrp="1"/>
          </p:cNvSpPr>
          <p:nvPr/>
        </p:nvSpPr>
        <p:spPr>
          <a:xfrm xmlns:a="http://schemas.openxmlformats.org/drawingml/2006/main">
            <a:off x="2809875" y="20955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9" name="example-local-t2">
            <a:extLst xmlns:a="http://schemas.openxmlformats.org/drawingml/2006/main">
              <a:ext uri="{FF2B5EF4-FFF2-40B4-BE49-F238E27FC236}">
                <a16:creationId xmlns:a16="http://schemas.microsoft.com/office/drawing/2014/main" id="{A6561829-2D76-40E0-83F9-E804282DBB63}"/>
              </a:ext>
            </a:extLst>
          </p:cNvPr>
          <p:cNvSpPr>
            <a:spLocks xmlns:a="http://schemas.openxmlformats.org/drawingml/2006/main" noGrp="1"/>
          </p:cNvSpPr>
          <p:nvPr/>
        </p:nvSpPr>
        <p:spPr>
          <a:xfrm xmlns:a="http://schemas.openxmlformats.org/drawingml/2006/main">
            <a:off x="4352925" y="20955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T2</a:t>
            </a:r>
          </a:p>
        </p:txBody>
      </p:sp>
      <p:sp>
        <p:nvSpPr>
          <p:cNvPr id="10" name="example-local-t3">
            <a:extLst xmlns:a="http://schemas.openxmlformats.org/drawingml/2006/main">
              <a:ext uri="{FF2B5EF4-FFF2-40B4-BE49-F238E27FC236}">
                <a16:creationId xmlns:a16="http://schemas.microsoft.com/office/drawing/2014/main" id="{8613CC56-22B5-4307-BE9C-0F0EC6A20574}"/>
              </a:ext>
            </a:extLst>
          </p:cNvPr>
          <p:cNvSpPr>
            <a:spLocks xmlns:a="http://schemas.openxmlformats.org/drawingml/2006/main" noGrp="1"/>
          </p:cNvSpPr>
          <p:nvPr/>
        </p:nvSpPr>
        <p:spPr>
          <a:xfrm xmlns:a="http://schemas.openxmlformats.org/drawingml/2006/main">
            <a:off x="5895975" y="20955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T3</a:t>
            </a:r>
          </a:p>
        </p:txBody>
      </p:sp>
      <p:sp>
        <p:nvSpPr>
          <p:cNvPr id="11" name="example-local-output">
            <a:extLst xmlns:a="http://schemas.openxmlformats.org/drawingml/2006/main">
              <a:ext uri="{FF2B5EF4-FFF2-40B4-BE49-F238E27FC236}">
                <a16:creationId xmlns:a16="http://schemas.microsoft.com/office/drawing/2014/main" id="{C7FBB117-24AC-480E-BBBD-163B01EB0D01}"/>
              </a:ext>
            </a:extLst>
          </p:cNvPr>
          <p:cNvSpPr>
            <a:spLocks xmlns:a="http://schemas.openxmlformats.org/drawingml/2006/main" noGrp="1"/>
          </p:cNvSpPr>
          <p:nvPr/>
        </p:nvSpPr>
        <p:spPr>
          <a:xfrm xmlns:a="http://schemas.openxmlformats.org/drawingml/2006/main">
            <a:off x="7286625" y="2152650"/>
            <a:ext cx="1047750"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final</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cxnSp>
        <p:nvCxnSpPr>
          <p:cNvPr id="46" name=""/>
          <p:cNvCxnSpPr>
            <a:stCxn xmlns:a="http://schemas.openxmlformats.org/drawingml/2006/main" id="7" idx="6"/>
            <a:endCxn xmlns:a="http://schemas.openxmlformats.org/drawingml/2006/main" id="8" idx="1"/>
          </p:cNvCxnSpPr>
          <p:nvPr/>
        </p:nvCxnSpPr>
        <p:spPr>
          <a:xfrm xmlns:a="http://schemas.openxmlformats.org/drawingml/2006/main">
            <a:off x="2505075" y="2343150"/>
            <a:ext cx="3048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47" name=""/>
          <p:cNvCxnSpPr>
            <a:stCxn xmlns:a="http://schemas.openxmlformats.org/drawingml/2006/main" id="8" idx="3"/>
            <a:endCxn xmlns:a="http://schemas.openxmlformats.org/drawingml/2006/main" id="9" idx="1"/>
          </p:cNvCxnSpPr>
          <p:nvPr/>
        </p:nvCxnSpPr>
        <p:spPr>
          <a:xfrm xmlns:a="http://schemas.openxmlformats.org/drawingml/2006/main">
            <a:off x="3743325" y="2343150"/>
            <a:ext cx="609600" cy="0"/>
          </a:xfrm>
          <a:prstGeom xmlns:a="http://schemas.openxmlformats.org/drawingml/2006/main" prst="straightConnector1">
            <a:avLst/>
          </a:prstGeom>
          <a:ln xmlns:a="http://schemas.openxmlformats.org/drawingml/2006/main" w="20955">
            <a:solidFill>
              <a:srgbClr val="4B626D"/>
            </a:solidFill>
            <a:prstDash val="solid"/>
            <a:tailEnd type="triangle" w="med" len="med"/>
          </a:ln>
        </p:spPr>
      </p:cxnSp>
      <p:cxnSp>
        <p:nvCxnSpPr>
          <p:cNvPr id="48" name=""/>
          <p:cNvCxnSpPr>
            <a:stCxn xmlns:a="http://schemas.openxmlformats.org/drawingml/2006/main" id="9" idx="3"/>
            <a:endCxn xmlns:a="http://schemas.openxmlformats.org/drawingml/2006/main" id="10" idx="1"/>
          </p:cNvCxnSpPr>
          <p:nvPr/>
        </p:nvCxnSpPr>
        <p:spPr>
          <a:xfrm xmlns:a="http://schemas.openxmlformats.org/drawingml/2006/main">
            <a:off x="5286375" y="2343150"/>
            <a:ext cx="609600" cy="0"/>
          </a:xfrm>
          <a:prstGeom xmlns:a="http://schemas.openxmlformats.org/drawingml/2006/main" prst="straightConnector1">
            <a:avLst/>
          </a:prstGeom>
          <a:ln xmlns:a="http://schemas.openxmlformats.org/drawingml/2006/main" w="20955">
            <a:solidFill>
              <a:srgbClr val="4B626D"/>
            </a:solidFill>
            <a:prstDash val="solid"/>
            <a:tailEnd type="triangle" w="med" len="med"/>
          </a:ln>
        </p:spPr>
      </p:cxnSp>
      <p:cxnSp>
        <p:nvCxnSpPr>
          <p:cNvPr id="49" name=""/>
          <p:cNvCxnSpPr>
            <a:stCxn xmlns:a="http://schemas.openxmlformats.org/drawingml/2006/main" id="10" idx="3"/>
            <a:endCxn xmlns:a="http://schemas.openxmlformats.org/drawingml/2006/main" id="11" idx="2"/>
          </p:cNvCxnSpPr>
          <p:nvPr/>
        </p:nvCxnSpPr>
        <p:spPr>
          <a:xfrm xmlns:a="http://schemas.openxmlformats.org/drawingml/2006/main">
            <a:off x="6829425" y="2343150"/>
            <a:ext cx="4572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16" name="example-local-metrics">
            <a:extLst xmlns:a="http://schemas.openxmlformats.org/drawingml/2006/main">
              <a:ext uri="{FF2B5EF4-FFF2-40B4-BE49-F238E27FC236}">
                <a16:creationId xmlns:a16="http://schemas.microsoft.com/office/drawing/2014/main" id="{FB6E2063-271F-4F4C-8D12-9B53CFE866A1}"/>
              </a:ext>
            </a:extLst>
          </p:cNvPr>
          <p:cNvSpPr>
            <a:spLocks xmlns:a="http://schemas.openxmlformats.org/drawingml/2006/main" noGrp="1"/>
          </p:cNvSpPr>
          <p:nvPr/>
        </p:nvSpPr>
        <p:spPr>
          <a:xfrm xmlns:a="http://schemas.openxmlformats.org/drawingml/2006/main">
            <a:off x="8601075" y="2019300"/>
            <a:ext cx="2686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M_req = 20 MiB</a:t>
            </a:r>
          </a:p>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M_obs = 60 MiB · DME = 0.33</a:t>
            </a:r>
          </a:p>
        </p:txBody>
      </p:sp>
      <p:sp>
        <p:nvSpPr>
          <p:cNvPr id="17" name="example-separator">
            <a:extLst xmlns:a="http://schemas.openxmlformats.org/drawingml/2006/main">
              <a:ext uri="{FF2B5EF4-FFF2-40B4-BE49-F238E27FC236}">
                <a16:creationId xmlns:a16="http://schemas.microsoft.com/office/drawing/2014/main" id="{F0F00800-7EDA-4B1D-BD73-0F111BBF0B33}"/>
              </a:ext>
            </a:extLst>
          </p:cNvPr>
          <p:cNvSpPr>
            <a:spLocks xmlns:a="http://schemas.openxmlformats.org/drawingml/2006/main" noGrp="1"/>
          </p:cNvSpPr>
          <p:nvPr/>
        </p:nvSpPr>
        <p:spPr>
          <a:xfrm xmlns:a="http://schemas.openxmlformats.org/drawingml/2006/main">
            <a:off x="781050" y="2943225"/>
            <a:ext cx="10439400" cy="12383"/>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8" name="example-cross-label">
            <a:extLst xmlns:a="http://schemas.openxmlformats.org/drawingml/2006/main">
              <a:ext uri="{FF2B5EF4-FFF2-40B4-BE49-F238E27FC236}">
                <a16:creationId xmlns:a16="http://schemas.microsoft.com/office/drawing/2014/main" id="{390F02FB-05E2-475C-B192-C09904C34ED3}"/>
              </a:ext>
            </a:extLst>
          </p:cNvPr>
          <p:cNvSpPr>
            <a:spLocks xmlns:a="http://schemas.openxmlformats.org/drawingml/2006/main" noGrp="1"/>
          </p:cNvSpPr>
          <p:nvPr/>
        </p:nvSpPr>
        <p:spPr>
          <a:xfrm xmlns:a="http://schemas.openxmlformats.org/drawingml/2006/main">
            <a:off x="781050" y="320040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Se reparten</a:t>
            </a:r>
          </a:p>
        </p:txBody>
      </p:sp>
      <p:sp>
        <p:nvSpPr>
          <p:cNvPr id="19" name="example-cross-w1">
            <a:extLst xmlns:a="http://schemas.openxmlformats.org/drawingml/2006/main">
              <a:ext uri="{FF2B5EF4-FFF2-40B4-BE49-F238E27FC236}">
                <a16:creationId xmlns:a16="http://schemas.microsoft.com/office/drawing/2014/main" id="{24C0B5EA-14DC-4542-B331-DFB143FD780C}"/>
              </a:ext>
            </a:extLst>
          </p:cNvPr>
          <p:cNvSpPr>
            <a:spLocks xmlns:a="http://schemas.openxmlformats.org/drawingml/2006/main" noGrp="1"/>
          </p:cNvSpPr>
          <p:nvPr/>
        </p:nvSpPr>
        <p:spPr>
          <a:xfrm xmlns:a="http://schemas.openxmlformats.org/drawingml/2006/main">
            <a:off x="781050" y="36671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W1</a:t>
            </a:r>
          </a:p>
        </p:txBody>
      </p:sp>
      <p:sp>
        <p:nvSpPr>
          <p:cNvPr id="20" name="example-cross-w2">
            <a:extLst xmlns:a="http://schemas.openxmlformats.org/drawingml/2006/main">
              <a:ext uri="{FF2B5EF4-FFF2-40B4-BE49-F238E27FC236}">
                <a16:creationId xmlns:a16="http://schemas.microsoft.com/office/drawing/2014/main" id="{A6A7B8BC-70D1-46D1-901F-DADEE471D4CE}"/>
              </a:ext>
            </a:extLst>
          </p:cNvPr>
          <p:cNvSpPr>
            <a:spLocks xmlns:a="http://schemas.openxmlformats.org/drawingml/2006/main" noGrp="1"/>
          </p:cNvSpPr>
          <p:nvPr/>
        </p:nvSpPr>
        <p:spPr>
          <a:xfrm xmlns:a="http://schemas.openxmlformats.org/drawingml/2006/main">
            <a:off x="781050" y="452437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W2</a:t>
            </a:r>
          </a:p>
        </p:txBody>
      </p:sp>
      <p:sp>
        <p:nvSpPr>
          <p:cNvPr id="21" name="example-lane1">
            <a:extLst xmlns:a="http://schemas.openxmlformats.org/drawingml/2006/main">
              <a:ext uri="{FF2B5EF4-FFF2-40B4-BE49-F238E27FC236}">
                <a16:creationId xmlns:a16="http://schemas.microsoft.com/office/drawing/2014/main" id="{6DEF743F-BA86-4F8B-BA20-9DB01B7E14FD}"/>
              </a:ext>
            </a:extLst>
          </p:cNvPr>
          <p:cNvSpPr>
            <a:spLocks xmlns:a="http://schemas.openxmlformats.org/drawingml/2006/main" noGrp="1"/>
          </p:cNvSpPr>
          <p:nvPr/>
        </p:nvSpPr>
        <p:spPr>
          <a:xfrm xmlns:a="http://schemas.openxmlformats.org/drawingml/2006/main">
            <a:off x="1581150" y="4019550"/>
            <a:ext cx="6734175"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2" name="example-lane2">
            <a:extLst xmlns:a="http://schemas.openxmlformats.org/drawingml/2006/main">
              <a:ext uri="{FF2B5EF4-FFF2-40B4-BE49-F238E27FC236}">
                <a16:creationId xmlns:a16="http://schemas.microsoft.com/office/drawing/2014/main" id="{02DC70A5-6F39-498E-9D71-FBCF6B668B19}"/>
              </a:ext>
            </a:extLst>
          </p:cNvPr>
          <p:cNvSpPr>
            <a:spLocks xmlns:a="http://schemas.openxmlformats.org/drawingml/2006/main" noGrp="1"/>
          </p:cNvSpPr>
          <p:nvPr/>
        </p:nvSpPr>
        <p:spPr>
          <a:xfrm xmlns:a="http://schemas.openxmlformats.org/drawingml/2006/main">
            <a:off x="1581150" y="4876800"/>
            <a:ext cx="6734175"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3" name="example-cross-input">
            <a:extLst xmlns:a="http://schemas.openxmlformats.org/drawingml/2006/main">
              <a:ext uri="{FF2B5EF4-FFF2-40B4-BE49-F238E27FC236}">
                <a16:creationId xmlns:a16="http://schemas.microsoft.com/office/drawing/2014/main" id="{480836F7-8BD4-4D52-B018-4D7CFAF318D6}"/>
              </a:ext>
            </a:extLst>
          </p:cNvPr>
          <p:cNvSpPr>
            <a:spLocks xmlns:a="http://schemas.openxmlformats.org/drawingml/2006/main" noGrp="1"/>
          </p:cNvSpPr>
          <p:nvPr/>
        </p:nvSpPr>
        <p:spPr>
          <a:xfrm xmlns:a="http://schemas.openxmlformats.org/drawingml/2006/main">
            <a:off x="1600200" y="3609975"/>
            <a:ext cx="904875"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input</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sp>
        <p:nvSpPr>
          <p:cNvPr id="24" name="example-cross-t1">
            <a:extLst xmlns:a="http://schemas.openxmlformats.org/drawingml/2006/main">
              <a:ext uri="{FF2B5EF4-FFF2-40B4-BE49-F238E27FC236}">
                <a16:creationId xmlns:a16="http://schemas.microsoft.com/office/drawing/2014/main" id="{58DA0461-C421-471E-A8E2-BA80D5D3A5B8}"/>
              </a:ext>
            </a:extLst>
          </p:cNvPr>
          <p:cNvSpPr>
            <a:spLocks xmlns:a="http://schemas.openxmlformats.org/drawingml/2006/main" noGrp="1"/>
          </p:cNvSpPr>
          <p:nvPr/>
        </p:nvSpPr>
        <p:spPr>
          <a:xfrm xmlns:a="http://schemas.openxmlformats.org/drawingml/2006/main">
            <a:off x="2809875" y="356235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25" name="example-cross-t2">
            <a:extLst xmlns:a="http://schemas.openxmlformats.org/drawingml/2006/main">
              <a:ext uri="{FF2B5EF4-FFF2-40B4-BE49-F238E27FC236}">
                <a16:creationId xmlns:a16="http://schemas.microsoft.com/office/drawing/2014/main" id="{95BB2BAC-1E74-445E-98D8-FF1228D5FEB4}"/>
              </a:ext>
            </a:extLst>
          </p:cNvPr>
          <p:cNvSpPr>
            <a:spLocks xmlns:a="http://schemas.openxmlformats.org/drawingml/2006/main" noGrp="1"/>
          </p:cNvSpPr>
          <p:nvPr/>
        </p:nvSpPr>
        <p:spPr>
          <a:xfrm xmlns:a="http://schemas.openxmlformats.org/drawingml/2006/main">
            <a:off x="4733925" y="44196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T2</a:t>
            </a:r>
          </a:p>
        </p:txBody>
      </p:sp>
      <p:sp>
        <p:nvSpPr>
          <p:cNvPr id="26" name="example-cross-t3">
            <a:extLst xmlns:a="http://schemas.openxmlformats.org/drawingml/2006/main">
              <a:ext uri="{FF2B5EF4-FFF2-40B4-BE49-F238E27FC236}">
                <a16:creationId xmlns:a16="http://schemas.microsoft.com/office/drawing/2014/main" id="{5A70ADC5-A731-4CCD-9012-60F8D609AC7D}"/>
              </a:ext>
            </a:extLst>
          </p:cNvPr>
          <p:cNvSpPr>
            <a:spLocks xmlns:a="http://schemas.openxmlformats.org/drawingml/2006/main" noGrp="1"/>
          </p:cNvSpPr>
          <p:nvPr/>
        </p:nvSpPr>
        <p:spPr>
          <a:xfrm xmlns:a="http://schemas.openxmlformats.org/drawingml/2006/main">
            <a:off x="6657975" y="356235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T3</a:t>
            </a:r>
          </a:p>
        </p:txBody>
      </p:sp>
      <p:sp>
        <p:nvSpPr>
          <p:cNvPr id="27" name="example-cross-output">
            <a:extLst xmlns:a="http://schemas.openxmlformats.org/drawingml/2006/main">
              <a:ext uri="{FF2B5EF4-FFF2-40B4-BE49-F238E27FC236}">
                <a16:creationId xmlns:a16="http://schemas.microsoft.com/office/drawing/2014/main" id="{FAF59A44-BA47-4166-AB9A-5BC6C92627BF}"/>
              </a:ext>
            </a:extLst>
          </p:cNvPr>
          <p:cNvSpPr>
            <a:spLocks xmlns:a="http://schemas.openxmlformats.org/drawingml/2006/main" noGrp="1"/>
          </p:cNvSpPr>
          <p:nvPr/>
        </p:nvSpPr>
        <p:spPr>
          <a:xfrm xmlns:a="http://schemas.openxmlformats.org/drawingml/2006/main">
            <a:off x="7810500" y="3609975"/>
            <a:ext cx="904875"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final</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cxnSp>
        <p:nvCxnSpPr>
          <p:cNvPr id="62" name=""/>
          <p:cNvCxnSpPr>
            <a:stCxn xmlns:a="http://schemas.openxmlformats.org/drawingml/2006/main" id="23" idx="6"/>
            <a:endCxn xmlns:a="http://schemas.openxmlformats.org/drawingml/2006/main" id="24" idx="1"/>
          </p:cNvCxnSpPr>
          <p:nvPr/>
        </p:nvCxnSpPr>
        <p:spPr>
          <a:xfrm xmlns:a="http://schemas.openxmlformats.org/drawingml/2006/main">
            <a:off x="2505075" y="3800475"/>
            <a:ext cx="304800" cy="952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3" name=""/>
          <p:cNvCxnSpPr>
            <a:stCxn xmlns:a="http://schemas.openxmlformats.org/drawingml/2006/main" id="24" idx="3"/>
            <a:endCxn xmlns:a="http://schemas.openxmlformats.org/drawingml/2006/main" id="25" idx="1"/>
          </p:cNvCxnSpPr>
          <p:nvPr/>
        </p:nvCxnSpPr>
        <p:spPr>
          <a:xfrm xmlns:a="http://schemas.openxmlformats.org/drawingml/2006/main">
            <a:off x="3743325" y="3810000"/>
            <a:ext cx="990600" cy="85725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4" name=""/>
          <p:cNvCxnSpPr>
            <a:stCxn xmlns:a="http://schemas.openxmlformats.org/drawingml/2006/main" id="25" idx="3"/>
            <a:endCxn xmlns:a="http://schemas.openxmlformats.org/drawingml/2006/main" id="26" idx="1"/>
          </p:cNvCxnSpPr>
          <p:nvPr/>
        </p:nvCxnSpPr>
        <p:spPr>
          <a:xfrm xmlns:a="http://schemas.openxmlformats.org/drawingml/2006/main" flipV="1">
            <a:off x="5667375" y="3810000"/>
            <a:ext cx="990600" cy="85725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5" name=""/>
          <p:cNvCxnSpPr>
            <a:stCxn xmlns:a="http://schemas.openxmlformats.org/drawingml/2006/main" id="26" idx="3"/>
            <a:endCxn xmlns:a="http://schemas.openxmlformats.org/drawingml/2006/main" id="27" idx="2"/>
          </p:cNvCxnSpPr>
          <p:nvPr/>
        </p:nvCxnSpPr>
        <p:spPr>
          <a:xfrm xmlns:a="http://schemas.openxmlformats.org/drawingml/2006/main" flipV="1">
            <a:off x="7591425" y="3800475"/>
            <a:ext cx="219075" cy="952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32" name="example-cross-metrics">
            <a:extLst xmlns:a="http://schemas.openxmlformats.org/drawingml/2006/main">
              <a:ext uri="{FF2B5EF4-FFF2-40B4-BE49-F238E27FC236}">
                <a16:creationId xmlns:a16="http://schemas.microsoft.com/office/drawing/2014/main" id="{B596CAC4-6E58-4554-A4D5-4D13A000BE7A}"/>
              </a:ext>
            </a:extLst>
          </p:cNvPr>
          <p:cNvSpPr>
            <a:spLocks xmlns:a="http://schemas.openxmlformats.org/drawingml/2006/main" noGrp="1"/>
          </p:cNvSpPr>
          <p:nvPr/>
        </p:nvSpPr>
        <p:spPr>
          <a:xfrm xmlns:a="http://schemas.openxmlformats.org/drawingml/2006/main">
            <a:off x="8982075" y="3724275"/>
            <a:ext cx="2286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M_req = 40 MiB</a:t>
            </a:r>
          </a:p>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M_obs = 60 MiB</a:t>
            </a:r>
          </a:p>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DME = 0.67</a:t>
            </a:r>
          </a:p>
        </p:txBody>
      </p:sp>
      <p:sp>
        <p:nvSpPr>
          <p:cNvPr id="33" name="example-coverage">
            <a:extLst xmlns:a="http://schemas.openxmlformats.org/drawingml/2006/main">
              <a:ext uri="{FF2B5EF4-FFF2-40B4-BE49-F238E27FC236}">
                <a16:creationId xmlns:a16="http://schemas.microsoft.com/office/drawing/2014/main" id="{64975A8C-FB02-4459-8101-36320A453E0C}"/>
              </a:ext>
            </a:extLst>
          </p:cNvPr>
          <p:cNvSpPr>
            <a:spLocks xmlns:a="http://schemas.openxmlformats.org/drawingml/2006/main" noGrp="1"/>
          </p:cNvSpPr>
          <p:nvPr/>
        </p:nvSpPr>
        <p:spPr>
          <a:xfrm xmlns:a="http://schemas.openxmlformats.org/drawingml/2006/main">
            <a:off x="1600200" y="5257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87E78"/>
                </a:solidFill>
                <a:latin typeface="Arial"/>
                <a:ea typeface="Arial"/>
                <a:cs typeface="Arial"/>
              </a:defRPr>
            </a:pPr>
            <a:r>
              <a:rPr sz="1650" b="1" i="0">
                <a:solidFill>
                  <a:srgbClr val="087E78"/>
                </a:solidFill>
                <a:latin typeface="Arial"/>
                <a:ea typeface="Arial"/>
                <a:cs typeface="Arial"/>
              </a:rPr>
              <a:t>Coverage = 6 / 6 = 1.  M_obs = 6 × 10 MiB = 60 MiB en ambos placements.</a:t>
            </a:r>
          </a:p>
        </p:txBody>
      </p:sp>
      <p:sp>
        <p:nvSpPr>
          <p:cNvPr id="34" name="example-caption">
            <a:extLst xmlns:a="http://schemas.openxmlformats.org/drawingml/2006/main">
              <a:ext uri="{FF2B5EF4-FFF2-40B4-BE49-F238E27FC236}">
                <a16:creationId xmlns:a16="http://schemas.microsoft.com/office/drawing/2014/main" id="{ECDF698A-489F-4D3B-939B-794C03E44A44}"/>
              </a:ext>
            </a:extLst>
          </p:cNvPr>
          <p:cNvSpPr>
            <a:spLocks xmlns:a="http://schemas.openxmlformats.org/drawingml/2006/main" noGrp="1"/>
          </p:cNvSpPr>
          <p:nvPr/>
        </p:nvSpPr>
        <p:spPr>
          <a:xfrm xmlns:a="http://schemas.openxmlformats.org/drawingml/2006/main">
            <a:off x="1381125" y="5829300"/>
            <a:ext cx="995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Las flechas muestran ubicaciones requeridas en el modelo; no una ruta física de red.</a:t>
            </a:r>
          </a:p>
        </p:txBody>
      </p:sp>
    </p:spTree>
    <p:extLst>
      <p:ext uri="{BB962C8B-B14F-4D97-AF65-F5344CB8AC3E}">
        <p14:creationId xmlns:p14="http://schemas.microsoft.com/office/powerpoint/2010/main" val="933591779"/>
      </p:ext>
    </p:extLst>
  </p:cSld>
</p:sld>
</file>

<file path=ppt/slides/slide11.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8" name="slide-title-11">
            <a:extLst xmlns:a="http://schemas.openxmlformats.org/drawingml/2006/main">
              <a:ext uri="{FF2B5EF4-FFF2-40B4-BE49-F238E27FC236}">
                <a16:creationId xmlns:a16="http://schemas.microsoft.com/office/drawing/2014/main" id="{1E63C61B-BBCF-4700-8AC2-3C9FE491E707}"/>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Qué cambió al comparar placements</a:t>
            </a:r>
          </a:p>
        </p:txBody>
      </p:sp>
      <p:sp>
        <p:nvSpPr>
          <p:cNvPr id="2" name="title-rule-11">
            <a:extLst xmlns:a="http://schemas.openxmlformats.org/drawingml/2006/main">
              <a:ext uri="{FF2B5EF4-FFF2-40B4-BE49-F238E27FC236}">
                <a16:creationId xmlns:a16="http://schemas.microsoft.com/office/drawing/2014/main" id="{A262E01A-BA8B-456F-B10D-11CDA8568C13}"/>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1">
            <a:extLst xmlns:a="http://schemas.openxmlformats.org/drawingml/2006/main">
              <a:ext uri="{FF2B5EF4-FFF2-40B4-BE49-F238E27FC236}">
                <a16:creationId xmlns:a16="http://schemas.microsoft.com/office/drawing/2014/main" id="{0581E415-F74E-4C27-B1C5-CB6D1D51CE73}"/>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11</a:t>
            </a:r>
          </a:p>
        </p:txBody>
      </p:sp>
      <p:sp>
        <p:nvSpPr>
          <p:cNvPr id="4" name="results-intro">
            <a:extLst xmlns:a="http://schemas.openxmlformats.org/drawingml/2006/main">
              <a:ext uri="{FF2B5EF4-FFF2-40B4-BE49-F238E27FC236}">
                <a16:creationId xmlns:a16="http://schemas.microsoft.com/office/drawing/2014/main" id="{3EDA4BA0-CFAC-4B41-8951-B3D5F0FA6F9C}"/>
              </a:ext>
            </a:extLst>
          </p:cNvPr>
          <p:cNvSpPr>
            <a:spLocks xmlns:a="http://schemas.openxmlformats.org/drawingml/2006/main" noGrp="1"/>
          </p:cNvSpPr>
          <p:nvPr/>
        </p:nvSpPr>
        <p:spPr>
          <a:xfrm xmlns:a="http://schemas.openxmlformats.org/drawingml/2006/main">
            <a:off x="781050" y="1304925"/>
            <a:ext cx="1062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293A42"/>
                </a:solidFill>
                <a:latin typeface="Arial"/>
                <a:ea typeface="Arial"/>
                <a:cs typeface="Arial"/>
              </a:defRPr>
            </a:pPr>
            <a:r>
              <a:rPr sz="1650" b="0" i="0">
                <a:solidFill>
                  <a:srgbClr val="293A42"/>
                </a:solidFill>
                <a:latin typeface="Arial"/>
                <a:ea typeface="Arial"/>
                <a:cs typeface="Arial"/>
              </a:rPr>
              <a:t>DME por patrón. Local = tareas en W1; distribuido = tareas repartidas entre W1 y W2.</a:t>
            </a:r>
          </a:p>
        </p:txBody>
      </p:sp>
      <p:graphicFrame>
        <p:nvGraphicFramePr>
          <p:cNvPr id="12" name="Chart"/>
          <p:cNvGraphicFramePr/>
          <p:nvPr/>
        </p:nvGraphicFramePr>
        <p:xfrm>
          <a:off xmlns:a="http://schemas.openxmlformats.org/drawingml/2006/main" x="1047750" y="1866900"/>
          <a:ext xmlns:a="http://schemas.openxmlformats.org/drawingml/2006/main" cx="10096500" cy="3524250"/>
        </p:xfrm>
        <a:graphic xmlns:a="http://schemas.openxmlformats.org/drawingml/2006/main">
          <a:graphicData uri="http://schemas.openxmlformats.org/drawingml/2006/chart">
            <c:chart xmlns:r="http://schemas.openxmlformats.org/officeDocument/2006/relationships" xmlns:c="http://schemas.openxmlformats.org/drawingml/2006/chart" r:id="R20a17beb61854d3e"/>
          </a:graphicData>
        </a:graphic>
      </p:graphicFrame>
      <p:sp>
        <p:nvSpPr>
          <p:cNvPr id="6" name="results-observation">
            <a:extLst xmlns:a="http://schemas.openxmlformats.org/drawingml/2006/main">
              <a:ext uri="{FF2B5EF4-FFF2-40B4-BE49-F238E27FC236}">
                <a16:creationId xmlns:a16="http://schemas.microsoft.com/office/drawing/2014/main" id="{3F741C5C-65DD-404C-BB0B-2A1D8054792F}"/>
              </a:ext>
            </a:extLst>
          </p:cNvPr>
          <p:cNvSpPr>
            <a:spLocks xmlns:a="http://schemas.openxmlformats.org/drawingml/2006/main" noGrp="1"/>
          </p:cNvSpPr>
          <p:nvPr/>
        </p:nvSpPr>
        <p:spPr>
          <a:xfrm xmlns:a="http://schemas.openxmlformats.org/drawingml/2006/main">
            <a:off x="781050" y="5581650"/>
            <a:ext cx="1062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172A33"/>
                </a:solidFill>
                <a:latin typeface="Arial"/>
                <a:ea typeface="Arial"/>
                <a:cs typeface="Arial"/>
              </a:defRPr>
            </a:pPr>
            <a:r>
              <a:rPr sz="1500" b="0" i="0">
                <a:solidFill>
                  <a:srgbClr val="172A33"/>
                </a:solidFill>
                <a:latin typeface="Arial"/>
                <a:ea typeface="Arial"/>
                <a:cs typeface="Arial"/>
              </a:rPr>
              <a:t>Al cambiar el placement, M_req y DME cambiaron en estos cuatro patrones.</a:t>
            </a:r>
          </a:p>
        </p:txBody>
      </p:sp>
      <p:sp>
        <p:nvSpPr>
          <p:cNvPr id="7" name="results-process">
            <a:extLst xmlns:a="http://schemas.openxmlformats.org/drawingml/2006/main">
              <a:ext uri="{FF2B5EF4-FFF2-40B4-BE49-F238E27FC236}">
                <a16:creationId xmlns:a16="http://schemas.microsoft.com/office/drawing/2014/main" id="{5EC48AFD-079A-4963-856A-6D6C0C410D61}"/>
              </a:ext>
            </a:extLst>
          </p:cNvPr>
          <p:cNvSpPr>
            <a:spLocks xmlns:a="http://schemas.openxmlformats.org/drawingml/2006/main" noGrp="1"/>
          </p:cNvSpPr>
          <p:nvPr/>
        </p:nvSpPr>
        <p:spPr>
          <a:xfrm xmlns:a="http://schemas.openxmlformats.org/drawingml/2006/main">
            <a:off x="781050" y="6057900"/>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DME compara volúmenes; un valor bajo no demuestra por sí solo que hubiera bytes evitables.</a:t>
            </a:r>
          </a:p>
        </p:txBody>
      </p:sp>
    </p:spTree>
    <p:extLst>
      <p:ext uri="{BB962C8B-B14F-4D97-AF65-F5344CB8AC3E}">
        <p14:creationId xmlns:p14="http://schemas.microsoft.com/office/powerpoint/2010/main" val="474114212"/>
      </p:ext>
    </p:extLst>
  </p:cSld>
</p:sld>
</file>

<file path=ppt/slides/slide1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8" name="slide-title-12">
            <a:extLst xmlns:a="http://schemas.openxmlformats.org/drawingml/2006/main">
              <a:ext uri="{FF2B5EF4-FFF2-40B4-BE49-F238E27FC236}">
                <a16:creationId xmlns:a16="http://schemas.microsoft.com/office/drawing/2014/main" id="{88CDCCA5-8D82-4104-8501-C9C27E7A4F0C}"/>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El costo medido ocurre después del workflow</a:t>
            </a:r>
          </a:p>
        </p:txBody>
      </p:sp>
      <p:sp>
        <p:nvSpPr>
          <p:cNvPr id="2" name="title-rule-12">
            <a:extLst xmlns:a="http://schemas.openxmlformats.org/drawingml/2006/main">
              <a:ext uri="{FF2B5EF4-FFF2-40B4-BE49-F238E27FC236}">
                <a16:creationId xmlns:a16="http://schemas.microsoft.com/office/drawing/2014/main" id="{BA9A9FD4-04FF-46A9-9DCE-6186631FBEFA}"/>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2">
            <a:extLst xmlns:a="http://schemas.openxmlformats.org/drawingml/2006/main">
              <a:ext uri="{FF2B5EF4-FFF2-40B4-BE49-F238E27FC236}">
                <a16:creationId xmlns:a16="http://schemas.microsoft.com/office/drawing/2014/main" id="{0E3A9CE4-69FD-4FD7-9674-6B7077627622}"/>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12</a:t>
            </a:r>
          </a:p>
        </p:txBody>
      </p:sp>
      <p:sp>
        <p:nvSpPr>
          <p:cNvPr id="4" name="cost-intro">
            <a:extLst xmlns:a="http://schemas.openxmlformats.org/drawingml/2006/main">
              <a:ext uri="{FF2B5EF4-FFF2-40B4-BE49-F238E27FC236}">
                <a16:creationId xmlns:a16="http://schemas.microsoft.com/office/drawing/2014/main" id="{318EF4F0-270A-43DC-BD0F-32EBE126FC18}"/>
              </a:ext>
            </a:extLst>
          </p:cNvPr>
          <p:cNvSpPr>
            <a:spLocks xmlns:a="http://schemas.openxmlformats.org/drawingml/2006/main" noGrp="1"/>
          </p:cNvSpPr>
          <p:nvPr/>
        </p:nvSpPr>
        <p:spPr>
          <a:xfrm xmlns:a="http://schemas.openxmlformats.org/drawingml/2006/main">
            <a:off x="78105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No agregamos un tracer dentro de los jobs. Medimos recolección, análisis y evidencia preservada.</a:t>
            </a:r>
          </a:p>
        </p:txBody>
      </p:sp>
      <p:sp>
        <p:nvSpPr>
          <p:cNvPr id="5" name="cost-label-0">
            <a:extLst xmlns:a="http://schemas.openxmlformats.org/drawingml/2006/main">
              <a:ext uri="{FF2B5EF4-FFF2-40B4-BE49-F238E27FC236}">
                <a16:creationId xmlns:a16="http://schemas.microsoft.com/office/drawing/2014/main" id="{25AE66B0-ED25-4811-A4F3-EFF175FE09AE}"/>
              </a:ext>
            </a:extLst>
          </p:cNvPr>
          <p:cNvSpPr>
            <a:spLocks xmlns:a="http://schemas.openxmlformats.org/drawingml/2006/main" noGrp="1"/>
          </p:cNvSpPr>
          <p:nvPr/>
        </p:nvSpPr>
        <p:spPr>
          <a:xfrm xmlns:a="http://schemas.openxmlformats.org/drawingml/2006/main">
            <a:off x="781050" y="20955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172A33"/>
                </a:solidFill>
                <a:latin typeface="Arial"/>
                <a:ea typeface="Arial"/>
                <a:cs typeface="Arial"/>
              </a:defRPr>
            </a:pPr>
            <a:r>
              <a:rPr sz="1725" b="1" i="0">
                <a:solidFill>
                  <a:srgbClr val="172A33"/>
                </a:solidFill>
                <a:latin typeface="Arial"/>
                <a:ea typeface="Arial"/>
                <a:cs typeface="Arial"/>
              </a:rPr>
              <a:t>Preparación</a:t>
            </a:r>
          </a:p>
        </p:txBody>
      </p:sp>
      <p:sp>
        <p:nvSpPr>
          <p:cNvPr id="6" name="cost-rule-0">
            <a:extLst xmlns:a="http://schemas.openxmlformats.org/drawingml/2006/main">
              <a:ext uri="{FF2B5EF4-FFF2-40B4-BE49-F238E27FC236}">
                <a16:creationId xmlns:a16="http://schemas.microsoft.com/office/drawing/2014/main" id="{EDE498AD-8946-4731-A1D1-73A103CC0411}"/>
              </a:ext>
            </a:extLst>
          </p:cNvPr>
          <p:cNvSpPr>
            <a:spLocks xmlns:a="http://schemas.openxmlformats.org/drawingml/2006/main" noGrp="1"/>
          </p:cNvSpPr>
          <p:nvPr/>
        </p:nvSpPr>
        <p:spPr>
          <a:xfrm xmlns:a="http://schemas.openxmlformats.org/drawingml/2006/main">
            <a:off x="923925" y="2543175"/>
            <a:ext cx="25717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7" name="cost-values-0">
            <a:extLst xmlns:a="http://schemas.openxmlformats.org/drawingml/2006/main">
              <a:ext uri="{FF2B5EF4-FFF2-40B4-BE49-F238E27FC236}">
                <a16:creationId xmlns:a16="http://schemas.microsoft.com/office/drawing/2014/main" id="{12669F1A-8572-4961-BD25-401E24E30798}"/>
              </a:ext>
            </a:extLst>
          </p:cNvPr>
          <p:cNvSpPr>
            <a:spLocks xmlns:a="http://schemas.openxmlformats.org/drawingml/2006/main" noGrp="1"/>
          </p:cNvSpPr>
          <p:nvPr/>
        </p:nvSpPr>
        <p:spPr>
          <a:xfrm xmlns:a="http://schemas.openxmlformats.org/drawingml/2006/main">
            <a:off x="781050" y="27813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T_collect</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2.53 s promedio</a:t>
            </a:r>
          </a:p>
          <a:p xmlns:a="http://schemas.openxmlformats.org/drawingml/2006/main">
            <a:r>
              <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Entrada para el Analyzer</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18.62 MiB</a:t>
            </a:r>
          </a:p>
        </p:txBody>
      </p:sp>
      <p:sp>
        <p:nvSpPr>
          <p:cNvPr id="8" name="cost-label-1">
            <a:extLst xmlns:a="http://schemas.openxmlformats.org/drawingml/2006/main">
              <a:ext uri="{FF2B5EF4-FFF2-40B4-BE49-F238E27FC236}">
                <a16:creationId xmlns:a16="http://schemas.microsoft.com/office/drawing/2014/main" id="{E18F6665-8CA9-4BEE-89E4-23BCA991FE15}"/>
              </a:ext>
            </a:extLst>
          </p:cNvPr>
          <p:cNvSpPr>
            <a:spLocks xmlns:a="http://schemas.openxmlformats.org/drawingml/2006/main" noGrp="1"/>
          </p:cNvSpPr>
          <p:nvPr/>
        </p:nvSpPr>
        <p:spPr>
          <a:xfrm xmlns:a="http://schemas.openxmlformats.org/drawingml/2006/main">
            <a:off x="4400550" y="20955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Analyzer v1</a:t>
            </a:r>
          </a:p>
        </p:txBody>
      </p:sp>
      <p:sp>
        <p:nvSpPr>
          <p:cNvPr id="9" name="cost-rule-1">
            <a:extLst xmlns:a="http://schemas.openxmlformats.org/drawingml/2006/main">
              <a:ext uri="{FF2B5EF4-FFF2-40B4-BE49-F238E27FC236}">
                <a16:creationId xmlns:a16="http://schemas.microsoft.com/office/drawing/2014/main" id="{0497D7EB-6876-4991-833A-80B24E5425A5}"/>
              </a:ext>
            </a:extLst>
          </p:cNvPr>
          <p:cNvSpPr>
            <a:spLocks xmlns:a="http://schemas.openxmlformats.org/drawingml/2006/main" noGrp="1"/>
          </p:cNvSpPr>
          <p:nvPr/>
        </p:nvSpPr>
        <p:spPr>
          <a:xfrm xmlns:a="http://schemas.openxmlformats.org/drawingml/2006/main">
            <a:off x="4543425" y="2543175"/>
            <a:ext cx="2571750" cy="28575"/>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0" name="cost-values-1">
            <a:extLst xmlns:a="http://schemas.openxmlformats.org/drawingml/2006/main">
              <a:ext uri="{FF2B5EF4-FFF2-40B4-BE49-F238E27FC236}">
                <a16:creationId xmlns:a16="http://schemas.microsoft.com/office/drawing/2014/main" id="{768C655C-2149-475F-BAC1-5705B35CFA23}"/>
              </a:ext>
            </a:extLst>
          </p:cNvPr>
          <p:cNvSpPr>
            <a:spLocks xmlns:a="http://schemas.openxmlformats.org/drawingml/2006/main" noGrp="1"/>
          </p:cNvSpPr>
          <p:nvPr/>
        </p:nvSpPr>
        <p:spPr>
          <a:xfrm xmlns:a="http://schemas.openxmlformats.org/drawingml/2006/main">
            <a:off x="4400550" y="27813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Wall-clock</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0.73 s promedio</a:t>
            </a:r>
          </a:p>
          <a:p xmlns:a="http://schemas.openxmlformats.org/drawingml/2006/main">
            <a:r>
              <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CPU 0.36 s</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Memoria pico 22.49 MiB</a:t>
            </a:r>
          </a:p>
        </p:txBody>
      </p:sp>
      <p:sp>
        <p:nvSpPr>
          <p:cNvPr id="11" name="cost-label-2">
            <a:extLst xmlns:a="http://schemas.openxmlformats.org/drawingml/2006/main">
              <a:ext uri="{FF2B5EF4-FFF2-40B4-BE49-F238E27FC236}">
                <a16:creationId xmlns:a16="http://schemas.microsoft.com/office/drawing/2014/main" id="{46A0F4FD-E1CE-4754-87DF-EDF42D56195C}"/>
              </a:ext>
            </a:extLst>
          </p:cNvPr>
          <p:cNvSpPr>
            <a:spLocks xmlns:a="http://schemas.openxmlformats.org/drawingml/2006/main" noGrp="1"/>
          </p:cNvSpPr>
          <p:nvPr/>
        </p:nvSpPr>
        <p:spPr>
          <a:xfrm xmlns:a="http://schemas.openxmlformats.org/drawingml/2006/main">
            <a:off x="8020050" y="20955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172A33"/>
                </a:solidFill>
                <a:latin typeface="Arial"/>
                <a:ea typeface="Arial"/>
                <a:cs typeface="Arial"/>
              </a:defRPr>
            </a:pPr>
            <a:r>
              <a:rPr sz="1725" b="1" i="0">
                <a:solidFill>
                  <a:srgbClr val="172A33"/>
                </a:solidFill>
                <a:latin typeface="Arial"/>
                <a:ea typeface="Arial"/>
                <a:cs typeface="Arial"/>
              </a:rPr>
              <a:t>Preservación</a:t>
            </a:r>
          </a:p>
        </p:txBody>
      </p:sp>
      <p:sp>
        <p:nvSpPr>
          <p:cNvPr id="12" name="cost-rule-2">
            <a:extLst xmlns:a="http://schemas.openxmlformats.org/drawingml/2006/main">
              <a:ext uri="{FF2B5EF4-FFF2-40B4-BE49-F238E27FC236}">
                <a16:creationId xmlns:a16="http://schemas.microsoft.com/office/drawing/2014/main" id="{1DF4F9B1-6CDF-4F54-948A-1680976CB5CE}"/>
              </a:ext>
            </a:extLst>
          </p:cNvPr>
          <p:cNvSpPr>
            <a:spLocks xmlns:a="http://schemas.openxmlformats.org/drawingml/2006/main" noGrp="1"/>
          </p:cNvSpPr>
          <p:nvPr/>
        </p:nvSpPr>
        <p:spPr>
          <a:xfrm xmlns:a="http://schemas.openxmlformats.org/drawingml/2006/main">
            <a:off x="8162925" y="2543175"/>
            <a:ext cx="25717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13" name="cost-values-2">
            <a:extLst xmlns:a="http://schemas.openxmlformats.org/drawingml/2006/main">
              <a:ext uri="{FF2B5EF4-FFF2-40B4-BE49-F238E27FC236}">
                <a16:creationId xmlns:a16="http://schemas.microsoft.com/office/drawing/2014/main" id="{D3DC1029-9530-4AD2-AB01-2218A46B39A7}"/>
              </a:ext>
            </a:extLst>
          </p:cNvPr>
          <p:cNvSpPr>
            <a:spLocks xmlns:a="http://schemas.openxmlformats.org/drawingml/2006/main" noGrp="1"/>
          </p:cNvSpPr>
          <p:nvPr/>
        </p:nvSpPr>
        <p:spPr>
          <a:xfrm xmlns:a="http://schemas.openxmlformats.org/drawingml/2006/main">
            <a:off x="8020050" y="27813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Informes</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0.185 MiB por run</a:t>
            </a:r>
          </a:p>
          <a:p xmlns:a="http://schemas.openxmlformats.org/drawingml/2006/main">
            <a:r>
              <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Evidencia adicional</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0.701 MiB por run</a:t>
            </a:r>
          </a:p>
        </p:txBody>
      </p:sp>
      <p:sp>
        <p:nvSpPr>
          <p:cNvPr id="14" name="cost-column-rule-1">
            <a:extLst xmlns:a="http://schemas.openxmlformats.org/drawingml/2006/main">
              <a:ext uri="{FF2B5EF4-FFF2-40B4-BE49-F238E27FC236}">
                <a16:creationId xmlns:a16="http://schemas.microsoft.com/office/drawing/2014/main" id="{E0078D4B-14C3-44D0-8BC2-58F724593F02}"/>
              </a:ext>
            </a:extLst>
          </p:cNvPr>
          <p:cNvSpPr>
            <a:spLocks xmlns:a="http://schemas.openxmlformats.org/drawingml/2006/main" noGrp="1"/>
          </p:cNvSpPr>
          <p:nvPr/>
        </p:nvSpPr>
        <p:spPr>
          <a:xfrm xmlns:a="http://schemas.openxmlformats.org/drawingml/2006/main">
            <a:off x="4038600" y="2038350"/>
            <a:ext cx="11430" cy="272415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5" name="cost-column-rule-2">
            <a:extLst xmlns:a="http://schemas.openxmlformats.org/drawingml/2006/main">
              <a:ext uri="{FF2B5EF4-FFF2-40B4-BE49-F238E27FC236}">
                <a16:creationId xmlns:a16="http://schemas.microsoft.com/office/drawing/2014/main" id="{5CF77487-3311-46B1-8A16-AD544B1463B6}"/>
              </a:ext>
            </a:extLst>
          </p:cNvPr>
          <p:cNvSpPr>
            <a:spLocks xmlns:a="http://schemas.openxmlformats.org/drawingml/2006/main" noGrp="1"/>
          </p:cNvSpPr>
          <p:nvPr/>
        </p:nvSpPr>
        <p:spPr>
          <a:xfrm xmlns:a="http://schemas.openxmlformats.org/drawingml/2006/main">
            <a:off x="7658100" y="2038350"/>
            <a:ext cx="11430" cy="272415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6" name="cost-caveat-bg">
            <a:extLst xmlns:a="http://schemas.openxmlformats.org/drawingml/2006/main">
              <a:ext uri="{FF2B5EF4-FFF2-40B4-BE49-F238E27FC236}">
                <a16:creationId xmlns:a16="http://schemas.microsoft.com/office/drawing/2014/main" id="{774D74C4-D2C7-4C81-9B44-449BAEB985C4}"/>
              </a:ext>
            </a:extLst>
          </p:cNvPr>
          <p:cNvSpPr>
            <a:spLocks xmlns:a="http://schemas.openxmlformats.org/drawingml/2006/main" noGrp="1"/>
          </p:cNvSpPr>
          <p:nvPr/>
        </p:nvSpPr>
        <p:spPr>
          <a:xfrm xmlns:a="http://schemas.openxmlformats.org/drawingml/2006/main">
            <a:off x="781050" y="5162550"/>
            <a:ext cx="10439400" cy="876300"/>
          </a:xfrm>
          <a:prstGeom xmlns:a="http://schemas.openxmlformats.org/drawingml/2006/main" prst="rect">
            <a:avLst/>
          </a:prstGeom>
          <a:solidFill xmlns:a="http://schemas.openxmlformats.org/drawingml/2006/main">
            <a:srgbClr val="EFF2F2"/>
          </a:solidFill>
          <a:ln xmlns:a="http://schemas.openxmlformats.org/drawingml/2006/main" w="9525">
            <a:solidFill>
              <a:srgbClr val="CBD2D4"/>
            </a:solidFill>
            <a:prstDash val="solid"/>
          </a:ln>
        </p:spPr>
      </p:sp>
      <p:sp>
        <p:nvSpPr>
          <p:cNvPr id="17" name="cost-caveat">
            <a:extLst xmlns:a="http://schemas.openxmlformats.org/drawingml/2006/main">
              <a:ext uri="{FF2B5EF4-FFF2-40B4-BE49-F238E27FC236}">
                <a16:creationId xmlns:a16="http://schemas.microsoft.com/office/drawing/2014/main" id="{B3C7673D-5359-4A47-9A2C-C226F04177CD}"/>
              </a:ext>
            </a:extLst>
          </p:cNvPr>
          <p:cNvSpPr>
            <a:spLocks xmlns:a="http://schemas.openxmlformats.org/drawingml/2006/main" noGrp="1"/>
          </p:cNvSpPr>
          <p:nvPr/>
        </p:nvSpPr>
        <p:spPr>
          <a:xfrm xmlns:a="http://schemas.openxmlformats.org/drawingml/2006/main">
            <a:off x="971550" y="5267325"/>
            <a:ext cx="10058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172A33"/>
                </a:solidFill>
                <a:latin typeface="Arial"/>
                <a:ea typeface="Arial"/>
                <a:cs typeface="Arial"/>
              </a:defRPr>
            </a:pPr>
            <a:r>
              <a:rPr sz="1575" b="0" i="0">
                <a:solidFill>
                  <a:srgbClr val="172A33"/>
                </a:solidFill>
                <a:latin typeface="Arial"/>
                <a:ea typeface="Arial"/>
                <a:cs typeface="Arial"/>
              </a:rPr>
              <a:t>Los logs nativos se generan durante la ejecución, pero su costo no se aisló con control ON/OFF. No atribuimos a Analyzer un porcentaje del runtime.</a:t>
            </a:r>
          </a:p>
        </p:txBody>
      </p:sp>
    </p:spTree>
    <p:extLst>
      <p:ext uri="{BB962C8B-B14F-4D97-AF65-F5344CB8AC3E}">
        <p14:creationId xmlns:p14="http://schemas.microsoft.com/office/powerpoint/2010/main" val="1171159515"/>
      </p:ext>
    </p:extLst>
  </p:cSld>
</p:sld>
</file>

<file path=ppt/slides/slide13.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2" name="slide-title-13">
            <a:extLst xmlns:a="http://schemas.openxmlformats.org/drawingml/2006/main">
              <a:ext uri="{FF2B5EF4-FFF2-40B4-BE49-F238E27FC236}">
                <a16:creationId xmlns:a16="http://schemas.microsoft.com/office/drawing/2014/main" id="{6BD4C7AD-4844-43DE-8F08-344019BA01B3}"/>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Para qué sirve la métrica</a:t>
            </a:r>
          </a:p>
        </p:txBody>
      </p:sp>
      <p:sp>
        <p:nvSpPr>
          <p:cNvPr id="2" name="title-rule-13">
            <a:extLst xmlns:a="http://schemas.openxmlformats.org/drawingml/2006/main">
              <a:ext uri="{FF2B5EF4-FFF2-40B4-BE49-F238E27FC236}">
                <a16:creationId xmlns:a16="http://schemas.microsoft.com/office/drawing/2014/main" id="{555FC845-1712-49BA-8D2F-3DEF1252F4D1}"/>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3">
            <a:extLst xmlns:a="http://schemas.openxmlformats.org/drawingml/2006/main">
              <a:ext uri="{FF2B5EF4-FFF2-40B4-BE49-F238E27FC236}">
                <a16:creationId xmlns:a16="http://schemas.microsoft.com/office/drawing/2014/main" id="{43120375-4DC6-4EC3-9008-B56EE93BF850}"/>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13</a:t>
            </a:r>
          </a:p>
        </p:txBody>
      </p:sp>
      <p:sp>
        <p:nvSpPr>
          <p:cNvPr id="4" name="utility-main">
            <a:extLst xmlns:a="http://schemas.openxmlformats.org/drawingml/2006/main">
              <a:ext uri="{FF2B5EF4-FFF2-40B4-BE49-F238E27FC236}">
                <a16:creationId xmlns:a16="http://schemas.microsoft.com/office/drawing/2014/main" id="{0A1D6994-DA5D-4902-A034-FC3411586636}"/>
              </a:ext>
            </a:extLst>
          </p:cNvPr>
          <p:cNvSpPr>
            <a:spLocks xmlns:a="http://schemas.openxmlformats.org/drawingml/2006/main" noGrp="1"/>
          </p:cNvSpPr>
          <p:nvPr/>
        </p:nvSpPr>
        <p:spPr>
          <a:xfrm xmlns:a="http://schemas.openxmlformats.org/drawingml/2006/main">
            <a:off x="781050" y="1428750"/>
            <a:ext cx="10382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02"/>
          </a:bodyPr>
          <a:lstStyle xmlns:a="http://schemas.openxmlformats.org/drawingml/2006/main"/>
          <a:p xmlns:a="http://schemas.openxmlformats.org/drawingml/2006/main">
            <a:pPr algn="ctr">
              <a:lnSpc>
                <a:spcPct val="100000"/>
              </a:lnSpc>
              <a:buNone/>
              <a:defRPr sz="2100" b="1" i="0">
                <a:solidFill>
                  <a:srgbClr val="172A33"/>
                </a:solidFill>
                <a:latin typeface="Arial"/>
                <a:ea typeface="Arial"/>
                <a:cs typeface="Arial"/>
              </a:defRPr>
            </a:pPr>
            <a:r>
              <a:rPr sz="2100" b="1" i="0">
                <a:solidFill>
                  <a:srgbClr val="172A33"/>
                </a:solidFill>
                <a:latin typeface="Arial"/>
                <a:ea typeface="Arial"/>
                <a:cs typeface="Arial"/>
              </a:rPr>
              <a:t>Permite comparar cuánto movimiento lógico exige cada placement frente al volumen de archivos que la ejecución declara y cuya evidencia logra confirmar.</a:t>
            </a:r>
          </a:p>
        </p:txBody>
      </p:sp>
      <p:sp>
        <p:nvSpPr>
          <p:cNvPr id="5" name="utility-use-1">
            <a:extLst xmlns:a="http://schemas.openxmlformats.org/drawingml/2006/main">
              <a:ext uri="{FF2B5EF4-FFF2-40B4-BE49-F238E27FC236}">
                <a16:creationId xmlns:a16="http://schemas.microsoft.com/office/drawing/2014/main" id="{66BD5E03-6A73-4A97-BA58-D929F1B05FAA}"/>
              </a:ext>
            </a:extLst>
          </p:cNvPr>
          <p:cNvSpPr>
            <a:spLocks xmlns:a="http://schemas.openxmlformats.org/drawingml/2006/main" noGrp="1"/>
          </p:cNvSpPr>
          <p:nvPr/>
        </p:nvSpPr>
        <p:spPr>
          <a:xfrm xmlns:a="http://schemas.openxmlformats.org/drawingml/2006/main">
            <a:off x="933450" y="2590800"/>
            <a:ext cx="3028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Comparar placements</a:t>
            </a:r>
          </a:p>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y configuraciones</a:t>
            </a:r>
          </a:p>
        </p:txBody>
      </p:sp>
      <p:sp>
        <p:nvSpPr>
          <p:cNvPr id="6" name="utility-use-2">
            <a:extLst xmlns:a="http://schemas.openxmlformats.org/drawingml/2006/main">
              <a:ext uri="{FF2B5EF4-FFF2-40B4-BE49-F238E27FC236}">
                <a16:creationId xmlns:a16="http://schemas.microsoft.com/office/drawing/2014/main" id="{433556B4-E607-4030-9A42-E01B128B7797}"/>
              </a:ext>
            </a:extLst>
          </p:cNvPr>
          <p:cNvSpPr>
            <a:spLocks xmlns:a="http://schemas.openxmlformats.org/drawingml/2006/main" noGrp="1"/>
          </p:cNvSpPr>
          <p:nvPr/>
        </p:nvSpPr>
        <p:spPr>
          <a:xfrm xmlns:a="http://schemas.openxmlformats.org/drawingml/2006/main">
            <a:off x="4552950" y="2590800"/>
            <a:ext cx="3028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Ubicar patrones con</a:t>
            </a:r>
          </a:p>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más movimiento confirmado</a:t>
            </a:r>
          </a:p>
        </p:txBody>
      </p:sp>
      <p:sp>
        <p:nvSpPr>
          <p:cNvPr id="7" name="utility-use-3">
            <a:extLst xmlns:a="http://schemas.openxmlformats.org/drawingml/2006/main">
              <a:ext uri="{FF2B5EF4-FFF2-40B4-BE49-F238E27FC236}">
                <a16:creationId xmlns:a16="http://schemas.microsoft.com/office/drawing/2014/main" id="{038DD560-B4D2-4ACA-A432-F4680AF1BABD}"/>
              </a:ext>
            </a:extLst>
          </p:cNvPr>
          <p:cNvSpPr>
            <a:spLocks xmlns:a="http://schemas.openxmlformats.org/drawingml/2006/main" noGrp="1"/>
          </p:cNvSpPr>
          <p:nvPr/>
        </p:nvSpPr>
        <p:spPr>
          <a:xfrm xmlns:a="http://schemas.openxmlformats.org/drawingml/2006/main">
            <a:off x="8172450" y="2590800"/>
            <a:ext cx="3028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Priorizar qué casos</a:t>
            </a:r>
          </a:p>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medir en rendimiento</a:t>
            </a:r>
          </a:p>
        </p:txBody>
      </p:sp>
      <p:sp>
        <p:nvSpPr>
          <p:cNvPr id="8" name="utility-business">
            <a:extLst xmlns:a="http://schemas.openxmlformats.org/drawingml/2006/main">
              <a:ext uri="{FF2B5EF4-FFF2-40B4-BE49-F238E27FC236}">
                <a16:creationId xmlns:a16="http://schemas.microsoft.com/office/drawing/2014/main" id="{07DA846E-C45A-49A2-9E93-91B303B0D9EE}"/>
              </a:ext>
            </a:extLst>
          </p:cNvPr>
          <p:cNvSpPr>
            <a:spLocks xmlns:a="http://schemas.openxmlformats.org/drawingml/2006/main" noGrp="1"/>
          </p:cNvSpPr>
          <p:nvPr/>
        </p:nvSpPr>
        <p:spPr>
          <a:xfrm xmlns:a="http://schemas.openxmlformats.org/drawingml/2006/main">
            <a:off x="1143000" y="39814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Uso potencial: orientar decisiones de placement y staging; el impacto en tiempo o dinero debe medirse aparte.</a:t>
            </a:r>
          </a:p>
        </p:txBody>
      </p:sp>
      <p:sp>
        <p:nvSpPr>
          <p:cNvPr id="9" name="utility-rule">
            <a:extLst xmlns:a="http://schemas.openxmlformats.org/drawingml/2006/main">
              <a:ext uri="{FF2B5EF4-FFF2-40B4-BE49-F238E27FC236}">
                <a16:creationId xmlns:a16="http://schemas.microsoft.com/office/drawing/2014/main" id="{CC0FF7D3-DC0C-49EC-81F7-4C9F00E914A4}"/>
              </a:ext>
            </a:extLst>
          </p:cNvPr>
          <p:cNvSpPr>
            <a:spLocks xmlns:a="http://schemas.openxmlformats.org/drawingml/2006/main" noGrp="1"/>
          </p:cNvSpPr>
          <p:nvPr/>
        </p:nvSpPr>
        <p:spPr>
          <a:xfrm xmlns:a="http://schemas.openxmlformats.org/drawingml/2006/main">
            <a:off x="781050" y="4724400"/>
            <a:ext cx="10439400" cy="1143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0" name="utility-limits">
            <a:extLst xmlns:a="http://schemas.openxmlformats.org/drawingml/2006/main">
              <a:ext uri="{FF2B5EF4-FFF2-40B4-BE49-F238E27FC236}">
                <a16:creationId xmlns:a16="http://schemas.microsoft.com/office/drawing/2014/main" id="{135B13A0-0091-4AD9-BCD1-061265928255}"/>
              </a:ext>
            </a:extLst>
          </p:cNvPr>
          <p:cNvSpPr>
            <a:spLocks xmlns:a="http://schemas.openxmlformats.org/drawingml/2006/main" noGrp="1"/>
          </p:cNvSpPr>
          <p:nvPr/>
        </p:nvSpPr>
        <p:spPr>
          <a:xfrm xmlns:a="http://schemas.openxmlformats.org/drawingml/2006/main">
            <a:off x="914400" y="4914900"/>
            <a:ext cx="10210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No mide paquetes de red, ancho de banda, I/O físico de disco, RAM o NUMA, FLOPs, uso de CPU/GPU ni rendimiento del scheduler. La campaña valida un pool de dos workers.</a:t>
            </a:r>
          </a:p>
        </p:txBody>
      </p:sp>
      <p:sp>
        <p:nvSpPr>
          <p:cNvPr id="11" name="utility-last-line">
            <a:extLst xmlns:a="http://schemas.openxmlformats.org/drawingml/2006/main">
              <a:ext uri="{FF2B5EF4-FFF2-40B4-BE49-F238E27FC236}">
                <a16:creationId xmlns:a16="http://schemas.microsoft.com/office/drawing/2014/main" id="{5CFC2359-7AC5-47DF-96A9-9780BDF8FDC1}"/>
              </a:ext>
            </a:extLst>
          </p:cNvPr>
          <p:cNvSpPr>
            <a:spLocks xmlns:a="http://schemas.openxmlformats.org/drawingml/2006/main" noGrp="1"/>
          </p:cNvSpPr>
          <p:nvPr/>
        </p:nvSpPr>
        <p:spPr>
          <a:xfrm xmlns:a="http://schemas.openxmlformats.org/drawingml/2006/main">
            <a:off x="933450" y="60007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172A33"/>
                </a:solidFill>
                <a:latin typeface="Arial"/>
                <a:ea typeface="Arial"/>
                <a:cs typeface="Arial"/>
              </a:defRPr>
            </a:pPr>
            <a:r>
              <a:rPr sz="1350" b="1" i="0">
                <a:solidFill>
                  <a:srgbClr val="172A33"/>
                </a:solidFill>
                <a:latin typeface="Arial"/>
                <a:ea typeface="Arial"/>
                <a:cs typeface="Arial"/>
              </a:rPr>
              <a:t>La DME agrega información sobre archivos y placement; no reemplaza métricas de tiempo, I/O o recursos.</a:t>
            </a:r>
          </a:p>
        </p:txBody>
      </p:sp>
    </p:spTree>
    <p:extLst>
      <p:ext uri="{BB962C8B-B14F-4D97-AF65-F5344CB8AC3E}">
        <p14:creationId xmlns:p14="http://schemas.microsoft.com/office/powerpoint/2010/main" val="1009118154"/>
      </p:ext>
    </p:extLst>
  </p:cSld>
</p:sld>
</file>

<file path=ppt/slides/slide14.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8" name="slide-title-14">
            <a:extLst xmlns:a="http://schemas.openxmlformats.org/drawingml/2006/main">
              <a:ext uri="{FF2B5EF4-FFF2-40B4-BE49-F238E27FC236}">
                <a16:creationId xmlns:a16="http://schemas.microsoft.com/office/drawing/2014/main" id="{7F418977-A719-4F19-8511-125C0802048D}"/>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Fuentes principales</a:t>
            </a:r>
          </a:p>
        </p:txBody>
      </p:sp>
      <p:sp>
        <p:nvSpPr>
          <p:cNvPr id="2" name="title-rule-14">
            <a:extLst xmlns:a="http://schemas.openxmlformats.org/drawingml/2006/main">
              <a:ext uri="{FF2B5EF4-FFF2-40B4-BE49-F238E27FC236}">
                <a16:creationId xmlns:a16="http://schemas.microsoft.com/office/drawing/2014/main" id="{1CC13528-4966-47E0-9E9A-B1E749266319}"/>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4">
            <a:extLst xmlns:a="http://schemas.openxmlformats.org/drawingml/2006/main">
              <a:ext uri="{FF2B5EF4-FFF2-40B4-BE49-F238E27FC236}">
                <a16:creationId xmlns:a16="http://schemas.microsoft.com/office/drawing/2014/main" id="{D89E0168-4C72-4923-80D4-1151DEFD3F42}"/>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14</a:t>
            </a:r>
          </a:p>
        </p:txBody>
      </p:sp>
      <p:sp>
        <p:nvSpPr>
          <p:cNvPr id="4" name="reference-0">
            <a:extLst xmlns:a="http://schemas.openxmlformats.org/drawingml/2006/main">
              <a:ext uri="{FF2B5EF4-FFF2-40B4-BE49-F238E27FC236}">
                <a16:creationId xmlns:a16="http://schemas.microsoft.com/office/drawing/2014/main" id="{CFFC8BD4-784F-4EEA-82AC-5180506B2953}"/>
              </a:ext>
            </a:extLst>
          </p:cNvPr>
          <p:cNvSpPr>
            <a:spLocks xmlns:a="http://schemas.openxmlformats.org/drawingml/2006/main" noGrp="1"/>
          </p:cNvSpPr>
          <p:nvPr/>
        </p:nvSpPr>
        <p:spPr>
          <a:xfrm xmlns:a="http://schemas.openxmlformats.org/drawingml/2006/main">
            <a:off x="866775" y="14192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Bharathi et al. (2008). Characterization of Scientific Workflows. WORKS. doi:10.1109/WORKS.2008.4723958</a:t>
            </a:r>
          </a:p>
        </p:txBody>
      </p:sp>
      <p:sp>
        <p:nvSpPr>
          <p:cNvPr id="5" name="reference-rule-0">
            <a:extLst xmlns:a="http://schemas.openxmlformats.org/drawingml/2006/main">
              <a:ext uri="{FF2B5EF4-FFF2-40B4-BE49-F238E27FC236}">
                <a16:creationId xmlns:a16="http://schemas.microsoft.com/office/drawing/2014/main" id="{525875C7-136C-414F-B77E-D2FEEF61BDD0}"/>
              </a:ext>
            </a:extLst>
          </p:cNvPr>
          <p:cNvSpPr>
            <a:spLocks xmlns:a="http://schemas.openxmlformats.org/drawingml/2006/main" noGrp="1"/>
          </p:cNvSpPr>
          <p:nvPr/>
        </p:nvSpPr>
        <p:spPr>
          <a:xfrm xmlns:a="http://schemas.openxmlformats.org/drawingml/2006/main">
            <a:off x="866775" y="2028825"/>
            <a:ext cx="103632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6" name="reference-1">
            <a:extLst xmlns:a="http://schemas.openxmlformats.org/drawingml/2006/main">
              <a:ext uri="{FF2B5EF4-FFF2-40B4-BE49-F238E27FC236}">
                <a16:creationId xmlns:a16="http://schemas.microsoft.com/office/drawing/2014/main" id="{4EF62B8A-C416-4217-8E05-1DB18F24595E}"/>
              </a:ext>
            </a:extLst>
          </p:cNvPr>
          <p:cNvSpPr>
            <a:spLocks xmlns:a="http://schemas.openxmlformats.org/drawingml/2006/main" noGrp="1"/>
          </p:cNvSpPr>
          <p:nvPr/>
        </p:nvSpPr>
        <p:spPr>
          <a:xfrm xmlns:a="http://schemas.openxmlformats.org/drawingml/2006/main">
            <a:off x="866775" y="21050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Deelman et al. (2015). Pegasus, a Workflow Management System for Science Automation. FGCS. doi:10.1016/j.future.2014.10.008</a:t>
            </a:r>
          </a:p>
        </p:txBody>
      </p:sp>
      <p:sp>
        <p:nvSpPr>
          <p:cNvPr id="7" name="reference-rule-1">
            <a:extLst xmlns:a="http://schemas.openxmlformats.org/drawingml/2006/main">
              <a:ext uri="{FF2B5EF4-FFF2-40B4-BE49-F238E27FC236}">
                <a16:creationId xmlns:a16="http://schemas.microsoft.com/office/drawing/2014/main" id="{30DF5301-CBB0-4F79-BADE-3B95A83C8739}"/>
              </a:ext>
            </a:extLst>
          </p:cNvPr>
          <p:cNvSpPr>
            <a:spLocks xmlns:a="http://schemas.openxmlformats.org/drawingml/2006/main" noGrp="1"/>
          </p:cNvSpPr>
          <p:nvPr/>
        </p:nvSpPr>
        <p:spPr>
          <a:xfrm xmlns:a="http://schemas.openxmlformats.org/drawingml/2006/main">
            <a:off x="866775" y="2714625"/>
            <a:ext cx="103632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8" name="reference-2">
            <a:extLst xmlns:a="http://schemas.openxmlformats.org/drawingml/2006/main">
              <a:ext uri="{FF2B5EF4-FFF2-40B4-BE49-F238E27FC236}">
                <a16:creationId xmlns:a16="http://schemas.microsoft.com/office/drawing/2014/main" id="{14289FB3-730C-419F-B814-FB953EAC13F8}"/>
              </a:ext>
            </a:extLst>
          </p:cNvPr>
          <p:cNvSpPr>
            <a:spLocks xmlns:a="http://schemas.openxmlformats.org/drawingml/2006/main" noGrp="1"/>
          </p:cNvSpPr>
          <p:nvPr/>
        </p:nvSpPr>
        <p:spPr>
          <a:xfrm xmlns:a="http://schemas.openxmlformats.org/drawingml/2006/main">
            <a:off x="866775" y="27908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Pietri &amp; Sakellariou (2018). Scheduling Data-Intensive Scientific Workflows with Reduced Communication. SSDBM. doi:10.1145/3221269.3221298</a:t>
            </a:r>
          </a:p>
        </p:txBody>
      </p:sp>
      <p:sp>
        <p:nvSpPr>
          <p:cNvPr id="9" name="reference-rule-2">
            <a:extLst xmlns:a="http://schemas.openxmlformats.org/drawingml/2006/main">
              <a:ext uri="{FF2B5EF4-FFF2-40B4-BE49-F238E27FC236}">
                <a16:creationId xmlns:a16="http://schemas.microsoft.com/office/drawing/2014/main" id="{096D019B-402D-46D2-80B8-1C7556C412D6}"/>
              </a:ext>
            </a:extLst>
          </p:cNvPr>
          <p:cNvSpPr>
            <a:spLocks xmlns:a="http://schemas.openxmlformats.org/drawingml/2006/main" noGrp="1"/>
          </p:cNvSpPr>
          <p:nvPr/>
        </p:nvSpPr>
        <p:spPr>
          <a:xfrm xmlns:a="http://schemas.openxmlformats.org/drawingml/2006/main">
            <a:off x="866775" y="3400425"/>
            <a:ext cx="103632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0" name="reference-3">
            <a:extLst xmlns:a="http://schemas.openxmlformats.org/drawingml/2006/main">
              <a:ext uri="{FF2B5EF4-FFF2-40B4-BE49-F238E27FC236}">
                <a16:creationId xmlns:a16="http://schemas.microsoft.com/office/drawing/2014/main" id="{CBB6F757-5B48-44FC-8E81-BD140FB67BA8}"/>
              </a:ext>
            </a:extLst>
          </p:cNvPr>
          <p:cNvSpPr>
            <a:spLocks xmlns:a="http://schemas.openxmlformats.org/drawingml/2006/main" noGrp="1"/>
          </p:cNvSpPr>
          <p:nvPr/>
        </p:nvSpPr>
        <p:spPr>
          <a:xfrm xmlns:a="http://schemas.openxmlformats.org/drawingml/2006/main">
            <a:off x="866775" y="34766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Lee et al. (2023). Data Flow Lifecycles for Optimizing Workflow Coordination. SC. doi:10.1145/3581784.3607104</a:t>
            </a:r>
          </a:p>
        </p:txBody>
      </p:sp>
      <p:sp>
        <p:nvSpPr>
          <p:cNvPr id="11" name="reference-rule-3">
            <a:extLst xmlns:a="http://schemas.openxmlformats.org/drawingml/2006/main">
              <a:ext uri="{FF2B5EF4-FFF2-40B4-BE49-F238E27FC236}">
                <a16:creationId xmlns:a16="http://schemas.microsoft.com/office/drawing/2014/main" id="{447E88AD-C127-410F-AF43-2B6C4B40DE91}"/>
              </a:ext>
            </a:extLst>
          </p:cNvPr>
          <p:cNvSpPr>
            <a:spLocks xmlns:a="http://schemas.openxmlformats.org/drawingml/2006/main" noGrp="1"/>
          </p:cNvSpPr>
          <p:nvPr/>
        </p:nvSpPr>
        <p:spPr>
          <a:xfrm xmlns:a="http://schemas.openxmlformats.org/drawingml/2006/main">
            <a:off x="866775" y="4086225"/>
            <a:ext cx="103632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2" name="reference-4">
            <a:extLst xmlns:a="http://schemas.openxmlformats.org/drawingml/2006/main">
              <a:ext uri="{FF2B5EF4-FFF2-40B4-BE49-F238E27FC236}">
                <a16:creationId xmlns:a16="http://schemas.microsoft.com/office/drawing/2014/main" id="{8626D5E6-5E21-463A-A0F1-F078FDC0EB32}"/>
              </a:ext>
            </a:extLst>
          </p:cNvPr>
          <p:cNvSpPr>
            <a:spLocks xmlns:a="http://schemas.openxmlformats.org/drawingml/2006/main" noGrp="1"/>
          </p:cNvSpPr>
          <p:nvPr/>
        </p:nvSpPr>
        <p:spPr>
          <a:xfrm xmlns:a="http://schemas.openxmlformats.org/drawingml/2006/main">
            <a:off x="866775" y="41624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Tang et al. (2024). DaYu: Optimizing Distributed Scientific Workflows by Decoding Dataflow Semantics and Dynamics. CLUSTER. doi:10.1109/CLUSTER59578.2024.00038</a:t>
            </a:r>
          </a:p>
        </p:txBody>
      </p:sp>
      <p:sp>
        <p:nvSpPr>
          <p:cNvPr id="13" name="reference-rule-4">
            <a:extLst xmlns:a="http://schemas.openxmlformats.org/drawingml/2006/main">
              <a:ext uri="{FF2B5EF4-FFF2-40B4-BE49-F238E27FC236}">
                <a16:creationId xmlns:a16="http://schemas.microsoft.com/office/drawing/2014/main" id="{18A09313-127C-482A-A120-A8D5988BABDC}"/>
              </a:ext>
            </a:extLst>
          </p:cNvPr>
          <p:cNvSpPr>
            <a:spLocks xmlns:a="http://schemas.openxmlformats.org/drawingml/2006/main" noGrp="1"/>
          </p:cNvSpPr>
          <p:nvPr/>
        </p:nvSpPr>
        <p:spPr>
          <a:xfrm xmlns:a="http://schemas.openxmlformats.org/drawingml/2006/main">
            <a:off x="866775" y="4772025"/>
            <a:ext cx="103632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4" name="reference-5">
            <a:extLst xmlns:a="http://schemas.openxmlformats.org/drawingml/2006/main">
              <a:ext uri="{FF2B5EF4-FFF2-40B4-BE49-F238E27FC236}">
                <a16:creationId xmlns:a16="http://schemas.microsoft.com/office/drawing/2014/main" id="{0A5B2AF0-F1F9-4787-BD04-17C107B4894E}"/>
              </a:ext>
            </a:extLst>
          </p:cNvPr>
          <p:cNvSpPr>
            <a:spLocks xmlns:a="http://schemas.openxmlformats.org/drawingml/2006/main" noGrp="1"/>
          </p:cNvSpPr>
          <p:nvPr/>
        </p:nvSpPr>
        <p:spPr>
          <a:xfrm xmlns:a="http://schemas.openxmlformats.org/drawingml/2006/main">
            <a:off x="866775" y="48482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Devarajan et al. (2024). DFTracer: An Analysis-Friendly Data Flow Tracer for AI-Driven Workflows. SC. doi:10.1109/SC41406.2024.00023</a:t>
            </a:r>
          </a:p>
        </p:txBody>
      </p:sp>
      <p:sp>
        <p:nvSpPr>
          <p:cNvPr id="15" name="reference-rule-5">
            <a:extLst xmlns:a="http://schemas.openxmlformats.org/drawingml/2006/main">
              <a:ext uri="{FF2B5EF4-FFF2-40B4-BE49-F238E27FC236}">
                <a16:creationId xmlns:a16="http://schemas.microsoft.com/office/drawing/2014/main" id="{8A8F2237-B087-4B98-A0F5-A4C15BBD4F07}"/>
              </a:ext>
            </a:extLst>
          </p:cNvPr>
          <p:cNvSpPr>
            <a:spLocks xmlns:a="http://schemas.openxmlformats.org/drawingml/2006/main" noGrp="1"/>
          </p:cNvSpPr>
          <p:nvPr/>
        </p:nvSpPr>
        <p:spPr>
          <a:xfrm xmlns:a="http://schemas.openxmlformats.org/drawingml/2006/main">
            <a:off x="866775" y="5457825"/>
            <a:ext cx="103632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6" name="reference-6">
            <a:extLst xmlns:a="http://schemas.openxmlformats.org/drawingml/2006/main">
              <a:ext uri="{FF2B5EF4-FFF2-40B4-BE49-F238E27FC236}">
                <a16:creationId xmlns:a16="http://schemas.microsoft.com/office/drawing/2014/main" id="{A3D2DF92-B1C3-4DFF-95D1-9BE9C7448380}"/>
              </a:ext>
            </a:extLst>
          </p:cNvPr>
          <p:cNvSpPr>
            <a:spLocks xmlns:a="http://schemas.openxmlformats.org/drawingml/2006/main" noGrp="1"/>
          </p:cNvSpPr>
          <p:nvPr/>
        </p:nvSpPr>
        <p:spPr>
          <a:xfrm xmlns:a="http://schemas.openxmlformats.org/drawingml/2006/main">
            <a:off x="866775" y="5534025"/>
            <a:ext cx="10382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Vivas Meza (2026). Scheduling Strategies for Efficient Data Movement in Data-Intensive Scientific Workflow Execution. Disertación doctoral, Universidad de los Andes.</a:t>
            </a:r>
          </a:p>
        </p:txBody>
      </p:sp>
      <p:sp>
        <p:nvSpPr>
          <p:cNvPr id="17" name="reference-note">
            <a:extLst xmlns:a="http://schemas.openxmlformats.org/drawingml/2006/main">
              <a:ext uri="{FF2B5EF4-FFF2-40B4-BE49-F238E27FC236}">
                <a16:creationId xmlns:a16="http://schemas.microsoft.com/office/drawing/2014/main" id="{28239FCC-F245-460B-98C5-8859D406D68D}"/>
              </a:ext>
            </a:extLst>
          </p:cNvPr>
          <p:cNvSpPr>
            <a:spLocks xmlns:a="http://schemas.openxmlformats.org/drawingml/2006/main" noGrp="1"/>
          </p:cNvSpPr>
          <p:nvPr/>
        </p:nvSpPr>
        <p:spPr>
          <a:xfrm xmlns:a="http://schemas.openxmlformats.org/drawingml/2006/main">
            <a:off x="866775" y="6286500"/>
            <a:ext cx="10382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La comparación de literatura cubre el conjunto consultado y no afirma novedad universal.</a:t>
            </a:r>
          </a:p>
        </p:txBody>
      </p:sp>
    </p:spTree>
    <p:extLst>
      <p:ext uri="{BB962C8B-B14F-4D97-AF65-F5344CB8AC3E}">
        <p14:creationId xmlns:p14="http://schemas.microsoft.com/office/powerpoint/2010/main" val="231956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2026-10-06T00:27:27.7660000Z</dcterms:created>
  <dcterms:modified xsi:type="dcterms:W3CDTF">2026-10-06T00:27:27.7670000Z</dcterms:modified>
</coreProperties>
</file>