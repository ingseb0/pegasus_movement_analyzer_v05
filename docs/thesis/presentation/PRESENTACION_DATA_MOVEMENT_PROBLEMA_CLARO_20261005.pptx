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b48643785c4263" /><Relationship Type="http://schemas.openxmlformats.org/officeDocument/2006/relationships/extended-properties" Target="/docProps/app.xml" Id="R510ad615a3064a06" /><Relationship Type="http://schemas.openxmlformats.org/officeDocument/2006/relationships/officeDocument" Target="/ppt/presentation.xml" Id="R1d2cba72a439497a" /></Relationships>
</file>

<file path=ppt/presentation.xml><?xml version="1.0" encoding="utf-8"?>
<p:presentation xmlns:p="http://schemas.openxmlformats.org/presentationml/2006/main">
  <p:sldMasterIdLst>
    <p:sldMasterId xmlns:r="http://schemas.openxmlformats.org/officeDocument/2006/relationships" id="2147483648" r:id="Rea2944707aaa4a11"/>
  </p:sldMasterIdLst>
  <p:notesMasterIdLst>
    <p:notesMasterId xmlns:r="http://schemas.openxmlformats.org/officeDocument/2006/relationships" r:id="R4c2af142c96944ba"/>
  </p:notesMasterIdLst>
  <p:sldIdLst>
    <p:sldId xmlns:r="http://schemas.openxmlformats.org/officeDocument/2006/relationships" id="256" r:id="R8e49d0c402934c42"/>
    <p:sldId xmlns:r="http://schemas.openxmlformats.org/officeDocument/2006/relationships" id="257" r:id="R040b2fb53fcd4ce9"/>
    <p:sldId xmlns:r="http://schemas.openxmlformats.org/officeDocument/2006/relationships" id="258" r:id="R454f1b863d334b04"/>
    <p:sldId xmlns:r="http://schemas.openxmlformats.org/officeDocument/2006/relationships" id="259" r:id="R606750cc675a475f"/>
    <p:sldId xmlns:r="http://schemas.openxmlformats.org/officeDocument/2006/relationships" id="260" r:id="Rc99b1a689956428e"/>
    <p:sldId xmlns:r="http://schemas.openxmlformats.org/officeDocument/2006/relationships" id="261" r:id="Rb29adabb73ae4695"/>
    <p:sldId xmlns:r="http://schemas.openxmlformats.org/officeDocument/2006/relationships" id="262" r:id="Rd38cd845dff2422f"/>
    <p:sldId xmlns:r="http://schemas.openxmlformats.org/officeDocument/2006/relationships" id="263" r:id="Rcbac1d362cda4e96"/>
    <p:sldId xmlns:r="http://schemas.openxmlformats.org/officeDocument/2006/relationships" id="264" r:id="R1da0f22b459b4bfb"/>
    <p:sldId xmlns:r="http://schemas.openxmlformats.org/officeDocument/2006/relationships" id="265" r:id="Ra24092984218402b"/>
    <p:sldId xmlns:r="http://schemas.openxmlformats.org/officeDocument/2006/relationships" id="266" r:id="Re9df4a80fb9544bd"/>
    <p:sldId xmlns:r="http://schemas.openxmlformats.org/officeDocument/2006/relationships" id="267" r:id="R2ba7c403022e4893"/>
    <p:sldId xmlns:r="http://schemas.openxmlformats.org/officeDocument/2006/relationships" id="268" r:id="R9cebe6ab69a840e3"/>
    <p:sldId xmlns:r="http://schemas.openxmlformats.org/officeDocument/2006/relationships" id="269" r:id="R7ba2d563c3b543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37c3153b134d59" /><Relationship Type="http://schemas.openxmlformats.org/officeDocument/2006/relationships/slideMaster" Target="/ppt/slideMasters/slideMaster1.xml" Id="Rea2944707aaa4a11" /><Relationship Type="http://schemas.openxmlformats.org/officeDocument/2006/relationships/notesMaster" Target="/ppt/notesMasters/notesMaster1.xml" Id="R4c2af142c96944ba" /><Relationship Type="http://schemas.openxmlformats.org/officeDocument/2006/relationships/presProps" Target="/ppt/presProps.xml" Id="R61c2865652d24062" /><Relationship Type="http://schemas.openxmlformats.org/officeDocument/2006/relationships/tableStyles" Target="/ppt/tableStyles.xml" Id="R16d1549262524bc8" /><Relationship Type="http://schemas.openxmlformats.org/officeDocument/2006/relationships/slide" Target="/ppt/slides/slide1.xml" Id="R8e49d0c402934c42" /><Relationship Type="http://schemas.openxmlformats.org/officeDocument/2006/relationships/slide" Target="/ppt/slides/slide2.xml" Id="R040b2fb53fcd4ce9" /><Relationship Type="http://schemas.openxmlformats.org/officeDocument/2006/relationships/slide" Target="/ppt/slides/slide3.xml" Id="R454f1b863d334b04" /><Relationship Type="http://schemas.openxmlformats.org/officeDocument/2006/relationships/slide" Target="/ppt/slides/slide4.xml" Id="R606750cc675a475f" /><Relationship Type="http://schemas.openxmlformats.org/officeDocument/2006/relationships/slide" Target="/ppt/slides/slide5.xml" Id="Rc99b1a689956428e" /><Relationship Type="http://schemas.openxmlformats.org/officeDocument/2006/relationships/slide" Target="/ppt/slides/slide6.xml" Id="Rb29adabb73ae4695" /><Relationship Type="http://schemas.openxmlformats.org/officeDocument/2006/relationships/slide" Target="/ppt/slides/slide7.xml" Id="Rd38cd845dff2422f" /><Relationship Type="http://schemas.openxmlformats.org/officeDocument/2006/relationships/slide" Target="/ppt/slides/slide8.xml" Id="Rcbac1d362cda4e96" /><Relationship Type="http://schemas.openxmlformats.org/officeDocument/2006/relationships/slide" Target="/ppt/slides/slide9.xml" Id="R1da0f22b459b4bfb" /><Relationship Type="http://schemas.openxmlformats.org/officeDocument/2006/relationships/slide" Target="/ppt/slides/slide10.xml" Id="Ra24092984218402b" /><Relationship Type="http://schemas.openxmlformats.org/officeDocument/2006/relationships/slide" Target="/ppt/slides/slide11.xml" Id="Re9df4a80fb9544bd" /><Relationship Type="http://schemas.openxmlformats.org/officeDocument/2006/relationships/slide" Target="/ppt/slides/slide12.xml" Id="R2ba7c403022e4893" /><Relationship Type="http://schemas.openxmlformats.org/officeDocument/2006/relationships/slide" Target="/ppt/slides/slide13.xml" Id="R9cebe6ab69a840e3" /><Relationship Type="http://schemas.openxmlformats.org/officeDocument/2006/relationships/slide" Target="/ppt/slides/slide14.xml" Id="R7ba2d563c3b543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2f6819c7404c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4593bed2f04782" /><Relationship Type="http://schemas.openxmlformats.org/officeDocument/2006/relationships/notesMaster" Target="/ppt/notesMasters/notesMaster1.xml" Id="Rf8e1164227be4cd2"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cdea9298704577" /><Relationship Type="http://schemas.openxmlformats.org/officeDocument/2006/relationships/notesMaster" Target="/ppt/notesMasters/notesMaster1.xml" Id="R4ee8cafdbee14b2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77bc37cffd48ed" /><Relationship Type="http://schemas.openxmlformats.org/officeDocument/2006/relationships/notesMaster" Target="/ppt/notesMasters/notesMaster1.xml" Id="R874fdc1de33243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012956c79a4a87" /><Relationship Type="http://schemas.openxmlformats.org/officeDocument/2006/relationships/notesMaster" Target="/ppt/notesMasters/notesMaster1.xml" Id="R9dc4dc4cd6724b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f5c01b7b734850" /><Relationship Type="http://schemas.openxmlformats.org/officeDocument/2006/relationships/notesMaster" Target="/ppt/notesMasters/notesMaster1.xml" Id="R93c7c85dbcef4c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2088324798f34844" /><Relationship Type="http://schemas.openxmlformats.org/officeDocument/2006/relationships/notesMaster" Target="/ppt/notesMasters/notesMaster1.xml" Id="R65fa5d9a8fd446b5"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9afebc9a814ac6" /><Relationship Type="http://schemas.openxmlformats.org/officeDocument/2006/relationships/notesMaster" Target="/ppt/notesMasters/notesMaster1.xml" Id="Rd634509a0b4e4d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3cb749027945c6" /><Relationship Type="http://schemas.openxmlformats.org/officeDocument/2006/relationships/notesMaster" Target="/ppt/notesMasters/notesMaster1.xml" Id="R97ace408189847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9970a3b7c74cda" /><Relationship Type="http://schemas.openxmlformats.org/officeDocument/2006/relationships/notesMaster" Target="/ppt/notesMasters/notesMaster1.xml" Id="Ra1f61131cedd4c4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e3538b7a95c40c9" /><Relationship Type="http://schemas.openxmlformats.org/officeDocument/2006/relationships/notesMaster" Target="/ppt/notesMasters/notesMaster1.xml" Id="R9abeefe49c5448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64a67529d3414d" /><Relationship Type="http://schemas.openxmlformats.org/officeDocument/2006/relationships/notesMaster" Target="/ppt/notesMasters/notesMaster1.xml" Id="R776fa51021d440e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57b3a4af2bc4914" /><Relationship Type="http://schemas.openxmlformats.org/officeDocument/2006/relationships/notesMaster" Target="/ppt/notesMasters/notesMaster1.xml" Id="R1a317a09fe264e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6014c01df44cc1" /><Relationship Type="http://schemas.openxmlformats.org/officeDocument/2006/relationships/notesMaster" Target="/ppt/notesMasters/notesMaster1.xml" Id="R469a2d3b668841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7ed35d641a24048" /><Relationship Type="http://schemas.openxmlformats.org/officeDocument/2006/relationships/notesMaster" Target="/ppt/notesMasters/notesMaster1.xml" Id="R8c8dcefae2ab43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tesis pregunta cuánto movimiento de archivos requiere la estructura del workflow en las ubicaciones donde realmente se ejecutaron las tareas, y cuánto payload científico podemos confirmar a partir de las listas de transferencia y el historial de HTCondor. La palabra confirmado importa: no contamos paquetes de red. El objetivo de esta exposición es mostrar la idea, el cálculo y la evidencia de forma directa.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dependencias entre tareas también son dependencias entre archivos. Si un archivo se produce en un worker y otra tarea lo consume en otro, el archivo debe estar disponible en la ubicación del consumidor. En workflows intensivos en datos, esta transferencia puede contribuir al tiempo de ejecución; aquí la motivación viene de la literatura, no de una medición de tiempo perdido en nuestro experimento. Bytes, duración o ancho de banda describen lo observado, pero no establecen cuánto movimiento exigía la estructura concreta del workflow. El contraste de 500 GB y 300 GB es un ejemplo ilustrativo, no un resultado de esta tesis. La flecha representa una dependencia lógica, no una ruta de paquetes.</a:t>
            </a:r>
          </a:p>
          <a:p xmlns:a="http://schemas.openxmlformats.org/drawingml/2006/main">
            <a:r>
              <a:t/>
            </a:r>
          </a:p>
          <a:p xmlns:a="http://schemas.openxmlformats.org/drawingml/2006/main">
            <a:r>
              <a:t>Fuentes: Pietri, I., y Sakellariou, R. (2018), https://doi.org/10.1145/3221269.3221298 ; Tang, M. et al. (2024), https://doi.org/10.1109/CLUSTER59578.2024.00038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métricas habituales son necesarias: volumen describe cantidad; duración y ancho de banda describen transferencia; runtime resume la ejecución. Por sí solas no responden cuánto movimiento exigirían las dependencias de un workflow bajo los workers donde corrieron las tareas.</a:t>
            </a:r>
          </a:p>
          <a:p xmlns:a="http://schemas.openxmlformats.org/drawingml/2006/main">
            <a:r>
              <a:t/>
            </a:r>
          </a:p>
          <a:p xmlns:a="http://schemas.openxmlformats.org/drawingml/2006/main">
            <a:r>
              <a:t>Bharathi y coautores caracterizan patrones recurrentes; Deelman y colegas describen Pegasus como sistema de gestión de workflows. Pietri y Sakellariou consideran costos de comunicación al programar tareas. Lee y colegas analizan ciclos de vida de datos y coordinación; Tang y colegas conectan semántica de datasets con operaciones I/O. Devarajan y colegas presentan DFTracer para observar flujos de datos con contexto de varias capas. Aurelio Antonio Vivas Meza estudia scheduling para movimiento de datos y localidad NUMA; NUMA es una capa de localidad dentro del nodo, distinta de las transferencias de archivos entre workers. Estos trabajos informan el problema desde enfoques distintos; no se afirma que sean inútiles ni que ninguno contemple movimiento.</a:t>
            </a:r>
          </a:p>
          <a:p xmlns:a="http://schemas.openxmlformats.org/drawingml/2006/main">
            <a:r>
              <a:t/>
            </a:r>
          </a:p>
          <a:p xmlns:a="http://schemas.openxmlformats.org/drawingml/2006/main">
            <a:r>
              <a:t>La contribución aquí es una comparación post-mortem acotada: movimiento lógico requerido por archivos, dependencias y worker real por tarea frente al tamaño de ocurrencias científicas de manifiestos reconciliadas con HTCondor a nivel de job. Esta es una síntesis del conjunto consultado, no una afirmación de novedad universal.</a:t>
            </a:r>
          </a:p>
          <a:p xmlns:a="http://schemas.openxmlformats.org/drawingml/2006/main">
            <a:r>
              <a:t/>
            </a:r>
          </a:p>
          <a:p xmlns:a="http://schemas.openxmlformats.org/drawingml/2006/main">
            <a:r>
              <a:t>Fuentes: Bharathi et al. (2008), https://doi.org/10.1109/WORKS.2008.4723958 ; Deelman et al. (2015), https://doi.org/10.1016/j.future.2014.10.008 ; Pietri y Sakellariou (2018), https://doi.org/10.1145/3221269.3221298 ; Lee et al. (2023), https://doi.org/10.1145/3581784.3607104 ; Tang et al. (2024), https://doi.org/10.1109/CLUSTER59578.2024.00038 ; Devarajan et al. (2024), https://doi.org/10.1109/SC41406.2024.00023 ; Vivas Meza (2026), disertación doctoral, Universidad de los Andes.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es la pregunta central del proyecto. 'Ubicación de una tarea' significa el worker en el que corrió, reconstruido del historial disponible. En la operacionalización del Analyzer, 'lo producido' se refiere al tamaño de los archivos científicos enumerados en manifiestos y reconciliados con evidencia de transferencia de HTCondor a nivel de job; no a bytes físicos observados en un cable. Analyzer trabaja después de la ejecución; no decide dónde se asigna cada tarea.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separación es la parte más importante para no sobreinterpretar. M_req se deriva de dependencias, tamaños y ubicaciones. M_rec sale de listas efectivas de archivos de entrada y salida de los jobs. M_obs no toma BytesSent o BytesRecvd como si fueran bytes científicos por archivo. La implementación usa estadísticas de transferencia por dirección del historial de HTCondor, como método, cantidad de archivos y bytes de la última ejecución, junto con estado, worker y número de intentos. La reconciliación confirma las ocurrencias declaradas a nivel de job. Luego M_obs suma tamaños de esas ocurrencias científicas del manifiesto. Coverage es por ocurrencia declarada. En las 31 ejecuciones experimentales Coverage fue 1; eso no equivale a una captura packet-level ni prueba la ruta física.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M_req toma cada archivo, lo multiplica por el tamaño y por el número de destinos nuevos distintos que exige el workflow dadas las ubicaciones reales de sus tareas; luego suma. Si varias tareas del mismo worker usan el archivo, ese destino se cuenta una sola vez. D_sci es el conjunto de ocurrencias científicas declaradas en manifiestos. C_sci es el subconjunto que se pudo reconciliar con las estadísticas de transferencia del historial HTCondor por job. Coverage es la fracción confirmada. M_obs suma el tamaño del archivo para cada ocurrencia de C_sci y solo queda definida en este análisis si Coverage = 1. DME divide M_req entre M_obs. Como ambas cantidades aplican reglas de conteo diferentes, DME no es una medición directa de bytes desperdiciados o físicamente evitables.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ejemplo central corresponde al pipeline de tres tareas. Cada una de las seis ocurrencias científicas pesa 10 MiB: el input, dos archivos intermedios y tres salidas declaradas por los jobs. La reconciliación confirmó las seis; M_obs suma 60 MiB.</a:t>
            </a:r>
          </a:p>
          <a:p xmlns:a="http://schemas.openxmlformats.org/drawingml/2006/main">
            <a:r>
              <a:t/>
            </a:r>
          </a:p>
          <a:p xmlns:a="http://schemas.openxmlformats.org/drawingml/2006/main">
            <a:r>
              <a:t>En el primer caso, T1, T2 y T3 corren en W1. De acuerdo con el oráculo y la regla de destinos lógicos, M_req es 20 MiB; DME = 20/60 = 0.33. En el segundo caso, T1 corre en W1, T2 en W2 y T3 en W1. M_req es 40 MiB; DME = 40/60 = 0.67. El M_obs manifestado-confirmado se mantiene en 60 MiB para ambos.</a:t>
            </a:r>
          </a:p>
          <a:p xmlns:a="http://schemas.openxmlformats.org/drawingml/2006/main">
            <a:r>
              <a:t/>
            </a:r>
          </a:p>
          <a:p xmlns:a="http://schemas.openxmlformats.org/drawingml/2006/main">
            <a:r>
              <a:t>La comparación muestra que al repartir estas tareas cambió el requerimiento de destinos lógicos calculado por el modelo. No prueba que los 20 MiB de diferencia sean bytes físicos evitables ni que una ubicación sea más rápida. Las flechas indican dependencias/disponibilidad lógica de archivos, no una ruta física de red ni una transferencia directa worker-a-worker.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Bharathi y coautores describen patrones para representar formas distintas de workflows científicos. En nuestro banco controlado, process usa una transformación; pipeline conecta etapas; distribución comparte una salida con varias tareas; agregación combina salidas de varias tareas; y redistribución reparte los datos entre varias tareas posteriores. Estos nombres describen la forma de las dependencias del workflow. La ubicación de cada tarea se registra aparte: puede correr en el mismo worker que otra o en un worker distinto. No todos los patrones se validaron con las mismas variantes de ubicación; la matriz contiene diez condiciones en total.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pool probado tiene un master y dos workers. Pegasus y los servicios centrales HTCondor se ubican en pegasus-master; los jobs científicos se ejecutan en worker1 o worker2. El historial exportado aporta dónde corrió el job y estadísticas agregadas de transferencia por dirección. El análisis toma los artefactos preservados después del workflow. Analyzer no se inserta en la ruta de ejecución científica. Las flechas sólidas representan control y el flujo de artefactos hacia el análisis. El dibujo no afirma que el payload pase físicamente por el master ni que viaje directamente de worker a worker. Las versiones y el perfil `condorio` corresponden al entorno de validación documentado.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Congelamos el DAG y la lista de archivos, calculamos un oráculo independiente y verificamos que el worker registrado coincidiera con el esperado. Reconciliamos entradas y salidas declaradas con estadísticas de HTCondor por job. Ejecutamos cinco patrones en diez condiciones y 31 workflows independientes, con al menos tres en cada condición. Las salidas coincidieron con los oráculos en M_req y M_rec; todas las ejecuciones fueron válidas, tuvieron Coverage = 1 y el análisis fue determinista. Process, misma ubicación en W1, 10 MiB cuenta con cuatro réplicas métricas; el desglose de tiempo completo tiene tres por la falta de un registro histórico. La validación se limita a este pool de dos workers y a los tamaños y condiciones ensayados.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gráfico presenta DME para cuatro patrones al comparar tareas todas en W1 con tareas distribuidas entre W1 y W2. Pipeline cambia de un tercio a dos tercios; distribución y agregación pasan de 0.50 a 0.75; redistribución, de 0.25 a 0.625. En esas comparaciones M_rec y M_obs se mantuvieron constantes dentro del patrón; M_req aumentó porque el modelo contó más ubicaciones de destino nuevas. Para process, la condición de 20 MiB duplicó M_req y M_obs frente a 10 MiB, y DME quedó en 1. DME refleja la razón entre dos magnitudes con reglas de conteo diferentes; no identifica por sí sola bytes desperdiciados o evitables. Estos resultados describen el cálculo de la métrica bajo los factores ensayados, no mejoras o caídas de rendimiento.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Separamos tres conceptos. El logging nativo de Pegasus y HTCondor aparece durante la ejecución, pero en esta campaña no se añadió un tracer adicional dentro de los jobs ni se hizo un control emparejado sin logging; por ello no estimamos una fracción causal del runtime atribuible al Analyzer. La preparación posterior de los artefactos tomó en promedio 2.527 segundos. Analyzer tomó 0.726 segundos de wall-clock, con 0.272 segundos de CPU usuario y 0.083 de CPU sistema, que suman 0.355 segundos; la cifra de 0.36 se redondeó. La memoria RSS pico media fue 22.49 MiB. El input lógico del análisis promedió 18.617 MiB; los informes primarios 0.185 MiB por ejecución y la evidencia post-mortem adicional preservada 0.701 MiB por run. Esos resultados describen este runner, no una tasa universal.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utilidad inmediata es ayudar a comparar configuraciones del mismo workflow, reconocer qué patrones requieren más destinos de archivo y priorizar qué caso conviene estudiar. Para un cliente o equipo de operación, esto funciona como baseline para decidir dónde investigar posibles cambios en distribución de tareas o staging. No demuestra ahorros, rapidez ni que una configuración sea óptima: runtime, costo, ancho de banda o rendimiento deben medirse aparte. Aunque el modelo representa distintas ubicaciones, la evidencia empírica actual cubre un pool de dos workers. Mantenemos separadas las capas de tráfico de red, disco y memoria/NUMA.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en lenguaje para el cliente: el volumen transferido aislado no permite juzgar una ejecución. Esta métrica añade una referencia que combina dependencias del workflow y worker donde corrió cada tarea con payload científico declarado en manifiestos y confirmado por HTCondor a nivel de job. Puede ayudar a seleccionar configuraciones y patrones que ameritan análisis adicional. No diagnostica por sí misma una causa de rendimiento y no promete ahorro: esos resultados requieren medir el efecto por separado.</a:t>
            </a:r>
          </a:p>
          <a:p xmlns:a="http://schemas.openxmlformats.org/drawingml/2006/main">
            <a:r>
              <a:t/>
            </a:r>
          </a:p>
          <a:p xmlns:a="http://schemas.openxmlformats.org/drawingml/2006/main">
            <a:r>
              <a:t>La literatura consultada incluye Bharathi et al. (2008), https://doi.org/10.1109/WORKS.2008.4723958 ; Deelman et al. (2015), https://doi.org/10.1016/j.future.2014.10.008 ; Pietri y Sakellariou (2018), https://doi.org/10.1145/3221269.3221298 ; Lee et al. (2023), https://doi.org/10.1145/3581784.3607104 ; Tang et al. (2024), https://doi.org/10.1109/CLUSTER59578.2024.00038 ; Devarajan et al. (2024), https://doi.org/10.1109/SC41406.2024.00023 ; y Vivas Meza (2026), disertación doctoral, Universidad de los Andes.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1f9ab057f049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91c8d5bd6c41d2" /><Relationship Type="http://schemas.openxmlformats.org/officeDocument/2006/relationships/slideLayout" Target="/ppt/slideLayouts/slideLayout1.xml" Id="R30f14e9b4a9149b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f14e9b4a9149b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738f80f48f34711" /><Relationship Type="http://schemas.openxmlformats.org/officeDocument/2006/relationships/notesSlide" Target="/ppt/notesSlides/notesSlide1.xml" Id="R430baae1631d49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0fb4c92ed54e83" /><Relationship Type="http://schemas.openxmlformats.org/officeDocument/2006/relationships/notesSlide" Target="/ppt/notesSlides/notesSlide2.xml" Id="R57b489742997467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75e7100fc24148" /><Relationship Type="http://schemas.openxmlformats.org/officeDocument/2006/relationships/notesSlide" Target="/ppt/notesSlides/notesSlide3.xml" Id="R91a08da4708a4b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2df16081eb433f" /><Relationship Type="http://schemas.openxmlformats.org/officeDocument/2006/relationships/notesSlide" Target="/ppt/notesSlides/notesSlide4.xml" Id="R5e19651be23f43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6c54f802524bac" /><Relationship Type="http://schemas.openxmlformats.org/officeDocument/2006/relationships/notesSlide" Target="/ppt/notesSlides/notesSlide5.xml" Id="R52d0d8a7cdda4fd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72c8092bbac4d2d" /><Relationship Type="http://schemas.openxmlformats.org/officeDocument/2006/relationships/notesSlide" Target="/ppt/notesSlides/notesSlide6.xml" Id="R6a5cf146910d40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88357395c4405c" /><Relationship Type="http://schemas.openxmlformats.org/officeDocument/2006/relationships/notesSlide" Target="/ppt/notesSlides/notesSlide7.xml" Id="Re543f4a402274f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9890f9c61d4873" /><Relationship Type="http://schemas.openxmlformats.org/officeDocument/2006/relationships/notesSlide" Target="/ppt/notesSlides/notesSlide8.xml" Id="R2b36484618504d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f018e1dbe7453f" /><Relationship Type="http://schemas.openxmlformats.org/officeDocument/2006/relationships/notesSlide" Target="/ppt/notesSlides/notesSlide9.xml" Id="R9328edad10d54a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8122502bc84038" /><Relationship Type="http://schemas.openxmlformats.org/officeDocument/2006/relationships/notesSlide" Target="/ppt/notesSlides/notesSlide10.xml" Id="Ra453eaaea7ae497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becea5f2e344f9f" /><Relationship Type="http://schemas.openxmlformats.org/officeDocument/2006/relationships/chart" Target="/ppt/slides/charts/chart1.xml" Id="R67c449a12c844275" /><Relationship Type="http://schemas.openxmlformats.org/officeDocument/2006/relationships/notesSlide" Target="/ppt/notesSlides/notesSlide11.xml" Id="R2f497525f67846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64f293cf32143b5" /><Relationship Type="http://schemas.openxmlformats.org/officeDocument/2006/relationships/notesSlide" Target="/ppt/notesSlides/notesSlide12.xml" Id="R165fff72fcef4f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7be905666e4253" /><Relationship Type="http://schemas.openxmlformats.org/officeDocument/2006/relationships/notesSlide" Target="/ppt/notesSlides/notesSlide13.xml" Id="R3af1bf4c24984b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61c00244541414d" /><Relationship Type="http://schemas.openxmlformats.org/officeDocument/2006/relationships/notesSlide" Target="/ppt/notesSlides/notesSlide14.xml" Id="R51d5c3d834c2444b" /></Relationships>
</file>

<file path=ppt/slides/charts/chart1.xml><?xml version="1.0" encoding="utf-8"?>
<c:chartSpace xmlns:c="http://schemas.openxmlformats.org/drawingml/2006/chart">
  <c:lang val="en-US"/>
  <c:chart>
    <c:plotArea>
      <c:barChart>
        <c:barDir val="col"/>
        <c:grouping val="clustered"/>
        <c:varyColors val="0"/>
        <c:ser>
          <c:idx val="0"/>
          <c:order val="0"/>
          <c:tx>
            <c:v>Local en W1</c:v>
          </c:tx>
          <c:spPr>
            <a:solidFill xmlns:a="http://schemas.openxmlformats.org/drawingml/2006/main">
              <a:srgbClr val="4B626D"/>
            </a:solidFill>
          </c:spPr>
          <c:cat>
            <c:strLit>
              <c:ptCount val="4"/>
              <c:pt idx="0">
                <c:v>Pipeline</c:v>
              </c:pt>
              <c:pt idx="1">
                <c:v>Distribución</c:v>
              </c:pt>
              <c:pt idx="2">
                <c:v>Agregación</c:v>
              </c:pt>
              <c:pt idx="3">
                <c:v>Redistribución</c:v>
              </c:pt>
            </c:strLit>
          </c:cat>
          <c:val>
            <c:numLit>
              <c:formatCode>0.00</c:formatCode>
              <c:ptCount val="4"/>
              <c:pt idx="0">
                <c:v>0.33</c:v>
              </c:pt>
              <c:pt idx="1">
                <c:v>0.5</c:v>
              </c:pt>
              <c:pt idx="2">
                <c:v>0.5</c:v>
              </c:pt>
              <c:pt idx="3">
                <c:v>0.25</c:v>
              </c:pt>
            </c:numLit>
          </c:val>
        </c:ser>
        <c:ser>
          <c:idx val="1"/>
          <c:order val="1"/>
          <c:tx>
            <c:v>Repartido W1–W2</c:v>
          </c:tx>
          <c:spPr>
            <a:solidFill xmlns:a="http://schemas.openxmlformats.org/drawingml/2006/main">
              <a:srgbClr val="087E78"/>
            </a:solidFill>
          </c:spPr>
          <c:cat>
            <c:strLit>
              <c:ptCount val="4"/>
              <c:pt idx="0">
                <c:v>Pipeline</c:v>
              </c:pt>
              <c:pt idx="1">
                <c:v>Distribución</c:v>
              </c:pt>
              <c:pt idx="2">
                <c:v>Agregación</c:v>
              </c:pt>
              <c:pt idx="3">
                <c:v>Redistribución</c:v>
              </c:pt>
            </c:strLit>
          </c:cat>
          <c:val>
            <c:numLit>
              <c:formatCode>0.00</c:formatCode>
              <c:ptCount val="4"/>
              <c:pt idx="0">
                <c:v>0.67</c:v>
              </c:pt>
              <c:pt idx="1">
                <c:v>0.75</c:v>
              </c:pt>
              <c:pt idx="2">
                <c:v>0.75</c:v>
              </c:pt>
              <c:pt idx="3">
                <c:v>0.63</c:v>
              </c:pt>
            </c:numLit>
          </c:val>
        </c:ser>
        <c:dLbls>
          <c:txPr>
            <a:bodyPr xmlns:a="http://schemas.openxmlformats.org/drawingml/2006/main" anchorCtr="1"/>
            <a:lstStyle xmlns:a="http://schemas.openxmlformats.org/drawingml/2006/main"/>
            <a:p xmlns:a="http://schemas.openxmlformats.org/drawingml/2006/main">
              <a:pPr>
                <a:defRPr sz="1200" b="1">
                  <a:solidFill>
                    <a:srgbClr val="172A33"/>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2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93A42"/>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CBD2D4"/>
              </a:solidFill>
              <a:prstDash val="solid"/>
            </a:ln>
          </c:spPr>
        </c:majorGridlines>
        <c:numFmt formatCode="0.00"/>
        <c:majorTickMark val="none"/>
        <c:minorTickMark val="none"/>
        <c:spPr>
          <a:ln xmlns:a="http://schemas.openxmlformats.org/drawingml/2006/main" w="9525">
            <a:solidFill>
              <a:srgbClr val="CBD2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65757C"/>
                </a:solidFill>
                <a:latin typeface="Arial"/>
                <a:ea typeface="Arial"/>
                <a:cs typeface="Arial"/>
              </a:defRPr>
            </a:pPr>
          </a:p>
        </c:txPr>
        <c:crossAx val="48650112"/>
        <c:crossBetween val="between"/>
        <c:majorUnit val="0.25"/>
      </c:valAx>
      <c:spPr>
        <a:solidFill xmlns:a="http://schemas.openxmlformats.org/drawingml/2006/main">
          <a:srgbClr val="F8F8F5"/>
        </a:solidFill>
        <a:ln xmlns:a="http://schemas.openxmlformats.org/drawingml/2006/main" w="0">
          <a:solidFill>
            <a:srgbClr val="F8F8F5"/>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293A42"/>
              </a:solidFill>
              <a:latin typeface="Arial"/>
              <a:ea typeface="Arial"/>
              <a:cs typeface="Arial"/>
            </a:defRPr>
          </a:pPr>
        </a:p>
      </c:txPr>
    </c:legend>
    <c:plotVisOnly val="1"/>
  </c:chart>
  <c:spPr>
    <a:solidFill xmlns:a="http://schemas.openxmlformats.org/drawingml/2006/main">
      <a:srgbClr val="F8F8F5"/>
    </a:solidFill>
    <a:ln xmlns:a="http://schemas.openxmlformats.org/drawingml/2006/main" w="0">
      <a:solidFill>
        <a:srgbClr val="F8F8F5"/>
      </a:solidFill>
      <a:prstDash val="solid"/>
    </a:ln>
  </c:spPr>
</c:chartSpace>
</file>

<file path=ppt/slides/slide1.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5" name="cover-accent">
            <a:extLst xmlns:a="http://schemas.openxmlformats.org/drawingml/2006/main">
              <a:ext uri="{FF2B5EF4-FFF2-40B4-BE49-F238E27FC236}">
                <a16:creationId xmlns:a16="http://schemas.microsoft.com/office/drawing/2014/main" id="{42DF4EF7-EF05-4916-92D4-11662777F451}"/>
              </a:ext>
            </a:extLst>
          </p:cNvPr>
          <p:cNvSpPr>
            <a:spLocks xmlns:a="http://schemas.openxmlformats.org/drawingml/2006/main" noGrp="1"/>
          </p:cNvSpPr>
          <p:nvPr/>
        </p:nvSpPr>
        <p:spPr>
          <a:xfrm xmlns:a="http://schemas.openxmlformats.org/drawingml/2006/main">
            <a:off x="685800" y="1085850"/>
            <a:ext cx="876300" cy="47625"/>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2" name="cover-title">
            <a:extLst xmlns:a="http://schemas.openxmlformats.org/drawingml/2006/main">
              <a:ext uri="{FF2B5EF4-FFF2-40B4-BE49-F238E27FC236}">
                <a16:creationId xmlns:a16="http://schemas.microsoft.com/office/drawing/2014/main" id="{3472073B-81B1-423F-AA5A-E79847FEF3D6}"/>
              </a:ext>
            </a:extLst>
          </p:cNvPr>
          <p:cNvSpPr>
            <a:spLocks xmlns:a="http://schemas.openxmlformats.org/drawingml/2006/main" noGrp="1"/>
          </p:cNvSpPr>
          <p:nvPr/>
        </p:nvSpPr>
        <p:spPr>
          <a:xfrm xmlns:a="http://schemas.openxmlformats.org/drawingml/2006/main">
            <a:off x="685800" y="1543050"/>
            <a:ext cx="1000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18"/>
          </a:bodyPr>
          <a:lstStyle xmlns:a="http://schemas.openxmlformats.org/drawingml/2006/main"/>
          <a:p xmlns:a="http://schemas.openxmlformats.org/drawingml/2006/main">
            <a:pPr algn="l">
              <a:lnSpc>
                <a:spcPct val="95000"/>
              </a:lnSpc>
              <a:buNone/>
              <a:defRPr sz="4350" b="1" i="0">
                <a:solidFill>
                  <a:srgbClr val="172A33"/>
                </a:solidFill>
                <a:latin typeface="Arial"/>
                <a:ea typeface="Arial"/>
                <a:cs typeface="Arial"/>
              </a:defRPr>
            </a:pPr>
            <a:r>
              <a:rPr sz="4350" b="1" i="0">
                <a:solidFill>
                  <a:srgbClr val="172A33"/>
                </a:solidFill>
                <a:latin typeface="Arial"/>
                <a:ea typeface="Arial"/>
                <a:cs typeface="Arial"/>
              </a:rPr>
              <a:t>Movimiento de datos en</a:t>
            </a:r>
          </a:p>
          <a:p xmlns:a="http://schemas.openxmlformats.org/drawingml/2006/main">
            <a:pPr algn="l">
              <a:lnSpc>
                <a:spcPct val="95000"/>
              </a:lnSpc>
              <a:buNone/>
              <a:defRPr sz="4350" b="1" i="0">
                <a:solidFill>
                  <a:srgbClr val="172A33"/>
                </a:solidFill>
                <a:latin typeface="Arial"/>
                <a:ea typeface="Arial"/>
                <a:cs typeface="Arial"/>
              </a:defRPr>
            </a:pPr>
            <a:r>
              <a:rPr sz="4350" b="1" i="0">
                <a:solidFill>
                  <a:srgbClr val="172A33"/>
                </a:solidFill>
                <a:latin typeface="Arial"/>
                <a:ea typeface="Arial"/>
                <a:cs typeface="Arial"/>
              </a:rPr>
              <a:t>workflows científicos</a:t>
            </a:r>
          </a:p>
        </p:txBody>
      </p:sp>
      <p:sp>
        <p:nvSpPr>
          <p:cNvPr id="3" name="cover-subtitle">
            <a:extLst xmlns:a="http://schemas.openxmlformats.org/drawingml/2006/main">
              <a:ext uri="{FF2B5EF4-FFF2-40B4-BE49-F238E27FC236}">
                <a16:creationId xmlns:a16="http://schemas.microsoft.com/office/drawing/2014/main" id="{C9C83DE1-4871-42E1-9394-96FF93D918C3}"/>
              </a:ext>
            </a:extLst>
          </p:cNvPr>
          <p:cNvSpPr>
            <a:spLocks xmlns:a="http://schemas.openxmlformats.org/drawingml/2006/main" noGrp="1"/>
          </p:cNvSpPr>
          <p:nvPr/>
        </p:nvSpPr>
        <p:spPr>
          <a:xfrm xmlns:a="http://schemas.openxmlformats.org/drawingml/2006/main">
            <a:off x="704850" y="318135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765"/>
          </a:bodyPr>
          <a:lstStyle xmlns:a="http://schemas.openxmlformats.org/drawingml/2006/main"/>
          <a:p xmlns:a="http://schemas.openxmlformats.org/drawingml/2006/main">
            <a:pPr algn="l">
              <a:lnSpc>
                <a:spcPct val="105000"/>
              </a:lnSpc>
              <a:buNone/>
              <a:defRPr sz="2250" b="0" i="0">
                <a:solidFill>
                  <a:srgbClr val="293A42"/>
                </a:solidFill>
                <a:latin typeface="Arial"/>
                <a:ea typeface="Arial"/>
                <a:cs typeface="Arial"/>
              </a:defRPr>
            </a:pPr>
            <a:r>
              <a:rPr sz="2250" b="0" i="0">
                <a:solidFill>
                  <a:srgbClr val="293A42"/>
                </a:solidFill>
                <a:latin typeface="Arial"/>
                <a:ea typeface="Arial"/>
                <a:cs typeface="Arial"/>
              </a:rPr>
              <a:t>Dado un workflow y el worker donde se ejecutó cada tarea, ¿cuánto movimiento exigen sus dependencias y cuánto payload científico declara y confirma la ejecución?</a:t>
            </a:r>
          </a:p>
        </p:txBody>
      </p:sp>
      <p:sp>
        <p:nvSpPr>
          <p:cNvPr id="4" name="cover-author">
            <a:extLst xmlns:a="http://schemas.openxmlformats.org/drawingml/2006/main">
              <a:ext uri="{FF2B5EF4-FFF2-40B4-BE49-F238E27FC236}">
                <a16:creationId xmlns:a16="http://schemas.microsoft.com/office/drawing/2014/main" id="{03AB04A1-2646-4A69-8B07-9C33AFB65F8E}"/>
              </a:ext>
            </a:extLst>
          </p:cNvPr>
          <p:cNvSpPr>
            <a:spLocks xmlns:a="http://schemas.openxmlformats.org/drawingml/2006/main" noGrp="1"/>
          </p:cNvSpPr>
          <p:nvPr/>
        </p:nvSpPr>
        <p:spPr>
          <a:xfrm xmlns:a="http://schemas.openxmlformats.org/drawingml/2006/main">
            <a:off x="704850" y="541020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Luis Sebastián Contreras Díaz  ·  Octubre de 2026</a:t>
            </a:r>
          </a:p>
        </p:txBody>
      </p:sp>
    </p:spTree>
    <p:extLst>
      <p:ext uri="{BB962C8B-B14F-4D97-AF65-F5344CB8AC3E}">
        <p14:creationId xmlns:p14="http://schemas.microsoft.com/office/powerpoint/2010/main" val="1443910725"/>
      </p:ext>
    </p:extLst>
  </p:cSld>
</p:sld>
</file>

<file path=ppt/slides/slide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9" name="slide-title-2">
            <a:extLst xmlns:a="http://schemas.openxmlformats.org/drawingml/2006/main">
              <a:ext uri="{FF2B5EF4-FFF2-40B4-BE49-F238E27FC236}">
                <a16:creationId xmlns:a16="http://schemas.microsoft.com/office/drawing/2014/main" id="{9586E736-1E97-42B1-A04F-7FD06F372A40}"/>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El dato también debe llegar a la tarea</a:t>
            </a:r>
          </a:p>
        </p:txBody>
      </p:sp>
      <p:sp>
        <p:nvSpPr>
          <p:cNvPr id="2" name="title-rule-2">
            <a:extLst xmlns:a="http://schemas.openxmlformats.org/drawingml/2006/main">
              <a:ext uri="{FF2B5EF4-FFF2-40B4-BE49-F238E27FC236}">
                <a16:creationId xmlns:a16="http://schemas.microsoft.com/office/drawing/2014/main" id="{CD99CECD-C468-4113-996A-F379A8F5CF5A}"/>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2">
            <a:extLst xmlns:a="http://schemas.openxmlformats.org/drawingml/2006/main">
              <a:ext uri="{FF2B5EF4-FFF2-40B4-BE49-F238E27FC236}">
                <a16:creationId xmlns:a16="http://schemas.microsoft.com/office/drawing/2014/main" id="{CBC969BE-A0F4-4E78-8325-69748CFF7AA4}"/>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02</a:t>
            </a:r>
          </a:p>
        </p:txBody>
      </p:sp>
      <p:sp>
        <p:nvSpPr>
          <p:cNvPr id="4" name="problem-intro">
            <a:extLst xmlns:a="http://schemas.openxmlformats.org/drawingml/2006/main">
              <a:ext uri="{FF2B5EF4-FFF2-40B4-BE49-F238E27FC236}">
                <a16:creationId xmlns:a16="http://schemas.microsoft.com/office/drawing/2014/main" id="{05FA657D-49B6-4728-9CA3-BF29E631EBDB}"/>
              </a:ext>
            </a:extLst>
          </p:cNvPr>
          <p:cNvSpPr>
            <a:spLocks xmlns:a="http://schemas.openxmlformats.org/drawingml/2006/main" noGrp="1"/>
          </p:cNvSpPr>
          <p:nvPr/>
        </p:nvSpPr>
        <p:spPr>
          <a:xfrm xmlns:a="http://schemas.openxmlformats.org/drawingml/2006/main">
            <a:off x="685800" y="13525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14"/>
          </a:bodyPr>
          <a:lstStyle xmlns:a="http://schemas.openxmlformats.org/drawingml/2006/main"/>
          <a:p xmlns:a="http://schemas.openxmlformats.org/drawingml/2006/main">
            <a:pPr algn="l">
              <a:lnSpc>
                <a:spcPct val="100000"/>
              </a:lnSpc>
              <a:buNone/>
              <a:defRPr sz="2100" b="0" i="0">
                <a:solidFill>
                  <a:srgbClr val="293A42"/>
                </a:solidFill>
                <a:latin typeface="Arial"/>
                <a:ea typeface="Arial"/>
                <a:cs typeface="Arial"/>
              </a:defRPr>
            </a:pPr>
            <a:r>
              <a:rPr sz="2100" b="0" i="0">
                <a:solidFill>
                  <a:srgbClr val="293A42"/>
                </a:solidFill>
                <a:latin typeface="Arial"/>
                <a:ea typeface="Arial"/>
                <a:cs typeface="Arial"/>
              </a:rPr>
              <a:t>En workflows de Big Data, las tareas dependen de archivos que deben llegar a otras máquinas; al crecer los datos, moverlos puede ser un cuello de botella.</a:t>
            </a:r>
          </a:p>
        </p:txBody>
      </p:sp>
      <p:sp>
        <p:nvSpPr>
          <p:cNvPr id="5" name="problem-metric-gap">
            <a:extLst xmlns:a="http://schemas.openxmlformats.org/drawingml/2006/main">
              <a:ext uri="{FF2B5EF4-FFF2-40B4-BE49-F238E27FC236}">
                <a16:creationId xmlns:a16="http://schemas.microsoft.com/office/drawing/2014/main" id="{8D926044-377A-4E19-A240-F02B0C6FE1FD}"/>
              </a:ext>
            </a:extLst>
          </p:cNvPr>
          <p:cNvSpPr>
            <a:spLocks xmlns:a="http://schemas.openxmlformats.org/drawingml/2006/main" noGrp="1"/>
          </p:cNvSpPr>
          <p:nvPr/>
        </p:nvSpPr>
        <p:spPr>
          <a:xfrm xmlns:a="http://schemas.openxmlformats.org/drawingml/2006/main">
            <a:off x="876300" y="1943100"/>
            <a:ext cx="10439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Bytes, ancho de banda y duración describen la transferencia; no dicen cuánto exigían las dependencias.</a:t>
            </a:r>
          </a:p>
        </p:txBody>
      </p:sp>
      <p:sp>
        <p:nvSpPr>
          <p:cNvPr id="6" name="problem-worker-1">
            <a:extLst xmlns:a="http://schemas.openxmlformats.org/drawingml/2006/main">
              <a:ext uri="{FF2B5EF4-FFF2-40B4-BE49-F238E27FC236}">
                <a16:creationId xmlns:a16="http://schemas.microsoft.com/office/drawing/2014/main" id="{17CB9155-3E31-4439-BA78-98A7F68E25B4}"/>
              </a:ext>
            </a:extLst>
          </p:cNvPr>
          <p:cNvSpPr>
            <a:spLocks xmlns:a="http://schemas.openxmlformats.org/drawingml/2006/main" noGrp="1"/>
          </p:cNvSpPr>
          <p:nvPr/>
        </p:nvSpPr>
        <p:spPr>
          <a:xfrm xmlns:a="http://schemas.openxmlformats.org/drawingml/2006/main">
            <a:off x="876300" y="2438400"/>
            <a:ext cx="3905250" cy="2266950"/>
          </a:xfrm>
          <a:prstGeom xmlns:a="http://schemas.openxmlformats.org/drawingml/2006/main" prst="rect">
            <a:avLst/>
          </a:prstGeom>
          <a:solidFill xmlns:a="http://schemas.openxmlformats.org/drawingml/2006/main">
            <a:srgbClr val="EFF2F2"/>
          </a:solidFill>
          <a:ln xmlns:a="http://schemas.openxmlformats.org/drawingml/2006/main" w="15240">
            <a:solidFill>
              <a:srgbClr val="4B626D"/>
            </a:solidFill>
            <a:prstDash val="solid"/>
          </a:ln>
        </p:spPr>
      </p:sp>
      <p:sp>
        <p:nvSpPr>
          <p:cNvPr id="7" name="problem-worker-2">
            <a:extLst xmlns:a="http://schemas.openxmlformats.org/drawingml/2006/main">
              <a:ext uri="{FF2B5EF4-FFF2-40B4-BE49-F238E27FC236}">
                <a16:creationId xmlns:a16="http://schemas.microsoft.com/office/drawing/2014/main" id="{DF6BE968-557A-4F83-A101-A7E3F2664813}"/>
              </a:ext>
            </a:extLst>
          </p:cNvPr>
          <p:cNvSpPr>
            <a:spLocks xmlns:a="http://schemas.openxmlformats.org/drawingml/2006/main" noGrp="1"/>
          </p:cNvSpPr>
          <p:nvPr/>
        </p:nvSpPr>
        <p:spPr>
          <a:xfrm xmlns:a="http://schemas.openxmlformats.org/drawingml/2006/main">
            <a:off x="7410450" y="2438400"/>
            <a:ext cx="3905250" cy="2266950"/>
          </a:xfrm>
          <a:prstGeom xmlns:a="http://schemas.openxmlformats.org/drawingml/2006/main" prst="rect">
            <a:avLst/>
          </a:prstGeom>
          <a:solidFill xmlns:a="http://schemas.openxmlformats.org/drawingml/2006/main">
            <a:srgbClr val="EFF2F2"/>
          </a:solidFill>
          <a:ln xmlns:a="http://schemas.openxmlformats.org/drawingml/2006/main" w="15240">
            <a:solidFill>
              <a:srgbClr val="4B626D"/>
            </a:solidFill>
            <a:prstDash val="solid"/>
          </a:ln>
        </p:spPr>
      </p:sp>
      <p:sp>
        <p:nvSpPr>
          <p:cNvPr id="8" name="problem-worker-1-title">
            <a:extLst xmlns:a="http://schemas.openxmlformats.org/drawingml/2006/main">
              <a:ext uri="{FF2B5EF4-FFF2-40B4-BE49-F238E27FC236}">
                <a16:creationId xmlns:a16="http://schemas.microsoft.com/office/drawing/2014/main" id="{D992CF68-9D94-4C69-8922-F220CE9771D0}"/>
              </a:ext>
            </a:extLst>
          </p:cNvPr>
          <p:cNvSpPr>
            <a:spLocks xmlns:a="http://schemas.openxmlformats.org/drawingml/2006/main" noGrp="1"/>
          </p:cNvSpPr>
          <p:nvPr/>
        </p:nvSpPr>
        <p:spPr>
          <a:xfrm xmlns:a="http://schemas.openxmlformats.org/drawingml/2006/main">
            <a:off x="110490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WORKER 1</a:t>
            </a:r>
          </a:p>
        </p:txBody>
      </p:sp>
      <p:sp>
        <p:nvSpPr>
          <p:cNvPr id="9" name="problem-worker-2-title">
            <a:extLst xmlns:a="http://schemas.openxmlformats.org/drawingml/2006/main">
              <a:ext uri="{FF2B5EF4-FFF2-40B4-BE49-F238E27FC236}">
                <a16:creationId xmlns:a16="http://schemas.microsoft.com/office/drawing/2014/main" id="{23F6C4A7-AE15-4956-93FD-3B20F49D0710}"/>
              </a:ext>
            </a:extLst>
          </p:cNvPr>
          <p:cNvSpPr>
            <a:spLocks xmlns:a="http://schemas.openxmlformats.org/drawingml/2006/main" noGrp="1"/>
          </p:cNvSpPr>
          <p:nvPr/>
        </p:nvSpPr>
        <p:spPr>
          <a:xfrm xmlns:a="http://schemas.openxmlformats.org/drawingml/2006/main">
            <a:off x="7639050" y="25908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WORKER 2</a:t>
            </a:r>
          </a:p>
        </p:txBody>
      </p:sp>
      <p:sp>
        <p:nvSpPr>
          <p:cNvPr id="10" name="problem-task-1">
            <a:extLst xmlns:a="http://schemas.openxmlformats.org/drawingml/2006/main">
              <a:ext uri="{FF2B5EF4-FFF2-40B4-BE49-F238E27FC236}">
                <a16:creationId xmlns:a16="http://schemas.microsoft.com/office/drawing/2014/main" id="{39A5C817-633A-4494-A267-53442F33235D}"/>
              </a:ext>
            </a:extLst>
          </p:cNvPr>
          <p:cNvSpPr>
            <a:spLocks xmlns:a="http://schemas.openxmlformats.org/drawingml/2006/main" noGrp="1"/>
          </p:cNvSpPr>
          <p:nvPr/>
        </p:nvSpPr>
        <p:spPr>
          <a:xfrm xmlns:a="http://schemas.openxmlformats.org/drawingml/2006/main">
            <a:off x="1409700" y="3257550"/>
            <a:ext cx="1619250" cy="7239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725" b="1">
                <a:solidFill>
                  <a:srgbClr val="172A33"/>
                </a:solidFill>
                <a:latin typeface="Arial"/>
                <a:ea typeface="Arial"/>
                <a:cs typeface="Arial"/>
              </a:defRPr>
            </a:pPr>
            <a:r>
              <a:rPr sz="1725" b="1">
                <a:solidFill>
                  <a:srgbClr val="172A33"/>
                </a:solidFill>
                <a:latin typeface="Arial"/>
                <a:ea typeface="Arial"/>
                <a:cs typeface="Arial"/>
              </a:rPr>
              <a:t>Tarea T1</a:t>
            </a:r>
          </a:p>
        </p:txBody>
      </p:sp>
      <p:sp>
        <p:nvSpPr>
          <p:cNvPr id="11" name="problem-file-1">
            <a:extLst xmlns:a="http://schemas.openxmlformats.org/drawingml/2006/main">
              <a:ext uri="{FF2B5EF4-FFF2-40B4-BE49-F238E27FC236}">
                <a16:creationId xmlns:a16="http://schemas.microsoft.com/office/drawing/2014/main" id="{7F1E1B71-5E13-4F23-A823-7BA8AEBF336A}"/>
              </a:ext>
            </a:extLst>
          </p:cNvPr>
          <p:cNvSpPr>
            <a:spLocks xmlns:a="http://schemas.openxmlformats.org/drawingml/2006/main" noGrp="1"/>
          </p:cNvSpPr>
          <p:nvPr/>
        </p:nvSpPr>
        <p:spPr>
          <a:xfrm xmlns:a="http://schemas.openxmlformats.org/drawingml/2006/main">
            <a:off x="3238500" y="3409950"/>
            <a:ext cx="1104900" cy="4572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80125"/>
          </a:bodyPr>
          <a:lstStyle xmlns:a="http://schemas.openxmlformats.org/drawingml/2006/main"/>
          <a:p xmlns:a="http://schemas.openxmlformats.org/drawingml/2006/main">
            <a:pPr algn="ctr">
              <a:defRPr sz="1350" b="1">
                <a:solidFill>
                  <a:srgbClr val="172A33"/>
                </a:solidFill>
                <a:latin typeface="Arial"/>
                <a:ea typeface="Arial"/>
                <a:cs typeface="Arial"/>
              </a:defRPr>
            </a:pPr>
            <a:r>
              <a:rPr sz="1350" b="1">
                <a:solidFill>
                  <a:srgbClr val="172A33"/>
                </a:solidFill>
                <a:latin typeface="Arial"/>
                <a:ea typeface="Arial"/>
                <a:cs typeface="Arial"/>
              </a:rPr>
              <a:t>f1 · 10 MiB</a:t>
            </a:r>
          </a:p>
        </p:txBody>
      </p:sp>
      <p:sp>
        <p:nvSpPr>
          <p:cNvPr id="12" name="problem-task-2">
            <a:extLst xmlns:a="http://schemas.openxmlformats.org/drawingml/2006/main">
              <a:ext uri="{FF2B5EF4-FFF2-40B4-BE49-F238E27FC236}">
                <a16:creationId xmlns:a16="http://schemas.microsoft.com/office/drawing/2014/main" id="{40ACD989-B71B-4152-BBA2-FAA2AE6C3A9A}"/>
              </a:ext>
            </a:extLst>
          </p:cNvPr>
          <p:cNvSpPr>
            <a:spLocks xmlns:a="http://schemas.openxmlformats.org/drawingml/2006/main" noGrp="1"/>
          </p:cNvSpPr>
          <p:nvPr/>
        </p:nvSpPr>
        <p:spPr>
          <a:xfrm xmlns:a="http://schemas.openxmlformats.org/drawingml/2006/main">
            <a:off x="8591550" y="3257550"/>
            <a:ext cx="1619250" cy="7239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725" b="1">
                <a:solidFill>
                  <a:srgbClr val="172A33"/>
                </a:solidFill>
                <a:latin typeface="Arial"/>
                <a:ea typeface="Arial"/>
                <a:cs typeface="Arial"/>
              </a:defRPr>
            </a:pPr>
            <a:r>
              <a:rPr sz="1725" b="1">
                <a:solidFill>
                  <a:srgbClr val="172A33"/>
                </a:solidFill>
                <a:latin typeface="Arial"/>
                <a:ea typeface="Arial"/>
                <a:cs typeface="Arial"/>
              </a:rPr>
              <a:t>Tarea T2</a:t>
            </a:r>
          </a:p>
        </p:txBody>
      </p:sp>
      <p:cxnSp>
        <p:nvCxnSpPr>
          <p:cNvPr id="31" name=""/>
          <p:cNvCxnSpPr>
            <a:stCxn xmlns:a="http://schemas.openxmlformats.org/drawingml/2006/main" id="10" idx="3"/>
            <a:endCxn xmlns:a="http://schemas.openxmlformats.org/drawingml/2006/main" id="11" idx="2"/>
          </p:cNvCxnSpPr>
          <p:nvPr/>
        </p:nvCxnSpPr>
        <p:spPr>
          <a:xfrm xmlns:a="http://schemas.openxmlformats.org/drawingml/2006/main">
            <a:off x="3028950" y="3619500"/>
            <a:ext cx="209550" cy="19050"/>
          </a:xfrm>
          <a:prstGeom xmlns:a="http://schemas.openxmlformats.org/drawingml/2006/main" prst="straightConnector1">
            <a:avLst/>
          </a:prstGeom>
          <a:ln xmlns:a="http://schemas.openxmlformats.org/drawingml/2006/main" w="28575">
            <a:solidFill>
              <a:srgbClr val="087E78"/>
            </a:solidFill>
            <a:prstDash val="solid"/>
            <a:tailEnd type="triangle" w="med" len="med"/>
          </a:ln>
        </p:spPr>
      </p:cxnSp>
      <p:cxnSp>
        <p:nvCxnSpPr>
          <p:cNvPr id="32" name=""/>
          <p:cNvCxnSpPr>
            <a:stCxn xmlns:a="http://schemas.openxmlformats.org/drawingml/2006/main" id="11" idx="6"/>
            <a:endCxn xmlns:a="http://schemas.openxmlformats.org/drawingml/2006/main" id="12" idx="1"/>
          </p:cNvCxnSpPr>
          <p:nvPr/>
        </p:nvCxnSpPr>
        <p:spPr>
          <a:xfrm xmlns:a="http://schemas.openxmlformats.org/drawingml/2006/main" flipV="1">
            <a:off x="4343400" y="3619500"/>
            <a:ext cx="4248150" cy="19050"/>
          </a:xfrm>
          <a:prstGeom xmlns:a="http://schemas.openxmlformats.org/drawingml/2006/main" prst="straightConnector1">
            <a:avLst/>
          </a:prstGeom>
          <a:ln xmlns:a="http://schemas.openxmlformats.org/drawingml/2006/main" w="28575">
            <a:solidFill>
              <a:srgbClr val="087E78"/>
            </a:solidFill>
            <a:prstDash val="solid"/>
            <a:tailEnd type="triangle" w="med" len="med"/>
          </a:ln>
        </p:spPr>
      </p:cxnSp>
      <p:sp>
        <p:nvSpPr>
          <p:cNvPr id="15" name="problem-arrow-label">
            <a:extLst xmlns:a="http://schemas.openxmlformats.org/drawingml/2006/main">
              <a:ext uri="{FF2B5EF4-FFF2-40B4-BE49-F238E27FC236}">
                <a16:creationId xmlns:a16="http://schemas.microsoft.com/office/drawing/2014/main" id="{1B4814E5-9D55-48CA-A582-61AA59A3C0EF}"/>
              </a:ext>
            </a:extLst>
          </p:cNvPr>
          <p:cNvSpPr>
            <a:spLocks xmlns:a="http://schemas.openxmlformats.org/drawingml/2006/main" noGrp="1"/>
          </p:cNvSpPr>
          <p:nvPr/>
        </p:nvSpPr>
        <p:spPr>
          <a:xfrm xmlns:a="http://schemas.openxmlformats.org/drawingml/2006/main">
            <a:off x="5010150" y="33242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i="0">
                <a:solidFill>
                  <a:srgbClr val="087E78"/>
                </a:solidFill>
                <a:latin typeface="Arial"/>
                <a:ea typeface="Arial"/>
                <a:cs typeface="Arial"/>
              </a:defRPr>
            </a:pPr>
            <a:r>
              <a:rPr sz="1500" b="1" i="0">
                <a:solidFill>
                  <a:srgbClr val="087E78"/>
                </a:solidFill>
                <a:latin typeface="Arial"/>
                <a:ea typeface="Arial"/>
                <a:cs typeface="Arial"/>
              </a:rPr>
              <a:t>archivo requerido</a:t>
            </a:r>
          </a:p>
        </p:txBody>
      </p:sp>
      <p:sp>
        <p:nvSpPr>
          <p:cNvPr id="16" name="problem-arrow-caveat">
            <a:extLst xmlns:a="http://schemas.openxmlformats.org/drawingml/2006/main">
              <a:ext uri="{FF2B5EF4-FFF2-40B4-BE49-F238E27FC236}">
                <a16:creationId xmlns:a16="http://schemas.microsoft.com/office/drawing/2014/main" id="{916B2388-0136-495F-B194-7D1148456634}"/>
              </a:ext>
            </a:extLst>
          </p:cNvPr>
          <p:cNvSpPr>
            <a:spLocks xmlns:a="http://schemas.openxmlformats.org/drawingml/2006/main" noGrp="1"/>
          </p:cNvSpPr>
          <p:nvPr/>
        </p:nvSpPr>
        <p:spPr>
          <a:xfrm xmlns:a="http://schemas.openxmlformats.org/drawingml/2006/main">
            <a:off x="876300" y="4791075"/>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La flecha muestra una dependencia de archivo; no una ruta física de red.</a:t>
            </a:r>
          </a:p>
        </p:txBody>
      </p:sp>
      <p:sp>
        <p:nvSpPr>
          <p:cNvPr id="17" name="problem-summary">
            <a:extLst xmlns:a="http://schemas.openxmlformats.org/drawingml/2006/main">
              <a:ext uri="{FF2B5EF4-FFF2-40B4-BE49-F238E27FC236}">
                <a16:creationId xmlns:a16="http://schemas.microsoft.com/office/drawing/2014/main" id="{A0EADF7C-F32A-46DE-B513-F1C812DE4163}"/>
              </a:ext>
            </a:extLst>
          </p:cNvPr>
          <p:cNvSpPr>
            <a:spLocks xmlns:a="http://schemas.openxmlformats.org/drawingml/2006/main" noGrp="1"/>
          </p:cNvSpPr>
          <p:nvPr/>
        </p:nvSpPr>
        <p:spPr>
          <a:xfrm xmlns:a="http://schemas.openxmlformats.org/drawingml/2006/main">
            <a:off x="876300" y="5095875"/>
            <a:ext cx="10439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172A33"/>
                </a:solidFill>
                <a:latin typeface="Arial"/>
                <a:ea typeface="Arial"/>
                <a:cs typeface="Arial"/>
              </a:defRPr>
            </a:pPr>
            <a:r>
              <a:rPr sz="1875" b="1" i="0">
                <a:solidFill>
                  <a:srgbClr val="172A33"/>
                </a:solidFill>
                <a:latin typeface="Arial"/>
                <a:ea typeface="Arial"/>
                <a:cs typeface="Arial"/>
              </a:rPr>
              <a:t>Ejemplo ilustrativo: ¿los 500 GB transferidos eran necesarios o bastaban 300 GB?</a:t>
            </a:r>
          </a:p>
        </p:txBody>
      </p:sp>
      <p:sp>
        <p:nvSpPr>
          <p:cNvPr id="18" name="problem-citation">
            <a:extLst xmlns:a="http://schemas.openxmlformats.org/drawingml/2006/main">
              <a:ext uri="{FF2B5EF4-FFF2-40B4-BE49-F238E27FC236}">
                <a16:creationId xmlns:a16="http://schemas.microsoft.com/office/drawing/2014/main" id="{90A6B053-9DC8-4F18-A8CB-72CF278C59C3}"/>
              </a:ext>
            </a:extLst>
          </p:cNvPr>
          <p:cNvSpPr>
            <a:spLocks xmlns:a="http://schemas.openxmlformats.org/drawingml/2006/main" noGrp="1"/>
          </p:cNvSpPr>
          <p:nvPr/>
        </p:nvSpPr>
        <p:spPr>
          <a:xfrm xmlns:a="http://schemas.openxmlformats.org/drawingml/2006/main">
            <a:off x="876300" y="592455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Contexto respaldado por Pietri y Sakellariou (2018) y Tang et al. (2024).</a:t>
            </a:r>
          </a:p>
        </p:txBody>
      </p:sp>
    </p:spTree>
    <p:extLst>
      <p:ext uri="{BB962C8B-B14F-4D97-AF65-F5344CB8AC3E}">
        <p14:creationId xmlns:p14="http://schemas.microsoft.com/office/powerpoint/2010/main" val="2058529649"/>
      </p:ext>
    </p:extLst>
  </p:cSld>
</p:sld>
</file>

<file path=ppt/slides/slide3.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32" name="slide-title-3">
            <a:extLst xmlns:a="http://schemas.openxmlformats.org/drawingml/2006/main">
              <a:ext uri="{FF2B5EF4-FFF2-40B4-BE49-F238E27FC236}">
                <a16:creationId xmlns:a16="http://schemas.microsoft.com/office/drawing/2014/main" id="{64D3AB7F-007D-4E14-8175-74316F6A76D3}"/>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Qué explican las métricas y los estudios previos</a:t>
            </a:r>
          </a:p>
        </p:txBody>
      </p:sp>
      <p:sp>
        <p:nvSpPr>
          <p:cNvPr id="2" name="title-rule-3">
            <a:extLst xmlns:a="http://schemas.openxmlformats.org/drawingml/2006/main">
              <a:ext uri="{FF2B5EF4-FFF2-40B4-BE49-F238E27FC236}">
                <a16:creationId xmlns:a16="http://schemas.microsoft.com/office/drawing/2014/main" id="{FFA50CB2-3AD9-4577-B914-8CD105C58A52}"/>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3">
            <a:extLst xmlns:a="http://schemas.openxmlformats.org/drawingml/2006/main">
              <a:ext uri="{FF2B5EF4-FFF2-40B4-BE49-F238E27FC236}">
                <a16:creationId xmlns:a16="http://schemas.microsoft.com/office/drawing/2014/main" id="{A4474142-FC58-4071-8359-A6D8DEDA23F3}"/>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03</a:t>
            </a:r>
          </a:p>
        </p:txBody>
      </p:sp>
      <p:sp>
        <p:nvSpPr>
          <p:cNvPr id="4" name="literature-left-heading">
            <a:extLst xmlns:a="http://schemas.openxmlformats.org/drawingml/2006/main">
              <a:ext uri="{FF2B5EF4-FFF2-40B4-BE49-F238E27FC236}">
                <a16:creationId xmlns:a16="http://schemas.microsoft.com/office/drawing/2014/main" id="{79792758-2283-4303-B517-2B755B756A21}"/>
              </a:ext>
            </a:extLst>
          </p:cNvPr>
          <p:cNvSpPr>
            <a:spLocks xmlns:a="http://schemas.openxmlformats.org/drawingml/2006/main" noGrp="1"/>
          </p:cNvSpPr>
          <p:nvPr/>
        </p:nvSpPr>
        <p:spPr>
          <a:xfrm xmlns:a="http://schemas.openxmlformats.org/drawingml/2006/main">
            <a:off x="781050" y="13716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72A33"/>
                </a:solidFill>
                <a:latin typeface="Arial"/>
                <a:ea typeface="Arial"/>
                <a:cs typeface="Arial"/>
              </a:defRPr>
            </a:pPr>
            <a:r>
              <a:rPr sz="1875" b="1" i="0">
                <a:solidFill>
                  <a:srgbClr val="172A33"/>
                </a:solidFill>
                <a:latin typeface="Arial"/>
                <a:ea typeface="Arial"/>
                <a:cs typeface="Arial"/>
              </a:rPr>
              <a:t>Métricas habituales</a:t>
            </a:r>
          </a:p>
        </p:txBody>
      </p:sp>
      <p:sp>
        <p:nvSpPr>
          <p:cNvPr id="5" name="literature-right-heading">
            <a:extLst xmlns:a="http://schemas.openxmlformats.org/drawingml/2006/main">
              <a:ext uri="{FF2B5EF4-FFF2-40B4-BE49-F238E27FC236}">
                <a16:creationId xmlns:a16="http://schemas.microsoft.com/office/drawing/2014/main" id="{226DE297-EA4E-4C24-A2DC-2DDD9168373D}"/>
              </a:ext>
            </a:extLst>
          </p:cNvPr>
          <p:cNvSpPr>
            <a:spLocks xmlns:a="http://schemas.openxmlformats.org/drawingml/2006/main" noGrp="1"/>
          </p:cNvSpPr>
          <p:nvPr/>
        </p:nvSpPr>
        <p:spPr>
          <a:xfrm xmlns:a="http://schemas.openxmlformats.org/drawingml/2006/main">
            <a:off x="6134100" y="1371600"/>
            <a:ext cx="5181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i="0">
                <a:solidFill>
                  <a:srgbClr val="172A33"/>
                </a:solidFill>
                <a:latin typeface="Arial"/>
                <a:ea typeface="Arial"/>
                <a:cs typeface="Arial"/>
              </a:defRPr>
            </a:pPr>
            <a:r>
              <a:rPr sz="1875" b="1" i="0">
                <a:solidFill>
                  <a:srgbClr val="172A33"/>
                </a:solidFill>
                <a:latin typeface="Arial"/>
                <a:ea typeface="Arial"/>
                <a:cs typeface="Arial"/>
              </a:rPr>
              <a:t>Qué aporta la investigación relacionada</a:t>
            </a:r>
          </a:p>
        </p:txBody>
      </p:sp>
      <p:sp>
        <p:nvSpPr>
          <p:cNvPr id="6" name="literature-left-rule">
            <a:extLst xmlns:a="http://schemas.openxmlformats.org/drawingml/2006/main">
              <a:ext uri="{FF2B5EF4-FFF2-40B4-BE49-F238E27FC236}">
                <a16:creationId xmlns:a16="http://schemas.microsoft.com/office/drawing/2014/main" id="{E447AB3B-666E-4358-8125-99C66B40DC2C}"/>
              </a:ext>
            </a:extLst>
          </p:cNvPr>
          <p:cNvSpPr>
            <a:spLocks xmlns:a="http://schemas.openxmlformats.org/drawingml/2006/main" noGrp="1"/>
          </p:cNvSpPr>
          <p:nvPr/>
        </p:nvSpPr>
        <p:spPr>
          <a:xfrm xmlns:a="http://schemas.openxmlformats.org/drawingml/2006/main">
            <a:off x="781050" y="1790700"/>
            <a:ext cx="4667250" cy="19050"/>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7" name="literature-right-rule">
            <a:extLst xmlns:a="http://schemas.openxmlformats.org/drawingml/2006/main">
              <a:ext uri="{FF2B5EF4-FFF2-40B4-BE49-F238E27FC236}">
                <a16:creationId xmlns:a16="http://schemas.microsoft.com/office/drawing/2014/main" id="{0113576D-B4F5-47A1-9BA8-BCB33F849CB3}"/>
              </a:ext>
            </a:extLst>
          </p:cNvPr>
          <p:cNvSpPr>
            <a:spLocks xmlns:a="http://schemas.openxmlformats.org/drawingml/2006/main" noGrp="1"/>
          </p:cNvSpPr>
          <p:nvPr/>
        </p:nvSpPr>
        <p:spPr>
          <a:xfrm xmlns:a="http://schemas.openxmlformats.org/drawingml/2006/main">
            <a:off x="6134100" y="1790700"/>
            <a:ext cx="5181600" cy="19050"/>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8" name="literature-metric-label-0">
            <a:extLst xmlns:a="http://schemas.openxmlformats.org/drawingml/2006/main">
              <a:ext uri="{FF2B5EF4-FFF2-40B4-BE49-F238E27FC236}">
                <a16:creationId xmlns:a16="http://schemas.microsoft.com/office/drawing/2014/main" id="{B964A66E-5572-434E-8DE1-F49CC3E064BE}"/>
              </a:ext>
            </a:extLst>
          </p:cNvPr>
          <p:cNvSpPr>
            <a:spLocks xmlns:a="http://schemas.openxmlformats.org/drawingml/2006/main" noGrp="1"/>
          </p:cNvSpPr>
          <p:nvPr/>
        </p:nvSpPr>
        <p:spPr>
          <a:xfrm xmlns:a="http://schemas.openxmlformats.org/drawingml/2006/main">
            <a:off x="838200" y="1971675"/>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Bytes transferidos</a:t>
            </a:r>
          </a:p>
        </p:txBody>
      </p:sp>
      <p:sp>
        <p:nvSpPr>
          <p:cNvPr id="9" name="literature-metric-explain-0">
            <a:extLst xmlns:a="http://schemas.openxmlformats.org/drawingml/2006/main">
              <a:ext uri="{FF2B5EF4-FFF2-40B4-BE49-F238E27FC236}">
                <a16:creationId xmlns:a16="http://schemas.microsoft.com/office/drawing/2014/main" id="{45EED6DB-2457-46F6-9210-125DFC4BBFC7}"/>
              </a:ext>
            </a:extLst>
          </p:cNvPr>
          <p:cNvSpPr>
            <a:spLocks xmlns:a="http://schemas.openxmlformats.org/drawingml/2006/main" noGrp="1"/>
          </p:cNvSpPr>
          <p:nvPr/>
        </p:nvSpPr>
        <p:spPr>
          <a:xfrm xmlns:a="http://schemas.openxmlformats.org/drawingml/2006/main">
            <a:off x="2762250" y="1971675"/>
            <a:ext cx="2647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Cuánto volumen se reportó; no cuánto exigían las dependencias.</a:t>
            </a:r>
          </a:p>
        </p:txBody>
      </p:sp>
      <p:sp>
        <p:nvSpPr>
          <p:cNvPr id="10" name="literature-metric-rule-0">
            <a:extLst xmlns:a="http://schemas.openxmlformats.org/drawingml/2006/main">
              <a:ext uri="{FF2B5EF4-FFF2-40B4-BE49-F238E27FC236}">
                <a16:creationId xmlns:a16="http://schemas.microsoft.com/office/drawing/2014/main" id="{DF17143B-4DDE-48B1-86AC-88C0F386B897}"/>
              </a:ext>
            </a:extLst>
          </p:cNvPr>
          <p:cNvSpPr>
            <a:spLocks xmlns:a="http://schemas.openxmlformats.org/drawingml/2006/main" noGrp="1"/>
          </p:cNvSpPr>
          <p:nvPr/>
        </p:nvSpPr>
        <p:spPr>
          <a:xfrm xmlns:a="http://schemas.openxmlformats.org/drawingml/2006/main">
            <a:off x="838200" y="2628900"/>
            <a:ext cx="45720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1" name="literature-metric-label-1">
            <a:extLst xmlns:a="http://schemas.openxmlformats.org/drawingml/2006/main">
              <a:ext uri="{FF2B5EF4-FFF2-40B4-BE49-F238E27FC236}">
                <a16:creationId xmlns:a16="http://schemas.microsoft.com/office/drawing/2014/main" id="{ABA219F2-347E-4A8F-9043-1384EDF5ABDD}"/>
              </a:ext>
            </a:extLst>
          </p:cNvPr>
          <p:cNvSpPr>
            <a:spLocks xmlns:a="http://schemas.openxmlformats.org/drawingml/2006/main" noGrp="1"/>
          </p:cNvSpPr>
          <p:nvPr/>
        </p:nvSpPr>
        <p:spPr>
          <a:xfrm xmlns:a="http://schemas.openxmlformats.org/drawingml/2006/main">
            <a:off x="838200" y="30289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Duración / ancho de banda</a:t>
            </a:r>
          </a:p>
        </p:txBody>
      </p:sp>
      <p:sp>
        <p:nvSpPr>
          <p:cNvPr id="12" name="literature-metric-explain-1">
            <a:extLst xmlns:a="http://schemas.openxmlformats.org/drawingml/2006/main">
              <a:ext uri="{FF2B5EF4-FFF2-40B4-BE49-F238E27FC236}">
                <a16:creationId xmlns:a16="http://schemas.microsoft.com/office/drawing/2014/main" id="{4595F1EB-7912-4D06-82E0-5B2AC18D0E11}"/>
              </a:ext>
            </a:extLst>
          </p:cNvPr>
          <p:cNvSpPr>
            <a:spLocks xmlns:a="http://schemas.openxmlformats.org/drawingml/2006/main" noGrp="1"/>
          </p:cNvSpPr>
          <p:nvPr/>
        </p:nvSpPr>
        <p:spPr>
          <a:xfrm xmlns:a="http://schemas.openxmlformats.org/drawingml/2006/main">
            <a:off x="2762250" y="3028950"/>
            <a:ext cx="2647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369"/>
          </a:bodyPr>
          <a:lstStyle xmlns:a="http://schemas.openxmlformats.org/drawingml/2006/main"/>
          <a:p xmlns:a="http://schemas.openxmlformats.org/drawingml/2006/main">
            <a:pPr algn="l">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Cómo se comportó la transferencia; no si el volumen era necesario.</a:t>
            </a:r>
          </a:p>
        </p:txBody>
      </p:sp>
      <p:sp>
        <p:nvSpPr>
          <p:cNvPr id="13" name="literature-metric-rule-1">
            <a:extLst xmlns:a="http://schemas.openxmlformats.org/drawingml/2006/main">
              <a:ext uri="{FF2B5EF4-FFF2-40B4-BE49-F238E27FC236}">
                <a16:creationId xmlns:a16="http://schemas.microsoft.com/office/drawing/2014/main" id="{825A93DB-30BB-4752-88DB-3297E68FD85E}"/>
              </a:ext>
            </a:extLst>
          </p:cNvPr>
          <p:cNvSpPr>
            <a:spLocks xmlns:a="http://schemas.openxmlformats.org/drawingml/2006/main" noGrp="1"/>
          </p:cNvSpPr>
          <p:nvPr/>
        </p:nvSpPr>
        <p:spPr>
          <a:xfrm xmlns:a="http://schemas.openxmlformats.org/drawingml/2006/main">
            <a:off x="838200" y="3686175"/>
            <a:ext cx="45720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4" name="literature-metric-label-2">
            <a:extLst xmlns:a="http://schemas.openxmlformats.org/drawingml/2006/main">
              <a:ext uri="{FF2B5EF4-FFF2-40B4-BE49-F238E27FC236}">
                <a16:creationId xmlns:a16="http://schemas.microsoft.com/office/drawing/2014/main" id="{AD0565FE-F57C-434C-973E-29C5D89CA6AF}"/>
              </a:ext>
            </a:extLst>
          </p:cNvPr>
          <p:cNvSpPr>
            <a:spLocks xmlns:a="http://schemas.openxmlformats.org/drawingml/2006/main" noGrp="1"/>
          </p:cNvSpPr>
          <p:nvPr/>
        </p:nvSpPr>
        <p:spPr>
          <a:xfrm xmlns:a="http://schemas.openxmlformats.org/drawingml/2006/main">
            <a:off x="838200" y="4086225"/>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4B626D"/>
                </a:solidFill>
                <a:latin typeface="Arial"/>
                <a:ea typeface="Arial"/>
                <a:cs typeface="Arial"/>
              </a:defRPr>
            </a:pPr>
            <a:r>
              <a:rPr sz="1500" b="1" i="0">
                <a:solidFill>
                  <a:srgbClr val="4B626D"/>
                </a:solidFill>
                <a:latin typeface="Arial"/>
                <a:ea typeface="Arial"/>
                <a:cs typeface="Arial"/>
              </a:rPr>
              <a:t>Tiempo total del workflow</a:t>
            </a:r>
          </a:p>
        </p:txBody>
      </p:sp>
      <p:sp>
        <p:nvSpPr>
          <p:cNvPr id="15" name="literature-metric-explain-2">
            <a:extLst xmlns:a="http://schemas.openxmlformats.org/drawingml/2006/main">
              <a:ext uri="{FF2B5EF4-FFF2-40B4-BE49-F238E27FC236}">
                <a16:creationId xmlns:a16="http://schemas.microsoft.com/office/drawing/2014/main" id="{50855CDD-1D85-45F6-B735-2811BE94BF89}"/>
              </a:ext>
            </a:extLst>
          </p:cNvPr>
          <p:cNvSpPr>
            <a:spLocks xmlns:a="http://schemas.openxmlformats.org/drawingml/2006/main" noGrp="1"/>
          </p:cNvSpPr>
          <p:nvPr/>
        </p:nvSpPr>
        <p:spPr>
          <a:xfrm xmlns:a="http://schemas.openxmlformats.org/drawingml/2006/main">
            <a:off x="2762250" y="4086225"/>
            <a:ext cx="2647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775"/>
          </a:bodyPr>
          <a:lstStyle xmlns:a="http://schemas.openxmlformats.org/drawingml/2006/main"/>
          <a:p xmlns:a="http://schemas.openxmlformats.org/drawingml/2006/main">
            <a:pPr algn="l">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Cuánto tardó la ejecución completa; no separa por sí solo el movimiento.</a:t>
            </a:r>
          </a:p>
        </p:txBody>
      </p:sp>
      <p:sp>
        <p:nvSpPr>
          <p:cNvPr id="16" name="literature-study-0">
            <a:extLst xmlns:a="http://schemas.openxmlformats.org/drawingml/2006/main">
              <a:ext uri="{FF2B5EF4-FFF2-40B4-BE49-F238E27FC236}">
                <a16:creationId xmlns:a16="http://schemas.microsoft.com/office/drawing/2014/main" id="{EFF37735-087B-4096-A581-488824D48409}"/>
              </a:ext>
            </a:extLst>
          </p:cNvPr>
          <p:cNvSpPr>
            <a:spLocks xmlns:a="http://schemas.openxmlformats.org/drawingml/2006/main" noGrp="1"/>
          </p:cNvSpPr>
          <p:nvPr/>
        </p:nvSpPr>
        <p:spPr>
          <a:xfrm xmlns:a="http://schemas.openxmlformats.org/drawingml/2006/main">
            <a:off x="6172200" y="19240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Bharathi (2008) · Deelman (2015)</a:t>
            </a:r>
          </a:p>
        </p:txBody>
      </p:sp>
      <p:sp>
        <p:nvSpPr>
          <p:cNvPr id="17" name="literature-study-contribution-0">
            <a:extLst xmlns:a="http://schemas.openxmlformats.org/drawingml/2006/main">
              <a:ext uri="{FF2B5EF4-FFF2-40B4-BE49-F238E27FC236}">
                <a16:creationId xmlns:a16="http://schemas.microsoft.com/office/drawing/2014/main" id="{B7FA1060-7CEC-42A5-AB48-BEE0E94D37BA}"/>
              </a:ext>
            </a:extLst>
          </p:cNvPr>
          <p:cNvSpPr>
            <a:spLocks xmlns:a="http://schemas.openxmlformats.org/drawingml/2006/main" noGrp="1"/>
          </p:cNvSpPr>
          <p:nvPr/>
        </p:nvSpPr>
        <p:spPr>
          <a:xfrm xmlns:a="http://schemas.openxmlformats.org/drawingml/2006/main">
            <a:off x="8582025" y="1924050"/>
            <a:ext cx="27336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Patrones de workflows y ejecución con Pegasus.</a:t>
            </a:r>
          </a:p>
        </p:txBody>
      </p:sp>
      <p:sp>
        <p:nvSpPr>
          <p:cNvPr id="18" name="literature-study-rule-0">
            <a:extLst xmlns:a="http://schemas.openxmlformats.org/drawingml/2006/main">
              <a:ext uri="{FF2B5EF4-FFF2-40B4-BE49-F238E27FC236}">
                <a16:creationId xmlns:a16="http://schemas.microsoft.com/office/drawing/2014/main" id="{86E49022-EEC3-45CB-BEA8-D42C31295DD2}"/>
              </a:ext>
            </a:extLst>
          </p:cNvPr>
          <p:cNvSpPr>
            <a:spLocks xmlns:a="http://schemas.openxmlformats.org/drawingml/2006/main" noGrp="1"/>
          </p:cNvSpPr>
          <p:nvPr/>
        </p:nvSpPr>
        <p:spPr>
          <a:xfrm xmlns:a="http://schemas.openxmlformats.org/drawingml/2006/main">
            <a:off x="6172200" y="2486025"/>
            <a:ext cx="51435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9" name="literature-study-1">
            <a:extLst xmlns:a="http://schemas.openxmlformats.org/drawingml/2006/main">
              <a:ext uri="{FF2B5EF4-FFF2-40B4-BE49-F238E27FC236}">
                <a16:creationId xmlns:a16="http://schemas.microsoft.com/office/drawing/2014/main" id="{D552E87F-8097-4BF3-9670-46E46557CBA2}"/>
              </a:ext>
            </a:extLst>
          </p:cNvPr>
          <p:cNvSpPr>
            <a:spLocks xmlns:a="http://schemas.openxmlformats.org/drawingml/2006/main" noGrp="1"/>
          </p:cNvSpPr>
          <p:nvPr/>
        </p:nvSpPr>
        <p:spPr>
          <a:xfrm xmlns:a="http://schemas.openxmlformats.org/drawingml/2006/main">
            <a:off x="6172200" y="26479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Pietri y Sakellariou (2018)</a:t>
            </a:r>
          </a:p>
        </p:txBody>
      </p:sp>
      <p:sp>
        <p:nvSpPr>
          <p:cNvPr id="20" name="literature-study-contribution-1">
            <a:extLst xmlns:a="http://schemas.openxmlformats.org/drawingml/2006/main">
              <a:ext uri="{FF2B5EF4-FFF2-40B4-BE49-F238E27FC236}">
                <a16:creationId xmlns:a16="http://schemas.microsoft.com/office/drawing/2014/main" id="{3BBA02B8-8E84-475B-935C-8E09611849AC}"/>
              </a:ext>
            </a:extLst>
          </p:cNvPr>
          <p:cNvSpPr>
            <a:spLocks xmlns:a="http://schemas.openxmlformats.org/drawingml/2006/main" noGrp="1"/>
          </p:cNvSpPr>
          <p:nvPr/>
        </p:nvSpPr>
        <p:spPr>
          <a:xfrm xmlns:a="http://schemas.openxmlformats.org/drawingml/2006/main">
            <a:off x="8582025" y="2647950"/>
            <a:ext cx="27336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Incorporan comunicación al programar tareas.</a:t>
            </a:r>
          </a:p>
        </p:txBody>
      </p:sp>
      <p:sp>
        <p:nvSpPr>
          <p:cNvPr id="21" name="literature-study-rule-1">
            <a:extLst xmlns:a="http://schemas.openxmlformats.org/drawingml/2006/main">
              <a:ext uri="{FF2B5EF4-FFF2-40B4-BE49-F238E27FC236}">
                <a16:creationId xmlns:a16="http://schemas.microsoft.com/office/drawing/2014/main" id="{0DF62ACC-6FB6-41E1-8D87-CADCE704A9EF}"/>
              </a:ext>
            </a:extLst>
          </p:cNvPr>
          <p:cNvSpPr>
            <a:spLocks xmlns:a="http://schemas.openxmlformats.org/drawingml/2006/main" noGrp="1"/>
          </p:cNvSpPr>
          <p:nvPr/>
        </p:nvSpPr>
        <p:spPr>
          <a:xfrm xmlns:a="http://schemas.openxmlformats.org/drawingml/2006/main">
            <a:off x="6172200" y="3209925"/>
            <a:ext cx="51435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2" name="literature-study-2">
            <a:extLst xmlns:a="http://schemas.openxmlformats.org/drawingml/2006/main">
              <a:ext uri="{FF2B5EF4-FFF2-40B4-BE49-F238E27FC236}">
                <a16:creationId xmlns:a16="http://schemas.microsoft.com/office/drawing/2014/main" id="{2F5AE1DC-35EF-47B3-B201-8275665F2BA9}"/>
              </a:ext>
            </a:extLst>
          </p:cNvPr>
          <p:cNvSpPr>
            <a:spLocks xmlns:a="http://schemas.openxmlformats.org/drawingml/2006/main" noGrp="1"/>
          </p:cNvSpPr>
          <p:nvPr/>
        </p:nvSpPr>
        <p:spPr>
          <a:xfrm xmlns:a="http://schemas.openxmlformats.org/drawingml/2006/main">
            <a:off x="6172200" y="33718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Lee (2023) · Tang (2024)</a:t>
            </a:r>
          </a:p>
        </p:txBody>
      </p:sp>
      <p:sp>
        <p:nvSpPr>
          <p:cNvPr id="23" name="literature-study-contribution-2">
            <a:extLst xmlns:a="http://schemas.openxmlformats.org/drawingml/2006/main">
              <a:ext uri="{FF2B5EF4-FFF2-40B4-BE49-F238E27FC236}">
                <a16:creationId xmlns:a16="http://schemas.microsoft.com/office/drawing/2014/main" id="{DFCB541B-ECD2-447D-B0A8-E1265A28CD96}"/>
              </a:ext>
            </a:extLst>
          </p:cNvPr>
          <p:cNvSpPr>
            <a:spLocks xmlns:a="http://schemas.openxmlformats.org/drawingml/2006/main" noGrp="1"/>
          </p:cNvSpPr>
          <p:nvPr/>
        </p:nvSpPr>
        <p:spPr>
          <a:xfrm xmlns:a="http://schemas.openxmlformats.org/drawingml/2006/main">
            <a:off x="8582025" y="3371850"/>
            <a:ext cx="27336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Ciclo de vida de datos y semántica de operaciones I/O.</a:t>
            </a:r>
          </a:p>
        </p:txBody>
      </p:sp>
      <p:sp>
        <p:nvSpPr>
          <p:cNvPr id="24" name="literature-study-rule-2">
            <a:extLst xmlns:a="http://schemas.openxmlformats.org/drawingml/2006/main">
              <a:ext uri="{FF2B5EF4-FFF2-40B4-BE49-F238E27FC236}">
                <a16:creationId xmlns:a16="http://schemas.microsoft.com/office/drawing/2014/main" id="{A5D75A90-422B-45ED-A834-D62742533A22}"/>
              </a:ext>
            </a:extLst>
          </p:cNvPr>
          <p:cNvSpPr>
            <a:spLocks xmlns:a="http://schemas.openxmlformats.org/drawingml/2006/main" noGrp="1"/>
          </p:cNvSpPr>
          <p:nvPr/>
        </p:nvSpPr>
        <p:spPr>
          <a:xfrm xmlns:a="http://schemas.openxmlformats.org/drawingml/2006/main">
            <a:off x="6172200" y="3933825"/>
            <a:ext cx="51435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5" name="literature-study-3">
            <a:extLst xmlns:a="http://schemas.openxmlformats.org/drawingml/2006/main">
              <a:ext uri="{FF2B5EF4-FFF2-40B4-BE49-F238E27FC236}">
                <a16:creationId xmlns:a16="http://schemas.microsoft.com/office/drawing/2014/main" id="{AA58C6D1-7506-4AD4-81E8-414AF3E0353C}"/>
              </a:ext>
            </a:extLst>
          </p:cNvPr>
          <p:cNvSpPr>
            <a:spLocks xmlns:a="http://schemas.openxmlformats.org/drawingml/2006/main" noGrp="1"/>
          </p:cNvSpPr>
          <p:nvPr/>
        </p:nvSpPr>
        <p:spPr>
          <a:xfrm xmlns:a="http://schemas.openxmlformats.org/drawingml/2006/main">
            <a:off x="6172200" y="40957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Devarajan et al. (2024)</a:t>
            </a:r>
          </a:p>
        </p:txBody>
      </p:sp>
      <p:sp>
        <p:nvSpPr>
          <p:cNvPr id="26" name="literature-study-contribution-3">
            <a:extLst xmlns:a="http://schemas.openxmlformats.org/drawingml/2006/main">
              <a:ext uri="{FF2B5EF4-FFF2-40B4-BE49-F238E27FC236}">
                <a16:creationId xmlns:a16="http://schemas.microsoft.com/office/drawing/2014/main" id="{270B7D9B-135B-4180-9B78-3856D6EEFABC}"/>
              </a:ext>
            </a:extLst>
          </p:cNvPr>
          <p:cNvSpPr>
            <a:spLocks xmlns:a="http://schemas.openxmlformats.org/drawingml/2006/main" noGrp="1"/>
          </p:cNvSpPr>
          <p:nvPr/>
        </p:nvSpPr>
        <p:spPr>
          <a:xfrm xmlns:a="http://schemas.openxmlformats.org/drawingml/2006/main">
            <a:off x="8582025" y="4095750"/>
            <a:ext cx="27336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DFTracer registra flujos de datos con contexto de varias capas.</a:t>
            </a:r>
          </a:p>
        </p:txBody>
      </p:sp>
      <p:sp>
        <p:nvSpPr>
          <p:cNvPr id="27" name="literature-study-rule-3">
            <a:extLst xmlns:a="http://schemas.openxmlformats.org/drawingml/2006/main">
              <a:ext uri="{FF2B5EF4-FFF2-40B4-BE49-F238E27FC236}">
                <a16:creationId xmlns:a16="http://schemas.microsoft.com/office/drawing/2014/main" id="{E159F81A-8816-453E-B87A-4C2EC1BA2F39}"/>
              </a:ext>
            </a:extLst>
          </p:cNvPr>
          <p:cNvSpPr>
            <a:spLocks xmlns:a="http://schemas.openxmlformats.org/drawingml/2006/main" noGrp="1"/>
          </p:cNvSpPr>
          <p:nvPr/>
        </p:nvSpPr>
        <p:spPr>
          <a:xfrm xmlns:a="http://schemas.openxmlformats.org/drawingml/2006/main">
            <a:off x="6172200" y="4657725"/>
            <a:ext cx="5143500"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8" name="literature-study-4">
            <a:extLst xmlns:a="http://schemas.openxmlformats.org/drawingml/2006/main">
              <a:ext uri="{FF2B5EF4-FFF2-40B4-BE49-F238E27FC236}">
                <a16:creationId xmlns:a16="http://schemas.microsoft.com/office/drawing/2014/main" id="{25DD3044-C21F-4113-A70F-62E21A091B20}"/>
              </a:ext>
            </a:extLst>
          </p:cNvPr>
          <p:cNvSpPr>
            <a:spLocks xmlns:a="http://schemas.openxmlformats.org/drawingml/2006/main" noGrp="1"/>
          </p:cNvSpPr>
          <p:nvPr/>
        </p:nvSpPr>
        <p:spPr>
          <a:xfrm xmlns:a="http://schemas.openxmlformats.org/drawingml/2006/main">
            <a:off x="6172200" y="48196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Aurelio Vivas Meza (2026)</a:t>
            </a:r>
          </a:p>
        </p:txBody>
      </p:sp>
      <p:sp>
        <p:nvSpPr>
          <p:cNvPr id="29" name="literature-study-contribution-4">
            <a:extLst xmlns:a="http://schemas.openxmlformats.org/drawingml/2006/main">
              <a:ext uri="{FF2B5EF4-FFF2-40B4-BE49-F238E27FC236}">
                <a16:creationId xmlns:a16="http://schemas.microsoft.com/office/drawing/2014/main" id="{1BA9CFF0-023E-4A25-A543-E2E8256CBBF4}"/>
              </a:ext>
            </a:extLst>
          </p:cNvPr>
          <p:cNvSpPr>
            <a:spLocks xmlns:a="http://schemas.openxmlformats.org/drawingml/2006/main" noGrp="1"/>
          </p:cNvSpPr>
          <p:nvPr/>
        </p:nvSpPr>
        <p:spPr>
          <a:xfrm xmlns:a="http://schemas.openxmlformats.org/drawingml/2006/main">
            <a:off x="8582025" y="4819650"/>
            <a:ext cx="273367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Estudia scheduling para movimiento de datos y localidad NUMA.</a:t>
            </a:r>
          </a:p>
        </p:txBody>
      </p:sp>
      <p:sp>
        <p:nvSpPr>
          <p:cNvPr id="30" name="literature-bottom-rule">
            <a:extLst xmlns:a="http://schemas.openxmlformats.org/drawingml/2006/main">
              <a:ext uri="{FF2B5EF4-FFF2-40B4-BE49-F238E27FC236}">
                <a16:creationId xmlns:a16="http://schemas.microsoft.com/office/drawing/2014/main" id="{744515E6-3FD9-4EE8-969F-CCA91110CFB4}"/>
              </a:ext>
            </a:extLst>
          </p:cNvPr>
          <p:cNvSpPr>
            <a:spLocks xmlns:a="http://schemas.openxmlformats.org/drawingml/2006/main" noGrp="1"/>
          </p:cNvSpPr>
          <p:nvPr/>
        </p:nvSpPr>
        <p:spPr>
          <a:xfrm xmlns:a="http://schemas.openxmlformats.org/drawingml/2006/main">
            <a:off x="781050" y="5286375"/>
            <a:ext cx="10534650" cy="1333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1" name="literature-takeaway">
            <a:extLst xmlns:a="http://schemas.openxmlformats.org/drawingml/2006/main">
              <a:ext uri="{FF2B5EF4-FFF2-40B4-BE49-F238E27FC236}">
                <a16:creationId xmlns:a16="http://schemas.microsoft.com/office/drawing/2014/main" id="{E21BA9A9-2E1C-433A-998E-D9DC28374685}"/>
              </a:ext>
            </a:extLst>
          </p:cNvPr>
          <p:cNvSpPr>
            <a:spLocks xmlns:a="http://schemas.openxmlformats.org/drawingml/2006/main" noGrp="1"/>
          </p:cNvSpPr>
          <p:nvPr/>
        </p:nvSpPr>
        <p:spPr>
          <a:xfrm xmlns:a="http://schemas.openxmlformats.org/drawingml/2006/main">
            <a:off x="857250" y="5467350"/>
            <a:ext cx="10382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Nuestra pregunta reúne workflow + worker real por tarea + evidencia del payload científico. Complementa esas métricas; no las reemplaza.</a:t>
            </a:r>
          </a:p>
        </p:txBody>
      </p:sp>
    </p:spTree>
    <p:extLst>
      <p:ext uri="{BB962C8B-B14F-4D97-AF65-F5344CB8AC3E}">
        <p14:creationId xmlns:p14="http://schemas.microsoft.com/office/powerpoint/2010/main" val="1914929596"/>
      </p:ext>
    </p:extLst>
  </p:cSld>
</p:sld>
</file>

<file path=ppt/slides/slide4.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9" name="slide-title-4">
            <a:extLst xmlns:a="http://schemas.openxmlformats.org/drawingml/2006/main">
              <a:ext uri="{FF2B5EF4-FFF2-40B4-BE49-F238E27FC236}">
                <a16:creationId xmlns:a16="http://schemas.microsoft.com/office/drawing/2014/main" id="{84A75002-7F6A-4B58-8820-D6C38C0E5D7C}"/>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La pregunta de esta tesis</a:t>
            </a:r>
          </a:p>
        </p:txBody>
      </p:sp>
      <p:sp>
        <p:nvSpPr>
          <p:cNvPr id="2" name="title-rule-4">
            <a:extLst xmlns:a="http://schemas.openxmlformats.org/drawingml/2006/main">
              <a:ext uri="{FF2B5EF4-FFF2-40B4-BE49-F238E27FC236}">
                <a16:creationId xmlns:a16="http://schemas.microsoft.com/office/drawing/2014/main" id="{4FF1DF22-5F52-4BA6-8042-4B0EEA595F08}"/>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4">
            <a:extLst xmlns:a="http://schemas.openxmlformats.org/drawingml/2006/main">
              <a:ext uri="{FF2B5EF4-FFF2-40B4-BE49-F238E27FC236}">
                <a16:creationId xmlns:a16="http://schemas.microsoft.com/office/drawing/2014/main" id="{E9860A24-6161-4583-B52F-38F02A992569}"/>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04</a:t>
            </a:r>
          </a:p>
        </p:txBody>
      </p:sp>
      <p:sp>
        <p:nvSpPr>
          <p:cNvPr id="4" name="research-location-definition">
            <a:extLst xmlns:a="http://schemas.openxmlformats.org/drawingml/2006/main">
              <a:ext uri="{FF2B5EF4-FFF2-40B4-BE49-F238E27FC236}">
                <a16:creationId xmlns:a16="http://schemas.microsoft.com/office/drawing/2014/main" id="{75B2E64D-E2A6-42B8-9877-F34D32D360CA}"/>
              </a:ext>
            </a:extLst>
          </p:cNvPr>
          <p:cNvSpPr>
            <a:spLocks xmlns:a="http://schemas.openxmlformats.org/drawingml/2006/main" noGrp="1"/>
          </p:cNvSpPr>
          <p:nvPr/>
        </p:nvSpPr>
        <p:spPr>
          <a:xfrm xmlns:a="http://schemas.openxmlformats.org/drawingml/2006/main">
            <a:off x="1428750" y="1362075"/>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Ubicación de una tarea = worker donde se ejecutó.</a:t>
            </a:r>
          </a:p>
        </p:txBody>
      </p:sp>
      <p:sp>
        <p:nvSpPr>
          <p:cNvPr id="5" name="research-question">
            <a:extLst xmlns:a="http://schemas.openxmlformats.org/drawingml/2006/main">
              <a:ext uri="{FF2B5EF4-FFF2-40B4-BE49-F238E27FC236}">
                <a16:creationId xmlns:a16="http://schemas.microsoft.com/office/drawing/2014/main" id="{8BB4D7AA-25A0-486F-960C-4749EF0F2F3F}"/>
              </a:ext>
            </a:extLst>
          </p:cNvPr>
          <p:cNvSpPr>
            <a:spLocks xmlns:a="http://schemas.openxmlformats.org/drawingml/2006/main" noGrp="1"/>
          </p:cNvSpPr>
          <p:nvPr/>
        </p:nvSpPr>
        <p:spPr>
          <a:xfrm xmlns:a="http://schemas.openxmlformats.org/drawingml/2006/main">
            <a:off x="1104900" y="1971675"/>
            <a:ext cx="99822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2700" b="1" i="0">
                <a:solidFill>
                  <a:srgbClr val="172A33"/>
                </a:solidFill>
                <a:latin typeface="Arial"/>
                <a:ea typeface="Arial"/>
                <a:cs typeface="Arial"/>
              </a:defRPr>
            </a:pPr>
            <a:r>
              <a:rPr sz="2700" b="1" i="0">
                <a:solidFill>
                  <a:srgbClr val="172A33"/>
                </a:solidFill>
                <a:latin typeface="Arial"/>
                <a:ea typeface="Arial"/>
                <a:cs typeface="Arial"/>
              </a:rPr>
              <a:t>Dado un workflow y el worker donde corrió cada tarea, ¿cuánto movimiento exigen sus dependencias y cuánto payload científico declara y confirma la ejecución?</a:t>
            </a:r>
          </a:p>
        </p:txBody>
      </p:sp>
      <p:sp>
        <p:nvSpPr>
          <p:cNvPr id="6" name="rq-accent">
            <a:extLst xmlns:a="http://schemas.openxmlformats.org/drawingml/2006/main">
              <a:ext uri="{FF2B5EF4-FFF2-40B4-BE49-F238E27FC236}">
                <a16:creationId xmlns:a16="http://schemas.microsoft.com/office/drawing/2014/main" id="{C48BA8FA-440F-4CC0-84CA-1FCD537D780A}"/>
              </a:ext>
            </a:extLst>
          </p:cNvPr>
          <p:cNvSpPr>
            <a:spLocks xmlns:a="http://schemas.openxmlformats.org/drawingml/2006/main" noGrp="1"/>
          </p:cNvSpPr>
          <p:nvPr/>
        </p:nvSpPr>
        <p:spPr>
          <a:xfrm xmlns:a="http://schemas.openxmlformats.org/drawingml/2006/main">
            <a:off x="5048250" y="3933825"/>
            <a:ext cx="2095500" cy="38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7" name="research-contribution">
            <a:extLst xmlns:a="http://schemas.openxmlformats.org/drawingml/2006/main">
              <a:ext uri="{FF2B5EF4-FFF2-40B4-BE49-F238E27FC236}">
                <a16:creationId xmlns:a16="http://schemas.microsoft.com/office/drawing/2014/main" id="{E861E0CC-2B50-4786-B459-B7EB164EAC91}"/>
              </a:ext>
            </a:extLst>
          </p:cNvPr>
          <p:cNvSpPr>
            <a:spLocks xmlns:a="http://schemas.openxmlformats.org/drawingml/2006/main" noGrp="1"/>
          </p:cNvSpPr>
          <p:nvPr/>
        </p:nvSpPr>
        <p:spPr>
          <a:xfrm xmlns:a="http://schemas.openxmlformats.org/drawingml/2006/main">
            <a:off x="1476375" y="4343400"/>
            <a:ext cx="9239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0" i="0">
                <a:solidFill>
                  <a:srgbClr val="293A42"/>
                </a:solidFill>
                <a:latin typeface="Arial"/>
                <a:ea typeface="Arial"/>
                <a:cs typeface="Arial"/>
              </a:defRPr>
            </a:pPr>
            <a:r>
              <a:rPr sz="2025" b="0" i="0">
                <a:solidFill>
                  <a:srgbClr val="293A42"/>
                </a:solidFill>
                <a:latin typeface="Arial"/>
                <a:ea typeface="Arial"/>
                <a:cs typeface="Arial"/>
              </a:rPr>
              <a:t>La respuesta combina dependencias del workflow, tamaños de archivo, ubicación real de tareas y evidencia por job.</a:t>
            </a:r>
          </a:p>
        </p:txBody>
      </p:sp>
      <p:sp>
        <p:nvSpPr>
          <p:cNvPr id="8" name="research-boundary">
            <a:extLst xmlns:a="http://schemas.openxmlformats.org/drawingml/2006/main">
              <a:ext uri="{FF2B5EF4-FFF2-40B4-BE49-F238E27FC236}">
                <a16:creationId xmlns:a16="http://schemas.microsoft.com/office/drawing/2014/main" id="{9F6ACB8D-3B23-492A-A41D-9A699C9ECF83}"/>
              </a:ext>
            </a:extLst>
          </p:cNvPr>
          <p:cNvSpPr>
            <a:spLocks xmlns:a="http://schemas.openxmlformats.org/drawingml/2006/main" noGrp="1"/>
          </p:cNvSpPr>
          <p:nvPr/>
        </p:nvSpPr>
        <p:spPr>
          <a:xfrm xmlns:a="http://schemas.openxmlformats.org/drawingml/2006/main">
            <a:off x="1714500" y="542925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0">
                <a:solidFill>
                  <a:srgbClr val="65757C"/>
                </a:solidFill>
                <a:latin typeface="Arial"/>
                <a:ea typeface="Arial"/>
                <a:cs typeface="Arial"/>
              </a:defRPr>
            </a:pPr>
            <a:r>
              <a:rPr sz="1575" b="0" i="0">
                <a:solidFill>
                  <a:srgbClr val="65757C"/>
                </a:solidFill>
                <a:latin typeface="Arial"/>
                <a:ea typeface="Arial"/>
                <a:cs typeface="Arial"/>
              </a:rPr>
              <a:t>La evidencia confirma payload de archivos científicos por job; no captura el tráfico físico de red.</a:t>
            </a:r>
          </a:p>
        </p:txBody>
      </p:sp>
    </p:spTree>
    <p:extLst>
      <p:ext uri="{BB962C8B-B14F-4D97-AF65-F5344CB8AC3E}">
        <p14:creationId xmlns:p14="http://schemas.microsoft.com/office/powerpoint/2010/main" val="1544707752"/>
      </p:ext>
    </p:extLst>
  </p:cSld>
</p:sld>
</file>

<file path=ppt/slides/slide5.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6" name="slide-title-5">
            <a:extLst xmlns:a="http://schemas.openxmlformats.org/drawingml/2006/main">
              <a:ext uri="{FF2B5EF4-FFF2-40B4-BE49-F238E27FC236}">
                <a16:creationId xmlns:a16="http://schemas.microsoft.com/office/drawing/2014/main" id="{907B8B2C-F90A-433A-AFCA-910C6C296770}"/>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Tres cantidades, tres tipos de evidencia</a:t>
            </a:r>
          </a:p>
        </p:txBody>
      </p:sp>
      <p:sp>
        <p:nvSpPr>
          <p:cNvPr id="2" name="title-rule-5">
            <a:extLst xmlns:a="http://schemas.openxmlformats.org/drawingml/2006/main">
              <a:ext uri="{FF2B5EF4-FFF2-40B4-BE49-F238E27FC236}">
                <a16:creationId xmlns:a16="http://schemas.microsoft.com/office/drawing/2014/main" id="{0CDC5AD6-5535-43FF-B1D7-FC22109AF490}"/>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5">
            <a:extLst xmlns:a="http://schemas.openxmlformats.org/drawingml/2006/main">
              <a:ext uri="{FF2B5EF4-FFF2-40B4-BE49-F238E27FC236}">
                <a16:creationId xmlns:a16="http://schemas.microsoft.com/office/drawing/2014/main" id="{DF5464A7-24E1-4071-91C0-E2BBAE810336}"/>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05</a:t>
            </a:r>
          </a:p>
        </p:txBody>
      </p:sp>
      <p:sp>
        <p:nvSpPr>
          <p:cNvPr id="4" name="boundary-title-0">
            <a:extLst xmlns:a="http://schemas.openxmlformats.org/drawingml/2006/main">
              <a:ext uri="{FF2B5EF4-FFF2-40B4-BE49-F238E27FC236}">
                <a16:creationId xmlns:a16="http://schemas.microsoft.com/office/drawing/2014/main" id="{B322619D-C7BB-4CE2-9339-AE469DEA2F02}"/>
              </a:ext>
            </a:extLst>
          </p:cNvPr>
          <p:cNvSpPr>
            <a:spLocks xmlns:a="http://schemas.openxmlformats.org/drawingml/2006/main" noGrp="1"/>
          </p:cNvSpPr>
          <p:nvPr/>
        </p:nvSpPr>
        <p:spPr>
          <a:xfrm xmlns:a="http://schemas.openxmlformats.org/drawingml/2006/main">
            <a:off x="781050" y="16954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72A33"/>
                </a:solidFill>
                <a:latin typeface="Arial"/>
                <a:ea typeface="Arial"/>
                <a:cs typeface="Arial"/>
              </a:defRPr>
            </a:pPr>
            <a:r>
              <a:rPr sz="2025" b="1" i="0">
                <a:solidFill>
                  <a:srgbClr val="172A33"/>
                </a:solidFill>
                <a:latin typeface="Arial"/>
                <a:ea typeface="Arial"/>
                <a:cs typeface="Arial"/>
              </a:rPr>
              <a:t>M_req · requerido</a:t>
            </a:r>
          </a:p>
        </p:txBody>
      </p:sp>
      <p:sp>
        <p:nvSpPr>
          <p:cNvPr id="5" name="boundary-rule-0">
            <a:extLst xmlns:a="http://schemas.openxmlformats.org/drawingml/2006/main">
              <a:ext uri="{FF2B5EF4-FFF2-40B4-BE49-F238E27FC236}">
                <a16:creationId xmlns:a16="http://schemas.microsoft.com/office/drawing/2014/main" id="{AFC3A877-D075-4C5D-9CC4-477722590A42}"/>
              </a:ext>
            </a:extLst>
          </p:cNvPr>
          <p:cNvSpPr>
            <a:spLocks xmlns:a="http://schemas.openxmlformats.org/drawingml/2006/main" noGrp="1"/>
          </p:cNvSpPr>
          <p:nvPr/>
        </p:nvSpPr>
        <p:spPr>
          <a:xfrm xmlns:a="http://schemas.openxmlformats.org/drawingml/2006/main">
            <a:off x="781050" y="2247900"/>
            <a:ext cx="31432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6" name="boundary-body-0">
            <a:extLst xmlns:a="http://schemas.openxmlformats.org/drawingml/2006/main">
              <a:ext uri="{FF2B5EF4-FFF2-40B4-BE49-F238E27FC236}">
                <a16:creationId xmlns:a16="http://schemas.microsoft.com/office/drawing/2014/main" id="{569AD16D-E4CD-4D82-BB15-ECA57CCB86A8}"/>
              </a:ext>
            </a:extLst>
          </p:cNvPr>
          <p:cNvSpPr>
            <a:spLocks xmlns:a="http://schemas.openxmlformats.org/drawingml/2006/main" noGrp="1"/>
          </p:cNvSpPr>
          <p:nvPr/>
        </p:nvSpPr>
        <p:spPr>
          <a:xfrm xmlns:a="http://schemas.openxmlformats.org/drawingml/2006/main">
            <a:off x="781050" y="24955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Workflow + tamaños + ubicación real de las tareas.</a:t>
            </a:r>
          </a:p>
          <a:p xmlns:a="http://schemas.openxmlformats.org/drawingml/2006/main">
            <a:r>
              <a:t/>
            </a:r>
          </a:p>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Cuenta ubicaciones nuevas distintas donde cada archivo se necesita.</a:t>
            </a:r>
          </a:p>
        </p:txBody>
      </p:sp>
      <p:sp>
        <p:nvSpPr>
          <p:cNvPr id="7" name="boundary-title-1">
            <a:extLst xmlns:a="http://schemas.openxmlformats.org/drawingml/2006/main">
              <a:ext uri="{FF2B5EF4-FFF2-40B4-BE49-F238E27FC236}">
                <a16:creationId xmlns:a16="http://schemas.microsoft.com/office/drawing/2014/main" id="{1E66C67F-CE0C-4AF5-82FC-E89C4354093A}"/>
              </a:ext>
            </a:extLst>
          </p:cNvPr>
          <p:cNvSpPr>
            <a:spLocks xmlns:a="http://schemas.openxmlformats.org/drawingml/2006/main" noGrp="1"/>
          </p:cNvSpPr>
          <p:nvPr/>
        </p:nvSpPr>
        <p:spPr>
          <a:xfrm xmlns:a="http://schemas.openxmlformats.org/drawingml/2006/main">
            <a:off x="4438650" y="16954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172A33"/>
                </a:solidFill>
                <a:latin typeface="Arial"/>
                <a:ea typeface="Arial"/>
                <a:cs typeface="Arial"/>
              </a:defRPr>
            </a:pPr>
            <a:r>
              <a:rPr sz="2025" b="1" i="0">
                <a:solidFill>
                  <a:srgbClr val="172A33"/>
                </a:solidFill>
                <a:latin typeface="Arial"/>
                <a:ea typeface="Arial"/>
                <a:cs typeface="Arial"/>
              </a:rPr>
              <a:t>M_rec · declarado</a:t>
            </a:r>
          </a:p>
        </p:txBody>
      </p:sp>
      <p:sp>
        <p:nvSpPr>
          <p:cNvPr id="8" name="boundary-rule-1">
            <a:extLst xmlns:a="http://schemas.openxmlformats.org/drawingml/2006/main">
              <a:ext uri="{FF2B5EF4-FFF2-40B4-BE49-F238E27FC236}">
                <a16:creationId xmlns:a16="http://schemas.microsoft.com/office/drawing/2014/main" id="{4A5A806E-D24B-48DA-B5C4-932D4CB8F150}"/>
              </a:ext>
            </a:extLst>
          </p:cNvPr>
          <p:cNvSpPr>
            <a:spLocks xmlns:a="http://schemas.openxmlformats.org/drawingml/2006/main" noGrp="1"/>
          </p:cNvSpPr>
          <p:nvPr/>
        </p:nvSpPr>
        <p:spPr>
          <a:xfrm xmlns:a="http://schemas.openxmlformats.org/drawingml/2006/main">
            <a:off x="4438650" y="2247900"/>
            <a:ext cx="31432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9" name="boundary-body-1">
            <a:extLst xmlns:a="http://schemas.openxmlformats.org/drawingml/2006/main">
              <a:ext uri="{FF2B5EF4-FFF2-40B4-BE49-F238E27FC236}">
                <a16:creationId xmlns:a16="http://schemas.microsoft.com/office/drawing/2014/main" id="{F9554D9A-98A6-40D6-87F3-49E2A6B7305E}"/>
              </a:ext>
            </a:extLst>
          </p:cNvPr>
          <p:cNvSpPr>
            <a:spLocks xmlns:a="http://schemas.openxmlformats.org/drawingml/2006/main" noGrp="1"/>
          </p:cNvSpPr>
          <p:nvPr/>
        </p:nvSpPr>
        <p:spPr>
          <a:xfrm xmlns:a="http://schemas.openxmlformats.org/drawingml/2006/main">
            <a:off x="4438650" y="24955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54"/>
          </a:bodyPr>
          <a:lstStyle xmlns:a="http://schemas.openxmlformats.org/drawingml/2006/main"/>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Manifiestos efectivos de cada job.</a:t>
            </a:r>
          </a:p>
          <a:p xmlns:a="http://schemas.openxmlformats.org/drawingml/2006/main">
            <a:r>
              <a:t/>
            </a:r>
          </a:p>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Suma las ocurrencias científicas que Pegasus/HTCondor declaran transferir.</a:t>
            </a:r>
          </a:p>
        </p:txBody>
      </p:sp>
      <p:sp>
        <p:nvSpPr>
          <p:cNvPr id="10" name="boundary-title-2">
            <a:extLst xmlns:a="http://schemas.openxmlformats.org/drawingml/2006/main">
              <a:ext uri="{FF2B5EF4-FFF2-40B4-BE49-F238E27FC236}">
                <a16:creationId xmlns:a16="http://schemas.microsoft.com/office/drawing/2014/main" id="{D409D7C5-6634-4758-8DB4-16B1B0D10A2A}"/>
              </a:ext>
            </a:extLst>
          </p:cNvPr>
          <p:cNvSpPr>
            <a:spLocks xmlns:a="http://schemas.openxmlformats.org/drawingml/2006/main" noGrp="1"/>
          </p:cNvSpPr>
          <p:nvPr/>
        </p:nvSpPr>
        <p:spPr>
          <a:xfrm xmlns:a="http://schemas.openxmlformats.org/drawingml/2006/main">
            <a:off x="8096250" y="16954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025" b="1" i="0">
                <a:solidFill>
                  <a:srgbClr val="087E78"/>
                </a:solidFill>
                <a:latin typeface="Arial"/>
                <a:ea typeface="Arial"/>
                <a:cs typeface="Arial"/>
              </a:defRPr>
            </a:pPr>
            <a:r>
              <a:rPr sz="2025" b="1" i="0">
                <a:solidFill>
                  <a:srgbClr val="087E78"/>
                </a:solidFill>
                <a:latin typeface="Arial"/>
                <a:ea typeface="Arial"/>
                <a:cs typeface="Arial"/>
              </a:rPr>
              <a:t>M_obs · confirmado</a:t>
            </a:r>
          </a:p>
        </p:txBody>
      </p:sp>
      <p:sp>
        <p:nvSpPr>
          <p:cNvPr id="11" name="boundary-rule-2">
            <a:extLst xmlns:a="http://schemas.openxmlformats.org/drawingml/2006/main">
              <a:ext uri="{FF2B5EF4-FFF2-40B4-BE49-F238E27FC236}">
                <a16:creationId xmlns:a16="http://schemas.microsoft.com/office/drawing/2014/main" id="{B9914BF7-146E-416D-A4C3-044B055113D9}"/>
              </a:ext>
            </a:extLst>
          </p:cNvPr>
          <p:cNvSpPr>
            <a:spLocks xmlns:a="http://schemas.openxmlformats.org/drawingml/2006/main" noGrp="1"/>
          </p:cNvSpPr>
          <p:nvPr/>
        </p:nvSpPr>
        <p:spPr>
          <a:xfrm xmlns:a="http://schemas.openxmlformats.org/drawingml/2006/main">
            <a:off x="8096250" y="2247900"/>
            <a:ext cx="3143250" cy="28575"/>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2" name="boundary-body-2">
            <a:extLst xmlns:a="http://schemas.openxmlformats.org/drawingml/2006/main">
              <a:ext uri="{FF2B5EF4-FFF2-40B4-BE49-F238E27FC236}">
                <a16:creationId xmlns:a16="http://schemas.microsoft.com/office/drawing/2014/main" id="{C8CC8F13-AB40-4492-A8EF-70037EFE0B6B}"/>
              </a:ext>
            </a:extLst>
          </p:cNvPr>
          <p:cNvSpPr>
            <a:spLocks xmlns:a="http://schemas.openxmlformats.org/drawingml/2006/main" noGrp="1"/>
          </p:cNvSpPr>
          <p:nvPr/>
        </p:nvSpPr>
        <p:spPr>
          <a:xfrm xmlns:a="http://schemas.openxmlformats.org/drawingml/2006/main">
            <a:off x="8096250" y="2495550"/>
            <a:ext cx="314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Manifiesto reconciliado con historial HTCondor.</a:t>
            </a:r>
          </a:p>
          <a:p xmlns:a="http://schemas.openxmlformats.org/drawingml/2006/main">
            <a:r>
              <a:t/>
            </a:r>
          </a:p>
          <a:p xmlns:a="http://schemas.openxmlformats.org/drawingml/2006/main">
            <a:pPr algn="l">
              <a:lnSpc>
                <a:spcPct val="106000"/>
              </a:lnSpc>
              <a:buNone/>
              <a:defRPr sz="1725" b="0" i="0">
                <a:solidFill>
                  <a:srgbClr val="293A42"/>
                </a:solidFill>
                <a:latin typeface="Arial"/>
                <a:ea typeface="Arial"/>
                <a:cs typeface="Arial"/>
              </a:defRPr>
            </a:pPr>
            <a:r>
              <a:rPr sz="1725" b="0" i="0">
                <a:solidFill>
                  <a:srgbClr val="293A42"/>
                </a:solidFill>
                <a:latin typeface="Arial"/>
                <a:ea typeface="Arial"/>
                <a:cs typeface="Arial"/>
              </a:rPr>
              <a:t>Suma tamaños de ocurrencias científicas confirmadas, solo con cobertura completa.</a:t>
            </a:r>
          </a:p>
        </p:txBody>
      </p:sp>
      <p:sp>
        <p:nvSpPr>
          <p:cNvPr id="13" name="boundary-coverage">
            <a:extLst xmlns:a="http://schemas.openxmlformats.org/drawingml/2006/main">
              <a:ext uri="{FF2B5EF4-FFF2-40B4-BE49-F238E27FC236}">
                <a16:creationId xmlns:a16="http://schemas.microsoft.com/office/drawing/2014/main" id="{49B426F6-33CE-4153-A375-8B60FA72523F}"/>
              </a:ext>
            </a:extLst>
          </p:cNvPr>
          <p:cNvSpPr>
            <a:spLocks xmlns:a="http://schemas.openxmlformats.org/drawingml/2006/main" noGrp="1"/>
          </p:cNvSpPr>
          <p:nvPr/>
        </p:nvSpPr>
        <p:spPr>
          <a:xfrm xmlns:a="http://schemas.openxmlformats.org/drawingml/2006/main">
            <a:off x="781050" y="466725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3333"/>
          </a:bodyPr>
          <a:lstStyle xmlns:a="http://schemas.openxmlformats.org/drawingml/2006/main"/>
          <a:p xmlns:a="http://schemas.openxmlformats.org/drawingml/2006/main">
            <a:pPr algn="ctr">
              <a:lnSpc>
                <a:spcPct val="100000"/>
              </a:lnSpc>
              <a:buNone/>
              <a:defRPr sz="1800" b="1" i="0">
                <a:solidFill>
                  <a:srgbClr val="172A33"/>
                </a:solidFill>
                <a:latin typeface="Arial"/>
                <a:ea typeface="Arial"/>
                <a:cs typeface="Arial"/>
              </a:defRPr>
            </a:pPr>
            <a:r>
              <a:rPr sz="1800" b="1" i="0">
                <a:solidFill>
                  <a:srgbClr val="172A33"/>
                </a:solidFill>
                <a:latin typeface="Arial"/>
                <a:ea typeface="Arial"/>
                <a:cs typeface="Arial"/>
              </a:rPr>
              <a:t>Coverage = ocurrencias confirmadas / ocurrencias declaradas. Si Coverage &lt; 1, M_obs y DME quedan indeterminadas.</a:t>
            </a:r>
          </a:p>
        </p:txBody>
      </p:sp>
      <p:sp>
        <p:nvSpPr>
          <p:cNvPr id="14" name="boundary-note-bg">
            <a:extLst xmlns:a="http://schemas.openxmlformats.org/drawingml/2006/main">
              <a:ext uri="{FF2B5EF4-FFF2-40B4-BE49-F238E27FC236}">
                <a16:creationId xmlns:a16="http://schemas.microsoft.com/office/drawing/2014/main" id="{1F47A110-C5BC-4B11-B5FA-583E5CF0887A}"/>
              </a:ext>
            </a:extLst>
          </p:cNvPr>
          <p:cNvSpPr>
            <a:spLocks xmlns:a="http://schemas.openxmlformats.org/drawingml/2006/main" noGrp="1"/>
          </p:cNvSpPr>
          <p:nvPr/>
        </p:nvSpPr>
        <p:spPr>
          <a:xfrm xmlns:a="http://schemas.openxmlformats.org/drawingml/2006/main">
            <a:off x="781050" y="5381625"/>
            <a:ext cx="10534650" cy="704850"/>
          </a:xfrm>
          <a:prstGeom xmlns:a="http://schemas.openxmlformats.org/drawingml/2006/main" prst="rect">
            <a:avLst/>
          </a:prstGeom>
          <a:solidFill xmlns:a="http://schemas.openxmlformats.org/drawingml/2006/main">
            <a:srgbClr val="E7F2F0"/>
          </a:solidFill>
          <a:ln xmlns:a="http://schemas.openxmlformats.org/drawingml/2006/main" w="9525">
            <a:solidFill>
              <a:srgbClr val="087E78"/>
            </a:solidFill>
            <a:prstDash val="solid"/>
          </a:ln>
        </p:spPr>
      </p:sp>
      <p:sp>
        <p:nvSpPr>
          <p:cNvPr id="15" name="boundary-note">
            <a:extLst xmlns:a="http://schemas.openxmlformats.org/drawingml/2006/main">
              <a:ext uri="{FF2B5EF4-FFF2-40B4-BE49-F238E27FC236}">
                <a16:creationId xmlns:a16="http://schemas.microsoft.com/office/drawing/2014/main" id="{B610468F-9915-44EF-ADA4-930BF263012B}"/>
              </a:ext>
            </a:extLst>
          </p:cNvPr>
          <p:cNvSpPr>
            <a:spLocks xmlns:a="http://schemas.openxmlformats.org/drawingml/2006/main" noGrp="1"/>
          </p:cNvSpPr>
          <p:nvPr/>
        </p:nvSpPr>
        <p:spPr>
          <a:xfrm xmlns:a="http://schemas.openxmlformats.org/drawingml/2006/main">
            <a:off x="990600" y="5495925"/>
            <a:ext cx="1011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172A33"/>
                </a:solidFill>
                <a:latin typeface="Arial"/>
                <a:ea typeface="Arial"/>
                <a:cs typeface="Arial"/>
              </a:defRPr>
            </a:pPr>
            <a:r>
              <a:rPr sz="1500" b="0" i="0">
                <a:solidFill>
                  <a:srgbClr val="172A33"/>
                </a:solidFill>
                <a:latin typeface="Arial"/>
                <a:ea typeface="Arial"/>
                <a:cs typeface="Arial"/>
              </a:rPr>
              <a:t>No tienen la misma frontera de conteo: M_req cuenta destinos lógicos; M_obs suma ocurrencias por job. M_obs no es tráfico físico ni bytes evitables.</a:t>
            </a:r>
          </a:p>
        </p:txBody>
      </p:sp>
    </p:spTree>
    <p:extLst>
      <p:ext uri="{BB962C8B-B14F-4D97-AF65-F5344CB8AC3E}">
        <p14:creationId xmlns:p14="http://schemas.microsoft.com/office/powerpoint/2010/main" val="1335320002"/>
      </p:ext>
    </p:extLst>
  </p:cSld>
</p:sld>
</file>

<file path=ppt/slides/slide6.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4" name="slide-title-6">
            <a:extLst xmlns:a="http://schemas.openxmlformats.org/drawingml/2006/main">
              <a:ext uri="{FF2B5EF4-FFF2-40B4-BE49-F238E27FC236}">
                <a16:creationId xmlns:a16="http://schemas.microsoft.com/office/drawing/2014/main" id="{F6E65894-76B7-49FC-860C-7DE725A49654}"/>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La matemática en palabras sencillas</a:t>
            </a:r>
          </a:p>
        </p:txBody>
      </p:sp>
      <p:sp>
        <p:nvSpPr>
          <p:cNvPr id="2" name="title-rule-6">
            <a:extLst xmlns:a="http://schemas.openxmlformats.org/drawingml/2006/main">
              <a:ext uri="{FF2B5EF4-FFF2-40B4-BE49-F238E27FC236}">
                <a16:creationId xmlns:a16="http://schemas.microsoft.com/office/drawing/2014/main" id="{E7AD73BC-A546-4872-8D27-956788922CC5}"/>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6">
            <a:extLst xmlns:a="http://schemas.openxmlformats.org/drawingml/2006/main">
              <a:ext uri="{FF2B5EF4-FFF2-40B4-BE49-F238E27FC236}">
                <a16:creationId xmlns:a16="http://schemas.microsoft.com/office/drawing/2014/main" id="{3BCDF821-4CBE-46D6-B616-39D79B78C1DC}"/>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06</a:t>
            </a:r>
          </a:p>
        </p:txBody>
      </p:sp>
      <p:sp>
        <p:nvSpPr>
          <p:cNvPr id="4" name="formula-req-label">
            <a:extLst xmlns:a="http://schemas.openxmlformats.org/drawingml/2006/main">
              <a:ext uri="{FF2B5EF4-FFF2-40B4-BE49-F238E27FC236}">
                <a16:creationId xmlns:a16="http://schemas.microsoft.com/office/drawing/2014/main" id="{27C30E04-8FE3-4ADE-B022-3821A37B439A}"/>
              </a:ext>
            </a:extLst>
          </p:cNvPr>
          <p:cNvSpPr>
            <a:spLocks xmlns:a="http://schemas.openxmlformats.org/drawingml/2006/main" noGrp="1"/>
          </p:cNvSpPr>
          <p:nvPr/>
        </p:nvSpPr>
        <p:spPr>
          <a:xfrm xmlns:a="http://schemas.openxmlformats.org/drawingml/2006/main">
            <a:off x="857250" y="1409700"/>
            <a:ext cx="1009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4B626D"/>
                </a:solidFill>
                <a:latin typeface="Arial"/>
                <a:ea typeface="Arial"/>
                <a:cs typeface="Arial"/>
              </a:defRPr>
            </a:pPr>
            <a:r>
              <a:rPr sz="1800" b="1" i="0">
                <a:solidFill>
                  <a:srgbClr val="4B626D"/>
                </a:solidFill>
                <a:latin typeface="Arial"/>
                <a:ea typeface="Arial"/>
                <a:cs typeface="Arial"/>
              </a:rPr>
              <a:t>1. Movimiento lógico requerido</a:t>
            </a:r>
          </a:p>
        </p:txBody>
      </p:sp>
      <p:sp>
        <p:nvSpPr>
          <p:cNvPr id="5" name="formula-req">
            <a:extLst xmlns:a="http://schemas.openxmlformats.org/drawingml/2006/main">
              <a:ext uri="{FF2B5EF4-FFF2-40B4-BE49-F238E27FC236}">
                <a16:creationId xmlns:a16="http://schemas.microsoft.com/office/drawing/2014/main" id="{3B101979-0DFB-4B7F-B9F7-73B7E58488CA}"/>
              </a:ext>
            </a:extLst>
          </p:cNvPr>
          <p:cNvSpPr>
            <a:spLocks xmlns:a="http://schemas.openxmlformats.org/drawingml/2006/main" noGrp="1"/>
          </p:cNvSpPr>
          <p:nvPr/>
        </p:nvSpPr>
        <p:spPr>
          <a:xfrm xmlns:a="http://schemas.openxmlformats.org/drawingml/2006/main">
            <a:off x="876300" y="1847850"/>
            <a:ext cx="104394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325" b="1" i="0">
                <a:solidFill>
                  <a:srgbClr val="172A33"/>
                </a:solidFill>
                <a:latin typeface="Cambria Math"/>
                <a:ea typeface="Cambria Math"/>
                <a:cs typeface="Cambria Math"/>
              </a:defRPr>
            </a:pPr>
            <a:r>
              <a:rPr sz="2325" b="1" i="0">
                <a:solidFill>
                  <a:srgbClr val="172A33"/>
                </a:solidFill>
                <a:latin typeface="Cambria Math"/>
                <a:ea typeface="Cambria Math"/>
                <a:cs typeface="Cambria Math"/>
              </a:rPr>
              <a:t>M_req = Σ por archivo (tamaño × destinos nuevos requeridos)</a:t>
            </a:r>
          </a:p>
        </p:txBody>
      </p:sp>
      <p:sp>
        <p:nvSpPr>
          <p:cNvPr id="6" name="formula-req-explain">
            <a:extLst xmlns:a="http://schemas.openxmlformats.org/drawingml/2006/main">
              <a:ext uri="{FF2B5EF4-FFF2-40B4-BE49-F238E27FC236}">
                <a16:creationId xmlns:a16="http://schemas.microsoft.com/office/drawing/2014/main" id="{CF0CF98B-F10B-4BC8-AB0F-A8FB870B20A4}"/>
              </a:ext>
            </a:extLst>
          </p:cNvPr>
          <p:cNvSpPr>
            <a:spLocks xmlns:a="http://schemas.openxmlformats.org/drawingml/2006/main" noGrp="1"/>
          </p:cNvSpPr>
          <p:nvPr/>
        </p:nvSpPr>
        <p:spPr>
          <a:xfrm xmlns:a="http://schemas.openxmlformats.org/drawingml/2006/main">
            <a:off x="1123950" y="2667000"/>
            <a:ext cx="990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Si varios consumidores están en el mismo worker, esa ubicación se cuenta una sola vez.</a:t>
            </a:r>
          </a:p>
        </p:txBody>
      </p:sp>
      <p:sp>
        <p:nvSpPr>
          <p:cNvPr id="7" name="formula-rule">
            <a:extLst xmlns:a="http://schemas.openxmlformats.org/drawingml/2006/main">
              <a:ext uri="{FF2B5EF4-FFF2-40B4-BE49-F238E27FC236}">
                <a16:creationId xmlns:a16="http://schemas.microsoft.com/office/drawing/2014/main" id="{7FA41D38-58A7-4917-97F7-648F6B79D5F4}"/>
              </a:ext>
            </a:extLst>
          </p:cNvPr>
          <p:cNvSpPr>
            <a:spLocks xmlns:a="http://schemas.openxmlformats.org/drawingml/2006/main" noGrp="1"/>
          </p:cNvSpPr>
          <p:nvPr/>
        </p:nvSpPr>
        <p:spPr>
          <a:xfrm xmlns:a="http://schemas.openxmlformats.org/drawingml/2006/main">
            <a:off x="876300" y="3343275"/>
            <a:ext cx="10439400" cy="1333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8" name="formula-coverage-label">
            <a:extLst xmlns:a="http://schemas.openxmlformats.org/drawingml/2006/main">
              <a:ext uri="{FF2B5EF4-FFF2-40B4-BE49-F238E27FC236}">
                <a16:creationId xmlns:a16="http://schemas.microsoft.com/office/drawing/2014/main" id="{07A625BB-4FE9-4EB0-A772-929BA94169C2}"/>
              </a:ext>
            </a:extLst>
          </p:cNvPr>
          <p:cNvSpPr>
            <a:spLocks xmlns:a="http://schemas.openxmlformats.org/drawingml/2006/main" noGrp="1"/>
          </p:cNvSpPr>
          <p:nvPr/>
        </p:nvSpPr>
        <p:spPr>
          <a:xfrm xmlns:a="http://schemas.openxmlformats.org/drawingml/2006/main">
            <a:off x="857250" y="3581400"/>
            <a:ext cx="1009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1" i="0">
                <a:solidFill>
                  <a:srgbClr val="4B626D"/>
                </a:solidFill>
                <a:latin typeface="Arial"/>
                <a:ea typeface="Arial"/>
                <a:cs typeface="Arial"/>
              </a:defRPr>
            </a:pPr>
            <a:r>
              <a:rPr sz="1800" b="1" i="0">
                <a:solidFill>
                  <a:srgbClr val="4B626D"/>
                </a:solidFill>
                <a:latin typeface="Arial"/>
                <a:ea typeface="Arial"/>
                <a:cs typeface="Arial"/>
              </a:rPr>
              <a:t>2. Movimiento confirmado y razón</a:t>
            </a:r>
          </a:p>
        </p:txBody>
      </p:sp>
      <p:sp>
        <p:nvSpPr>
          <p:cNvPr id="9" name="formula-coverage">
            <a:extLst xmlns:a="http://schemas.openxmlformats.org/drawingml/2006/main">
              <a:ext uri="{FF2B5EF4-FFF2-40B4-BE49-F238E27FC236}">
                <a16:creationId xmlns:a16="http://schemas.microsoft.com/office/drawing/2014/main" id="{643FFBCB-8BCD-4B76-8B67-A23D9AC9B502}"/>
              </a:ext>
            </a:extLst>
          </p:cNvPr>
          <p:cNvSpPr>
            <a:spLocks xmlns:a="http://schemas.openxmlformats.org/drawingml/2006/main" noGrp="1"/>
          </p:cNvSpPr>
          <p:nvPr/>
        </p:nvSpPr>
        <p:spPr>
          <a:xfrm xmlns:a="http://schemas.openxmlformats.org/drawingml/2006/main">
            <a:off x="876300" y="3914775"/>
            <a:ext cx="1043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175" b="1" i="0">
                <a:solidFill>
                  <a:srgbClr val="172A33"/>
                </a:solidFill>
                <a:latin typeface="Cambria Math"/>
                <a:ea typeface="Cambria Math"/>
                <a:cs typeface="Cambria Math"/>
              </a:defRPr>
            </a:pPr>
            <a:r>
              <a:rPr sz="2175" b="1" i="0">
                <a:solidFill>
                  <a:srgbClr val="172A33"/>
                </a:solidFill>
                <a:latin typeface="Cambria Math"/>
                <a:ea typeface="Cambria Math"/>
                <a:cs typeface="Cambria Math"/>
              </a:rPr>
              <a:t>Coverage = |C_sci| / |D_sci|</a:t>
            </a:r>
          </a:p>
        </p:txBody>
      </p:sp>
      <p:sp>
        <p:nvSpPr>
          <p:cNvPr id="10" name="formula-coverage-defs">
            <a:extLst xmlns:a="http://schemas.openxmlformats.org/drawingml/2006/main">
              <a:ext uri="{FF2B5EF4-FFF2-40B4-BE49-F238E27FC236}">
                <a16:creationId xmlns:a16="http://schemas.microsoft.com/office/drawing/2014/main" id="{6F70054B-0D69-4289-A85B-306886F2BB28}"/>
              </a:ext>
            </a:extLst>
          </p:cNvPr>
          <p:cNvSpPr>
            <a:spLocks xmlns:a="http://schemas.openxmlformats.org/drawingml/2006/main" noGrp="1"/>
          </p:cNvSpPr>
          <p:nvPr/>
        </p:nvSpPr>
        <p:spPr>
          <a:xfrm xmlns:a="http://schemas.openxmlformats.org/drawingml/2006/main">
            <a:off x="876300" y="4352925"/>
            <a:ext cx="10439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D_sci = ocurrencias científicas declaradas · C_sci = ocurrencias reconciliadas con HTCondor por job</a:t>
            </a:r>
          </a:p>
        </p:txBody>
      </p:sp>
      <p:sp>
        <p:nvSpPr>
          <p:cNvPr id="11" name="formula-obs">
            <a:extLst xmlns:a="http://schemas.openxmlformats.org/drawingml/2006/main">
              <a:ext uri="{FF2B5EF4-FFF2-40B4-BE49-F238E27FC236}">
                <a16:creationId xmlns:a16="http://schemas.microsoft.com/office/drawing/2014/main" id="{4B666EFF-DACC-40DD-AAD0-D98831281C42}"/>
              </a:ext>
            </a:extLst>
          </p:cNvPr>
          <p:cNvSpPr>
            <a:spLocks xmlns:a="http://schemas.openxmlformats.org/drawingml/2006/main" noGrp="1"/>
          </p:cNvSpPr>
          <p:nvPr/>
        </p:nvSpPr>
        <p:spPr>
          <a:xfrm xmlns:a="http://schemas.openxmlformats.org/drawingml/2006/main">
            <a:off x="876300" y="472440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172A33"/>
                </a:solidFill>
                <a:latin typeface="Cambria Math"/>
                <a:ea typeface="Cambria Math"/>
                <a:cs typeface="Cambria Math"/>
              </a:defRPr>
            </a:pPr>
            <a:r>
              <a:rPr sz="1725" b="1" i="0">
                <a:solidFill>
                  <a:srgbClr val="172A33"/>
                </a:solidFill>
                <a:latin typeface="Cambria Math"/>
                <a:ea typeface="Cambria Math"/>
                <a:cs typeface="Cambria Math"/>
              </a:rPr>
              <a:t>M_obs = tamaños de C_sci, solo si Coverage = 1</a:t>
            </a:r>
          </a:p>
        </p:txBody>
      </p:sp>
      <p:sp>
        <p:nvSpPr>
          <p:cNvPr id="12" name="formula-dme">
            <a:extLst xmlns:a="http://schemas.openxmlformats.org/drawingml/2006/main">
              <a:ext uri="{FF2B5EF4-FFF2-40B4-BE49-F238E27FC236}">
                <a16:creationId xmlns:a16="http://schemas.microsoft.com/office/drawing/2014/main" id="{DE6415A1-4353-4215-9BA5-4CDB9CEEEAB9}"/>
              </a:ext>
            </a:extLst>
          </p:cNvPr>
          <p:cNvSpPr>
            <a:spLocks xmlns:a="http://schemas.openxmlformats.org/drawingml/2006/main" noGrp="1"/>
          </p:cNvSpPr>
          <p:nvPr/>
        </p:nvSpPr>
        <p:spPr>
          <a:xfrm xmlns:a="http://schemas.openxmlformats.org/drawingml/2006/main">
            <a:off x="876300" y="5210175"/>
            <a:ext cx="104394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Cambria Math"/>
                <a:ea typeface="Cambria Math"/>
                <a:cs typeface="Cambria Math"/>
              </a:defRPr>
            </a:pPr>
            <a:r>
              <a:rPr sz="2850" b="1" i="0">
                <a:solidFill>
                  <a:srgbClr val="087E78"/>
                </a:solidFill>
                <a:latin typeface="Cambria Math"/>
                <a:ea typeface="Cambria Math"/>
                <a:cs typeface="Cambria Math"/>
              </a:rPr>
              <a:t>DME = M_req / M_obs</a:t>
            </a:r>
          </a:p>
        </p:txBody>
      </p:sp>
      <p:sp>
        <p:nvSpPr>
          <p:cNvPr id="13" name="formula-dme-note">
            <a:extLst xmlns:a="http://schemas.openxmlformats.org/drawingml/2006/main">
              <a:ext uri="{FF2B5EF4-FFF2-40B4-BE49-F238E27FC236}">
                <a16:creationId xmlns:a16="http://schemas.microsoft.com/office/drawing/2014/main" id="{60BBC18C-AD7C-4518-8E13-50E6EBFD2390}"/>
              </a:ext>
            </a:extLst>
          </p:cNvPr>
          <p:cNvSpPr>
            <a:spLocks xmlns:a="http://schemas.openxmlformats.org/drawingml/2006/main" noGrp="1"/>
          </p:cNvSpPr>
          <p:nvPr/>
        </p:nvSpPr>
        <p:spPr>
          <a:xfrm xmlns:a="http://schemas.openxmlformats.org/drawingml/2006/main">
            <a:off x="876300" y="5829300"/>
            <a:ext cx="1043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i="0">
                <a:solidFill>
                  <a:srgbClr val="65757C"/>
                </a:solidFill>
                <a:latin typeface="Arial"/>
                <a:ea typeface="Arial"/>
                <a:cs typeface="Arial"/>
              </a:defRPr>
            </a:pPr>
            <a:r>
              <a:rPr sz="1425" b="0" i="0">
                <a:solidFill>
                  <a:srgbClr val="65757C"/>
                </a:solidFill>
                <a:latin typeface="Arial"/>
                <a:ea typeface="Arial"/>
                <a:cs typeface="Arial"/>
              </a:rPr>
              <a:t>La DME es una razón de volúmenes, no una medida de rapidez o rendimiento.</a:t>
            </a:r>
          </a:p>
        </p:txBody>
      </p:sp>
    </p:spTree>
    <p:extLst>
      <p:ext uri="{BB962C8B-B14F-4D97-AF65-F5344CB8AC3E}">
        <p14:creationId xmlns:p14="http://schemas.microsoft.com/office/powerpoint/2010/main" val="38464035"/>
      </p:ext>
    </p:extLst>
  </p:cSld>
</p:sld>
</file>

<file path=ppt/slides/slide7.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35" name="slide-title-7">
            <a:extLst xmlns:a="http://schemas.openxmlformats.org/drawingml/2006/main">
              <a:ext uri="{FF2B5EF4-FFF2-40B4-BE49-F238E27FC236}">
                <a16:creationId xmlns:a16="http://schemas.microsoft.com/office/drawing/2014/main" id="{FCA43B1A-70E7-4750-BE44-9CCB902DA95C}"/>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Ejemplo de cálculo en dos ubicaciones</a:t>
            </a:r>
          </a:p>
        </p:txBody>
      </p:sp>
      <p:sp>
        <p:nvSpPr>
          <p:cNvPr id="2" name="title-rule-7">
            <a:extLst xmlns:a="http://schemas.openxmlformats.org/drawingml/2006/main">
              <a:ext uri="{FF2B5EF4-FFF2-40B4-BE49-F238E27FC236}">
                <a16:creationId xmlns:a16="http://schemas.microsoft.com/office/drawing/2014/main" id="{F797C708-7939-4B47-A748-8A1AEFAB1F94}"/>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7">
            <a:extLst xmlns:a="http://schemas.openxmlformats.org/drawingml/2006/main">
              <a:ext uri="{FF2B5EF4-FFF2-40B4-BE49-F238E27FC236}">
                <a16:creationId xmlns:a16="http://schemas.microsoft.com/office/drawing/2014/main" id="{4C04F897-82F3-4321-B312-15A10CB10F23}"/>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07</a:t>
            </a:r>
          </a:p>
        </p:txBody>
      </p:sp>
      <p:sp>
        <p:nvSpPr>
          <p:cNvPr id="4" name="example-sub">
            <a:extLst xmlns:a="http://schemas.openxmlformats.org/drawingml/2006/main">
              <a:ext uri="{FF2B5EF4-FFF2-40B4-BE49-F238E27FC236}">
                <a16:creationId xmlns:a16="http://schemas.microsoft.com/office/drawing/2014/main" id="{0082BE06-88DE-4A08-BD01-73CDD96AFBB8}"/>
              </a:ext>
            </a:extLst>
          </p:cNvPr>
          <p:cNvSpPr>
            <a:spLocks xmlns:a="http://schemas.openxmlformats.org/drawingml/2006/main" noGrp="1"/>
          </p:cNvSpPr>
          <p:nvPr/>
        </p:nvSpPr>
        <p:spPr>
          <a:xfrm xmlns:a="http://schemas.openxmlformats.org/drawingml/2006/main">
            <a:off x="781050" y="12954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65757C"/>
                </a:solidFill>
                <a:latin typeface="Arial"/>
                <a:ea typeface="Arial"/>
                <a:cs typeface="Arial"/>
              </a:defRPr>
            </a:pPr>
            <a:r>
              <a:rPr sz="1650" b="0" i="0">
                <a:solidFill>
                  <a:srgbClr val="65757C"/>
                </a:solidFill>
                <a:latin typeface="Arial"/>
                <a:ea typeface="Arial"/>
                <a:cs typeface="Arial"/>
              </a:rPr>
              <a:t>Tres tareas · 6 ocurrencias científicas confirmadas × 10 MiB = M_obs de 60 MiB.</a:t>
            </a:r>
          </a:p>
        </p:txBody>
      </p:sp>
      <p:sp>
        <p:nvSpPr>
          <p:cNvPr id="5" name="example-local-label">
            <a:extLst xmlns:a="http://schemas.openxmlformats.org/drawingml/2006/main">
              <a:ext uri="{FF2B5EF4-FFF2-40B4-BE49-F238E27FC236}">
                <a16:creationId xmlns:a16="http://schemas.microsoft.com/office/drawing/2014/main" id="{95A9CCD7-95A3-4C42-ADD4-13962E6C52FF}"/>
              </a:ext>
            </a:extLst>
          </p:cNvPr>
          <p:cNvSpPr>
            <a:spLocks xmlns:a="http://schemas.openxmlformats.org/drawingml/2006/main" noGrp="1"/>
          </p:cNvSpPr>
          <p:nvPr/>
        </p:nvSpPr>
        <p:spPr>
          <a:xfrm xmlns:a="http://schemas.openxmlformats.org/drawingml/2006/main">
            <a:off x="781050" y="179070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Tareas en W1</a:t>
            </a:r>
          </a:p>
        </p:txBody>
      </p:sp>
      <p:sp>
        <p:nvSpPr>
          <p:cNvPr id="6" name="example-local-lane">
            <a:extLst xmlns:a="http://schemas.openxmlformats.org/drawingml/2006/main">
              <a:ext uri="{FF2B5EF4-FFF2-40B4-BE49-F238E27FC236}">
                <a16:creationId xmlns:a16="http://schemas.microsoft.com/office/drawing/2014/main" id="{D96F9ACD-90FC-4B01-A669-DC3B6B93BCEA}"/>
              </a:ext>
            </a:extLst>
          </p:cNvPr>
          <p:cNvSpPr>
            <a:spLocks xmlns:a="http://schemas.openxmlformats.org/drawingml/2006/main" noGrp="1"/>
          </p:cNvSpPr>
          <p:nvPr/>
        </p:nvSpPr>
        <p:spPr>
          <a:xfrm xmlns:a="http://schemas.openxmlformats.org/drawingml/2006/main">
            <a:off x="781050" y="2133600"/>
            <a:ext cx="7239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W1</a:t>
            </a:r>
          </a:p>
        </p:txBody>
      </p:sp>
      <p:sp>
        <p:nvSpPr>
          <p:cNvPr id="7" name="example-local-input">
            <a:extLst xmlns:a="http://schemas.openxmlformats.org/drawingml/2006/main">
              <a:ext uri="{FF2B5EF4-FFF2-40B4-BE49-F238E27FC236}">
                <a16:creationId xmlns:a16="http://schemas.microsoft.com/office/drawing/2014/main" id="{64A3ED1A-370E-4C76-8E40-D674FCC61161}"/>
              </a:ext>
            </a:extLst>
          </p:cNvPr>
          <p:cNvSpPr>
            <a:spLocks xmlns:a="http://schemas.openxmlformats.org/drawingml/2006/main" noGrp="1"/>
          </p:cNvSpPr>
          <p:nvPr/>
        </p:nvSpPr>
        <p:spPr>
          <a:xfrm xmlns:a="http://schemas.openxmlformats.org/drawingml/2006/main">
            <a:off x="1600200" y="2152650"/>
            <a:ext cx="904875"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input</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sp>
        <p:nvSpPr>
          <p:cNvPr id="8" name="example-local-t1">
            <a:extLst xmlns:a="http://schemas.openxmlformats.org/drawingml/2006/main">
              <a:ext uri="{FF2B5EF4-FFF2-40B4-BE49-F238E27FC236}">
                <a16:creationId xmlns:a16="http://schemas.microsoft.com/office/drawing/2014/main" id="{6A0F1F33-1544-49FA-8D15-8E4B397970E9}"/>
              </a:ext>
            </a:extLst>
          </p:cNvPr>
          <p:cNvSpPr>
            <a:spLocks xmlns:a="http://schemas.openxmlformats.org/drawingml/2006/main" noGrp="1"/>
          </p:cNvSpPr>
          <p:nvPr/>
        </p:nvSpPr>
        <p:spPr>
          <a:xfrm xmlns:a="http://schemas.openxmlformats.org/drawingml/2006/main">
            <a:off x="2809875" y="20955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9" name="example-local-t2">
            <a:extLst xmlns:a="http://schemas.openxmlformats.org/drawingml/2006/main">
              <a:ext uri="{FF2B5EF4-FFF2-40B4-BE49-F238E27FC236}">
                <a16:creationId xmlns:a16="http://schemas.microsoft.com/office/drawing/2014/main" id="{094204C0-B90A-4549-BF56-7CC44EEA6130}"/>
              </a:ext>
            </a:extLst>
          </p:cNvPr>
          <p:cNvSpPr>
            <a:spLocks xmlns:a="http://schemas.openxmlformats.org/drawingml/2006/main" noGrp="1"/>
          </p:cNvSpPr>
          <p:nvPr/>
        </p:nvSpPr>
        <p:spPr>
          <a:xfrm xmlns:a="http://schemas.openxmlformats.org/drawingml/2006/main">
            <a:off x="4352925" y="20955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T2</a:t>
            </a:r>
          </a:p>
        </p:txBody>
      </p:sp>
      <p:sp>
        <p:nvSpPr>
          <p:cNvPr id="10" name="example-local-t3">
            <a:extLst xmlns:a="http://schemas.openxmlformats.org/drawingml/2006/main">
              <a:ext uri="{FF2B5EF4-FFF2-40B4-BE49-F238E27FC236}">
                <a16:creationId xmlns:a16="http://schemas.microsoft.com/office/drawing/2014/main" id="{22BA1154-BF5D-4E3C-8232-EA616A4FF6D4}"/>
              </a:ext>
            </a:extLst>
          </p:cNvPr>
          <p:cNvSpPr>
            <a:spLocks xmlns:a="http://schemas.openxmlformats.org/drawingml/2006/main" noGrp="1"/>
          </p:cNvSpPr>
          <p:nvPr/>
        </p:nvSpPr>
        <p:spPr>
          <a:xfrm xmlns:a="http://schemas.openxmlformats.org/drawingml/2006/main">
            <a:off x="5895975" y="20955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T3</a:t>
            </a:r>
          </a:p>
        </p:txBody>
      </p:sp>
      <p:sp>
        <p:nvSpPr>
          <p:cNvPr id="11" name="example-local-output">
            <a:extLst xmlns:a="http://schemas.openxmlformats.org/drawingml/2006/main">
              <a:ext uri="{FF2B5EF4-FFF2-40B4-BE49-F238E27FC236}">
                <a16:creationId xmlns:a16="http://schemas.microsoft.com/office/drawing/2014/main" id="{D2396CBC-7952-44E1-BD81-ECD05B199A77}"/>
              </a:ext>
            </a:extLst>
          </p:cNvPr>
          <p:cNvSpPr>
            <a:spLocks xmlns:a="http://schemas.openxmlformats.org/drawingml/2006/main" noGrp="1"/>
          </p:cNvSpPr>
          <p:nvPr/>
        </p:nvSpPr>
        <p:spPr>
          <a:xfrm xmlns:a="http://schemas.openxmlformats.org/drawingml/2006/main">
            <a:off x="7286625" y="2152650"/>
            <a:ext cx="1047750"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final</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cxnSp>
        <p:nvCxnSpPr>
          <p:cNvPr id="46" name=""/>
          <p:cNvCxnSpPr>
            <a:stCxn xmlns:a="http://schemas.openxmlformats.org/drawingml/2006/main" id="7" idx="6"/>
            <a:endCxn xmlns:a="http://schemas.openxmlformats.org/drawingml/2006/main" id="8" idx="1"/>
          </p:cNvCxnSpPr>
          <p:nvPr/>
        </p:nvCxnSpPr>
        <p:spPr>
          <a:xfrm xmlns:a="http://schemas.openxmlformats.org/drawingml/2006/main">
            <a:off x="2505075" y="2343150"/>
            <a:ext cx="3048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47" name=""/>
          <p:cNvCxnSpPr>
            <a:stCxn xmlns:a="http://schemas.openxmlformats.org/drawingml/2006/main" id="8" idx="3"/>
            <a:endCxn xmlns:a="http://schemas.openxmlformats.org/drawingml/2006/main" id="9" idx="1"/>
          </p:cNvCxnSpPr>
          <p:nvPr/>
        </p:nvCxnSpPr>
        <p:spPr>
          <a:xfrm xmlns:a="http://schemas.openxmlformats.org/drawingml/2006/main">
            <a:off x="3743325" y="2343150"/>
            <a:ext cx="609600" cy="0"/>
          </a:xfrm>
          <a:prstGeom xmlns:a="http://schemas.openxmlformats.org/drawingml/2006/main" prst="straightConnector1">
            <a:avLst/>
          </a:prstGeom>
          <a:ln xmlns:a="http://schemas.openxmlformats.org/drawingml/2006/main" w="20955">
            <a:solidFill>
              <a:srgbClr val="4B626D"/>
            </a:solidFill>
            <a:prstDash val="solid"/>
            <a:tailEnd type="triangle" w="med" len="med"/>
          </a:ln>
        </p:spPr>
      </p:cxnSp>
      <p:cxnSp>
        <p:nvCxnSpPr>
          <p:cNvPr id="48" name=""/>
          <p:cNvCxnSpPr>
            <a:stCxn xmlns:a="http://schemas.openxmlformats.org/drawingml/2006/main" id="9" idx="3"/>
            <a:endCxn xmlns:a="http://schemas.openxmlformats.org/drawingml/2006/main" id="10" idx="1"/>
          </p:cNvCxnSpPr>
          <p:nvPr/>
        </p:nvCxnSpPr>
        <p:spPr>
          <a:xfrm xmlns:a="http://schemas.openxmlformats.org/drawingml/2006/main">
            <a:off x="5286375" y="2343150"/>
            <a:ext cx="609600" cy="0"/>
          </a:xfrm>
          <a:prstGeom xmlns:a="http://schemas.openxmlformats.org/drawingml/2006/main" prst="straightConnector1">
            <a:avLst/>
          </a:prstGeom>
          <a:ln xmlns:a="http://schemas.openxmlformats.org/drawingml/2006/main" w="20955">
            <a:solidFill>
              <a:srgbClr val="4B626D"/>
            </a:solidFill>
            <a:prstDash val="solid"/>
            <a:tailEnd type="triangle" w="med" len="med"/>
          </a:ln>
        </p:spPr>
      </p:cxnSp>
      <p:cxnSp>
        <p:nvCxnSpPr>
          <p:cNvPr id="49" name=""/>
          <p:cNvCxnSpPr>
            <a:stCxn xmlns:a="http://schemas.openxmlformats.org/drawingml/2006/main" id="10" idx="3"/>
            <a:endCxn xmlns:a="http://schemas.openxmlformats.org/drawingml/2006/main" id="11" idx="2"/>
          </p:cNvCxnSpPr>
          <p:nvPr/>
        </p:nvCxnSpPr>
        <p:spPr>
          <a:xfrm xmlns:a="http://schemas.openxmlformats.org/drawingml/2006/main">
            <a:off x="6829425" y="2343150"/>
            <a:ext cx="4572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16" name="example-local-metrics">
            <a:extLst xmlns:a="http://schemas.openxmlformats.org/drawingml/2006/main">
              <a:ext uri="{FF2B5EF4-FFF2-40B4-BE49-F238E27FC236}">
                <a16:creationId xmlns:a16="http://schemas.microsoft.com/office/drawing/2014/main" id="{17FA1C69-130E-481D-B40A-475669B53E6D}"/>
              </a:ext>
            </a:extLst>
          </p:cNvPr>
          <p:cNvSpPr>
            <a:spLocks xmlns:a="http://schemas.openxmlformats.org/drawingml/2006/main" noGrp="1"/>
          </p:cNvSpPr>
          <p:nvPr/>
        </p:nvSpPr>
        <p:spPr>
          <a:xfrm xmlns:a="http://schemas.openxmlformats.org/drawingml/2006/main">
            <a:off x="8601075" y="2019300"/>
            <a:ext cx="26860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M_req = 20 MiB</a:t>
            </a:r>
          </a:p>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DME = 20 / 60 = 0.33</a:t>
            </a:r>
          </a:p>
        </p:txBody>
      </p:sp>
      <p:sp>
        <p:nvSpPr>
          <p:cNvPr id="17" name="example-separator">
            <a:extLst xmlns:a="http://schemas.openxmlformats.org/drawingml/2006/main">
              <a:ext uri="{FF2B5EF4-FFF2-40B4-BE49-F238E27FC236}">
                <a16:creationId xmlns:a16="http://schemas.microsoft.com/office/drawing/2014/main" id="{A3DEE285-231E-457F-A4C0-D9684442228E}"/>
              </a:ext>
            </a:extLst>
          </p:cNvPr>
          <p:cNvSpPr>
            <a:spLocks xmlns:a="http://schemas.openxmlformats.org/drawingml/2006/main" noGrp="1"/>
          </p:cNvSpPr>
          <p:nvPr/>
        </p:nvSpPr>
        <p:spPr>
          <a:xfrm xmlns:a="http://schemas.openxmlformats.org/drawingml/2006/main">
            <a:off x="781050" y="2943225"/>
            <a:ext cx="10439400" cy="12383"/>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8" name="example-cross-label">
            <a:extLst xmlns:a="http://schemas.openxmlformats.org/drawingml/2006/main">
              <a:ext uri="{FF2B5EF4-FFF2-40B4-BE49-F238E27FC236}">
                <a16:creationId xmlns:a16="http://schemas.microsoft.com/office/drawing/2014/main" id="{BFC37C92-BEB7-40F5-A953-6AF7A5F17B6C}"/>
              </a:ext>
            </a:extLst>
          </p:cNvPr>
          <p:cNvSpPr>
            <a:spLocks xmlns:a="http://schemas.openxmlformats.org/drawingml/2006/main" noGrp="1"/>
          </p:cNvSpPr>
          <p:nvPr/>
        </p:nvSpPr>
        <p:spPr>
          <a:xfrm xmlns:a="http://schemas.openxmlformats.org/drawingml/2006/main">
            <a:off x="781050" y="320040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98"/>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Tareas en W1 y W2</a:t>
            </a:r>
          </a:p>
        </p:txBody>
      </p:sp>
      <p:sp>
        <p:nvSpPr>
          <p:cNvPr id="19" name="example-cross-w1">
            <a:extLst xmlns:a="http://schemas.openxmlformats.org/drawingml/2006/main">
              <a:ext uri="{FF2B5EF4-FFF2-40B4-BE49-F238E27FC236}">
                <a16:creationId xmlns:a16="http://schemas.microsoft.com/office/drawing/2014/main" id="{5816DAD2-15B4-447A-92F7-698583BB393F}"/>
              </a:ext>
            </a:extLst>
          </p:cNvPr>
          <p:cNvSpPr>
            <a:spLocks xmlns:a="http://schemas.openxmlformats.org/drawingml/2006/main" noGrp="1"/>
          </p:cNvSpPr>
          <p:nvPr/>
        </p:nvSpPr>
        <p:spPr>
          <a:xfrm xmlns:a="http://schemas.openxmlformats.org/drawingml/2006/main">
            <a:off x="781050" y="366712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W1</a:t>
            </a:r>
          </a:p>
        </p:txBody>
      </p:sp>
      <p:sp>
        <p:nvSpPr>
          <p:cNvPr id="20" name="example-cross-w2">
            <a:extLst xmlns:a="http://schemas.openxmlformats.org/drawingml/2006/main">
              <a:ext uri="{FF2B5EF4-FFF2-40B4-BE49-F238E27FC236}">
                <a16:creationId xmlns:a16="http://schemas.microsoft.com/office/drawing/2014/main" id="{179942EB-8ABC-4DD2-9D33-7611D39495FC}"/>
              </a:ext>
            </a:extLst>
          </p:cNvPr>
          <p:cNvSpPr>
            <a:spLocks xmlns:a="http://schemas.openxmlformats.org/drawingml/2006/main" noGrp="1"/>
          </p:cNvSpPr>
          <p:nvPr/>
        </p:nvSpPr>
        <p:spPr>
          <a:xfrm xmlns:a="http://schemas.openxmlformats.org/drawingml/2006/main">
            <a:off x="781050" y="4524375"/>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4B626D"/>
                </a:solidFill>
                <a:latin typeface="Arial"/>
                <a:ea typeface="Arial"/>
                <a:cs typeface="Arial"/>
              </a:defRPr>
            </a:pPr>
            <a:r>
              <a:rPr sz="1350" b="1" i="0">
                <a:solidFill>
                  <a:srgbClr val="4B626D"/>
                </a:solidFill>
                <a:latin typeface="Arial"/>
                <a:ea typeface="Arial"/>
                <a:cs typeface="Arial"/>
              </a:rPr>
              <a:t>W2</a:t>
            </a:r>
          </a:p>
        </p:txBody>
      </p:sp>
      <p:sp>
        <p:nvSpPr>
          <p:cNvPr id="21" name="example-lane1">
            <a:extLst xmlns:a="http://schemas.openxmlformats.org/drawingml/2006/main">
              <a:ext uri="{FF2B5EF4-FFF2-40B4-BE49-F238E27FC236}">
                <a16:creationId xmlns:a16="http://schemas.microsoft.com/office/drawing/2014/main" id="{D93F053E-65B9-4F9A-88B1-73AFB65979DA}"/>
              </a:ext>
            </a:extLst>
          </p:cNvPr>
          <p:cNvSpPr>
            <a:spLocks xmlns:a="http://schemas.openxmlformats.org/drawingml/2006/main" noGrp="1"/>
          </p:cNvSpPr>
          <p:nvPr/>
        </p:nvSpPr>
        <p:spPr>
          <a:xfrm xmlns:a="http://schemas.openxmlformats.org/drawingml/2006/main">
            <a:off x="1581150" y="4019550"/>
            <a:ext cx="6734175"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2" name="example-lane2">
            <a:extLst xmlns:a="http://schemas.openxmlformats.org/drawingml/2006/main">
              <a:ext uri="{FF2B5EF4-FFF2-40B4-BE49-F238E27FC236}">
                <a16:creationId xmlns:a16="http://schemas.microsoft.com/office/drawing/2014/main" id="{4E7CF87A-98A2-452C-8D8B-3DFC387C35D3}"/>
              </a:ext>
            </a:extLst>
          </p:cNvPr>
          <p:cNvSpPr>
            <a:spLocks xmlns:a="http://schemas.openxmlformats.org/drawingml/2006/main" noGrp="1"/>
          </p:cNvSpPr>
          <p:nvPr/>
        </p:nvSpPr>
        <p:spPr>
          <a:xfrm xmlns:a="http://schemas.openxmlformats.org/drawingml/2006/main">
            <a:off x="1581150" y="4876800"/>
            <a:ext cx="6734175" cy="952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3" name="example-cross-input">
            <a:extLst xmlns:a="http://schemas.openxmlformats.org/drawingml/2006/main">
              <a:ext uri="{FF2B5EF4-FFF2-40B4-BE49-F238E27FC236}">
                <a16:creationId xmlns:a16="http://schemas.microsoft.com/office/drawing/2014/main" id="{05C26315-D608-48DD-9634-A8D0711BDC42}"/>
              </a:ext>
            </a:extLst>
          </p:cNvPr>
          <p:cNvSpPr>
            <a:spLocks xmlns:a="http://schemas.openxmlformats.org/drawingml/2006/main" noGrp="1"/>
          </p:cNvSpPr>
          <p:nvPr/>
        </p:nvSpPr>
        <p:spPr>
          <a:xfrm xmlns:a="http://schemas.openxmlformats.org/drawingml/2006/main">
            <a:off x="1600200" y="3609975"/>
            <a:ext cx="904875"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input</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sp>
        <p:nvSpPr>
          <p:cNvPr id="24" name="example-cross-t1">
            <a:extLst xmlns:a="http://schemas.openxmlformats.org/drawingml/2006/main">
              <a:ext uri="{FF2B5EF4-FFF2-40B4-BE49-F238E27FC236}">
                <a16:creationId xmlns:a16="http://schemas.microsoft.com/office/drawing/2014/main" id="{C227ABFC-34FA-4A4E-9B8D-445CCB07F65B}"/>
              </a:ext>
            </a:extLst>
          </p:cNvPr>
          <p:cNvSpPr>
            <a:spLocks xmlns:a="http://schemas.openxmlformats.org/drawingml/2006/main" noGrp="1"/>
          </p:cNvSpPr>
          <p:nvPr/>
        </p:nvSpPr>
        <p:spPr>
          <a:xfrm xmlns:a="http://schemas.openxmlformats.org/drawingml/2006/main">
            <a:off x="2809875" y="356235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25" name="example-cross-t2">
            <a:extLst xmlns:a="http://schemas.openxmlformats.org/drawingml/2006/main">
              <a:ext uri="{FF2B5EF4-FFF2-40B4-BE49-F238E27FC236}">
                <a16:creationId xmlns:a16="http://schemas.microsoft.com/office/drawing/2014/main" id="{03DBD2BF-0874-4FFC-B06B-90F0B63B3632}"/>
              </a:ext>
            </a:extLst>
          </p:cNvPr>
          <p:cNvSpPr>
            <a:spLocks xmlns:a="http://schemas.openxmlformats.org/drawingml/2006/main" noGrp="1"/>
          </p:cNvSpPr>
          <p:nvPr/>
        </p:nvSpPr>
        <p:spPr>
          <a:xfrm xmlns:a="http://schemas.openxmlformats.org/drawingml/2006/main">
            <a:off x="4733925" y="441960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T2</a:t>
            </a:r>
          </a:p>
        </p:txBody>
      </p:sp>
      <p:sp>
        <p:nvSpPr>
          <p:cNvPr id="26" name="example-cross-t3">
            <a:extLst xmlns:a="http://schemas.openxmlformats.org/drawingml/2006/main">
              <a:ext uri="{FF2B5EF4-FFF2-40B4-BE49-F238E27FC236}">
                <a16:creationId xmlns:a16="http://schemas.microsoft.com/office/drawing/2014/main" id="{EBA2FD08-6A65-4874-9EA2-7332F0D946AB}"/>
              </a:ext>
            </a:extLst>
          </p:cNvPr>
          <p:cNvSpPr>
            <a:spLocks xmlns:a="http://schemas.openxmlformats.org/drawingml/2006/main" noGrp="1"/>
          </p:cNvSpPr>
          <p:nvPr/>
        </p:nvSpPr>
        <p:spPr>
          <a:xfrm xmlns:a="http://schemas.openxmlformats.org/drawingml/2006/main">
            <a:off x="6657975" y="3562350"/>
            <a:ext cx="933450" cy="4953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T3</a:t>
            </a:r>
          </a:p>
        </p:txBody>
      </p:sp>
      <p:sp>
        <p:nvSpPr>
          <p:cNvPr id="27" name="example-cross-output">
            <a:extLst xmlns:a="http://schemas.openxmlformats.org/drawingml/2006/main">
              <a:ext uri="{FF2B5EF4-FFF2-40B4-BE49-F238E27FC236}">
                <a16:creationId xmlns:a16="http://schemas.microsoft.com/office/drawing/2014/main" id="{487C316D-C875-4622-9030-4E564F4A9112}"/>
              </a:ext>
            </a:extLst>
          </p:cNvPr>
          <p:cNvSpPr>
            <a:spLocks xmlns:a="http://schemas.openxmlformats.org/drawingml/2006/main" noGrp="1"/>
          </p:cNvSpPr>
          <p:nvPr/>
        </p:nvSpPr>
        <p:spPr>
          <a:xfrm xmlns:a="http://schemas.openxmlformats.org/drawingml/2006/main">
            <a:off x="7810500" y="3609975"/>
            <a:ext cx="904875" cy="3810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56345"/>
          </a:bodyPr>
          <a:lstStyle xmlns:a="http://schemas.openxmlformats.org/drawingml/2006/main"/>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final</a:t>
            </a:r>
          </a:p>
          <a:p xmlns:a="http://schemas.openxmlformats.org/drawingml/2006/main">
            <a:pPr algn="ctr">
              <a:defRPr sz="1125" b="0">
                <a:solidFill>
                  <a:srgbClr val="172A33"/>
                </a:solidFill>
                <a:latin typeface="Arial"/>
                <a:ea typeface="Arial"/>
                <a:cs typeface="Arial"/>
              </a:defRPr>
            </a:pPr>
            <a:r>
              <a:rPr sz="1125" b="0">
                <a:solidFill>
                  <a:srgbClr val="172A33"/>
                </a:solidFill>
                <a:latin typeface="Arial"/>
                <a:ea typeface="Arial"/>
                <a:cs typeface="Arial"/>
              </a:rPr>
              <a:t>10 MiB</a:t>
            </a:r>
          </a:p>
        </p:txBody>
      </p:sp>
      <p:cxnSp>
        <p:nvCxnSpPr>
          <p:cNvPr id="62" name=""/>
          <p:cNvCxnSpPr>
            <a:stCxn xmlns:a="http://schemas.openxmlformats.org/drawingml/2006/main" id="23" idx="6"/>
            <a:endCxn xmlns:a="http://schemas.openxmlformats.org/drawingml/2006/main" id="24" idx="1"/>
          </p:cNvCxnSpPr>
          <p:nvPr/>
        </p:nvCxnSpPr>
        <p:spPr>
          <a:xfrm xmlns:a="http://schemas.openxmlformats.org/drawingml/2006/main">
            <a:off x="2505075" y="3800475"/>
            <a:ext cx="304800" cy="952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3" name=""/>
          <p:cNvCxnSpPr>
            <a:stCxn xmlns:a="http://schemas.openxmlformats.org/drawingml/2006/main" id="24" idx="3"/>
            <a:endCxn xmlns:a="http://schemas.openxmlformats.org/drawingml/2006/main" id="25" idx="1"/>
          </p:cNvCxnSpPr>
          <p:nvPr/>
        </p:nvCxnSpPr>
        <p:spPr>
          <a:xfrm xmlns:a="http://schemas.openxmlformats.org/drawingml/2006/main">
            <a:off x="3743325" y="3810000"/>
            <a:ext cx="990600" cy="857250"/>
          </a:xfrm>
          <a:prstGeom xmlns:a="http://schemas.openxmlformats.org/drawingml/2006/main" prst="bentConnector3">
            <a:avLst>
              <a:gd name="adj1" fmla="val 50000"/>
            </a:avLst>
          </a:prstGeom>
          <a:ln xmlns:a="http://schemas.openxmlformats.org/drawingml/2006/main" w="20955">
            <a:solidFill>
              <a:srgbClr val="087E78"/>
            </a:solidFill>
            <a:prstDash val="solid"/>
            <a:tailEnd type="triangle" w="med" len="med"/>
          </a:ln>
        </p:spPr>
      </p:cxnSp>
      <p:cxnSp>
        <p:nvCxnSpPr>
          <p:cNvPr id="64" name=""/>
          <p:cNvCxnSpPr>
            <a:stCxn xmlns:a="http://schemas.openxmlformats.org/drawingml/2006/main" id="25" idx="3"/>
            <a:endCxn xmlns:a="http://schemas.openxmlformats.org/drawingml/2006/main" id="26" idx="1"/>
          </p:cNvCxnSpPr>
          <p:nvPr/>
        </p:nvCxnSpPr>
        <p:spPr>
          <a:xfrm xmlns:a="http://schemas.openxmlformats.org/drawingml/2006/main" flipV="1">
            <a:off x="5667375" y="3448050"/>
            <a:ext cx="3162300" cy="1219200"/>
          </a:xfrm>
          <a:prstGeom xmlns:a="http://schemas.openxmlformats.org/drawingml/2006/main" prst="bentConnector4">
            <a:avLst/>
          </a:prstGeom>
          <a:ln xmlns:a="http://schemas.openxmlformats.org/drawingml/2006/main" w="20955">
            <a:solidFill>
              <a:srgbClr val="087E78"/>
            </a:solidFill>
            <a:prstDash val="solid"/>
            <a:tailEnd type="triangle" w="med" len="med"/>
          </a:ln>
        </p:spPr>
      </p:cxnSp>
      <p:cxnSp>
        <p:nvCxnSpPr>
          <p:cNvPr id="65" name=""/>
          <p:cNvCxnSpPr>
            <a:stCxn xmlns:a="http://schemas.openxmlformats.org/drawingml/2006/main" id="26" idx="3"/>
            <a:endCxn xmlns:a="http://schemas.openxmlformats.org/drawingml/2006/main" id="27" idx="2"/>
          </p:cNvCxnSpPr>
          <p:nvPr/>
        </p:nvCxnSpPr>
        <p:spPr>
          <a:xfrm xmlns:a="http://schemas.openxmlformats.org/drawingml/2006/main" flipV="1">
            <a:off x="7591425" y="3800475"/>
            <a:ext cx="219075" cy="952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32" name="example-cross-metrics">
            <a:extLst xmlns:a="http://schemas.openxmlformats.org/drawingml/2006/main">
              <a:ext uri="{FF2B5EF4-FFF2-40B4-BE49-F238E27FC236}">
                <a16:creationId xmlns:a16="http://schemas.microsoft.com/office/drawing/2014/main" id="{A924FC67-3BD1-425B-ABBF-156205237926}"/>
              </a:ext>
            </a:extLst>
          </p:cNvPr>
          <p:cNvSpPr>
            <a:spLocks xmlns:a="http://schemas.openxmlformats.org/drawingml/2006/main" noGrp="1"/>
          </p:cNvSpPr>
          <p:nvPr/>
        </p:nvSpPr>
        <p:spPr>
          <a:xfrm xmlns:a="http://schemas.openxmlformats.org/drawingml/2006/main">
            <a:off x="8982075" y="3724275"/>
            <a:ext cx="2286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M_req = 40 MiB</a:t>
            </a:r>
          </a:p>
          <a:p xmlns:a="http://schemas.openxmlformats.org/drawingml/2006/main">
            <a:pPr algn="l">
              <a:lnSpc>
                <a:spcPct val="100000"/>
              </a:lnSpc>
              <a:buNone/>
              <a:defRPr sz="1500" b="1" i="0">
                <a:solidFill>
                  <a:srgbClr val="172A33"/>
                </a:solidFill>
                <a:latin typeface="Arial"/>
                <a:ea typeface="Arial"/>
                <a:cs typeface="Arial"/>
              </a:defRPr>
            </a:pPr>
            <a:r>
              <a:rPr sz="1500" b="1" i="0">
                <a:solidFill>
                  <a:srgbClr val="172A33"/>
                </a:solidFill>
                <a:latin typeface="Arial"/>
                <a:ea typeface="Arial"/>
                <a:cs typeface="Arial"/>
              </a:rPr>
              <a:t>DME = 40 / 60 = 0.67</a:t>
            </a:r>
          </a:p>
        </p:txBody>
      </p:sp>
      <p:sp>
        <p:nvSpPr>
          <p:cNvPr id="33" name="example-coverage">
            <a:extLst xmlns:a="http://schemas.openxmlformats.org/drawingml/2006/main">
              <a:ext uri="{FF2B5EF4-FFF2-40B4-BE49-F238E27FC236}">
                <a16:creationId xmlns:a16="http://schemas.microsoft.com/office/drawing/2014/main" id="{5C9F6815-7972-4072-A76B-BA08F7A03774}"/>
              </a:ext>
            </a:extLst>
          </p:cNvPr>
          <p:cNvSpPr>
            <a:spLocks xmlns:a="http://schemas.openxmlformats.org/drawingml/2006/main" noGrp="1"/>
          </p:cNvSpPr>
          <p:nvPr/>
        </p:nvSpPr>
        <p:spPr>
          <a:xfrm xmlns:a="http://schemas.openxmlformats.org/drawingml/2006/main">
            <a:off x="1600200" y="5257800"/>
            <a:ext cx="952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650" b="1" i="0">
                <a:solidFill>
                  <a:srgbClr val="087E78"/>
                </a:solidFill>
                <a:latin typeface="Arial"/>
                <a:ea typeface="Arial"/>
                <a:cs typeface="Arial"/>
              </a:defRPr>
            </a:pPr>
            <a:r>
              <a:rPr sz="1650" b="1" i="0">
                <a:solidFill>
                  <a:srgbClr val="087E78"/>
                </a:solidFill>
                <a:latin typeface="Arial"/>
                <a:ea typeface="Arial"/>
                <a:cs typeface="Arial"/>
              </a:rPr>
              <a:t>Coverage = 6 / 6 = 1 · M_obs = 60 MiB en ambos casos.</a:t>
            </a:r>
          </a:p>
        </p:txBody>
      </p:sp>
      <p:sp>
        <p:nvSpPr>
          <p:cNvPr id="34" name="example-caption">
            <a:extLst xmlns:a="http://schemas.openxmlformats.org/drawingml/2006/main">
              <a:ext uri="{FF2B5EF4-FFF2-40B4-BE49-F238E27FC236}">
                <a16:creationId xmlns:a16="http://schemas.microsoft.com/office/drawing/2014/main" id="{0E12D032-3238-4B74-A751-4198693EDD35}"/>
              </a:ext>
            </a:extLst>
          </p:cNvPr>
          <p:cNvSpPr>
            <a:spLocks xmlns:a="http://schemas.openxmlformats.org/drawingml/2006/main" noGrp="1"/>
          </p:cNvSpPr>
          <p:nvPr/>
        </p:nvSpPr>
        <p:spPr>
          <a:xfrm xmlns:a="http://schemas.openxmlformats.org/drawingml/2006/main">
            <a:off x="1381125" y="5829300"/>
            <a:ext cx="995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El modelo cuenta destinos requeridos; el Analyzer suma ocurrencias confirmadas por job. No son bytes evitables.</a:t>
            </a:r>
          </a:p>
        </p:txBody>
      </p:sp>
    </p:spTree>
    <p:extLst>
      <p:ext uri="{BB962C8B-B14F-4D97-AF65-F5344CB8AC3E}">
        <p14:creationId xmlns:p14="http://schemas.microsoft.com/office/powerpoint/2010/main" val="431258280"/>
      </p:ext>
    </p:extLst>
  </p:cSld>
</p:sld>
</file>

<file path=ppt/slides/slide8.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38" name="slide-title-8">
            <a:extLst xmlns:a="http://schemas.openxmlformats.org/drawingml/2006/main">
              <a:ext uri="{FF2B5EF4-FFF2-40B4-BE49-F238E27FC236}">
                <a16:creationId xmlns:a16="http://schemas.microsoft.com/office/drawing/2014/main" id="{2D5AD36D-2640-4615-B0FD-4018E7299683}"/>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Cinco formas de organizar las tareas</a:t>
            </a:r>
          </a:p>
        </p:txBody>
      </p:sp>
      <p:sp>
        <p:nvSpPr>
          <p:cNvPr id="2" name="title-rule-8">
            <a:extLst xmlns:a="http://schemas.openxmlformats.org/drawingml/2006/main">
              <a:ext uri="{FF2B5EF4-FFF2-40B4-BE49-F238E27FC236}">
                <a16:creationId xmlns:a16="http://schemas.microsoft.com/office/drawing/2014/main" id="{91450DA3-0D3E-4D91-85A8-61B37B319B4A}"/>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8">
            <a:extLst xmlns:a="http://schemas.openxmlformats.org/drawingml/2006/main">
              <a:ext uri="{FF2B5EF4-FFF2-40B4-BE49-F238E27FC236}">
                <a16:creationId xmlns:a16="http://schemas.microsoft.com/office/drawing/2014/main" id="{47BA4CB2-8378-4A24-B23B-4CBCA032EED1}"/>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08</a:t>
            </a:r>
          </a:p>
        </p:txBody>
      </p:sp>
      <p:sp>
        <p:nvSpPr>
          <p:cNvPr id="4" name="patterns-intro">
            <a:extLst xmlns:a="http://schemas.openxmlformats.org/drawingml/2006/main">
              <a:ext uri="{FF2B5EF4-FFF2-40B4-BE49-F238E27FC236}">
                <a16:creationId xmlns:a16="http://schemas.microsoft.com/office/drawing/2014/main" id="{01615FFF-53A1-4312-B288-8C0EE5EC31AA}"/>
              </a:ext>
            </a:extLst>
          </p:cNvPr>
          <p:cNvSpPr>
            <a:spLocks xmlns:a="http://schemas.openxmlformats.org/drawingml/2006/main" noGrp="1"/>
          </p:cNvSpPr>
          <p:nvPr/>
        </p:nvSpPr>
        <p:spPr>
          <a:xfrm xmlns:a="http://schemas.openxmlformats.org/drawingml/2006/main">
            <a:off x="781050" y="1295400"/>
            <a:ext cx="1057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65757C"/>
                </a:solidFill>
                <a:latin typeface="Arial"/>
                <a:ea typeface="Arial"/>
                <a:cs typeface="Arial"/>
              </a:defRPr>
            </a:pPr>
            <a:r>
              <a:rPr sz="1725" b="0" i="0">
                <a:solidFill>
                  <a:srgbClr val="65757C"/>
                </a:solidFill>
                <a:latin typeface="Arial"/>
                <a:ea typeface="Arial"/>
                <a:cs typeface="Arial"/>
              </a:rPr>
              <a:t>Los patrones cambian quién produce archivos y quién los consume.</a:t>
            </a:r>
          </a:p>
        </p:txBody>
      </p:sp>
      <p:sp>
        <p:nvSpPr>
          <p:cNvPr id="5" name="pattern-label-0">
            <a:extLst xmlns:a="http://schemas.openxmlformats.org/drawingml/2006/main">
              <a:ext uri="{FF2B5EF4-FFF2-40B4-BE49-F238E27FC236}">
                <a16:creationId xmlns:a16="http://schemas.microsoft.com/office/drawing/2014/main" id="{CDA689F5-16A5-44B3-A4B5-AF1E4C9BD4AE}"/>
              </a:ext>
            </a:extLst>
          </p:cNvPr>
          <p:cNvSpPr>
            <a:spLocks xmlns:a="http://schemas.openxmlformats.org/drawingml/2006/main" noGrp="1"/>
          </p:cNvSpPr>
          <p:nvPr/>
        </p:nvSpPr>
        <p:spPr>
          <a:xfrm xmlns:a="http://schemas.openxmlformats.org/drawingml/2006/main">
            <a:off x="781050" y="18288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Process</a:t>
            </a:r>
          </a:p>
        </p:txBody>
      </p:sp>
      <p:sp>
        <p:nvSpPr>
          <p:cNvPr id="6" name="pattern-label-1">
            <a:extLst xmlns:a="http://schemas.openxmlformats.org/drawingml/2006/main">
              <a:ext uri="{FF2B5EF4-FFF2-40B4-BE49-F238E27FC236}">
                <a16:creationId xmlns:a16="http://schemas.microsoft.com/office/drawing/2014/main" id="{DA3C231A-0F12-4974-A016-2980D353DD54}"/>
              </a:ext>
            </a:extLst>
          </p:cNvPr>
          <p:cNvSpPr>
            <a:spLocks xmlns:a="http://schemas.openxmlformats.org/drawingml/2006/main" noGrp="1"/>
          </p:cNvSpPr>
          <p:nvPr/>
        </p:nvSpPr>
        <p:spPr>
          <a:xfrm xmlns:a="http://schemas.openxmlformats.org/drawingml/2006/main">
            <a:off x="781050" y="26670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Pipeline</a:t>
            </a:r>
          </a:p>
        </p:txBody>
      </p:sp>
      <p:sp>
        <p:nvSpPr>
          <p:cNvPr id="7" name="pattern-label-2">
            <a:extLst xmlns:a="http://schemas.openxmlformats.org/drawingml/2006/main">
              <a:ext uri="{FF2B5EF4-FFF2-40B4-BE49-F238E27FC236}">
                <a16:creationId xmlns:a16="http://schemas.microsoft.com/office/drawing/2014/main" id="{570041EA-2BFF-494E-A1BA-BEE19AF90238}"/>
              </a:ext>
            </a:extLst>
          </p:cNvPr>
          <p:cNvSpPr>
            <a:spLocks xmlns:a="http://schemas.openxmlformats.org/drawingml/2006/main" noGrp="1"/>
          </p:cNvSpPr>
          <p:nvPr/>
        </p:nvSpPr>
        <p:spPr>
          <a:xfrm xmlns:a="http://schemas.openxmlformats.org/drawingml/2006/main">
            <a:off x="781050" y="35052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Distribución</a:t>
            </a:r>
          </a:p>
        </p:txBody>
      </p:sp>
      <p:sp>
        <p:nvSpPr>
          <p:cNvPr id="8" name="pattern-label-3">
            <a:extLst xmlns:a="http://schemas.openxmlformats.org/drawingml/2006/main">
              <a:ext uri="{FF2B5EF4-FFF2-40B4-BE49-F238E27FC236}">
                <a16:creationId xmlns:a16="http://schemas.microsoft.com/office/drawing/2014/main" id="{F4362DC3-F010-4CD0-A153-CD62C34BB055}"/>
              </a:ext>
            </a:extLst>
          </p:cNvPr>
          <p:cNvSpPr>
            <a:spLocks xmlns:a="http://schemas.openxmlformats.org/drawingml/2006/main" noGrp="1"/>
          </p:cNvSpPr>
          <p:nvPr/>
        </p:nvSpPr>
        <p:spPr>
          <a:xfrm xmlns:a="http://schemas.openxmlformats.org/drawingml/2006/main">
            <a:off x="781050" y="43434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Agregación</a:t>
            </a:r>
          </a:p>
        </p:txBody>
      </p:sp>
      <p:sp>
        <p:nvSpPr>
          <p:cNvPr id="9" name="pattern-label-4">
            <a:extLst xmlns:a="http://schemas.openxmlformats.org/drawingml/2006/main">
              <a:ext uri="{FF2B5EF4-FFF2-40B4-BE49-F238E27FC236}">
                <a16:creationId xmlns:a16="http://schemas.microsoft.com/office/drawing/2014/main" id="{0603C00E-6A91-48EB-A0E3-4E5D4EF9CA24}"/>
              </a:ext>
            </a:extLst>
          </p:cNvPr>
          <p:cNvSpPr>
            <a:spLocks xmlns:a="http://schemas.openxmlformats.org/drawingml/2006/main" noGrp="1"/>
          </p:cNvSpPr>
          <p:nvPr/>
        </p:nvSpPr>
        <p:spPr>
          <a:xfrm xmlns:a="http://schemas.openxmlformats.org/drawingml/2006/main">
            <a:off x="781050" y="5181600"/>
            <a:ext cx="1866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Redistribución</a:t>
            </a:r>
          </a:p>
        </p:txBody>
      </p:sp>
      <p:sp>
        <p:nvSpPr>
          <p:cNvPr id="10" name="pattern-process-in">
            <a:extLst xmlns:a="http://schemas.openxmlformats.org/drawingml/2006/main">
              <a:ext uri="{FF2B5EF4-FFF2-40B4-BE49-F238E27FC236}">
                <a16:creationId xmlns:a16="http://schemas.microsoft.com/office/drawing/2014/main" id="{09665DA0-18E8-40EA-90C3-082F7CF6424C}"/>
              </a:ext>
            </a:extLst>
          </p:cNvPr>
          <p:cNvSpPr>
            <a:spLocks xmlns:a="http://schemas.openxmlformats.org/drawingml/2006/main" noGrp="1"/>
          </p:cNvSpPr>
          <p:nvPr/>
        </p:nvSpPr>
        <p:spPr>
          <a:xfrm xmlns:a="http://schemas.openxmlformats.org/drawingml/2006/main">
            <a:off x="2876550" y="1828800"/>
            <a:ext cx="1104900" cy="4572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Entrada</a:t>
            </a:r>
          </a:p>
        </p:txBody>
      </p:sp>
      <p:sp>
        <p:nvSpPr>
          <p:cNvPr id="11" name="pattern-process-task">
            <a:extLst xmlns:a="http://schemas.openxmlformats.org/drawingml/2006/main">
              <a:ext uri="{FF2B5EF4-FFF2-40B4-BE49-F238E27FC236}">
                <a16:creationId xmlns:a16="http://schemas.microsoft.com/office/drawing/2014/main" id="{E0841C20-4DE5-46DD-BD99-8BE5E5693797}"/>
              </a:ext>
            </a:extLst>
          </p:cNvPr>
          <p:cNvSpPr>
            <a:spLocks xmlns:a="http://schemas.openxmlformats.org/drawingml/2006/main" noGrp="1"/>
          </p:cNvSpPr>
          <p:nvPr/>
        </p:nvSpPr>
        <p:spPr>
          <a:xfrm xmlns:a="http://schemas.openxmlformats.org/drawingml/2006/main">
            <a:off x="4914900" y="1828800"/>
            <a:ext cx="12763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75" b="1">
                <a:solidFill>
                  <a:srgbClr val="172A33"/>
                </a:solidFill>
                <a:latin typeface="Arial"/>
                <a:ea typeface="Arial"/>
                <a:cs typeface="Arial"/>
              </a:defRPr>
            </a:pPr>
            <a:r>
              <a:rPr sz="1575" b="1">
                <a:solidFill>
                  <a:srgbClr val="172A33"/>
                </a:solidFill>
                <a:latin typeface="Arial"/>
                <a:ea typeface="Arial"/>
                <a:cs typeface="Arial"/>
              </a:rPr>
              <a:t>T1</a:t>
            </a:r>
          </a:p>
        </p:txBody>
      </p:sp>
      <p:sp>
        <p:nvSpPr>
          <p:cNvPr id="12" name="pattern-process-out">
            <a:extLst xmlns:a="http://schemas.openxmlformats.org/drawingml/2006/main">
              <a:ext uri="{FF2B5EF4-FFF2-40B4-BE49-F238E27FC236}">
                <a16:creationId xmlns:a16="http://schemas.microsoft.com/office/drawing/2014/main" id="{4DC39783-00C3-468A-9649-3B75521C0A0C}"/>
              </a:ext>
            </a:extLst>
          </p:cNvPr>
          <p:cNvSpPr>
            <a:spLocks xmlns:a="http://schemas.openxmlformats.org/drawingml/2006/main" noGrp="1"/>
          </p:cNvSpPr>
          <p:nvPr/>
        </p:nvSpPr>
        <p:spPr>
          <a:xfrm xmlns:a="http://schemas.openxmlformats.org/drawingml/2006/main">
            <a:off x="7219950" y="1828800"/>
            <a:ext cx="1104900" cy="457200"/>
          </a:xfrm>
          <a:prstGeom xmlns:a="http://schemas.openxmlformats.org/drawingml/2006/main" prst="ellipse">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Salida</a:t>
            </a:r>
          </a:p>
        </p:txBody>
      </p:sp>
      <p:cxnSp>
        <p:nvCxnSpPr>
          <p:cNvPr id="50" name=""/>
          <p:cNvCxnSpPr>
            <a:stCxn xmlns:a="http://schemas.openxmlformats.org/drawingml/2006/main" id="10" idx="6"/>
            <a:endCxn xmlns:a="http://schemas.openxmlformats.org/drawingml/2006/main" id="11" idx="1"/>
          </p:cNvCxnSpPr>
          <p:nvPr/>
        </p:nvCxnSpPr>
        <p:spPr>
          <a:xfrm xmlns:a="http://schemas.openxmlformats.org/drawingml/2006/main">
            <a:off x="3981450" y="2057400"/>
            <a:ext cx="93345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51" name=""/>
          <p:cNvCxnSpPr>
            <a:stCxn xmlns:a="http://schemas.openxmlformats.org/drawingml/2006/main" id="11" idx="3"/>
            <a:endCxn xmlns:a="http://schemas.openxmlformats.org/drawingml/2006/main" id="12" idx="2"/>
          </p:cNvCxnSpPr>
          <p:nvPr/>
        </p:nvCxnSpPr>
        <p:spPr>
          <a:xfrm xmlns:a="http://schemas.openxmlformats.org/drawingml/2006/main">
            <a:off x="6191250" y="2057400"/>
            <a:ext cx="10287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15" name="pattern-pipe-t1">
            <a:extLst xmlns:a="http://schemas.openxmlformats.org/drawingml/2006/main">
              <a:ext uri="{FF2B5EF4-FFF2-40B4-BE49-F238E27FC236}">
                <a16:creationId xmlns:a16="http://schemas.microsoft.com/office/drawing/2014/main" id="{C3076C00-904F-4CBC-8E61-4ECA6D576482}"/>
              </a:ext>
            </a:extLst>
          </p:cNvPr>
          <p:cNvSpPr>
            <a:spLocks xmlns:a="http://schemas.openxmlformats.org/drawingml/2006/main" noGrp="1"/>
          </p:cNvSpPr>
          <p:nvPr/>
        </p:nvSpPr>
        <p:spPr>
          <a:xfrm xmlns:a="http://schemas.openxmlformats.org/drawingml/2006/main">
            <a:off x="3448050" y="2667000"/>
            <a:ext cx="106680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16" name="pattern-pipe-t2">
            <a:extLst xmlns:a="http://schemas.openxmlformats.org/drawingml/2006/main">
              <a:ext uri="{FF2B5EF4-FFF2-40B4-BE49-F238E27FC236}">
                <a16:creationId xmlns:a16="http://schemas.microsoft.com/office/drawing/2014/main" id="{18AA98D5-D9E7-43CD-AEFE-650230344507}"/>
              </a:ext>
            </a:extLst>
          </p:cNvPr>
          <p:cNvSpPr>
            <a:spLocks xmlns:a="http://schemas.openxmlformats.org/drawingml/2006/main" noGrp="1"/>
          </p:cNvSpPr>
          <p:nvPr/>
        </p:nvSpPr>
        <p:spPr>
          <a:xfrm xmlns:a="http://schemas.openxmlformats.org/drawingml/2006/main">
            <a:off x="5495925" y="2667000"/>
            <a:ext cx="106680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T2</a:t>
            </a:r>
          </a:p>
        </p:txBody>
      </p:sp>
      <p:sp>
        <p:nvSpPr>
          <p:cNvPr id="17" name="pattern-pipe-t3">
            <a:extLst xmlns:a="http://schemas.openxmlformats.org/drawingml/2006/main">
              <a:ext uri="{FF2B5EF4-FFF2-40B4-BE49-F238E27FC236}">
                <a16:creationId xmlns:a16="http://schemas.microsoft.com/office/drawing/2014/main" id="{6CCDC9D4-098C-4259-8613-E381C932A7E5}"/>
              </a:ext>
            </a:extLst>
          </p:cNvPr>
          <p:cNvSpPr>
            <a:spLocks xmlns:a="http://schemas.openxmlformats.org/drawingml/2006/main" noGrp="1"/>
          </p:cNvSpPr>
          <p:nvPr/>
        </p:nvSpPr>
        <p:spPr>
          <a:xfrm xmlns:a="http://schemas.openxmlformats.org/drawingml/2006/main">
            <a:off x="7543800" y="2667000"/>
            <a:ext cx="106680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T3</a:t>
            </a:r>
          </a:p>
        </p:txBody>
      </p:sp>
      <p:cxnSp>
        <p:nvCxnSpPr>
          <p:cNvPr id="55" name=""/>
          <p:cNvCxnSpPr>
            <a:stCxn xmlns:a="http://schemas.openxmlformats.org/drawingml/2006/main" id="15" idx="3"/>
            <a:endCxn xmlns:a="http://schemas.openxmlformats.org/drawingml/2006/main" id="16" idx="1"/>
          </p:cNvCxnSpPr>
          <p:nvPr/>
        </p:nvCxnSpPr>
        <p:spPr>
          <a:xfrm xmlns:a="http://schemas.openxmlformats.org/drawingml/2006/main">
            <a:off x="4514850" y="2895600"/>
            <a:ext cx="9810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56" name=""/>
          <p:cNvCxnSpPr>
            <a:stCxn xmlns:a="http://schemas.openxmlformats.org/drawingml/2006/main" id="16" idx="3"/>
            <a:endCxn xmlns:a="http://schemas.openxmlformats.org/drawingml/2006/main" id="17" idx="1"/>
          </p:cNvCxnSpPr>
          <p:nvPr/>
        </p:nvCxnSpPr>
        <p:spPr>
          <a:xfrm xmlns:a="http://schemas.openxmlformats.org/drawingml/2006/main">
            <a:off x="6562725" y="2895600"/>
            <a:ext cx="9810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20" name="pattern-dist-t1">
            <a:extLst xmlns:a="http://schemas.openxmlformats.org/drawingml/2006/main">
              <a:ext uri="{FF2B5EF4-FFF2-40B4-BE49-F238E27FC236}">
                <a16:creationId xmlns:a16="http://schemas.microsoft.com/office/drawing/2014/main" id="{2CC77BFF-96BA-4F73-B7B4-B91063137701}"/>
              </a:ext>
            </a:extLst>
          </p:cNvPr>
          <p:cNvSpPr>
            <a:spLocks xmlns:a="http://schemas.openxmlformats.org/drawingml/2006/main" noGrp="1"/>
          </p:cNvSpPr>
          <p:nvPr/>
        </p:nvSpPr>
        <p:spPr>
          <a:xfrm xmlns:a="http://schemas.openxmlformats.org/drawingml/2006/main">
            <a:off x="3105150" y="3505200"/>
            <a:ext cx="10477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T1</a:t>
            </a:r>
          </a:p>
        </p:txBody>
      </p:sp>
      <p:sp>
        <p:nvSpPr>
          <p:cNvPr id="21" name="pattern-dist-t2">
            <a:extLst xmlns:a="http://schemas.openxmlformats.org/drawingml/2006/main">
              <a:ext uri="{FF2B5EF4-FFF2-40B4-BE49-F238E27FC236}">
                <a16:creationId xmlns:a16="http://schemas.microsoft.com/office/drawing/2014/main" id="{A9BF01F2-E524-4809-8BCF-13F99482273E}"/>
              </a:ext>
            </a:extLst>
          </p:cNvPr>
          <p:cNvSpPr>
            <a:spLocks xmlns:a="http://schemas.openxmlformats.org/drawingml/2006/main" noGrp="1"/>
          </p:cNvSpPr>
          <p:nvPr/>
        </p:nvSpPr>
        <p:spPr>
          <a:xfrm xmlns:a="http://schemas.openxmlformats.org/drawingml/2006/main">
            <a:off x="7239000" y="3448050"/>
            <a:ext cx="10477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T2</a:t>
            </a:r>
          </a:p>
        </p:txBody>
      </p:sp>
      <p:sp>
        <p:nvSpPr>
          <p:cNvPr id="22" name="pattern-dist-t3">
            <a:extLst xmlns:a="http://schemas.openxmlformats.org/drawingml/2006/main">
              <a:ext uri="{FF2B5EF4-FFF2-40B4-BE49-F238E27FC236}">
                <a16:creationId xmlns:a16="http://schemas.microsoft.com/office/drawing/2014/main" id="{242A6092-BC3F-47B5-A40B-FE7572254AA7}"/>
              </a:ext>
            </a:extLst>
          </p:cNvPr>
          <p:cNvSpPr>
            <a:spLocks xmlns:a="http://schemas.openxmlformats.org/drawingml/2006/main" noGrp="1"/>
          </p:cNvSpPr>
          <p:nvPr/>
        </p:nvSpPr>
        <p:spPr>
          <a:xfrm xmlns:a="http://schemas.openxmlformats.org/drawingml/2006/main">
            <a:off x="8801100" y="3790950"/>
            <a:ext cx="1047750" cy="40005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T3</a:t>
            </a:r>
          </a:p>
        </p:txBody>
      </p:sp>
      <p:cxnSp>
        <p:nvCxnSpPr>
          <p:cNvPr id="60" name=""/>
          <p:cNvCxnSpPr>
            <a:stCxn xmlns:a="http://schemas.openxmlformats.org/drawingml/2006/main" id="20" idx="3"/>
            <a:endCxn xmlns:a="http://schemas.openxmlformats.org/drawingml/2006/main" id="21" idx="1"/>
          </p:cNvCxnSpPr>
          <p:nvPr/>
        </p:nvCxnSpPr>
        <p:spPr>
          <a:xfrm xmlns:a="http://schemas.openxmlformats.org/drawingml/2006/main" flipV="1">
            <a:off x="4152900" y="3648075"/>
            <a:ext cx="3086100" cy="8572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1" name=""/>
          <p:cNvCxnSpPr>
            <a:stCxn xmlns:a="http://schemas.openxmlformats.org/drawingml/2006/main" id="20" idx="3"/>
            <a:endCxn xmlns:a="http://schemas.openxmlformats.org/drawingml/2006/main" id="22" idx="1"/>
          </p:cNvCxnSpPr>
          <p:nvPr/>
        </p:nvCxnSpPr>
        <p:spPr>
          <a:xfrm xmlns:a="http://schemas.openxmlformats.org/drawingml/2006/main">
            <a:off x="4152900" y="3733800"/>
            <a:ext cx="4648200" cy="257175"/>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25" name="pattern-dist-note">
            <a:extLst xmlns:a="http://schemas.openxmlformats.org/drawingml/2006/main">
              <a:ext uri="{FF2B5EF4-FFF2-40B4-BE49-F238E27FC236}">
                <a16:creationId xmlns:a16="http://schemas.microsoft.com/office/drawing/2014/main" id="{759A1F8E-0D00-43AC-804D-33DBB972F0F5}"/>
              </a:ext>
            </a:extLst>
          </p:cNvPr>
          <p:cNvSpPr>
            <a:spLocks xmlns:a="http://schemas.openxmlformats.org/drawingml/2006/main" noGrp="1"/>
          </p:cNvSpPr>
          <p:nvPr/>
        </p:nvSpPr>
        <p:spPr>
          <a:xfrm xmlns:a="http://schemas.openxmlformats.org/drawingml/2006/main">
            <a:off x="9886950" y="3533775"/>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750"/>
          </a:bodyPr>
          <a:lstStyle xmlns:a="http://schemas.openxmlformats.org/drawingml/2006/main"/>
          <a:p xmlns:a="http://schemas.openxmlformats.org/drawingml/2006/main">
            <a:pPr algn="l">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1 productor</a:t>
            </a:r>
          </a:p>
          <a:p xmlns:a="http://schemas.openxmlformats.org/drawingml/2006/main">
            <a:pPr algn="l">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 varios</a:t>
            </a:r>
          </a:p>
        </p:txBody>
      </p:sp>
      <p:sp>
        <p:nvSpPr>
          <p:cNvPr id="26" name="pattern-agg-t1">
            <a:extLst xmlns:a="http://schemas.openxmlformats.org/drawingml/2006/main">
              <a:ext uri="{FF2B5EF4-FFF2-40B4-BE49-F238E27FC236}">
                <a16:creationId xmlns:a16="http://schemas.microsoft.com/office/drawing/2014/main" id="{1507B357-085F-4E78-B311-C5CEC2C0F505}"/>
              </a:ext>
            </a:extLst>
          </p:cNvPr>
          <p:cNvSpPr>
            <a:spLocks xmlns:a="http://schemas.openxmlformats.org/drawingml/2006/main" noGrp="1"/>
          </p:cNvSpPr>
          <p:nvPr/>
        </p:nvSpPr>
        <p:spPr>
          <a:xfrm xmlns:a="http://schemas.openxmlformats.org/drawingml/2006/main">
            <a:off x="3105150" y="4152900"/>
            <a:ext cx="1047750" cy="257175"/>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93137"/>
          </a:bodyPr>
          <a:lstStyle xmlns:a="http://schemas.openxmlformats.org/drawingml/2006/main"/>
          <a:p xmlns:a="http://schemas.openxmlformats.org/drawingml/2006/main">
            <a:pPr algn="ctr">
              <a:defRPr sz="1275" b="1">
                <a:solidFill>
                  <a:srgbClr val="172A33"/>
                </a:solidFill>
                <a:latin typeface="Arial"/>
                <a:ea typeface="Arial"/>
                <a:cs typeface="Arial"/>
              </a:defRPr>
            </a:pPr>
            <a:r>
              <a:rPr sz="1275" b="1">
                <a:solidFill>
                  <a:srgbClr val="172A33"/>
                </a:solidFill>
                <a:latin typeface="Arial"/>
                <a:ea typeface="Arial"/>
                <a:cs typeface="Arial"/>
              </a:rPr>
              <a:t>T1</a:t>
            </a:r>
          </a:p>
        </p:txBody>
      </p:sp>
      <p:sp>
        <p:nvSpPr>
          <p:cNvPr id="27" name="pattern-agg-t2">
            <a:extLst xmlns:a="http://schemas.openxmlformats.org/drawingml/2006/main">
              <a:ext uri="{FF2B5EF4-FFF2-40B4-BE49-F238E27FC236}">
                <a16:creationId xmlns:a16="http://schemas.microsoft.com/office/drawing/2014/main" id="{2EFD8E20-E4CD-45B6-8E56-BB6F418F0058}"/>
              </a:ext>
            </a:extLst>
          </p:cNvPr>
          <p:cNvSpPr>
            <a:spLocks xmlns:a="http://schemas.openxmlformats.org/drawingml/2006/main" noGrp="1"/>
          </p:cNvSpPr>
          <p:nvPr/>
        </p:nvSpPr>
        <p:spPr>
          <a:xfrm xmlns:a="http://schemas.openxmlformats.org/drawingml/2006/main">
            <a:off x="3105150" y="4457700"/>
            <a:ext cx="1047750" cy="257175"/>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93137"/>
          </a:bodyPr>
          <a:lstStyle xmlns:a="http://schemas.openxmlformats.org/drawingml/2006/main"/>
          <a:p xmlns:a="http://schemas.openxmlformats.org/drawingml/2006/main">
            <a:pPr algn="ctr">
              <a:defRPr sz="1275" b="1">
                <a:solidFill>
                  <a:srgbClr val="172A33"/>
                </a:solidFill>
                <a:latin typeface="Arial"/>
                <a:ea typeface="Arial"/>
                <a:cs typeface="Arial"/>
              </a:defRPr>
            </a:pPr>
            <a:r>
              <a:rPr sz="1275" b="1">
                <a:solidFill>
                  <a:srgbClr val="172A33"/>
                </a:solidFill>
                <a:latin typeface="Arial"/>
                <a:ea typeface="Arial"/>
                <a:cs typeface="Arial"/>
              </a:rPr>
              <a:t>T2</a:t>
            </a:r>
          </a:p>
        </p:txBody>
      </p:sp>
      <p:sp>
        <p:nvSpPr>
          <p:cNvPr id="28" name="pattern-agg-t3">
            <a:extLst xmlns:a="http://schemas.openxmlformats.org/drawingml/2006/main">
              <a:ext uri="{FF2B5EF4-FFF2-40B4-BE49-F238E27FC236}">
                <a16:creationId xmlns:a16="http://schemas.microsoft.com/office/drawing/2014/main" id="{96EB3143-B6C9-4A8F-802A-C63C56505668}"/>
              </a:ext>
            </a:extLst>
          </p:cNvPr>
          <p:cNvSpPr>
            <a:spLocks xmlns:a="http://schemas.openxmlformats.org/drawingml/2006/main" noGrp="1"/>
          </p:cNvSpPr>
          <p:nvPr/>
        </p:nvSpPr>
        <p:spPr>
          <a:xfrm xmlns:a="http://schemas.openxmlformats.org/drawingml/2006/main">
            <a:off x="3105150" y="4762500"/>
            <a:ext cx="1047750" cy="257175"/>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93137"/>
          </a:bodyPr>
          <a:lstStyle xmlns:a="http://schemas.openxmlformats.org/drawingml/2006/main"/>
          <a:p xmlns:a="http://schemas.openxmlformats.org/drawingml/2006/main">
            <a:pPr algn="ctr">
              <a:defRPr sz="1275" b="1">
                <a:solidFill>
                  <a:srgbClr val="172A33"/>
                </a:solidFill>
                <a:latin typeface="Arial"/>
                <a:ea typeface="Arial"/>
                <a:cs typeface="Arial"/>
              </a:defRPr>
            </a:pPr>
            <a:r>
              <a:rPr sz="1275" b="1">
                <a:solidFill>
                  <a:srgbClr val="172A33"/>
                </a:solidFill>
                <a:latin typeface="Arial"/>
                <a:ea typeface="Arial"/>
                <a:cs typeface="Arial"/>
              </a:rPr>
              <a:t>T3</a:t>
            </a:r>
          </a:p>
        </p:txBody>
      </p:sp>
      <p:sp>
        <p:nvSpPr>
          <p:cNvPr id="29" name="pattern-agg-t4">
            <a:extLst xmlns:a="http://schemas.openxmlformats.org/drawingml/2006/main">
              <a:ext uri="{FF2B5EF4-FFF2-40B4-BE49-F238E27FC236}">
                <a16:creationId xmlns:a16="http://schemas.microsoft.com/office/drawing/2014/main" id="{C15F94C3-33A6-4489-B7FE-E09270CD343A}"/>
              </a:ext>
            </a:extLst>
          </p:cNvPr>
          <p:cNvSpPr>
            <a:spLocks xmlns:a="http://schemas.openxmlformats.org/drawingml/2006/main" noGrp="1"/>
          </p:cNvSpPr>
          <p:nvPr/>
        </p:nvSpPr>
        <p:spPr>
          <a:xfrm xmlns:a="http://schemas.openxmlformats.org/drawingml/2006/main">
            <a:off x="7239000" y="4400550"/>
            <a:ext cx="11620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500" b="1">
                <a:solidFill>
                  <a:srgbClr val="172A33"/>
                </a:solidFill>
                <a:latin typeface="Arial"/>
                <a:ea typeface="Arial"/>
                <a:cs typeface="Arial"/>
              </a:defRPr>
            </a:pPr>
            <a:r>
              <a:rPr sz="1500" b="1">
                <a:solidFill>
                  <a:srgbClr val="172A33"/>
                </a:solidFill>
                <a:latin typeface="Arial"/>
                <a:ea typeface="Arial"/>
                <a:cs typeface="Arial"/>
              </a:rPr>
              <a:t>T4</a:t>
            </a:r>
          </a:p>
        </p:txBody>
      </p:sp>
      <p:cxnSp>
        <p:nvCxnSpPr>
          <p:cNvPr id="67" name=""/>
          <p:cNvCxnSpPr>
            <a:stCxn xmlns:a="http://schemas.openxmlformats.org/drawingml/2006/main" id="26" idx="3"/>
            <a:endCxn xmlns:a="http://schemas.openxmlformats.org/drawingml/2006/main" id="29" idx="1"/>
          </p:cNvCxnSpPr>
          <p:nvPr/>
        </p:nvCxnSpPr>
        <p:spPr>
          <a:xfrm xmlns:a="http://schemas.openxmlformats.org/drawingml/2006/main">
            <a:off x="4152900" y="4281488"/>
            <a:ext cx="3086100" cy="347663"/>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8" name=""/>
          <p:cNvCxnSpPr>
            <a:stCxn xmlns:a="http://schemas.openxmlformats.org/drawingml/2006/main" id="27" idx="3"/>
            <a:endCxn xmlns:a="http://schemas.openxmlformats.org/drawingml/2006/main" id="29" idx="1"/>
          </p:cNvCxnSpPr>
          <p:nvPr/>
        </p:nvCxnSpPr>
        <p:spPr>
          <a:xfrm xmlns:a="http://schemas.openxmlformats.org/drawingml/2006/main">
            <a:off x="4152900" y="4586288"/>
            <a:ext cx="3086100" cy="42863"/>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69" name=""/>
          <p:cNvCxnSpPr>
            <a:stCxn xmlns:a="http://schemas.openxmlformats.org/drawingml/2006/main" id="28" idx="3"/>
            <a:endCxn xmlns:a="http://schemas.openxmlformats.org/drawingml/2006/main" id="29" idx="1"/>
          </p:cNvCxnSpPr>
          <p:nvPr/>
        </p:nvCxnSpPr>
        <p:spPr>
          <a:xfrm xmlns:a="http://schemas.openxmlformats.org/drawingml/2006/main" flipV="1">
            <a:off x="4152900" y="4629150"/>
            <a:ext cx="3086100" cy="261938"/>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33" name="pattern-agg-note">
            <a:extLst xmlns:a="http://schemas.openxmlformats.org/drawingml/2006/main">
              <a:ext uri="{FF2B5EF4-FFF2-40B4-BE49-F238E27FC236}">
                <a16:creationId xmlns:a16="http://schemas.microsoft.com/office/drawing/2014/main" id="{E52D1CAB-FDAB-45F1-9FAB-05287C4530D0}"/>
              </a:ext>
            </a:extLst>
          </p:cNvPr>
          <p:cNvSpPr>
            <a:spLocks xmlns:a="http://schemas.openxmlformats.org/drawingml/2006/main" noGrp="1"/>
          </p:cNvSpPr>
          <p:nvPr/>
        </p:nvSpPr>
        <p:spPr>
          <a:xfrm xmlns:a="http://schemas.openxmlformats.org/drawingml/2006/main">
            <a:off x="8782050" y="44862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varios → 1</a:t>
            </a:r>
          </a:p>
        </p:txBody>
      </p:sp>
      <p:sp>
        <p:nvSpPr>
          <p:cNvPr id="34" name="pattern-redist-producers">
            <a:extLst xmlns:a="http://schemas.openxmlformats.org/drawingml/2006/main">
              <a:ext uri="{FF2B5EF4-FFF2-40B4-BE49-F238E27FC236}">
                <a16:creationId xmlns:a16="http://schemas.microsoft.com/office/drawing/2014/main" id="{E22F2E1F-9E9E-43EF-A766-AF60085C2C65}"/>
              </a:ext>
            </a:extLst>
          </p:cNvPr>
          <p:cNvSpPr>
            <a:spLocks xmlns:a="http://schemas.openxmlformats.org/drawingml/2006/main" noGrp="1"/>
          </p:cNvSpPr>
          <p:nvPr/>
        </p:nvSpPr>
        <p:spPr>
          <a:xfrm xmlns:a="http://schemas.openxmlformats.org/drawingml/2006/main">
            <a:off x="3114675" y="5181600"/>
            <a:ext cx="2190750"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Productores T1, T2</a:t>
            </a:r>
          </a:p>
        </p:txBody>
      </p:sp>
      <p:sp>
        <p:nvSpPr>
          <p:cNvPr id="35" name="pattern-redist-consumers">
            <a:extLst xmlns:a="http://schemas.openxmlformats.org/drawingml/2006/main">
              <a:ext uri="{FF2B5EF4-FFF2-40B4-BE49-F238E27FC236}">
                <a16:creationId xmlns:a16="http://schemas.microsoft.com/office/drawing/2014/main" id="{A21D44BA-1D61-4449-87BC-677E41E5EA14}"/>
              </a:ext>
            </a:extLst>
          </p:cNvPr>
          <p:cNvSpPr>
            <a:spLocks xmlns:a="http://schemas.openxmlformats.org/drawingml/2006/main" noGrp="1"/>
          </p:cNvSpPr>
          <p:nvPr/>
        </p:nvSpPr>
        <p:spPr>
          <a:xfrm xmlns:a="http://schemas.openxmlformats.org/drawingml/2006/main">
            <a:off x="7734300" y="5181600"/>
            <a:ext cx="2333625" cy="4572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Consumidores T3, T4</a:t>
            </a:r>
          </a:p>
        </p:txBody>
      </p:sp>
      <p:cxnSp>
        <p:nvCxnSpPr>
          <p:cNvPr id="73" name=""/>
          <p:cNvCxnSpPr>
            <a:stCxn xmlns:a="http://schemas.openxmlformats.org/drawingml/2006/main" id="34" idx="3"/>
            <a:endCxn xmlns:a="http://schemas.openxmlformats.org/drawingml/2006/main" id="35" idx="1"/>
          </p:cNvCxnSpPr>
          <p:nvPr/>
        </p:nvCxnSpPr>
        <p:spPr>
          <a:xfrm xmlns:a="http://schemas.openxmlformats.org/drawingml/2006/main">
            <a:off x="5305425" y="5410200"/>
            <a:ext cx="24288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37" name="patterns-note">
            <a:extLst xmlns:a="http://schemas.openxmlformats.org/drawingml/2006/main">
              <a:ext uri="{FF2B5EF4-FFF2-40B4-BE49-F238E27FC236}">
                <a16:creationId xmlns:a16="http://schemas.microsoft.com/office/drawing/2014/main" id="{B494D6D4-F760-4F0A-AA37-A3BAD9C30A8E}"/>
              </a:ext>
            </a:extLst>
          </p:cNvPr>
          <p:cNvSpPr>
            <a:spLocks xmlns:a="http://schemas.openxmlformats.org/drawingml/2006/main" noGrp="1"/>
          </p:cNvSpPr>
          <p:nvPr/>
        </p:nvSpPr>
        <p:spPr>
          <a:xfrm xmlns:a="http://schemas.openxmlformats.org/drawingml/2006/main">
            <a:off x="781050" y="6038850"/>
            <a:ext cx="1038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La estructura del workflow se valida por separado del worker que recibe cada tarea.</a:t>
            </a:r>
          </a:p>
        </p:txBody>
      </p:sp>
    </p:spTree>
    <p:extLst>
      <p:ext uri="{BB962C8B-B14F-4D97-AF65-F5344CB8AC3E}">
        <p14:creationId xmlns:p14="http://schemas.microsoft.com/office/powerpoint/2010/main" val="1522894209"/>
      </p:ext>
    </p:extLst>
  </p:cSld>
</p:sld>
</file>

<file path=ppt/slides/slide9.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6" name="slide-title-9">
            <a:extLst xmlns:a="http://schemas.openxmlformats.org/drawingml/2006/main">
              <a:ext uri="{FF2B5EF4-FFF2-40B4-BE49-F238E27FC236}">
                <a16:creationId xmlns:a16="http://schemas.microsoft.com/office/drawing/2014/main" id="{2CDAB998-D35B-4541-BEF0-0DB68689D372}"/>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Dónde corre cada parte del sistema</a:t>
            </a:r>
          </a:p>
        </p:txBody>
      </p:sp>
      <p:sp>
        <p:nvSpPr>
          <p:cNvPr id="2" name="title-rule-9">
            <a:extLst xmlns:a="http://schemas.openxmlformats.org/drawingml/2006/main">
              <a:ext uri="{FF2B5EF4-FFF2-40B4-BE49-F238E27FC236}">
                <a16:creationId xmlns:a16="http://schemas.microsoft.com/office/drawing/2014/main" id="{7F307E3A-3508-4326-A115-5A8BD5E7A383}"/>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9">
            <a:extLst xmlns:a="http://schemas.openxmlformats.org/drawingml/2006/main">
              <a:ext uri="{FF2B5EF4-FFF2-40B4-BE49-F238E27FC236}">
                <a16:creationId xmlns:a16="http://schemas.microsoft.com/office/drawing/2014/main" id="{136D44F8-AD41-4BD6-9926-5A59A2B9DC64}"/>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09</a:t>
            </a:r>
          </a:p>
        </p:txBody>
      </p:sp>
      <p:sp>
        <p:nvSpPr>
          <p:cNvPr id="4" name="deploy-phase">
            <a:extLst xmlns:a="http://schemas.openxmlformats.org/drawingml/2006/main">
              <a:ext uri="{FF2B5EF4-FFF2-40B4-BE49-F238E27FC236}">
                <a16:creationId xmlns:a16="http://schemas.microsoft.com/office/drawing/2014/main" id="{10F886A0-BF18-4A50-8C80-2A03D63E281D}"/>
              </a:ext>
            </a:extLst>
          </p:cNvPr>
          <p:cNvSpPr>
            <a:spLocks xmlns:a="http://schemas.openxmlformats.org/drawingml/2006/main" noGrp="1"/>
          </p:cNvSpPr>
          <p:nvPr/>
        </p:nvSpPr>
        <p:spPr>
          <a:xfrm xmlns:a="http://schemas.openxmlformats.org/drawingml/2006/main">
            <a:off x="781050" y="1304925"/>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5757C"/>
                </a:solidFill>
                <a:latin typeface="Arial"/>
                <a:ea typeface="Arial"/>
                <a:cs typeface="Arial"/>
              </a:defRPr>
            </a:pPr>
            <a:r>
              <a:rPr sz="1350" b="1" i="0">
                <a:solidFill>
                  <a:srgbClr val="65757C"/>
                </a:solidFill>
                <a:latin typeface="Arial"/>
                <a:ea typeface="Arial"/>
                <a:cs typeface="Arial"/>
              </a:rPr>
              <a:t>DURANTE EL WORKFLOW</a:t>
            </a:r>
          </a:p>
        </p:txBody>
      </p:sp>
      <p:sp>
        <p:nvSpPr>
          <p:cNvPr id="5" name="deploy-master">
            <a:extLst xmlns:a="http://schemas.openxmlformats.org/drawingml/2006/main">
              <a:ext uri="{FF2B5EF4-FFF2-40B4-BE49-F238E27FC236}">
                <a16:creationId xmlns:a16="http://schemas.microsoft.com/office/drawing/2014/main" id="{12F6908E-79DC-40E6-83FD-DD26D2A52876}"/>
              </a:ext>
            </a:extLst>
          </p:cNvPr>
          <p:cNvSpPr>
            <a:spLocks xmlns:a="http://schemas.openxmlformats.org/drawingml/2006/main" noGrp="1"/>
          </p:cNvSpPr>
          <p:nvPr/>
        </p:nvSpPr>
        <p:spPr>
          <a:xfrm xmlns:a="http://schemas.openxmlformats.org/drawingml/2006/main">
            <a:off x="4333875" y="1714500"/>
            <a:ext cx="3524250" cy="952500"/>
          </a:xfrm>
          <a:prstGeom xmlns:a="http://schemas.openxmlformats.org/drawingml/2006/main" prst="rect">
            <a:avLst/>
          </a:prstGeom>
          <a:solidFill xmlns:a="http://schemas.openxmlformats.org/drawingml/2006/main">
            <a:srgbClr val="FFFFFF"/>
          </a:solidFill>
          <a:ln xmlns:a="http://schemas.openxmlformats.org/drawingml/2006/main" w="19050">
            <a:solidFill>
              <a:srgbClr val="172A33"/>
            </a:solidFill>
            <a:prstDash val="solid"/>
          </a:ln>
        </p:spPr>
      </p:sp>
      <p:sp>
        <p:nvSpPr>
          <p:cNvPr id="6" name="deploy-worker1">
            <a:extLst xmlns:a="http://schemas.openxmlformats.org/drawingml/2006/main">
              <a:ext uri="{FF2B5EF4-FFF2-40B4-BE49-F238E27FC236}">
                <a16:creationId xmlns:a16="http://schemas.microsoft.com/office/drawing/2014/main" id="{C684A529-0685-4BE4-B3E7-20E2662BFA9A}"/>
              </a:ext>
            </a:extLst>
          </p:cNvPr>
          <p:cNvSpPr>
            <a:spLocks xmlns:a="http://schemas.openxmlformats.org/drawingml/2006/main" noGrp="1"/>
          </p:cNvSpPr>
          <p:nvPr/>
        </p:nvSpPr>
        <p:spPr>
          <a:xfrm xmlns:a="http://schemas.openxmlformats.org/drawingml/2006/main">
            <a:off x="1381125" y="3448050"/>
            <a:ext cx="3714750" cy="876300"/>
          </a:xfrm>
          <a:prstGeom xmlns:a="http://schemas.openxmlformats.org/drawingml/2006/main" prst="rect">
            <a:avLst/>
          </a:prstGeom>
          <a:solidFill xmlns:a="http://schemas.openxmlformats.org/drawingml/2006/main">
            <a:srgbClr val="FFFFFF"/>
          </a:solidFill>
          <a:ln xmlns:a="http://schemas.openxmlformats.org/drawingml/2006/main" w="16193">
            <a:solidFill>
              <a:srgbClr val="4B626D"/>
            </a:solidFill>
            <a:prstDash val="solid"/>
          </a:ln>
        </p:spPr>
      </p:sp>
      <p:sp>
        <p:nvSpPr>
          <p:cNvPr id="7" name="deploy-worker2">
            <a:extLst xmlns:a="http://schemas.openxmlformats.org/drawingml/2006/main">
              <a:ext uri="{FF2B5EF4-FFF2-40B4-BE49-F238E27FC236}">
                <a16:creationId xmlns:a16="http://schemas.microsoft.com/office/drawing/2014/main" id="{B879A08E-D75B-40FD-96C1-BF373638D997}"/>
              </a:ext>
            </a:extLst>
          </p:cNvPr>
          <p:cNvSpPr>
            <a:spLocks xmlns:a="http://schemas.openxmlformats.org/drawingml/2006/main" noGrp="1"/>
          </p:cNvSpPr>
          <p:nvPr/>
        </p:nvSpPr>
        <p:spPr>
          <a:xfrm xmlns:a="http://schemas.openxmlformats.org/drawingml/2006/main">
            <a:off x="7096125" y="3448050"/>
            <a:ext cx="3714750" cy="876300"/>
          </a:xfrm>
          <a:prstGeom xmlns:a="http://schemas.openxmlformats.org/drawingml/2006/main" prst="rect">
            <a:avLst/>
          </a:prstGeom>
          <a:solidFill xmlns:a="http://schemas.openxmlformats.org/drawingml/2006/main">
            <a:srgbClr val="FFFFFF"/>
          </a:solidFill>
          <a:ln xmlns:a="http://schemas.openxmlformats.org/drawingml/2006/main" w="16193">
            <a:solidFill>
              <a:srgbClr val="4B626D"/>
            </a:solidFill>
            <a:prstDash val="solid"/>
          </a:ln>
        </p:spPr>
      </p:sp>
      <p:sp>
        <p:nvSpPr>
          <p:cNvPr id="8" name="deploy-master-title">
            <a:extLst xmlns:a="http://schemas.openxmlformats.org/drawingml/2006/main">
              <a:ext uri="{FF2B5EF4-FFF2-40B4-BE49-F238E27FC236}">
                <a16:creationId xmlns:a16="http://schemas.microsoft.com/office/drawing/2014/main" id="{3B79989D-1731-4FC1-9C1F-6DEE0AC3A147}"/>
              </a:ext>
            </a:extLst>
          </p:cNvPr>
          <p:cNvSpPr>
            <a:spLocks xmlns:a="http://schemas.openxmlformats.org/drawingml/2006/main" noGrp="1"/>
          </p:cNvSpPr>
          <p:nvPr/>
        </p:nvSpPr>
        <p:spPr>
          <a:xfrm xmlns:a="http://schemas.openxmlformats.org/drawingml/2006/main">
            <a:off x="4543425" y="1809750"/>
            <a:ext cx="3105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pegasus-master</a:t>
            </a:r>
          </a:p>
        </p:txBody>
      </p:sp>
      <p:sp>
        <p:nvSpPr>
          <p:cNvPr id="9" name="deploy-master-body">
            <a:extLst xmlns:a="http://schemas.openxmlformats.org/drawingml/2006/main">
              <a:ext uri="{FF2B5EF4-FFF2-40B4-BE49-F238E27FC236}">
                <a16:creationId xmlns:a16="http://schemas.microsoft.com/office/drawing/2014/main" id="{47AA46D2-F59B-43F6-988F-299F17A66A84}"/>
              </a:ext>
            </a:extLst>
          </p:cNvPr>
          <p:cNvSpPr>
            <a:spLocks xmlns:a="http://schemas.openxmlformats.org/drawingml/2006/main" noGrp="1"/>
          </p:cNvSpPr>
          <p:nvPr/>
        </p:nvSpPr>
        <p:spPr>
          <a:xfrm xmlns:a="http://schemas.openxmlformats.org/drawingml/2006/main">
            <a:off x="4543425" y="2124075"/>
            <a:ext cx="31051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431"/>
          </a:bodyPr>
          <a:lstStyle xmlns:a="http://schemas.openxmlformats.org/drawingml/2006/main"/>
          <a:p xmlns:a="http://schemas.openxmlformats.org/drawingml/2006/main">
            <a:pPr algn="ctr">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Pegasus</a:t>
            </a:r>
          </a:p>
          <a:p xmlns:a="http://schemas.openxmlformats.org/drawingml/2006/main">
            <a:pPr algn="ctr">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HTCondor central services</a:t>
            </a:r>
          </a:p>
          <a:p xmlns:a="http://schemas.openxmlformats.org/drawingml/2006/main">
            <a:pPr algn="ctr">
              <a:lnSpc>
                <a:spcPct val="100000"/>
              </a:lnSpc>
              <a:buNone/>
              <a:defRPr sz="1275" b="0" i="0">
                <a:solidFill>
                  <a:srgbClr val="293A42"/>
                </a:solidFill>
                <a:latin typeface="Arial"/>
                <a:ea typeface="Arial"/>
                <a:cs typeface="Arial"/>
              </a:defRPr>
            </a:pPr>
            <a:r>
              <a:rPr sz="1275" b="0" i="0">
                <a:solidFill>
                  <a:srgbClr val="293A42"/>
                </a:solidFill>
                <a:latin typeface="Arial"/>
                <a:ea typeface="Arial"/>
                <a:cs typeface="Arial"/>
              </a:rPr>
              <a:t>Schedd · Collector · Negotiator</a:t>
            </a:r>
          </a:p>
        </p:txBody>
      </p:sp>
      <p:sp>
        <p:nvSpPr>
          <p:cNvPr id="10" name="deploy-worker1-title">
            <a:extLst xmlns:a="http://schemas.openxmlformats.org/drawingml/2006/main">
              <a:ext uri="{FF2B5EF4-FFF2-40B4-BE49-F238E27FC236}">
                <a16:creationId xmlns:a16="http://schemas.microsoft.com/office/drawing/2014/main" id="{0289FAE8-A125-401D-98BA-58389896C66A}"/>
              </a:ext>
            </a:extLst>
          </p:cNvPr>
          <p:cNvSpPr>
            <a:spLocks xmlns:a="http://schemas.openxmlformats.org/drawingml/2006/main" noGrp="1"/>
          </p:cNvSpPr>
          <p:nvPr/>
        </p:nvSpPr>
        <p:spPr>
          <a:xfrm xmlns:a="http://schemas.openxmlformats.org/drawingml/2006/main">
            <a:off x="1609725" y="3533775"/>
            <a:ext cx="3257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72A33"/>
                </a:solidFill>
                <a:latin typeface="Arial"/>
                <a:ea typeface="Arial"/>
                <a:cs typeface="Arial"/>
              </a:defRPr>
            </a:pPr>
            <a:r>
              <a:rPr sz="1575" b="1" i="0">
                <a:solidFill>
                  <a:srgbClr val="172A33"/>
                </a:solidFill>
                <a:latin typeface="Arial"/>
                <a:ea typeface="Arial"/>
                <a:cs typeface="Arial"/>
              </a:rPr>
              <a:t>pegasus-worker1</a:t>
            </a:r>
          </a:p>
        </p:txBody>
      </p:sp>
      <p:sp>
        <p:nvSpPr>
          <p:cNvPr id="11" name="deploy-worker1-body">
            <a:extLst xmlns:a="http://schemas.openxmlformats.org/drawingml/2006/main">
              <a:ext uri="{FF2B5EF4-FFF2-40B4-BE49-F238E27FC236}">
                <a16:creationId xmlns:a16="http://schemas.microsoft.com/office/drawing/2014/main" id="{F0248ABB-E53B-4DE7-9E05-6436D5ED0C61}"/>
              </a:ext>
            </a:extLst>
          </p:cNvPr>
          <p:cNvSpPr>
            <a:spLocks xmlns:a="http://schemas.openxmlformats.org/drawingml/2006/main" noGrp="1"/>
          </p:cNvSpPr>
          <p:nvPr/>
        </p:nvSpPr>
        <p:spPr>
          <a:xfrm xmlns:a="http://schemas.openxmlformats.org/drawingml/2006/main">
            <a:off x="1609725" y="3810000"/>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HTCondor slot · ejecuta tareas científicas</a:t>
            </a:r>
          </a:p>
        </p:txBody>
      </p:sp>
      <p:sp>
        <p:nvSpPr>
          <p:cNvPr id="12" name="deploy-worker2-title">
            <a:extLst xmlns:a="http://schemas.openxmlformats.org/drawingml/2006/main">
              <a:ext uri="{FF2B5EF4-FFF2-40B4-BE49-F238E27FC236}">
                <a16:creationId xmlns:a16="http://schemas.microsoft.com/office/drawing/2014/main" id="{40DEA439-734B-427E-BF9C-162FBC70C23B}"/>
              </a:ext>
            </a:extLst>
          </p:cNvPr>
          <p:cNvSpPr>
            <a:spLocks xmlns:a="http://schemas.openxmlformats.org/drawingml/2006/main" noGrp="1"/>
          </p:cNvSpPr>
          <p:nvPr/>
        </p:nvSpPr>
        <p:spPr>
          <a:xfrm xmlns:a="http://schemas.openxmlformats.org/drawingml/2006/main">
            <a:off x="7324725" y="3533775"/>
            <a:ext cx="32575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75" b="1" i="0">
                <a:solidFill>
                  <a:srgbClr val="172A33"/>
                </a:solidFill>
                <a:latin typeface="Arial"/>
                <a:ea typeface="Arial"/>
                <a:cs typeface="Arial"/>
              </a:defRPr>
            </a:pPr>
            <a:r>
              <a:rPr sz="1575" b="1" i="0">
                <a:solidFill>
                  <a:srgbClr val="172A33"/>
                </a:solidFill>
                <a:latin typeface="Arial"/>
                <a:ea typeface="Arial"/>
                <a:cs typeface="Arial"/>
              </a:rPr>
              <a:t>pegasus-worker2</a:t>
            </a:r>
          </a:p>
        </p:txBody>
      </p:sp>
      <p:sp>
        <p:nvSpPr>
          <p:cNvPr id="13" name="deploy-worker2-body">
            <a:extLst xmlns:a="http://schemas.openxmlformats.org/drawingml/2006/main">
              <a:ext uri="{FF2B5EF4-FFF2-40B4-BE49-F238E27FC236}">
                <a16:creationId xmlns:a16="http://schemas.microsoft.com/office/drawing/2014/main" id="{2672AD91-FCF1-44C9-9288-4C4FBAA7890B}"/>
              </a:ext>
            </a:extLst>
          </p:cNvPr>
          <p:cNvSpPr>
            <a:spLocks xmlns:a="http://schemas.openxmlformats.org/drawingml/2006/main" noGrp="1"/>
          </p:cNvSpPr>
          <p:nvPr/>
        </p:nvSpPr>
        <p:spPr>
          <a:xfrm xmlns:a="http://schemas.openxmlformats.org/drawingml/2006/main">
            <a:off x="7324725" y="3810000"/>
            <a:ext cx="3257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HTCondor slot · ejecuta tareas científicas</a:t>
            </a:r>
          </a:p>
        </p:txBody>
      </p:sp>
      <p:cxnSp>
        <p:nvCxnSpPr>
          <p:cNvPr id="39" name=""/>
          <p:cNvCxnSpPr>
            <a:stCxn xmlns:a="http://schemas.openxmlformats.org/drawingml/2006/main" id="5" idx="2"/>
            <a:endCxn xmlns:a="http://schemas.openxmlformats.org/drawingml/2006/main" id="6" idx="0"/>
          </p:cNvCxnSpPr>
          <p:nvPr/>
        </p:nvCxnSpPr>
        <p:spPr>
          <a:xfrm xmlns:a="http://schemas.openxmlformats.org/drawingml/2006/main" flipH="1">
            <a:off x="3238500" y="2667000"/>
            <a:ext cx="2857500" cy="781050"/>
          </a:xfrm>
          <a:prstGeom xmlns:a="http://schemas.openxmlformats.org/drawingml/2006/main" prst="bentConnector4">
            <a:avLst>
              <a:gd name="adj1" fmla="val 0"/>
              <a:gd name="adj2" fmla="val 50000"/>
            </a:avLst>
          </a:prstGeom>
          <a:ln xmlns:a="http://schemas.openxmlformats.org/drawingml/2006/main" w="19050">
            <a:solidFill>
              <a:srgbClr val="4B626D"/>
            </a:solidFill>
            <a:prstDash val="solid"/>
            <a:tailEnd type="triangle" w="med" len="med"/>
          </a:ln>
        </p:spPr>
      </p:cxnSp>
      <p:cxnSp>
        <p:nvCxnSpPr>
          <p:cNvPr id="40" name=""/>
          <p:cNvCxnSpPr>
            <a:stCxn xmlns:a="http://schemas.openxmlformats.org/drawingml/2006/main" id="5" idx="2"/>
            <a:endCxn xmlns:a="http://schemas.openxmlformats.org/drawingml/2006/main" id="7" idx="0"/>
          </p:cNvCxnSpPr>
          <p:nvPr/>
        </p:nvCxnSpPr>
        <p:spPr>
          <a:xfrm xmlns:a="http://schemas.openxmlformats.org/drawingml/2006/main">
            <a:off x="6096000" y="2667000"/>
            <a:ext cx="2857500" cy="781050"/>
          </a:xfrm>
          <a:prstGeom xmlns:a="http://schemas.openxmlformats.org/drawingml/2006/main" prst="bentConnector4">
            <a:avLst>
              <a:gd name="adj1" fmla="val 0"/>
              <a:gd name="adj2" fmla="val 50000"/>
            </a:avLst>
          </a:prstGeom>
          <a:ln xmlns:a="http://schemas.openxmlformats.org/drawingml/2006/main" w="19050">
            <a:solidFill>
              <a:srgbClr val="4B626D"/>
            </a:solidFill>
            <a:prstDash val="solid"/>
            <a:tailEnd type="triangle" w="med" len="med"/>
          </a:ln>
        </p:spPr>
      </p:cxnSp>
      <p:sp>
        <p:nvSpPr>
          <p:cNvPr id="16" name="deploy-control-label">
            <a:extLst xmlns:a="http://schemas.openxmlformats.org/drawingml/2006/main">
              <a:ext uri="{FF2B5EF4-FFF2-40B4-BE49-F238E27FC236}">
                <a16:creationId xmlns:a16="http://schemas.microsoft.com/office/drawing/2014/main" id="{9DC17486-180D-4B8B-99B1-2F4365248A31}"/>
              </a:ext>
            </a:extLst>
          </p:cNvPr>
          <p:cNvSpPr>
            <a:spLocks xmlns:a="http://schemas.openxmlformats.org/drawingml/2006/main" noGrp="1"/>
          </p:cNvSpPr>
          <p:nvPr/>
        </p:nvSpPr>
        <p:spPr>
          <a:xfrm xmlns:a="http://schemas.openxmlformats.org/drawingml/2006/main">
            <a:off x="781050" y="146685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i="0">
                <a:solidFill>
                  <a:srgbClr val="293A42"/>
                </a:solidFill>
                <a:latin typeface="Arial"/>
                <a:ea typeface="Arial"/>
                <a:cs typeface="Arial"/>
              </a:defRPr>
            </a:pPr>
            <a:r>
              <a:rPr sz="1350" b="0" i="0">
                <a:solidFill>
                  <a:srgbClr val="293A42"/>
                </a:solidFill>
                <a:latin typeface="Arial"/>
                <a:ea typeface="Arial"/>
                <a:cs typeface="Arial"/>
              </a:rPr>
              <a:t>El master coordina; los workers ejecutan los jobs.</a:t>
            </a:r>
          </a:p>
        </p:txBody>
      </p:sp>
      <p:sp>
        <p:nvSpPr>
          <p:cNvPr id="17" name="deploy-config">
            <a:extLst xmlns:a="http://schemas.openxmlformats.org/drawingml/2006/main">
              <a:ext uri="{FF2B5EF4-FFF2-40B4-BE49-F238E27FC236}">
                <a16:creationId xmlns:a16="http://schemas.microsoft.com/office/drawing/2014/main" id="{F1E59595-0B49-4AEE-960F-5684296BBCC5}"/>
              </a:ext>
            </a:extLst>
          </p:cNvPr>
          <p:cNvSpPr>
            <a:spLocks xmlns:a="http://schemas.openxmlformats.org/drawingml/2006/main" noGrp="1"/>
          </p:cNvSpPr>
          <p:nvPr/>
        </p:nvSpPr>
        <p:spPr>
          <a:xfrm xmlns:a="http://schemas.openxmlformats.org/drawingml/2006/main">
            <a:off x="2857500" y="4410075"/>
            <a:ext cx="647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Pegasus 5.1.2 · HTCondor 25.12.2 · condorio</a:t>
            </a:r>
          </a:p>
        </p:txBody>
      </p:sp>
      <p:sp>
        <p:nvSpPr>
          <p:cNvPr id="18" name="deploy-separator">
            <a:extLst xmlns:a="http://schemas.openxmlformats.org/drawingml/2006/main">
              <a:ext uri="{FF2B5EF4-FFF2-40B4-BE49-F238E27FC236}">
                <a16:creationId xmlns:a16="http://schemas.microsoft.com/office/drawing/2014/main" id="{930C6A0C-1346-470A-B429-7C18799913C8}"/>
              </a:ext>
            </a:extLst>
          </p:cNvPr>
          <p:cNvSpPr>
            <a:spLocks xmlns:a="http://schemas.openxmlformats.org/drawingml/2006/main" noGrp="1"/>
          </p:cNvSpPr>
          <p:nvPr/>
        </p:nvSpPr>
        <p:spPr>
          <a:xfrm xmlns:a="http://schemas.openxmlformats.org/drawingml/2006/main">
            <a:off x="781050" y="4705350"/>
            <a:ext cx="10477500" cy="13335"/>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9" name="deploy-post-phase">
            <a:extLst xmlns:a="http://schemas.openxmlformats.org/drawingml/2006/main">
              <a:ext uri="{FF2B5EF4-FFF2-40B4-BE49-F238E27FC236}">
                <a16:creationId xmlns:a16="http://schemas.microsoft.com/office/drawing/2014/main" id="{9E1456EC-2AB2-4D33-AA2E-F2BE2D37AB66}"/>
              </a:ext>
            </a:extLst>
          </p:cNvPr>
          <p:cNvSpPr>
            <a:spLocks xmlns:a="http://schemas.openxmlformats.org/drawingml/2006/main" noGrp="1"/>
          </p:cNvSpPr>
          <p:nvPr/>
        </p:nvSpPr>
        <p:spPr>
          <a:xfrm xmlns:a="http://schemas.openxmlformats.org/drawingml/2006/main">
            <a:off x="781050" y="4838700"/>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i="0">
                <a:solidFill>
                  <a:srgbClr val="65757C"/>
                </a:solidFill>
                <a:latin typeface="Arial"/>
                <a:ea typeface="Arial"/>
                <a:cs typeface="Arial"/>
              </a:defRPr>
            </a:pPr>
            <a:r>
              <a:rPr sz="1350" b="1" i="0">
                <a:solidFill>
                  <a:srgbClr val="65757C"/>
                </a:solidFill>
                <a:latin typeface="Arial"/>
                <a:ea typeface="Arial"/>
                <a:cs typeface="Arial"/>
              </a:rPr>
              <a:t>DESPUÉS DE LA EJECUCIÓN</a:t>
            </a:r>
          </a:p>
        </p:txBody>
      </p:sp>
      <p:sp>
        <p:nvSpPr>
          <p:cNvPr id="20" name="deploy-artifacts">
            <a:extLst xmlns:a="http://schemas.openxmlformats.org/drawingml/2006/main">
              <a:ext uri="{FF2B5EF4-FFF2-40B4-BE49-F238E27FC236}">
                <a16:creationId xmlns:a16="http://schemas.microsoft.com/office/drawing/2014/main" id="{DD52A158-48A0-4F0A-9750-867A59947DE8}"/>
              </a:ext>
            </a:extLst>
          </p:cNvPr>
          <p:cNvSpPr>
            <a:spLocks xmlns:a="http://schemas.openxmlformats.org/drawingml/2006/main" noGrp="1"/>
          </p:cNvSpPr>
          <p:nvPr/>
        </p:nvSpPr>
        <p:spPr>
          <a:xfrm xmlns:a="http://schemas.openxmlformats.org/drawingml/2006/main">
            <a:off x="1028700" y="5191125"/>
            <a:ext cx="3238500" cy="6096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Run Pegasus preservado</a:t>
            </a:r>
          </a:p>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 HTCondor history</a:t>
            </a:r>
          </a:p>
        </p:txBody>
      </p:sp>
      <p:sp>
        <p:nvSpPr>
          <p:cNvPr id="21" name="deploy-analyzer">
            <a:extLst xmlns:a="http://schemas.openxmlformats.org/drawingml/2006/main">
              <a:ext uri="{FF2B5EF4-FFF2-40B4-BE49-F238E27FC236}">
                <a16:creationId xmlns:a16="http://schemas.microsoft.com/office/drawing/2014/main" id="{BE31EA3E-8816-47E0-BF2C-EC37CD01FF37}"/>
              </a:ext>
            </a:extLst>
          </p:cNvPr>
          <p:cNvSpPr>
            <a:spLocks xmlns:a="http://schemas.openxmlformats.org/drawingml/2006/main" noGrp="1"/>
          </p:cNvSpPr>
          <p:nvPr/>
        </p:nvSpPr>
        <p:spPr>
          <a:xfrm xmlns:a="http://schemas.openxmlformats.org/drawingml/2006/main">
            <a:off x="4981575" y="5191125"/>
            <a:ext cx="2514600" cy="609600"/>
          </a:xfrm>
          <a:prstGeom xmlns:a="http://schemas.openxmlformats.org/drawingml/2006/main" prst="rect">
            <a:avLst/>
          </a:prstGeom>
          <a:solidFill xmlns:a="http://schemas.openxmlformats.org/drawingml/2006/main">
            <a:srgbClr val="E7F2F0"/>
          </a:solidFill>
          <a:ln xmlns:a="http://schemas.openxmlformats.org/drawingml/2006/main" w="15240">
            <a:solidFill>
              <a:srgbClr val="087E78"/>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425" b="1">
                <a:solidFill>
                  <a:srgbClr val="172A33"/>
                </a:solidFill>
                <a:latin typeface="Arial"/>
                <a:ea typeface="Arial"/>
                <a:cs typeface="Arial"/>
              </a:defRPr>
            </a:pPr>
            <a:r>
              <a:rPr sz="1425" b="1">
                <a:solidFill>
                  <a:srgbClr val="172A33"/>
                </a:solidFill>
                <a:latin typeface="Arial"/>
                <a:ea typeface="Arial"/>
                <a:cs typeface="Arial"/>
              </a:rPr>
              <a:t>Analyzer v1 · post-mortem</a:t>
            </a:r>
          </a:p>
        </p:txBody>
      </p:sp>
      <p:sp>
        <p:nvSpPr>
          <p:cNvPr id="22" name="deploy-reports">
            <a:extLst xmlns:a="http://schemas.openxmlformats.org/drawingml/2006/main">
              <a:ext uri="{FF2B5EF4-FFF2-40B4-BE49-F238E27FC236}">
                <a16:creationId xmlns:a16="http://schemas.microsoft.com/office/drawing/2014/main" id="{C73895EC-B853-4C0C-8856-E008E4D0214F}"/>
              </a:ext>
            </a:extLst>
          </p:cNvPr>
          <p:cNvSpPr>
            <a:spLocks xmlns:a="http://schemas.openxmlformats.org/drawingml/2006/main" noGrp="1"/>
          </p:cNvSpPr>
          <p:nvPr/>
        </p:nvSpPr>
        <p:spPr>
          <a:xfrm xmlns:a="http://schemas.openxmlformats.org/drawingml/2006/main">
            <a:off x="8334375" y="5191125"/>
            <a:ext cx="2647950" cy="609600"/>
          </a:xfrm>
          <a:prstGeom xmlns:a="http://schemas.openxmlformats.org/drawingml/2006/main" prst="rect">
            <a:avLst/>
          </a:prstGeom>
          <a:solidFill xmlns:a="http://schemas.openxmlformats.org/drawingml/2006/main">
            <a:srgbClr val="FFFFFF"/>
          </a:solidFill>
          <a:ln xmlns:a="http://schemas.openxmlformats.org/drawingml/2006/main" w="15240">
            <a:solidFill>
              <a:srgbClr val="4B626D"/>
            </a:solidFill>
            <a:prstDash val="solid"/>
          </a:ln>
        </p:spPr>
        <p:txBody>
          <a:bodyPr xmlns:a="http://schemas.openxmlformats.org/drawingml/2006/main" wrap="square" lIns="47625" tIns="38100" rIns="47625" bIns="38100" anchor="ctr">
            <a:normAutofit fontScale="100000"/>
          </a:bodyPr>
          <a:lstStyle xmlns:a="http://schemas.openxmlformats.org/drawingml/2006/main"/>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Métricas + diagnósticos</a:t>
            </a:r>
          </a:p>
          <a:p xmlns:a="http://schemas.openxmlformats.org/drawingml/2006/main">
            <a:pPr algn="ctr">
              <a:defRPr sz="1350" b="0">
                <a:solidFill>
                  <a:srgbClr val="172A33"/>
                </a:solidFill>
                <a:latin typeface="Arial"/>
                <a:ea typeface="Arial"/>
                <a:cs typeface="Arial"/>
              </a:defRPr>
            </a:pPr>
            <a:r>
              <a:rPr sz="1350" b="0">
                <a:solidFill>
                  <a:srgbClr val="172A33"/>
                </a:solidFill>
                <a:latin typeface="Arial"/>
                <a:ea typeface="Arial"/>
                <a:cs typeface="Arial"/>
              </a:rPr>
              <a:t>+ procedencia</a:t>
            </a:r>
          </a:p>
        </p:txBody>
      </p:sp>
      <p:cxnSp>
        <p:nvCxnSpPr>
          <p:cNvPr id="48" name=""/>
          <p:cNvCxnSpPr>
            <a:stCxn xmlns:a="http://schemas.openxmlformats.org/drawingml/2006/main" id="20" idx="3"/>
            <a:endCxn xmlns:a="http://schemas.openxmlformats.org/drawingml/2006/main" id="21" idx="1"/>
          </p:cNvCxnSpPr>
          <p:nvPr/>
        </p:nvCxnSpPr>
        <p:spPr>
          <a:xfrm xmlns:a="http://schemas.openxmlformats.org/drawingml/2006/main">
            <a:off x="4267200" y="5495925"/>
            <a:ext cx="714375"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cxnSp>
        <p:nvCxnSpPr>
          <p:cNvPr id="49" name=""/>
          <p:cNvCxnSpPr>
            <a:stCxn xmlns:a="http://schemas.openxmlformats.org/drawingml/2006/main" id="21" idx="3"/>
            <a:endCxn xmlns:a="http://schemas.openxmlformats.org/drawingml/2006/main" id="22" idx="1"/>
          </p:cNvCxnSpPr>
          <p:nvPr/>
        </p:nvCxnSpPr>
        <p:spPr>
          <a:xfrm xmlns:a="http://schemas.openxmlformats.org/drawingml/2006/main">
            <a:off x="7496175" y="5495925"/>
            <a:ext cx="838200" cy="0"/>
          </a:xfrm>
          <a:prstGeom xmlns:a="http://schemas.openxmlformats.org/drawingml/2006/main" prst="straightConnector1">
            <a:avLst/>
          </a:prstGeom>
          <a:ln xmlns:a="http://schemas.openxmlformats.org/drawingml/2006/main" w="20955">
            <a:solidFill>
              <a:srgbClr val="087E78"/>
            </a:solidFill>
            <a:prstDash val="solid"/>
            <a:tailEnd type="triangle" w="med" len="med"/>
          </a:ln>
        </p:spPr>
      </p:cxnSp>
      <p:sp>
        <p:nvSpPr>
          <p:cNvPr id="25" name="deploy-path-caveat">
            <a:extLst xmlns:a="http://schemas.openxmlformats.org/drawingml/2006/main">
              <a:ext uri="{FF2B5EF4-FFF2-40B4-BE49-F238E27FC236}">
                <a16:creationId xmlns:a16="http://schemas.microsoft.com/office/drawing/2014/main" id="{74A9E61E-44B8-414F-920C-490E54AE4615}"/>
              </a:ext>
            </a:extLst>
          </p:cNvPr>
          <p:cNvSpPr>
            <a:spLocks xmlns:a="http://schemas.openxmlformats.org/drawingml/2006/main" noGrp="1"/>
          </p:cNvSpPr>
          <p:nvPr/>
        </p:nvSpPr>
        <p:spPr>
          <a:xfrm xmlns:a="http://schemas.openxmlformats.org/drawingml/2006/main">
            <a:off x="781050" y="5972175"/>
            <a:ext cx="1000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i="0">
                <a:solidFill>
                  <a:srgbClr val="65757C"/>
                </a:solidFill>
                <a:latin typeface="Arial"/>
                <a:ea typeface="Arial"/>
                <a:cs typeface="Arial"/>
              </a:defRPr>
            </a:pPr>
            <a:r>
              <a:rPr sz="1275" b="0" i="0">
                <a:solidFill>
                  <a:srgbClr val="65757C"/>
                </a:solidFill>
                <a:latin typeface="Arial"/>
                <a:ea typeface="Arial"/>
                <a:cs typeface="Arial"/>
              </a:rPr>
              <a:t>El diagrama no afirma una ruta física para los archivos.</a:t>
            </a:r>
          </a:p>
        </p:txBody>
      </p:sp>
    </p:spTree>
    <p:extLst>
      <p:ext uri="{BB962C8B-B14F-4D97-AF65-F5344CB8AC3E}">
        <p14:creationId xmlns:p14="http://schemas.microsoft.com/office/powerpoint/2010/main" val="1836235867"/>
      </p:ext>
    </p:extLst>
  </p:cSld>
</p:sld>
</file>

<file path=ppt/slides/slide10.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23" name="slide-title-10">
            <a:extLst xmlns:a="http://schemas.openxmlformats.org/drawingml/2006/main">
              <a:ext uri="{FF2B5EF4-FFF2-40B4-BE49-F238E27FC236}">
                <a16:creationId xmlns:a16="http://schemas.microsoft.com/office/drawing/2014/main" id="{EE42C2D0-8773-4708-AB8B-440E3DCEE281}"/>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Cómo validamos el cálculo</a:t>
            </a:r>
          </a:p>
        </p:txBody>
      </p:sp>
      <p:sp>
        <p:nvSpPr>
          <p:cNvPr id="2" name="title-rule-10">
            <a:extLst xmlns:a="http://schemas.openxmlformats.org/drawingml/2006/main">
              <a:ext uri="{FF2B5EF4-FFF2-40B4-BE49-F238E27FC236}">
                <a16:creationId xmlns:a16="http://schemas.microsoft.com/office/drawing/2014/main" id="{8C32FF71-9090-4A36-BD73-5BB960140444}"/>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0">
            <a:extLst xmlns:a="http://schemas.openxmlformats.org/drawingml/2006/main">
              <a:ext uri="{FF2B5EF4-FFF2-40B4-BE49-F238E27FC236}">
                <a16:creationId xmlns:a16="http://schemas.microsoft.com/office/drawing/2014/main" id="{45C32F90-A653-42A1-B115-0873D5E35CD6}"/>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10</a:t>
            </a:r>
          </a:p>
        </p:txBody>
      </p:sp>
      <p:sp>
        <p:nvSpPr>
          <p:cNvPr id="4" name="method-step-number-0">
            <a:extLst xmlns:a="http://schemas.openxmlformats.org/drawingml/2006/main">
              <a:ext uri="{FF2B5EF4-FFF2-40B4-BE49-F238E27FC236}">
                <a16:creationId xmlns:a16="http://schemas.microsoft.com/office/drawing/2014/main" id="{936EB23A-8B44-499A-9E5D-EBF74399F924}"/>
              </a:ext>
            </a:extLst>
          </p:cNvPr>
          <p:cNvSpPr>
            <a:spLocks xmlns:a="http://schemas.openxmlformats.org/drawingml/2006/main" noGrp="1"/>
          </p:cNvSpPr>
          <p:nvPr/>
        </p:nvSpPr>
        <p:spPr>
          <a:xfrm xmlns:a="http://schemas.openxmlformats.org/drawingml/2006/main">
            <a:off x="78105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1</a:t>
            </a:r>
          </a:p>
        </p:txBody>
      </p:sp>
      <p:sp>
        <p:nvSpPr>
          <p:cNvPr id="5" name="method-step-title-0">
            <a:extLst xmlns:a="http://schemas.openxmlformats.org/drawingml/2006/main">
              <a:ext uri="{FF2B5EF4-FFF2-40B4-BE49-F238E27FC236}">
                <a16:creationId xmlns:a16="http://schemas.microsoft.com/office/drawing/2014/main" id="{819DB2A1-77BF-461A-A0DF-A2ADF7C3DD0C}"/>
              </a:ext>
            </a:extLst>
          </p:cNvPr>
          <p:cNvSpPr>
            <a:spLocks xmlns:a="http://schemas.openxmlformats.org/drawingml/2006/main" noGrp="1"/>
          </p:cNvSpPr>
          <p:nvPr/>
        </p:nvSpPr>
        <p:spPr>
          <a:xfrm xmlns:a="http://schemas.openxmlformats.org/drawingml/2006/main">
            <a:off x="140017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Fijar</a:t>
            </a:r>
          </a:p>
        </p:txBody>
      </p:sp>
      <p:sp>
        <p:nvSpPr>
          <p:cNvPr id="6" name="method-step-body-0">
            <a:extLst xmlns:a="http://schemas.openxmlformats.org/drawingml/2006/main">
              <a:ext uri="{FF2B5EF4-FFF2-40B4-BE49-F238E27FC236}">
                <a16:creationId xmlns:a16="http://schemas.microsoft.com/office/drawing/2014/main" id="{37EB50AA-3C85-4A0D-9C34-F98008D65728}"/>
              </a:ext>
            </a:extLst>
          </p:cNvPr>
          <p:cNvSpPr>
            <a:spLocks xmlns:a="http://schemas.openxmlformats.org/drawingml/2006/main" noGrp="1"/>
          </p:cNvSpPr>
          <p:nvPr/>
        </p:nvSpPr>
        <p:spPr>
          <a:xfrm xmlns:a="http://schemas.openxmlformats.org/drawingml/2006/main">
            <a:off x="140017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workflow, archivos, tamaños y worker previsto por tarea</a:t>
            </a:r>
          </a:p>
        </p:txBody>
      </p:sp>
      <p:sp>
        <p:nvSpPr>
          <p:cNvPr id="7" name="method-divider-0">
            <a:extLst xmlns:a="http://schemas.openxmlformats.org/drawingml/2006/main">
              <a:ext uri="{FF2B5EF4-FFF2-40B4-BE49-F238E27FC236}">
                <a16:creationId xmlns:a16="http://schemas.microsoft.com/office/drawing/2014/main" id="{49D57411-DAA5-4020-8881-5A496133A61E}"/>
              </a:ext>
            </a:extLst>
          </p:cNvPr>
          <p:cNvSpPr>
            <a:spLocks xmlns:a="http://schemas.openxmlformats.org/drawingml/2006/main" noGrp="1"/>
          </p:cNvSpPr>
          <p:nvPr/>
        </p:nvSpPr>
        <p:spPr>
          <a:xfrm xmlns:a="http://schemas.openxmlformats.org/drawingml/2006/main">
            <a:off x="3562350" y="1657350"/>
            <a:ext cx="13335" cy="114300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8" name="method-step-number-1">
            <a:extLst xmlns:a="http://schemas.openxmlformats.org/drawingml/2006/main">
              <a:ext uri="{FF2B5EF4-FFF2-40B4-BE49-F238E27FC236}">
                <a16:creationId xmlns:a16="http://schemas.microsoft.com/office/drawing/2014/main" id="{6E809E40-A500-4B5F-9150-C2B1DA34A14F}"/>
              </a:ext>
            </a:extLst>
          </p:cNvPr>
          <p:cNvSpPr>
            <a:spLocks xmlns:a="http://schemas.openxmlformats.org/drawingml/2006/main" noGrp="1"/>
          </p:cNvSpPr>
          <p:nvPr/>
        </p:nvSpPr>
        <p:spPr>
          <a:xfrm xmlns:a="http://schemas.openxmlformats.org/drawingml/2006/main">
            <a:off x="350520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2</a:t>
            </a:r>
          </a:p>
        </p:txBody>
      </p:sp>
      <p:sp>
        <p:nvSpPr>
          <p:cNvPr id="9" name="method-step-title-1">
            <a:extLst xmlns:a="http://schemas.openxmlformats.org/drawingml/2006/main">
              <a:ext uri="{FF2B5EF4-FFF2-40B4-BE49-F238E27FC236}">
                <a16:creationId xmlns:a16="http://schemas.microsoft.com/office/drawing/2014/main" id="{CD313C26-CEDF-40C2-8280-A2340CF36F12}"/>
              </a:ext>
            </a:extLst>
          </p:cNvPr>
          <p:cNvSpPr>
            <a:spLocks xmlns:a="http://schemas.openxmlformats.org/drawingml/2006/main" noGrp="1"/>
          </p:cNvSpPr>
          <p:nvPr/>
        </p:nvSpPr>
        <p:spPr>
          <a:xfrm xmlns:a="http://schemas.openxmlformats.org/drawingml/2006/main">
            <a:off x="412432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Ejecutar</a:t>
            </a:r>
          </a:p>
        </p:txBody>
      </p:sp>
      <p:sp>
        <p:nvSpPr>
          <p:cNvPr id="10" name="method-step-body-1">
            <a:extLst xmlns:a="http://schemas.openxmlformats.org/drawingml/2006/main">
              <a:ext uri="{FF2B5EF4-FFF2-40B4-BE49-F238E27FC236}">
                <a16:creationId xmlns:a16="http://schemas.microsoft.com/office/drawing/2014/main" id="{D844573B-A0DE-4233-B81D-56FAD20816DA}"/>
              </a:ext>
            </a:extLst>
          </p:cNvPr>
          <p:cNvSpPr>
            <a:spLocks xmlns:a="http://schemas.openxmlformats.org/drawingml/2006/main" noGrp="1"/>
          </p:cNvSpPr>
          <p:nvPr/>
        </p:nvSpPr>
        <p:spPr>
          <a:xfrm xmlns:a="http://schemas.openxmlformats.org/drawingml/2006/main">
            <a:off x="412432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Pegasus/HTCondor en el pool de dos workers</a:t>
            </a:r>
          </a:p>
        </p:txBody>
      </p:sp>
      <p:sp>
        <p:nvSpPr>
          <p:cNvPr id="11" name="method-divider-1">
            <a:extLst xmlns:a="http://schemas.openxmlformats.org/drawingml/2006/main">
              <a:ext uri="{FF2B5EF4-FFF2-40B4-BE49-F238E27FC236}">
                <a16:creationId xmlns:a16="http://schemas.microsoft.com/office/drawing/2014/main" id="{8F783183-0CB4-4963-BAA7-AB55D07601D8}"/>
              </a:ext>
            </a:extLst>
          </p:cNvPr>
          <p:cNvSpPr>
            <a:spLocks xmlns:a="http://schemas.openxmlformats.org/drawingml/2006/main" noGrp="1"/>
          </p:cNvSpPr>
          <p:nvPr/>
        </p:nvSpPr>
        <p:spPr>
          <a:xfrm xmlns:a="http://schemas.openxmlformats.org/drawingml/2006/main">
            <a:off x="6286500" y="1657350"/>
            <a:ext cx="13335" cy="114300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2" name="method-step-number-2">
            <a:extLst xmlns:a="http://schemas.openxmlformats.org/drawingml/2006/main">
              <a:ext uri="{FF2B5EF4-FFF2-40B4-BE49-F238E27FC236}">
                <a16:creationId xmlns:a16="http://schemas.microsoft.com/office/drawing/2014/main" id="{379C92F6-D449-4F06-A4AE-A10A9F069AA5}"/>
              </a:ext>
            </a:extLst>
          </p:cNvPr>
          <p:cNvSpPr>
            <a:spLocks xmlns:a="http://schemas.openxmlformats.org/drawingml/2006/main" noGrp="1"/>
          </p:cNvSpPr>
          <p:nvPr/>
        </p:nvSpPr>
        <p:spPr>
          <a:xfrm xmlns:a="http://schemas.openxmlformats.org/drawingml/2006/main">
            <a:off x="622935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3</a:t>
            </a:r>
          </a:p>
        </p:txBody>
      </p:sp>
      <p:sp>
        <p:nvSpPr>
          <p:cNvPr id="13" name="method-step-title-2">
            <a:extLst xmlns:a="http://schemas.openxmlformats.org/drawingml/2006/main">
              <a:ext uri="{FF2B5EF4-FFF2-40B4-BE49-F238E27FC236}">
                <a16:creationId xmlns:a16="http://schemas.microsoft.com/office/drawing/2014/main" id="{0B491EFE-3B15-44C6-AFC5-144A3D5BAF28}"/>
              </a:ext>
            </a:extLst>
          </p:cNvPr>
          <p:cNvSpPr>
            <a:spLocks xmlns:a="http://schemas.openxmlformats.org/drawingml/2006/main" noGrp="1"/>
          </p:cNvSpPr>
          <p:nvPr/>
        </p:nvSpPr>
        <p:spPr>
          <a:xfrm xmlns:a="http://schemas.openxmlformats.org/drawingml/2006/main">
            <a:off x="684847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Reconciliar</a:t>
            </a:r>
          </a:p>
        </p:txBody>
      </p:sp>
      <p:sp>
        <p:nvSpPr>
          <p:cNvPr id="14" name="method-step-body-2">
            <a:extLst xmlns:a="http://schemas.openxmlformats.org/drawingml/2006/main">
              <a:ext uri="{FF2B5EF4-FFF2-40B4-BE49-F238E27FC236}">
                <a16:creationId xmlns:a16="http://schemas.microsoft.com/office/drawing/2014/main" id="{A75D49BB-A6FB-4597-A797-D5BE866FB755}"/>
              </a:ext>
            </a:extLst>
          </p:cNvPr>
          <p:cNvSpPr>
            <a:spLocks xmlns:a="http://schemas.openxmlformats.org/drawingml/2006/main" noGrp="1"/>
          </p:cNvSpPr>
          <p:nvPr/>
        </p:nvSpPr>
        <p:spPr>
          <a:xfrm xmlns:a="http://schemas.openxmlformats.org/drawingml/2006/main">
            <a:off x="684847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manifiestos con el historial por job</a:t>
            </a:r>
          </a:p>
        </p:txBody>
      </p:sp>
      <p:sp>
        <p:nvSpPr>
          <p:cNvPr id="15" name="method-divider-2">
            <a:extLst xmlns:a="http://schemas.openxmlformats.org/drawingml/2006/main">
              <a:ext uri="{FF2B5EF4-FFF2-40B4-BE49-F238E27FC236}">
                <a16:creationId xmlns:a16="http://schemas.microsoft.com/office/drawing/2014/main" id="{A8ED5605-E94C-414C-8321-8DC389330F2F}"/>
              </a:ext>
            </a:extLst>
          </p:cNvPr>
          <p:cNvSpPr>
            <a:spLocks xmlns:a="http://schemas.openxmlformats.org/drawingml/2006/main" noGrp="1"/>
          </p:cNvSpPr>
          <p:nvPr/>
        </p:nvSpPr>
        <p:spPr>
          <a:xfrm xmlns:a="http://schemas.openxmlformats.org/drawingml/2006/main">
            <a:off x="9010650" y="1657350"/>
            <a:ext cx="13335" cy="114300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6" name="method-step-number-3">
            <a:extLst xmlns:a="http://schemas.openxmlformats.org/drawingml/2006/main">
              <a:ext uri="{FF2B5EF4-FFF2-40B4-BE49-F238E27FC236}">
                <a16:creationId xmlns:a16="http://schemas.microsoft.com/office/drawing/2014/main" id="{51BF6CD0-F13B-471E-9F77-7ADFFBE4EF97}"/>
              </a:ext>
            </a:extLst>
          </p:cNvPr>
          <p:cNvSpPr>
            <a:spLocks xmlns:a="http://schemas.openxmlformats.org/drawingml/2006/main" noGrp="1"/>
          </p:cNvSpPr>
          <p:nvPr/>
        </p:nvSpPr>
        <p:spPr>
          <a:xfrm xmlns:a="http://schemas.openxmlformats.org/drawingml/2006/main">
            <a:off x="8953500" y="1657350"/>
            <a:ext cx="514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087E78"/>
                </a:solidFill>
                <a:latin typeface="Arial"/>
                <a:ea typeface="Arial"/>
                <a:cs typeface="Arial"/>
              </a:defRPr>
            </a:pPr>
            <a:r>
              <a:rPr sz="2850" b="1" i="0">
                <a:solidFill>
                  <a:srgbClr val="087E78"/>
                </a:solidFill>
                <a:latin typeface="Arial"/>
                <a:ea typeface="Arial"/>
                <a:cs typeface="Arial"/>
              </a:rPr>
              <a:t>4</a:t>
            </a:r>
          </a:p>
        </p:txBody>
      </p:sp>
      <p:sp>
        <p:nvSpPr>
          <p:cNvPr id="17" name="method-step-title-3">
            <a:extLst xmlns:a="http://schemas.openxmlformats.org/drawingml/2006/main">
              <a:ext uri="{FF2B5EF4-FFF2-40B4-BE49-F238E27FC236}">
                <a16:creationId xmlns:a16="http://schemas.microsoft.com/office/drawing/2014/main" id="{04E25123-83F4-4FFA-A210-B7F4EAC6EF1E}"/>
              </a:ext>
            </a:extLst>
          </p:cNvPr>
          <p:cNvSpPr>
            <a:spLocks xmlns:a="http://schemas.openxmlformats.org/drawingml/2006/main" noGrp="1"/>
          </p:cNvSpPr>
          <p:nvPr/>
        </p:nvSpPr>
        <p:spPr>
          <a:xfrm xmlns:a="http://schemas.openxmlformats.org/drawingml/2006/main">
            <a:off x="9572625" y="1619250"/>
            <a:ext cx="2019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1" i="0">
                <a:solidFill>
                  <a:srgbClr val="172A33"/>
                </a:solidFill>
                <a:latin typeface="Arial"/>
                <a:ea typeface="Arial"/>
                <a:cs typeface="Arial"/>
              </a:defRPr>
            </a:pPr>
            <a:r>
              <a:rPr sz="1650" b="1" i="0">
                <a:solidFill>
                  <a:srgbClr val="172A33"/>
                </a:solidFill>
                <a:latin typeface="Arial"/>
                <a:ea typeface="Arial"/>
                <a:cs typeface="Arial"/>
              </a:rPr>
              <a:t>Comparar</a:t>
            </a:r>
          </a:p>
        </p:txBody>
      </p:sp>
      <p:sp>
        <p:nvSpPr>
          <p:cNvPr id="18" name="method-step-body-3">
            <a:extLst xmlns:a="http://schemas.openxmlformats.org/drawingml/2006/main">
              <a:ext uri="{FF2B5EF4-FFF2-40B4-BE49-F238E27FC236}">
                <a16:creationId xmlns:a16="http://schemas.microsoft.com/office/drawing/2014/main" id="{C543CB72-8C88-41B1-928D-3E58142B0315}"/>
              </a:ext>
            </a:extLst>
          </p:cNvPr>
          <p:cNvSpPr>
            <a:spLocks xmlns:a="http://schemas.openxmlformats.org/drawingml/2006/main" noGrp="1"/>
          </p:cNvSpPr>
          <p:nvPr/>
        </p:nvSpPr>
        <p:spPr>
          <a:xfrm xmlns:a="http://schemas.openxmlformats.org/drawingml/2006/main">
            <a:off x="9572625" y="2000250"/>
            <a:ext cx="2019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0" i="0">
                <a:solidFill>
                  <a:srgbClr val="293A42"/>
                </a:solidFill>
                <a:latin typeface="Arial"/>
                <a:ea typeface="Arial"/>
                <a:cs typeface="Arial"/>
              </a:defRPr>
            </a:pPr>
            <a:r>
              <a:rPr sz="1425" b="0" i="0">
                <a:solidFill>
                  <a:srgbClr val="293A42"/>
                </a:solidFill>
                <a:latin typeface="Arial"/>
                <a:ea typeface="Arial"/>
                <a:cs typeface="Arial"/>
              </a:rPr>
              <a:t>salidas del Analyzer con cálculos manuales independientes</a:t>
            </a:r>
          </a:p>
        </p:txBody>
      </p:sp>
      <p:sp>
        <p:nvSpPr>
          <p:cNvPr id="19" name="method-stat-rule">
            <a:extLst xmlns:a="http://schemas.openxmlformats.org/drawingml/2006/main">
              <a:ext uri="{FF2B5EF4-FFF2-40B4-BE49-F238E27FC236}">
                <a16:creationId xmlns:a16="http://schemas.microsoft.com/office/drawing/2014/main" id="{E069F415-1EF2-4865-8E0A-F1F8C63A2F28}"/>
              </a:ext>
            </a:extLst>
          </p:cNvPr>
          <p:cNvSpPr>
            <a:spLocks xmlns:a="http://schemas.openxmlformats.org/drawingml/2006/main" noGrp="1"/>
          </p:cNvSpPr>
          <p:nvPr/>
        </p:nvSpPr>
        <p:spPr>
          <a:xfrm xmlns:a="http://schemas.openxmlformats.org/drawingml/2006/main">
            <a:off x="781050" y="3219450"/>
            <a:ext cx="10439400" cy="12383"/>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20" name="method-stat-main">
            <a:extLst xmlns:a="http://schemas.openxmlformats.org/drawingml/2006/main">
              <a:ext uri="{FF2B5EF4-FFF2-40B4-BE49-F238E27FC236}">
                <a16:creationId xmlns:a16="http://schemas.microsoft.com/office/drawing/2014/main" id="{9EBA48AB-F1B7-4C8B-8956-082486083540}"/>
              </a:ext>
            </a:extLst>
          </p:cNvPr>
          <p:cNvSpPr>
            <a:spLocks xmlns:a="http://schemas.openxmlformats.org/drawingml/2006/main" noGrp="1"/>
          </p:cNvSpPr>
          <p:nvPr/>
        </p:nvSpPr>
        <p:spPr>
          <a:xfrm xmlns:a="http://schemas.openxmlformats.org/drawingml/2006/main">
            <a:off x="781050" y="3514725"/>
            <a:ext cx="10439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102"/>
          </a:bodyPr>
          <a:lstStyle xmlns:a="http://schemas.openxmlformats.org/drawingml/2006/main"/>
          <a:p xmlns:a="http://schemas.openxmlformats.org/drawingml/2006/main">
            <a:pPr algn="ctr">
              <a:lnSpc>
                <a:spcPct val="100000"/>
              </a:lnSpc>
              <a:buNone/>
              <a:defRPr sz="1875" b="1" i="0">
                <a:solidFill>
                  <a:srgbClr val="172A33"/>
                </a:solidFill>
                <a:latin typeface="Arial"/>
                <a:ea typeface="Arial"/>
                <a:cs typeface="Arial"/>
              </a:defRPr>
            </a:pPr>
            <a:r>
              <a:rPr sz="1875" b="1" i="0">
                <a:solidFill>
                  <a:srgbClr val="172A33"/>
                </a:solidFill>
                <a:latin typeface="Arial"/>
                <a:ea typeface="Arial"/>
                <a:cs typeface="Arial"/>
              </a:rPr>
              <a:t>5 patrones  ·  10 condiciones  ·  31 workflows independientes  ·  3 o más réplicas por condición</a:t>
            </a:r>
          </a:p>
        </p:txBody>
      </p:sp>
      <p:sp>
        <p:nvSpPr>
          <p:cNvPr id="21" name="method-stat-detail">
            <a:extLst xmlns:a="http://schemas.openxmlformats.org/drawingml/2006/main">
              <a:ext uri="{FF2B5EF4-FFF2-40B4-BE49-F238E27FC236}">
                <a16:creationId xmlns:a16="http://schemas.microsoft.com/office/drawing/2014/main" id="{D0C6AFB5-30F4-4199-9BBA-F1F79EBC2AD1}"/>
              </a:ext>
            </a:extLst>
          </p:cNvPr>
          <p:cNvSpPr>
            <a:spLocks xmlns:a="http://schemas.openxmlformats.org/drawingml/2006/main" noGrp="1"/>
          </p:cNvSpPr>
          <p:nvPr/>
        </p:nvSpPr>
        <p:spPr>
          <a:xfrm xmlns:a="http://schemas.openxmlformats.org/drawingml/2006/main">
            <a:off x="1190625" y="4248150"/>
            <a:ext cx="962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El worker observado, M_req y M_rec coincidieron con los oráculos. Las 31 ejecuciones fueron válidas y tuvieron Coverage = 1.</a:t>
            </a:r>
          </a:p>
        </p:txBody>
      </p:sp>
      <p:sp>
        <p:nvSpPr>
          <p:cNvPr id="22" name="method-caveat">
            <a:extLst xmlns:a="http://schemas.openxmlformats.org/drawingml/2006/main">
              <a:ext uri="{FF2B5EF4-FFF2-40B4-BE49-F238E27FC236}">
                <a16:creationId xmlns:a16="http://schemas.microsoft.com/office/drawing/2014/main" id="{C7ADAA09-6FF5-4449-9D99-A9394DCF75CB}"/>
              </a:ext>
            </a:extLst>
          </p:cNvPr>
          <p:cNvSpPr>
            <a:spLocks xmlns:a="http://schemas.openxmlformats.org/drawingml/2006/main" noGrp="1"/>
          </p:cNvSpPr>
          <p:nvPr/>
        </p:nvSpPr>
        <p:spPr>
          <a:xfrm xmlns:a="http://schemas.openxmlformats.org/drawingml/2006/main">
            <a:off x="1333500" y="5162550"/>
            <a:ext cx="93345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La evidencia valida estas condiciones y este pool. No demuestra el mismo comportamiento en cualquier arquitectura.</a:t>
            </a:r>
          </a:p>
        </p:txBody>
      </p:sp>
    </p:spTree>
    <p:extLst>
      <p:ext uri="{BB962C8B-B14F-4D97-AF65-F5344CB8AC3E}">
        <p14:creationId xmlns:p14="http://schemas.microsoft.com/office/powerpoint/2010/main" val="1055991826"/>
      </p:ext>
    </p:extLst>
  </p:cSld>
</p:sld>
</file>

<file path=ppt/slides/slide11.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8" name="slide-title-11">
            <a:extLst xmlns:a="http://schemas.openxmlformats.org/drawingml/2006/main">
              <a:ext uri="{FF2B5EF4-FFF2-40B4-BE49-F238E27FC236}">
                <a16:creationId xmlns:a16="http://schemas.microsoft.com/office/drawing/2014/main" id="{39339A81-0E45-4356-95DB-290D69199DC0}"/>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Qué cambió al comparar la ubicación de las tareas</a:t>
            </a:r>
          </a:p>
        </p:txBody>
      </p:sp>
      <p:sp>
        <p:nvSpPr>
          <p:cNvPr id="2" name="title-rule-11">
            <a:extLst xmlns:a="http://schemas.openxmlformats.org/drawingml/2006/main">
              <a:ext uri="{FF2B5EF4-FFF2-40B4-BE49-F238E27FC236}">
                <a16:creationId xmlns:a16="http://schemas.microsoft.com/office/drawing/2014/main" id="{DF4D6117-DE95-4173-9BCE-0B67945B7144}"/>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1">
            <a:extLst xmlns:a="http://schemas.openxmlformats.org/drawingml/2006/main">
              <a:ext uri="{FF2B5EF4-FFF2-40B4-BE49-F238E27FC236}">
                <a16:creationId xmlns:a16="http://schemas.microsoft.com/office/drawing/2014/main" id="{0DBBDE48-0453-4F32-9F86-DFAA2047335F}"/>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11</a:t>
            </a:r>
          </a:p>
        </p:txBody>
      </p:sp>
      <p:sp>
        <p:nvSpPr>
          <p:cNvPr id="4" name="results-intro">
            <a:extLst xmlns:a="http://schemas.openxmlformats.org/drawingml/2006/main">
              <a:ext uri="{FF2B5EF4-FFF2-40B4-BE49-F238E27FC236}">
                <a16:creationId xmlns:a16="http://schemas.microsoft.com/office/drawing/2014/main" id="{2E340E8A-2EE3-4205-8634-707114B74C75}"/>
              </a:ext>
            </a:extLst>
          </p:cNvPr>
          <p:cNvSpPr>
            <a:spLocks xmlns:a="http://schemas.openxmlformats.org/drawingml/2006/main" noGrp="1"/>
          </p:cNvSpPr>
          <p:nvPr/>
        </p:nvSpPr>
        <p:spPr>
          <a:xfrm xmlns:a="http://schemas.openxmlformats.org/drawingml/2006/main">
            <a:off x="781050" y="1304925"/>
            <a:ext cx="10629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i="0">
                <a:solidFill>
                  <a:srgbClr val="293A42"/>
                </a:solidFill>
                <a:latin typeface="Arial"/>
                <a:ea typeface="Arial"/>
                <a:cs typeface="Arial"/>
              </a:defRPr>
            </a:pPr>
            <a:r>
              <a:rPr sz="1650" b="0" i="0">
                <a:solidFill>
                  <a:srgbClr val="293A42"/>
                </a:solidFill>
                <a:latin typeface="Arial"/>
                <a:ea typeface="Arial"/>
                <a:cs typeface="Arial"/>
              </a:rPr>
              <a:t>DME por patrón. Local = tareas en W1; repartido = tareas distribuidas entre W1 y W2.</a:t>
            </a:r>
          </a:p>
        </p:txBody>
      </p:sp>
      <p:graphicFrame>
        <p:nvGraphicFramePr>
          <p:cNvPr id="12" name="Chart"/>
          <p:cNvGraphicFramePr/>
          <p:nvPr/>
        </p:nvGraphicFramePr>
        <p:xfrm>
          <a:off xmlns:a="http://schemas.openxmlformats.org/drawingml/2006/main" x="1047750" y="1866900"/>
          <a:ext xmlns:a="http://schemas.openxmlformats.org/drawingml/2006/main" cx="10096500" cy="3524250"/>
        </p:xfrm>
        <a:graphic xmlns:a="http://schemas.openxmlformats.org/drawingml/2006/main">
          <a:graphicData uri="http://schemas.openxmlformats.org/drawingml/2006/chart">
            <c:chart xmlns:r="http://schemas.openxmlformats.org/officeDocument/2006/relationships" xmlns:c="http://schemas.openxmlformats.org/drawingml/2006/chart" r:id="R67c449a12c844275"/>
          </a:graphicData>
        </a:graphic>
      </p:graphicFrame>
      <p:sp>
        <p:nvSpPr>
          <p:cNvPr id="6" name="results-observation">
            <a:extLst xmlns:a="http://schemas.openxmlformats.org/drawingml/2006/main">
              <a:ext uri="{FF2B5EF4-FFF2-40B4-BE49-F238E27FC236}">
                <a16:creationId xmlns:a16="http://schemas.microsoft.com/office/drawing/2014/main" id="{FA8D124B-6DB3-4CB8-AE08-5EBE2307939F}"/>
              </a:ext>
            </a:extLst>
          </p:cNvPr>
          <p:cNvSpPr>
            <a:spLocks xmlns:a="http://schemas.openxmlformats.org/drawingml/2006/main" noGrp="1"/>
          </p:cNvSpPr>
          <p:nvPr/>
        </p:nvSpPr>
        <p:spPr>
          <a:xfrm xmlns:a="http://schemas.openxmlformats.org/drawingml/2006/main">
            <a:off x="781050" y="5581650"/>
            <a:ext cx="10629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172A33"/>
                </a:solidFill>
                <a:latin typeface="Arial"/>
                <a:ea typeface="Arial"/>
                <a:cs typeface="Arial"/>
              </a:defRPr>
            </a:pPr>
            <a:r>
              <a:rPr sz="1500" b="0" i="0">
                <a:solidFill>
                  <a:srgbClr val="172A33"/>
                </a:solidFill>
                <a:latin typeface="Arial"/>
                <a:ea typeface="Arial"/>
                <a:cs typeface="Arial"/>
              </a:rPr>
              <a:t>Al repartir las tareas, M_req y DME cambiaron en estos cuatro patrones.</a:t>
            </a:r>
          </a:p>
        </p:txBody>
      </p:sp>
      <p:sp>
        <p:nvSpPr>
          <p:cNvPr id="7" name="results-process">
            <a:extLst xmlns:a="http://schemas.openxmlformats.org/drawingml/2006/main">
              <a:ext uri="{FF2B5EF4-FFF2-40B4-BE49-F238E27FC236}">
                <a16:creationId xmlns:a16="http://schemas.microsoft.com/office/drawing/2014/main" id="{3BE0A797-E243-4F9E-8C2B-BF430C04C300}"/>
              </a:ext>
            </a:extLst>
          </p:cNvPr>
          <p:cNvSpPr>
            <a:spLocks xmlns:a="http://schemas.openxmlformats.org/drawingml/2006/main" noGrp="1"/>
          </p:cNvSpPr>
          <p:nvPr/>
        </p:nvSpPr>
        <p:spPr>
          <a:xfrm xmlns:a="http://schemas.openxmlformats.org/drawingml/2006/main">
            <a:off x="781050" y="6057900"/>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i="0">
                <a:solidFill>
                  <a:srgbClr val="65757C"/>
                </a:solidFill>
                <a:latin typeface="Arial"/>
                <a:ea typeface="Arial"/>
                <a:cs typeface="Arial"/>
              </a:defRPr>
            </a:pPr>
            <a:r>
              <a:rPr sz="1200" b="0" i="0">
                <a:solidFill>
                  <a:srgbClr val="65757C"/>
                </a:solidFill>
                <a:latin typeface="Arial"/>
                <a:ea typeface="Arial"/>
                <a:cs typeface="Arial"/>
              </a:rPr>
              <a:t>DME compara volúmenes; un valor bajo no demuestra por sí solo que hubiera bytes evitables.</a:t>
            </a:r>
          </a:p>
        </p:txBody>
      </p:sp>
    </p:spTree>
    <p:extLst>
      <p:ext uri="{BB962C8B-B14F-4D97-AF65-F5344CB8AC3E}">
        <p14:creationId xmlns:p14="http://schemas.microsoft.com/office/powerpoint/2010/main" val="1706168427"/>
      </p:ext>
    </p:extLst>
  </p:cSld>
</p:sld>
</file>

<file path=ppt/slides/slide12.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8" name="slide-title-12">
            <a:extLst xmlns:a="http://schemas.openxmlformats.org/drawingml/2006/main">
              <a:ext uri="{FF2B5EF4-FFF2-40B4-BE49-F238E27FC236}">
                <a16:creationId xmlns:a16="http://schemas.microsoft.com/office/drawing/2014/main" id="{F2CA7EAF-E4C0-41B5-A863-A0A0C60F42B9}"/>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El costo medido ocurre después del workflow</a:t>
            </a:r>
          </a:p>
        </p:txBody>
      </p:sp>
      <p:sp>
        <p:nvSpPr>
          <p:cNvPr id="2" name="title-rule-12">
            <a:extLst xmlns:a="http://schemas.openxmlformats.org/drawingml/2006/main">
              <a:ext uri="{FF2B5EF4-FFF2-40B4-BE49-F238E27FC236}">
                <a16:creationId xmlns:a16="http://schemas.microsoft.com/office/drawing/2014/main" id="{4B52B76E-83E0-46BE-8C8C-B5B5404448F5}"/>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2">
            <a:extLst xmlns:a="http://schemas.openxmlformats.org/drawingml/2006/main">
              <a:ext uri="{FF2B5EF4-FFF2-40B4-BE49-F238E27FC236}">
                <a16:creationId xmlns:a16="http://schemas.microsoft.com/office/drawing/2014/main" id="{DCB87BA8-2724-4709-A908-92671BF58BB7}"/>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12</a:t>
            </a:r>
          </a:p>
        </p:txBody>
      </p:sp>
      <p:sp>
        <p:nvSpPr>
          <p:cNvPr id="4" name="cost-intro">
            <a:extLst xmlns:a="http://schemas.openxmlformats.org/drawingml/2006/main">
              <a:ext uri="{FF2B5EF4-FFF2-40B4-BE49-F238E27FC236}">
                <a16:creationId xmlns:a16="http://schemas.microsoft.com/office/drawing/2014/main" id="{FC6E45B4-DA7F-463E-8E24-0854A682316E}"/>
              </a:ext>
            </a:extLst>
          </p:cNvPr>
          <p:cNvSpPr>
            <a:spLocks xmlns:a="http://schemas.openxmlformats.org/drawingml/2006/main" noGrp="1"/>
          </p:cNvSpPr>
          <p:nvPr/>
        </p:nvSpPr>
        <p:spPr>
          <a:xfrm xmlns:a="http://schemas.openxmlformats.org/drawingml/2006/main">
            <a:off x="78105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No agregamos un tracer dentro de los jobs. Medimos recolección, análisis y evidencia preservada.</a:t>
            </a:r>
          </a:p>
        </p:txBody>
      </p:sp>
      <p:sp>
        <p:nvSpPr>
          <p:cNvPr id="5" name="cost-label-0">
            <a:extLst xmlns:a="http://schemas.openxmlformats.org/drawingml/2006/main">
              <a:ext uri="{FF2B5EF4-FFF2-40B4-BE49-F238E27FC236}">
                <a16:creationId xmlns:a16="http://schemas.microsoft.com/office/drawing/2014/main" id="{FFB63C6B-AF83-4B66-A2AA-3240C1B551BD}"/>
              </a:ext>
            </a:extLst>
          </p:cNvPr>
          <p:cNvSpPr>
            <a:spLocks xmlns:a="http://schemas.openxmlformats.org/drawingml/2006/main" noGrp="1"/>
          </p:cNvSpPr>
          <p:nvPr/>
        </p:nvSpPr>
        <p:spPr>
          <a:xfrm xmlns:a="http://schemas.openxmlformats.org/drawingml/2006/main">
            <a:off x="781050" y="20955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172A33"/>
                </a:solidFill>
                <a:latin typeface="Arial"/>
                <a:ea typeface="Arial"/>
                <a:cs typeface="Arial"/>
              </a:defRPr>
            </a:pPr>
            <a:r>
              <a:rPr sz="1725" b="1" i="0">
                <a:solidFill>
                  <a:srgbClr val="172A33"/>
                </a:solidFill>
                <a:latin typeface="Arial"/>
                <a:ea typeface="Arial"/>
                <a:cs typeface="Arial"/>
              </a:rPr>
              <a:t>Recolección</a:t>
            </a:r>
          </a:p>
        </p:txBody>
      </p:sp>
      <p:sp>
        <p:nvSpPr>
          <p:cNvPr id="6" name="cost-rule-0">
            <a:extLst xmlns:a="http://schemas.openxmlformats.org/drawingml/2006/main">
              <a:ext uri="{FF2B5EF4-FFF2-40B4-BE49-F238E27FC236}">
                <a16:creationId xmlns:a16="http://schemas.microsoft.com/office/drawing/2014/main" id="{CF04A18B-127E-41BA-A48D-4CAD3594EA1B}"/>
              </a:ext>
            </a:extLst>
          </p:cNvPr>
          <p:cNvSpPr>
            <a:spLocks xmlns:a="http://schemas.openxmlformats.org/drawingml/2006/main" noGrp="1"/>
          </p:cNvSpPr>
          <p:nvPr/>
        </p:nvSpPr>
        <p:spPr>
          <a:xfrm xmlns:a="http://schemas.openxmlformats.org/drawingml/2006/main">
            <a:off x="923925" y="2543175"/>
            <a:ext cx="25717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7" name="cost-values-0">
            <a:extLst xmlns:a="http://schemas.openxmlformats.org/drawingml/2006/main">
              <a:ext uri="{FF2B5EF4-FFF2-40B4-BE49-F238E27FC236}">
                <a16:creationId xmlns:a16="http://schemas.microsoft.com/office/drawing/2014/main" id="{210B3150-5BD3-4F62-BB49-977AA6862309}"/>
              </a:ext>
            </a:extLst>
          </p:cNvPr>
          <p:cNvSpPr>
            <a:spLocks xmlns:a="http://schemas.openxmlformats.org/drawingml/2006/main" noGrp="1"/>
          </p:cNvSpPr>
          <p:nvPr/>
        </p:nvSpPr>
        <p:spPr>
          <a:xfrm xmlns:a="http://schemas.openxmlformats.org/drawingml/2006/main">
            <a:off x="781050" y="27813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2.53 s promedio</a:t>
            </a:r>
          </a:p>
          <a:p xmlns:a="http://schemas.openxmlformats.org/drawingml/2006/main">
            <a:r>
              <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Entrada analizada</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18.62 MiB</a:t>
            </a:r>
          </a:p>
        </p:txBody>
      </p:sp>
      <p:sp>
        <p:nvSpPr>
          <p:cNvPr id="8" name="cost-label-1">
            <a:extLst xmlns:a="http://schemas.openxmlformats.org/drawingml/2006/main">
              <a:ext uri="{FF2B5EF4-FFF2-40B4-BE49-F238E27FC236}">
                <a16:creationId xmlns:a16="http://schemas.microsoft.com/office/drawing/2014/main" id="{79F7A5BB-8CE6-41C1-BFBD-15E71A08875C}"/>
              </a:ext>
            </a:extLst>
          </p:cNvPr>
          <p:cNvSpPr>
            <a:spLocks xmlns:a="http://schemas.openxmlformats.org/drawingml/2006/main" noGrp="1"/>
          </p:cNvSpPr>
          <p:nvPr/>
        </p:nvSpPr>
        <p:spPr>
          <a:xfrm xmlns:a="http://schemas.openxmlformats.org/drawingml/2006/main">
            <a:off x="4400550" y="20955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Análisis offline</a:t>
            </a:r>
          </a:p>
        </p:txBody>
      </p:sp>
      <p:sp>
        <p:nvSpPr>
          <p:cNvPr id="9" name="cost-rule-1">
            <a:extLst xmlns:a="http://schemas.openxmlformats.org/drawingml/2006/main">
              <a:ext uri="{FF2B5EF4-FFF2-40B4-BE49-F238E27FC236}">
                <a16:creationId xmlns:a16="http://schemas.microsoft.com/office/drawing/2014/main" id="{95B38803-AC6E-4E6C-848B-852F54632CA7}"/>
              </a:ext>
            </a:extLst>
          </p:cNvPr>
          <p:cNvSpPr>
            <a:spLocks xmlns:a="http://schemas.openxmlformats.org/drawingml/2006/main" noGrp="1"/>
          </p:cNvSpPr>
          <p:nvPr/>
        </p:nvSpPr>
        <p:spPr>
          <a:xfrm xmlns:a="http://schemas.openxmlformats.org/drawingml/2006/main">
            <a:off x="4543425" y="2543175"/>
            <a:ext cx="2571750" cy="28575"/>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10" name="cost-values-1">
            <a:extLst xmlns:a="http://schemas.openxmlformats.org/drawingml/2006/main">
              <a:ext uri="{FF2B5EF4-FFF2-40B4-BE49-F238E27FC236}">
                <a16:creationId xmlns:a16="http://schemas.microsoft.com/office/drawing/2014/main" id="{8670AD96-8B61-4484-9E22-29232D34A029}"/>
              </a:ext>
            </a:extLst>
          </p:cNvPr>
          <p:cNvSpPr>
            <a:spLocks xmlns:a="http://schemas.openxmlformats.org/drawingml/2006/main" noGrp="1"/>
          </p:cNvSpPr>
          <p:nvPr/>
        </p:nvSpPr>
        <p:spPr>
          <a:xfrm xmlns:a="http://schemas.openxmlformats.org/drawingml/2006/main">
            <a:off x="4400550" y="27813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0.73 s wall-clock</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CPU 0.36 s</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RSS pico 22.49 MiB</a:t>
            </a:r>
          </a:p>
        </p:txBody>
      </p:sp>
      <p:sp>
        <p:nvSpPr>
          <p:cNvPr id="11" name="cost-label-2">
            <a:extLst xmlns:a="http://schemas.openxmlformats.org/drawingml/2006/main">
              <a:ext uri="{FF2B5EF4-FFF2-40B4-BE49-F238E27FC236}">
                <a16:creationId xmlns:a16="http://schemas.microsoft.com/office/drawing/2014/main" id="{248579F2-3476-4B9B-BA88-F1B450992AA0}"/>
              </a:ext>
            </a:extLst>
          </p:cNvPr>
          <p:cNvSpPr>
            <a:spLocks xmlns:a="http://schemas.openxmlformats.org/drawingml/2006/main" noGrp="1"/>
          </p:cNvSpPr>
          <p:nvPr/>
        </p:nvSpPr>
        <p:spPr>
          <a:xfrm xmlns:a="http://schemas.openxmlformats.org/drawingml/2006/main">
            <a:off x="8020050" y="20955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i="0">
                <a:solidFill>
                  <a:srgbClr val="172A33"/>
                </a:solidFill>
                <a:latin typeface="Arial"/>
                <a:ea typeface="Arial"/>
                <a:cs typeface="Arial"/>
              </a:defRPr>
            </a:pPr>
            <a:r>
              <a:rPr sz="1725" b="1" i="0">
                <a:solidFill>
                  <a:srgbClr val="172A33"/>
                </a:solidFill>
                <a:latin typeface="Arial"/>
                <a:ea typeface="Arial"/>
                <a:cs typeface="Arial"/>
              </a:rPr>
              <a:t>Preservación</a:t>
            </a:r>
          </a:p>
        </p:txBody>
      </p:sp>
      <p:sp>
        <p:nvSpPr>
          <p:cNvPr id="12" name="cost-rule-2">
            <a:extLst xmlns:a="http://schemas.openxmlformats.org/drawingml/2006/main">
              <a:ext uri="{FF2B5EF4-FFF2-40B4-BE49-F238E27FC236}">
                <a16:creationId xmlns:a16="http://schemas.microsoft.com/office/drawing/2014/main" id="{3A94104D-D423-44C6-8D49-A80964DCA652}"/>
              </a:ext>
            </a:extLst>
          </p:cNvPr>
          <p:cNvSpPr>
            <a:spLocks xmlns:a="http://schemas.openxmlformats.org/drawingml/2006/main" noGrp="1"/>
          </p:cNvSpPr>
          <p:nvPr/>
        </p:nvSpPr>
        <p:spPr>
          <a:xfrm xmlns:a="http://schemas.openxmlformats.org/drawingml/2006/main">
            <a:off x="8162925" y="2543175"/>
            <a:ext cx="2571750" cy="28575"/>
          </a:xfrm>
          <a:prstGeom xmlns:a="http://schemas.openxmlformats.org/drawingml/2006/main" prst="rect">
            <a:avLst/>
          </a:prstGeom>
          <a:solidFill xmlns:a="http://schemas.openxmlformats.org/drawingml/2006/main">
            <a:srgbClr val="4B626D"/>
          </a:solidFill>
          <a:ln xmlns:a="http://schemas.openxmlformats.org/drawingml/2006/main" w="0">
            <a:solidFill>
              <a:srgbClr val="4B626D"/>
            </a:solidFill>
            <a:prstDash val="solid"/>
          </a:ln>
        </p:spPr>
      </p:sp>
      <p:sp>
        <p:nvSpPr>
          <p:cNvPr id="13" name="cost-values-2">
            <a:extLst xmlns:a="http://schemas.openxmlformats.org/drawingml/2006/main">
              <a:ext uri="{FF2B5EF4-FFF2-40B4-BE49-F238E27FC236}">
                <a16:creationId xmlns:a16="http://schemas.microsoft.com/office/drawing/2014/main" id="{9321637C-DFD7-4BEF-B2CC-4BFFB1A518E0}"/>
              </a:ext>
            </a:extLst>
          </p:cNvPr>
          <p:cNvSpPr>
            <a:spLocks xmlns:a="http://schemas.openxmlformats.org/drawingml/2006/main" noGrp="1"/>
          </p:cNvSpPr>
          <p:nvPr/>
        </p:nvSpPr>
        <p:spPr>
          <a:xfrm xmlns:a="http://schemas.openxmlformats.org/drawingml/2006/main">
            <a:off x="8020050" y="2781300"/>
            <a:ext cx="2857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Informes</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0.185 MiB por run</a:t>
            </a:r>
          </a:p>
          <a:p xmlns:a="http://schemas.openxmlformats.org/drawingml/2006/main">
            <a:r>
              <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Evidencia adicional</a:t>
            </a:r>
          </a:p>
          <a:p xmlns:a="http://schemas.openxmlformats.org/drawingml/2006/main">
            <a:pPr algn="ctr">
              <a:lnSpc>
                <a:spcPct val="100000"/>
              </a:lnSpc>
              <a:buNone/>
              <a:defRPr sz="1725" b="0" i="0">
                <a:solidFill>
                  <a:srgbClr val="293A42"/>
                </a:solidFill>
                <a:latin typeface="Arial"/>
                <a:ea typeface="Arial"/>
                <a:cs typeface="Arial"/>
              </a:defRPr>
            </a:pPr>
            <a:r>
              <a:rPr sz="1725" b="0" i="0">
                <a:solidFill>
                  <a:srgbClr val="293A42"/>
                </a:solidFill>
                <a:latin typeface="Arial"/>
                <a:ea typeface="Arial"/>
                <a:cs typeface="Arial"/>
              </a:rPr>
              <a:t>0.701 MiB por run</a:t>
            </a:r>
          </a:p>
        </p:txBody>
      </p:sp>
      <p:sp>
        <p:nvSpPr>
          <p:cNvPr id="14" name="cost-column-rule-1">
            <a:extLst xmlns:a="http://schemas.openxmlformats.org/drawingml/2006/main">
              <a:ext uri="{FF2B5EF4-FFF2-40B4-BE49-F238E27FC236}">
                <a16:creationId xmlns:a16="http://schemas.microsoft.com/office/drawing/2014/main" id="{38E9D00F-DED4-4B2F-88C7-D8820CDE2892}"/>
              </a:ext>
            </a:extLst>
          </p:cNvPr>
          <p:cNvSpPr>
            <a:spLocks xmlns:a="http://schemas.openxmlformats.org/drawingml/2006/main" noGrp="1"/>
          </p:cNvSpPr>
          <p:nvPr/>
        </p:nvSpPr>
        <p:spPr>
          <a:xfrm xmlns:a="http://schemas.openxmlformats.org/drawingml/2006/main">
            <a:off x="4038600" y="2038350"/>
            <a:ext cx="11430" cy="272415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5" name="cost-column-rule-2">
            <a:extLst xmlns:a="http://schemas.openxmlformats.org/drawingml/2006/main">
              <a:ext uri="{FF2B5EF4-FFF2-40B4-BE49-F238E27FC236}">
                <a16:creationId xmlns:a16="http://schemas.microsoft.com/office/drawing/2014/main" id="{8E25D0FB-F0AD-411A-9364-F10B19788142}"/>
              </a:ext>
            </a:extLst>
          </p:cNvPr>
          <p:cNvSpPr>
            <a:spLocks xmlns:a="http://schemas.openxmlformats.org/drawingml/2006/main" noGrp="1"/>
          </p:cNvSpPr>
          <p:nvPr/>
        </p:nvSpPr>
        <p:spPr>
          <a:xfrm xmlns:a="http://schemas.openxmlformats.org/drawingml/2006/main">
            <a:off x="7658100" y="2038350"/>
            <a:ext cx="11430" cy="272415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6" name="cost-caveat-bg">
            <a:extLst xmlns:a="http://schemas.openxmlformats.org/drawingml/2006/main">
              <a:ext uri="{FF2B5EF4-FFF2-40B4-BE49-F238E27FC236}">
                <a16:creationId xmlns:a16="http://schemas.microsoft.com/office/drawing/2014/main" id="{45639099-8F77-40AC-9DBC-0D61618AE799}"/>
              </a:ext>
            </a:extLst>
          </p:cNvPr>
          <p:cNvSpPr>
            <a:spLocks xmlns:a="http://schemas.openxmlformats.org/drawingml/2006/main" noGrp="1"/>
          </p:cNvSpPr>
          <p:nvPr/>
        </p:nvSpPr>
        <p:spPr>
          <a:xfrm xmlns:a="http://schemas.openxmlformats.org/drawingml/2006/main">
            <a:off x="781050" y="5162550"/>
            <a:ext cx="10439400" cy="876300"/>
          </a:xfrm>
          <a:prstGeom xmlns:a="http://schemas.openxmlformats.org/drawingml/2006/main" prst="rect">
            <a:avLst/>
          </a:prstGeom>
          <a:solidFill xmlns:a="http://schemas.openxmlformats.org/drawingml/2006/main">
            <a:srgbClr val="EFF2F2"/>
          </a:solidFill>
          <a:ln xmlns:a="http://schemas.openxmlformats.org/drawingml/2006/main" w="9525">
            <a:solidFill>
              <a:srgbClr val="CBD2D4"/>
            </a:solidFill>
            <a:prstDash val="solid"/>
          </a:ln>
        </p:spPr>
      </p:sp>
      <p:sp>
        <p:nvSpPr>
          <p:cNvPr id="17" name="cost-caveat">
            <a:extLst xmlns:a="http://schemas.openxmlformats.org/drawingml/2006/main">
              <a:ext uri="{FF2B5EF4-FFF2-40B4-BE49-F238E27FC236}">
                <a16:creationId xmlns:a16="http://schemas.microsoft.com/office/drawing/2014/main" id="{05F043A2-8838-47CE-A7D3-BB30D1E157FA}"/>
              </a:ext>
            </a:extLst>
          </p:cNvPr>
          <p:cNvSpPr>
            <a:spLocks xmlns:a="http://schemas.openxmlformats.org/drawingml/2006/main" noGrp="1"/>
          </p:cNvSpPr>
          <p:nvPr/>
        </p:nvSpPr>
        <p:spPr>
          <a:xfrm xmlns:a="http://schemas.openxmlformats.org/drawingml/2006/main">
            <a:off x="971550" y="5267325"/>
            <a:ext cx="10058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172A33"/>
                </a:solidFill>
                <a:latin typeface="Arial"/>
                <a:ea typeface="Arial"/>
                <a:cs typeface="Arial"/>
              </a:defRPr>
            </a:pPr>
            <a:r>
              <a:rPr sz="1575" b="0" i="0">
                <a:solidFill>
                  <a:srgbClr val="172A33"/>
                </a:solidFill>
                <a:latin typeface="Arial"/>
                <a:ea typeface="Arial"/>
                <a:cs typeface="Arial"/>
              </a:rPr>
              <a:t>Los logs nativos se generan durante la ejecución, pero su costo no se aisló con control ON/OFF. No atribuimos a Analyzer un porcentaje del runtime.</a:t>
            </a:r>
          </a:p>
        </p:txBody>
      </p:sp>
    </p:spTree>
    <p:extLst>
      <p:ext uri="{BB962C8B-B14F-4D97-AF65-F5344CB8AC3E}">
        <p14:creationId xmlns:p14="http://schemas.microsoft.com/office/powerpoint/2010/main" val="268009897"/>
      </p:ext>
    </p:extLst>
  </p:cSld>
</p:sld>
</file>

<file path=ppt/slides/slide13.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12" name="slide-title-13">
            <a:extLst xmlns:a="http://schemas.openxmlformats.org/drawingml/2006/main">
              <a:ext uri="{FF2B5EF4-FFF2-40B4-BE49-F238E27FC236}">
                <a16:creationId xmlns:a16="http://schemas.microsoft.com/office/drawing/2014/main" id="{2A6E451C-63E2-49D5-A435-DBE14C086AB7}"/>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Para qué sirve la métrica</a:t>
            </a:r>
          </a:p>
        </p:txBody>
      </p:sp>
      <p:sp>
        <p:nvSpPr>
          <p:cNvPr id="2" name="title-rule-13">
            <a:extLst xmlns:a="http://schemas.openxmlformats.org/drawingml/2006/main">
              <a:ext uri="{FF2B5EF4-FFF2-40B4-BE49-F238E27FC236}">
                <a16:creationId xmlns:a16="http://schemas.microsoft.com/office/drawing/2014/main" id="{0C7EE47F-E39D-4B81-87C7-244495DE53EB}"/>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3">
            <a:extLst xmlns:a="http://schemas.openxmlformats.org/drawingml/2006/main">
              <a:ext uri="{FF2B5EF4-FFF2-40B4-BE49-F238E27FC236}">
                <a16:creationId xmlns:a16="http://schemas.microsoft.com/office/drawing/2014/main" id="{69FD9474-B0BF-43D3-B5A1-C4125CF4177F}"/>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13</a:t>
            </a:r>
          </a:p>
        </p:txBody>
      </p:sp>
      <p:sp>
        <p:nvSpPr>
          <p:cNvPr id="4" name="utility-main">
            <a:extLst xmlns:a="http://schemas.openxmlformats.org/drawingml/2006/main">
              <a:ext uri="{FF2B5EF4-FFF2-40B4-BE49-F238E27FC236}">
                <a16:creationId xmlns:a16="http://schemas.microsoft.com/office/drawing/2014/main" id="{545115DF-03A0-4597-862B-B0D337578EF7}"/>
              </a:ext>
            </a:extLst>
          </p:cNvPr>
          <p:cNvSpPr>
            <a:spLocks xmlns:a="http://schemas.openxmlformats.org/drawingml/2006/main" noGrp="1"/>
          </p:cNvSpPr>
          <p:nvPr/>
        </p:nvSpPr>
        <p:spPr>
          <a:xfrm xmlns:a="http://schemas.openxmlformats.org/drawingml/2006/main">
            <a:off x="781050" y="1428750"/>
            <a:ext cx="10382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702"/>
          </a:bodyPr>
          <a:lstStyle xmlns:a="http://schemas.openxmlformats.org/drawingml/2006/main"/>
          <a:p xmlns:a="http://schemas.openxmlformats.org/drawingml/2006/main">
            <a:pPr algn="ctr">
              <a:lnSpc>
                <a:spcPct val="100000"/>
              </a:lnSpc>
              <a:buNone/>
              <a:defRPr sz="2100" b="1" i="0">
                <a:solidFill>
                  <a:srgbClr val="172A33"/>
                </a:solidFill>
                <a:latin typeface="Arial"/>
                <a:ea typeface="Arial"/>
                <a:cs typeface="Arial"/>
              </a:defRPr>
            </a:pPr>
            <a:r>
              <a:rPr sz="2100" b="1" i="0">
                <a:solidFill>
                  <a:srgbClr val="172A33"/>
                </a:solidFill>
                <a:latin typeface="Arial"/>
                <a:ea typeface="Arial"/>
                <a:cs typeface="Arial"/>
              </a:rPr>
              <a:t>Permite comparar el movimiento lógico requerido con el payload científico que la ejecución declara y HTCondor confirma por job.</a:t>
            </a:r>
          </a:p>
        </p:txBody>
      </p:sp>
      <p:sp>
        <p:nvSpPr>
          <p:cNvPr id="5" name="utility-use-1">
            <a:extLst xmlns:a="http://schemas.openxmlformats.org/drawingml/2006/main">
              <a:ext uri="{FF2B5EF4-FFF2-40B4-BE49-F238E27FC236}">
                <a16:creationId xmlns:a16="http://schemas.microsoft.com/office/drawing/2014/main" id="{AD5354FA-C3A1-4C69-8F26-38C6C6472022}"/>
              </a:ext>
            </a:extLst>
          </p:cNvPr>
          <p:cNvSpPr>
            <a:spLocks xmlns:a="http://schemas.openxmlformats.org/drawingml/2006/main" noGrp="1"/>
          </p:cNvSpPr>
          <p:nvPr/>
        </p:nvSpPr>
        <p:spPr>
          <a:xfrm xmlns:a="http://schemas.openxmlformats.org/drawingml/2006/main">
            <a:off x="933450" y="2590800"/>
            <a:ext cx="3028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Comparar dónde corren</a:t>
            </a:r>
          </a:p>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las tareas</a:t>
            </a:r>
          </a:p>
        </p:txBody>
      </p:sp>
      <p:sp>
        <p:nvSpPr>
          <p:cNvPr id="6" name="utility-use-2">
            <a:extLst xmlns:a="http://schemas.openxmlformats.org/drawingml/2006/main">
              <a:ext uri="{FF2B5EF4-FFF2-40B4-BE49-F238E27FC236}">
                <a16:creationId xmlns:a16="http://schemas.microsoft.com/office/drawing/2014/main" id="{266CB03E-D1C8-4940-9685-CF1D3B57F9F4}"/>
              </a:ext>
            </a:extLst>
          </p:cNvPr>
          <p:cNvSpPr>
            <a:spLocks xmlns:a="http://schemas.openxmlformats.org/drawingml/2006/main" noGrp="1"/>
          </p:cNvSpPr>
          <p:nvPr/>
        </p:nvSpPr>
        <p:spPr>
          <a:xfrm xmlns:a="http://schemas.openxmlformats.org/drawingml/2006/main">
            <a:off x="4552950" y="2590800"/>
            <a:ext cx="3028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Identificar patrones con</a:t>
            </a:r>
          </a:p>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mayor movimiento</a:t>
            </a:r>
          </a:p>
        </p:txBody>
      </p:sp>
      <p:sp>
        <p:nvSpPr>
          <p:cNvPr id="7" name="utility-use-3">
            <a:extLst xmlns:a="http://schemas.openxmlformats.org/drawingml/2006/main">
              <a:ext uri="{FF2B5EF4-FFF2-40B4-BE49-F238E27FC236}">
                <a16:creationId xmlns:a16="http://schemas.microsoft.com/office/drawing/2014/main" id="{F6DF93BC-4666-46E8-A5C7-0838CFA4971C}"/>
              </a:ext>
            </a:extLst>
          </p:cNvPr>
          <p:cNvSpPr>
            <a:spLocks xmlns:a="http://schemas.openxmlformats.org/drawingml/2006/main" noGrp="1"/>
          </p:cNvSpPr>
          <p:nvPr/>
        </p:nvSpPr>
        <p:spPr>
          <a:xfrm xmlns:a="http://schemas.openxmlformats.org/drawingml/2006/main">
            <a:off x="8172450" y="2590800"/>
            <a:ext cx="30289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Priorizar qué casos</a:t>
            </a:r>
          </a:p>
          <a:p xmlns:a="http://schemas.openxmlformats.org/drawingml/2006/main">
            <a:pPr algn="ctr">
              <a:lnSpc>
                <a:spcPct val="100000"/>
              </a:lnSpc>
              <a:buNone/>
              <a:defRPr sz="1725" b="1" i="0">
                <a:solidFill>
                  <a:srgbClr val="087E78"/>
                </a:solidFill>
                <a:latin typeface="Arial"/>
                <a:ea typeface="Arial"/>
                <a:cs typeface="Arial"/>
              </a:defRPr>
            </a:pPr>
            <a:r>
              <a:rPr sz="1725" b="1" i="0">
                <a:solidFill>
                  <a:srgbClr val="087E78"/>
                </a:solidFill>
                <a:latin typeface="Arial"/>
                <a:ea typeface="Arial"/>
                <a:cs typeface="Arial"/>
              </a:rPr>
              <a:t>medir en rendimiento</a:t>
            </a:r>
          </a:p>
        </p:txBody>
      </p:sp>
      <p:sp>
        <p:nvSpPr>
          <p:cNvPr id="8" name="utility-business">
            <a:extLst xmlns:a="http://schemas.openxmlformats.org/drawingml/2006/main">
              <a:ext uri="{FF2B5EF4-FFF2-40B4-BE49-F238E27FC236}">
                <a16:creationId xmlns:a16="http://schemas.microsoft.com/office/drawing/2014/main" id="{00296251-6210-45CE-9A81-CD0D60E88E80}"/>
              </a:ext>
            </a:extLst>
          </p:cNvPr>
          <p:cNvSpPr>
            <a:spLocks xmlns:a="http://schemas.openxmlformats.org/drawingml/2006/main" noGrp="1"/>
          </p:cNvSpPr>
          <p:nvPr/>
        </p:nvSpPr>
        <p:spPr>
          <a:xfrm xmlns:a="http://schemas.openxmlformats.org/drawingml/2006/main">
            <a:off x="1143000" y="39814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0" i="0">
                <a:solidFill>
                  <a:srgbClr val="293A42"/>
                </a:solidFill>
                <a:latin typeface="Arial"/>
                <a:ea typeface="Arial"/>
                <a:cs typeface="Arial"/>
              </a:defRPr>
            </a:pPr>
            <a:r>
              <a:rPr sz="1575" b="0" i="0">
                <a:solidFill>
                  <a:srgbClr val="293A42"/>
                </a:solidFill>
                <a:latin typeface="Arial"/>
                <a:ea typeface="Arial"/>
                <a:cs typeface="Arial"/>
              </a:rPr>
              <a:t>Para el cliente: priorizar qué configuración revisar; medir aparte si el cambio reduce tiempo o costo.</a:t>
            </a:r>
          </a:p>
        </p:txBody>
      </p:sp>
      <p:sp>
        <p:nvSpPr>
          <p:cNvPr id="9" name="utility-rule">
            <a:extLst xmlns:a="http://schemas.openxmlformats.org/drawingml/2006/main">
              <a:ext uri="{FF2B5EF4-FFF2-40B4-BE49-F238E27FC236}">
                <a16:creationId xmlns:a16="http://schemas.microsoft.com/office/drawing/2014/main" id="{A72A8700-4CDE-4764-9789-762160F8703D}"/>
              </a:ext>
            </a:extLst>
          </p:cNvPr>
          <p:cNvSpPr>
            <a:spLocks xmlns:a="http://schemas.openxmlformats.org/drawingml/2006/main" noGrp="1"/>
          </p:cNvSpPr>
          <p:nvPr/>
        </p:nvSpPr>
        <p:spPr>
          <a:xfrm xmlns:a="http://schemas.openxmlformats.org/drawingml/2006/main">
            <a:off x="781050" y="4724400"/>
            <a:ext cx="10439400" cy="11430"/>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10" name="utility-limits">
            <a:extLst xmlns:a="http://schemas.openxmlformats.org/drawingml/2006/main">
              <a:ext uri="{FF2B5EF4-FFF2-40B4-BE49-F238E27FC236}">
                <a16:creationId xmlns:a16="http://schemas.microsoft.com/office/drawing/2014/main" id="{47D124CD-2A99-4235-BA10-2A390404C1FC}"/>
              </a:ext>
            </a:extLst>
          </p:cNvPr>
          <p:cNvSpPr>
            <a:spLocks xmlns:a="http://schemas.openxmlformats.org/drawingml/2006/main" noGrp="1"/>
          </p:cNvSpPr>
          <p:nvPr/>
        </p:nvSpPr>
        <p:spPr>
          <a:xfrm xmlns:a="http://schemas.openxmlformats.org/drawingml/2006/main">
            <a:off x="914400" y="4914900"/>
            <a:ext cx="102108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No mide tráfico físico de red, ancho de banda, disco, RAM/NUMA, FLOPs, uso de CPU/GPU ni rendimiento del scheduler.</a:t>
            </a:r>
          </a:p>
        </p:txBody>
      </p:sp>
      <p:sp>
        <p:nvSpPr>
          <p:cNvPr id="11" name="utility-last-line">
            <a:extLst xmlns:a="http://schemas.openxmlformats.org/drawingml/2006/main">
              <a:ext uri="{FF2B5EF4-FFF2-40B4-BE49-F238E27FC236}">
                <a16:creationId xmlns:a16="http://schemas.microsoft.com/office/drawing/2014/main" id="{85AF7027-19A7-41BC-BBFB-F4854BBDF58D}"/>
              </a:ext>
            </a:extLst>
          </p:cNvPr>
          <p:cNvSpPr>
            <a:spLocks xmlns:a="http://schemas.openxmlformats.org/drawingml/2006/main" noGrp="1"/>
          </p:cNvSpPr>
          <p:nvPr/>
        </p:nvSpPr>
        <p:spPr>
          <a:xfrm xmlns:a="http://schemas.openxmlformats.org/drawingml/2006/main">
            <a:off x="933450" y="60007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1" i="0">
                <a:solidFill>
                  <a:srgbClr val="172A33"/>
                </a:solidFill>
                <a:latin typeface="Arial"/>
                <a:ea typeface="Arial"/>
                <a:cs typeface="Arial"/>
              </a:defRPr>
            </a:pPr>
            <a:r>
              <a:rPr sz="1350" b="1" i="0">
                <a:solidFill>
                  <a:srgbClr val="172A33"/>
                </a:solidFill>
                <a:latin typeface="Arial"/>
                <a:ea typeface="Arial"/>
                <a:cs typeface="Arial"/>
              </a:rPr>
              <a:t>La DME agrega una referencia sobre archivos; no reemplaza tiempo, I/O ni métricas de recursos.</a:t>
            </a:r>
          </a:p>
        </p:txBody>
      </p:sp>
    </p:spTree>
    <p:extLst>
      <p:ext uri="{BB962C8B-B14F-4D97-AF65-F5344CB8AC3E}">
        <p14:creationId xmlns:p14="http://schemas.microsoft.com/office/powerpoint/2010/main" val="670438811"/>
      </p:ext>
    </p:extLst>
  </p:cSld>
</p:sld>
</file>

<file path=ppt/slides/slide14.xml><?xml version="1.0" encoding="utf-8"?>
<p:sld xmlns:p="http://schemas.openxmlformats.org/presentationml/2006/main">
  <p:cSld>
    <p:bg>
      <p:bgPr>
        <a:solidFill xmlns:a="http://schemas.openxmlformats.org/drawingml/2006/main">
          <a:srgbClr val="F8F8F5"/>
        </a:solidFill>
      </p:bgPr>
    </p:bg>
    <p:spTree>
      <p:nvGrpSpPr>
        <p:cNvPr id="1" name=""/>
        <p:cNvGrpSpPr/>
        <p:nvPr/>
      </p:nvGrpSpPr>
      <p:grpSpPr>
        <a:xfrm xmlns:a="http://schemas.openxmlformats.org/drawingml/2006/main"/>
      </p:grpSpPr>
      <p:sp>
        <p:nvSpPr>
          <p:cNvPr id="9" name="slide-title-14">
            <a:extLst xmlns:a="http://schemas.openxmlformats.org/drawingml/2006/main">
              <a:ext uri="{FF2B5EF4-FFF2-40B4-BE49-F238E27FC236}">
                <a16:creationId xmlns:a16="http://schemas.microsoft.com/office/drawing/2014/main" id="{21D4BF02-6B7D-427C-BBD8-327708D8A1A7}"/>
              </a:ext>
            </a:extLst>
          </p:cNvPr>
          <p:cNvSpPr>
            <a:spLocks xmlns:a="http://schemas.openxmlformats.org/drawingml/2006/main" noGrp="1"/>
          </p:cNvSpPr>
          <p:nvPr/>
        </p:nvSpPr>
        <p:spPr>
          <a:xfrm xmlns:a="http://schemas.openxmlformats.org/drawingml/2006/main">
            <a:off x="685800" y="4000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i="0">
                <a:solidFill>
                  <a:srgbClr val="172A33"/>
                </a:solidFill>
                <a:latin typeface="Arial"/>
                <a:ea typeface="Arial"/>
                <a:cs typeface="Arial"/>
              </a:defRPr>
            </a:pPr>
            <a:r>
              <a:rPr sz="3150" b="1" i="0">
                <a:solidFill>
                  <a:srgbClr val="172A33"/>
                </a:solidFill>
                <a:latin typeface="Arial"/>
                <a:ea typeface="Arial"/>
                <a:cs typeface="Arial"/>
              </a:rPr>
              <a:t>Una referencia para decidir qué investigar</a:t>
            </a:r>
          </a:p>
        </p:txBody>
      </p:sp>
      <p:sp>
        <p:nvSpPr>
          <p:cNvPr id="2" name="title-rule-14">
            <a:extLst xmlns:a="http://schemas.openxmlformats.org/drawingml/2006/main">
              <a:ext uri="{FF2B5EF4-FFF2-40B4-BE49-F238E27FC236}">
                <a16:creationId xmlns:a16="http://schemas.microsoft.com/office/drawing/2014/main" id="{F64E497B-009F-4F46-A10A-6B12DF6C945B}"/>
              </a:ext>
            </a:extLst>
          </p:cNvPr>
          <p:cNvSpPr>
            <a:spLocks xmlns:a="http://schemas.openxmlformats.org/drawingml/2006/main" noGrp="1"/>
          </p:cNvSpPr>
          <p:nvPr/>
        </p:nvSpPr>
        <p:spPr>
          <a:xfrm xmlns:a="http://schemas.openxmlformats.org/drawingml/2006/main">
            <a:off x="685800" y="1104900"/>
            <a:ext cx="10820400" cy="14288"/>
          </a:xfrm>
          <a:prstGeom xmlns:a="http://schemas.openxmlformats.org/drawingml/2006/main" prst="rect">
            <a:avLst/>
          </a:prstGeom>
          <a:solidFill xmlns:a="http://schemas.openxmlformats.org/drawingml/2006/main">
            <a:srgbClr val="CBD2D4"/>
          </a:solidFill>
          <a:ln xmlns:a="http://schemas.openxmlformats.org/drawingml/2006/main" w="0">
            <a:solidFill>
              <a:srgbClr val="CBD2D4"/>
            </a:solidFill>
            <a:prstDash val="solid"/>
          </a:ln>
        </p:spPr>
      </p:sp>
      <p:sp>
        <p:nvSpPr>
          <p:cNvPr id="3" name="slide-number-14">
            <a:extLst xmlns:a="http://schemas.openxmlformats.org/drawingml/2006/main">
              <a:ext uri="{FF2B5EF4-FFF2-40B4-BE49-F238E27FC236}">
                <a16:creationId xmlns:a16="http://schemas.microsoft.com/office/drawing/2014/main" id="{259103A1-F436-4532-959A-596C8F25A1D8}"/>
              </a:ext>
            </a:extLst>
          </p:cNvPr>
          <p:cNvSpPr>
            <a:spLocks xmlns:a="http://schemas.openxmlformats.org/drawingml/2006/main" noGrp="1"/>
          </p:cNvSpPr>
          <p:nvPr/>
        </p:nvSpPr>
        <p:spPr>
          <a:xfrm xmlns:a="http://schemas.openxmlformats.org/drawingml/2006/main">
            <a:off x="10839450" y="6400800"/>
            <a:ext cx="66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125" b="0" i="0">
                <a:solidFill>
                  <a:srgbClr val="65757C"/>
                </a:solidFill>
                <a:latin typeface="Arial"/>
                <a:ea typeface="Arial"/>
                <a:cs typeface="Arial"/>
              </a:defRPr>
            </a:pPr>
            <a:r>
              <a:rPr sz="1125" b="0" i="0">
                <a:solidFill>
                  <a:srgbClr val="65757C"/>
                </a:solidFill>
                <a:latin typeface="Arial"/>
                <a:ea typeface="Arial"/>
                <a:cs typeface="Arial"/>
              </a:rPr>
              <a:t>14</a:t>
            </a:r>
          </a:p>
        </p:txBody>
      </p:sp>
      <p:sp>
        <p:nvSpPr>
          <p:cNvPr id="4" name="conclusion-main">
            <a:extLst xmlns:a="http://schemas.openxmlformats.org/drawingml/2006/main">
              <a:ext uri="{FF2B5EF4-FFF2-40B4-BE49-F238E27FC236}">
                <a16:creationId xmlns:a16="http://schemas.microsoft.com/office/drawing/2014/main" id="{B4ECB7D9-D9C1-481C-81FB-6FF296B9A0C8}"/>
              </a:ext>
            </a:extLst>
          </p:cNvPr>
          <p:cNvSpPr>
            <a:spLocks xmlns:a="http://schemas.openxmlformats.org/drawingml/2006/main" noGrp="1"/>
          </p:cNvSpPr>
          <p:nvPr/>
        </p:nvSpPr>
        <p:spPr>
          <a:xfrm xmlns:a="http://schemas.openxmlformats.org/drawingml/2006/main">
            <a:off x="1000125" y="1600200"/>
            <a:ext cx="10191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850" b="1" i="0">
                <a:solidFill>
                  <a:srgbClr val="172A33"/>
                </a:solidFill>
                <a:latin typeface="Arial"/>
                <a:ea typeface="Arial"/>
                <a:cs typeface="Arial"/>
              </a:defRPr>
            </a:pPr>
            <a:r>
              <a:rPr sz="2850" b="1" i="0">
                <a:solidFill>
                  <a:srgbClr val="172A33"/>
                </a:solidFill>
                <a:latin typeface="Arial"/>
                <a:ea typeface="Arial"/>
                <a:cs typeface="Arial"/>
              </a:rPr>
              <a:t>No basta con saber cuánto se transfirió.</a:t>
            </a:r>
          </a:p>
          <a:p xmlns:a="http://schemas.openxmlformats.org/drawingml/2006/main">
            <a:pPr algn="ctr">
              <a:lnSpc>
                <a:spcPct val="100000"/>
              </a:lnSpc>
              <a:buNone/>
              <a:defRPr sz="2850" b="1" i="0">
                <a:solidFill>
                  <a:srgbClr val="172A33"/>
                </a:solidFill>
                <a:latin typeface="Arial"/>
                <a:ea typeface="Arial"/>
                <a:cs typeface="Arial"/>
              </a:defRPr>
            </a:pPr>
            <a:r>
              <a:rPr sz="2850" b="1" i="0">
                <a:solidFill>
                  <a:srgbClr val="172A33"/>
                </a:solidFill>
                <a:latin typeface="Arial"/>
                <a:ea typeface="Arial"/>
                <a:cs typeface="Arial"/>
              </a:rPr>
              <a:t>También importa cuánto requería ese workflow.</a:t>
            </a:r>
          </a:p>
        </p:txBody>
      </p:sp>
      <p:sp>
        <p:nvSpPr>
          <p:cNvPr id="5" name="conclusion-accent">
            <a:extLst xmlns:a="http://schemas.openxmlformats.org/drawingml/2006/main">
              <a:ext uri="{FF2B5EF4-FFF2-40B4-BE49-F238E27FC236}">
                <a16:creationId xmlns:a16="http://schemas.microsoft.com/office/drawing/2014/main" id="{8FDE2A87-0CFA-468E-8ADA-6F0A1D2D58B1}"/>
              </a:ext>
            </a:extLst>
          </p:cNvPr>
          <p:cNvSpPr>
            <a:spLocks xmlns:a="http://schemas.openxmlformats.org/drawingml/2006/main" noGrp="1"/>
          </p:cNvSpPr>
          <p:nvPr/>
        </p:nvSpPr>
        <p:spPr>
          <a:xfrm xmlns:a="http://schemas.openxmlformats.org/drawingml/2006/main">
            <a:off x="4905375" y="3095625"/>
            <a:ext cx="2381250" cy="38100"/>
          </a:xfrm>
          <a:prstGeom xmlns:a="http://schemas.openxmlformats.org/drawingml/2006/main" prst="rect">
            <a:avLst/>
          </a:prstGeom>
          <a:solidFill xmlns:a="http://schemas.openxmlformats.org/drawingml/2006/main">
            <a:srgbClr val="087E78"/>
          </a:solidFill>
          <a:ln xmlns:a="http://schemas.openxmlformats.org/drawingml/2006/main" w="0">
            <a:solidFill>
              <a:srgbClr val="087E78"/>
            </a:solidFill>
            <a:prstDash val="solid"/>
          </a:ln>
        </p:spPr>
      </p:sp>
      <p:sp>
        <p:nvSpPr>
          <p:cNvPr id="6" name="conclusion-measure">
            <a:extLst xmlns:a="http://schemas.openxmlformats.org/drawingml/2006/main">
              <a:ext uri="{FF2B5EF4-FFF2-40B4-BE49-F238E27FC236}">
                <a16:creationId xmlns:a16="http://schemas.microsoft.com/office/drawing/2014/main" id="{D58D508B-7660-4EA7-9267-19367390BDC6}"/>
              </a:ext>
            </a:extLst>
          </p:cNvPr>
          <p:cNvSpPr>
            <a:spLocks xmlns:a="http://schemas.openxmlformats.org/drawingml/2006/main" noGrp="1"/>
          </p:cNvSpPr>
          <p:nvPr/>
        </p:nvSpPr>
        <p:spPr>
          <a:xfrm xmlns:a="http://schemas.openxmlformats.org/drawingml/2006/main">
            <a:off x="1466850" y="3486150"/>
            <a:ext cx="92583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0" i="0">
                <a:solidFill>
                  <a:srgbClr val="293A42"/>
                </a:solidFill>
                <a:latin typeface="Arial"/>
                <a:ea typeface="Arial"/>
                <a:cs typeface="Arial"/>
              </a:defRPr>
            </a:pPr>
            <a:r>
              <a:rPr sz="2025" b="0" i="0">
                <a:solidFill>
                  <a:srgbClr val="293A42"/>
                </a:solidFill>
                <a:latin typeface="Arial"/>
                <a:ea typeface="Arial"/>
                <a:cs typeface="Arial"/>
              </a:rPr>
              <a:t>El Analyzer compara los destinos lógicos que exigen las tareas con el payload científico declarado y confirmado por job.</a:t>
            </a:r>
          </a:p>
        </p:txBody>
      </p:sp>
      <p:sp>
        <p:nvSpPr>
          <p:cNvPr id="7" name="conclusion-client">
            <a:extLst xmlns:a="http://schemas.openxmlformats.org/drawingml/2006/main">
              <a:ext uri="{FF2B5EF4-FFF2-40B4-BE49-F238E27FC236}">
                <a16:creationId xmlns:a16="http://schemas.microsoft.com/office/drawing/2014/main" id="{3C1585A2-B700-4F1B-B551-F5397AB5CBB6}"/>
              </a:ext>
            </a:extLst>
          </p:cNvPr>
          <p:cNvSpPr>
            <a:spLocks xmlns:a="http://schemas.openxmlformats.org/drawingml/2006/main" noGrp="1"/>
          </p:cNvSpPr>
          <p:nvPr/>
        </p:nvSpPr>
        <p:spPr>
          <a:xfrm xmlns:a="http://schemas.openxmlformats.org/drawingml/2006/main">
            <a:off x="1466850" y="4591050"/>
            <a:ext cx="92583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i="0">
                <a:solidFill>
                  <a:srgbClr val="172A33"/>
                </a:solidFill>
                <a:latin typeface="Arial"/>
                <a:ea typeface="Arial"/>
                <a:cs typeface="Arial"/>
              </a:defRPr>
            </a:pPr>
            <a:r>
              <a:rPr sz="1875" b="1" i="0">
                <a:solidFill>
                  <a:srgbClr val="172A33"/>
                </a:solidFill>
                <a:latin typeface="Arial"/>
                <a:ea typeface="Arial"/>
                <a:cs typeface="Arial"/>
              </a:rPr>
              <a:t>Para el cliente: usar esa referencia para comparar configuraciones y elegir qué casos medir o mejorar.</a:t>
            </a:r>
          </a:p>
        </p:txBody>
      </p:sp>
      <p:sp>
        <p:nvSpPr>
          <p:cNvPr id="8" name="conclusion-scope">
            <a:extLst xmlns:a="http://schemas.openxmlformats.org/drawingml/2006/main">
              <a:ext uri="{FF2B5EF4-FFF2-40B4-BE49-F238E27FC236}">
                <a16:creationId xmlns:a16="http://schemas.microsoft.com/office/drawing/2014/main" id="{BCC0F9EC-14F4-4F2D-9AFA-DB209B2B0577}"/>
              </a:ext>
            </a:extLst>
          </p:cNvPr>
          <p:cNvSpPr>
            <a:spLocks xmlns:a="http://schemas.openxmlformats.org/drawingml/2006/main" noGrp="1"/>
          </p:cNvSpPr>
          <p:nvPr/>
        </p:nvSpPr>
        <p:spPr>
          <a:xfrm xmlns:a="http://schemas.openxmlformats.org/drawingml/2006/main">
            <a:off x="1466850" y="5657850"/>
            <a:ext cx="9258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65757C"/>
                </a:solidFill>
                <a:latin typeface="Arial"/>
                <a:ea typeface="Arial"/>
                <a:cs typeface="Arial"/>
              </a:defRPr>
            </a:pPr>
            <a:r>
              <a:rPr sz="1500" b="0" i="0">
                <a:solidFill>
                  <a:srgbClr val="65757C"/>
                </a:solidFill>
                <a:latin typeface="Arial"/>
                <a:ea typeface="Arial"/>
                <a:cs typeface="Arial"/>
              </a:rPr>
              <a:t>Es un baseline de movimiento de archivos; el efecto en tiempo, red o costo se mide aparte.</a:t>
            </a:r>
          </a:p>
        </p:txBody>
      </p:sp>
    </p:spTree>
    <p:extLst>
      <p:ext uri="{BB962C8B-B14F-4D97-AF65-F5344CB8AC3E}">
        <p14:creationId xmlns:p14="http://schemas.microsoft.com/office/powerpoint/2010/main" val="1648715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2026-10-06T00:57:59.8360000Z</dcterms:created>
  <dcterms:modified xsi:type="dcterms:W3CDTF">2026-10-06T00:57:59.8370000Z</dcterms:modified>
</coreProperties>
</file>