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71b32ca677a4a53" Type="http://schemas.openxmlformats.org/officeDocument/2006/relationships/officeDocument" Target="ppt/presentation.xml"/><Relationship Id="Rc9f35f6e67434cc8" Type="http://schemas.openxmlformats.org/package/2006/relationships/metadata/core-properties" Target="docProps/core.xml"/><Relationship Id="Rf73ab4b08a424f80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7cf539ca9b48a4"/>
  </p:sldMasterIdLst>
  <p:notesMasterIdLst>
    <p:notesMasterId xmlns:r="http://schemas.openxmlformats.org/officeDocument/2006/relationships" r:id="Rbc5071017f8e49fc"/>
  </p:notesMasterIdLst>
  <p:sldIdLst>
    <p:sldId xmlns:r="http://schemas.openxmlformats.org/officeDocument/2006/relationships" id="256" r:id="R35062474ec6f4018"/>
    <p:sldId xmlns:r="http://schemas.openxmlformats.org/officeDocument/2006/relationships" id="257" r:id="R36afcad63a994774"/>
    <p:sldId xmlns:r="http://schemas.openxmlformats.org/officeDocument/2006/relationships" id="258" r:id="R8f005f1b4bbe41fe"/>
    <p:sldId xmlns:r="http://schemas.openxmlformats.org/officeDocument/2006/relationships" id="259" r:id="R32787a824bdc4bcf"/>
    <p:sldId xmlns:r="http://schemas.openxmlformats.org/officeDocument/2006/relationships" id="260" r:id="R5126d6cf16df4bc0"/>
    <p:sldId xmlns:r="http://schemas.openxmlformats.org/officeDocument/2006/relationships" id="261" r:id="R6322056725a34a93"/>
    <p:sldId xmlns:r="http://schemas.openxmlformats.org/officeDocument/2006/relationships" id="262" r:id="R0494f89de61d4edb"/>
    <p:sldId xmlns:r="http://schemas.openxmlformats.org/officeDocument/2006/relationships" id="263" r:id="R1851c9ea067444c3"/>
    <p:sldId xmlns:r="http://schemas.openxmlformats.org/officeDocument/2006/relationships" id="264" r:id="R4229f3af77c24111"/>
    <p:sldId xmlns:r="http://schemas.openxmlformats.org/officeDocument/2006/relationships" id="265" r:id="R378bc56223764c51"/>
    <p:sldId xmlns:r="http://schemas.openxmlformats.org/officeDocument/2006/relationships" id="266" r:id="R75204735549c42fc"/>
    <p:sldId xmlns:r="http://schemas.openxmlformats.org/officeDocument/2006/relationships" id="267" r:id="Ra05bafc44e044033"/>
    <p:sldId xmlns:r="http://schemas.openxmlformats.org/officeDocument/2006/relationships" id="268" r:id="R5963b67e608a42a0"/>
    <p:sldId xmlns:r="http://schemas.openxmlformats.org/officeDocument/2006/relationships" id="269" r:id="R7aa174d9a3324df4"/>
    <p:sldId xmlns:r="http://schemas.openxmlformats.org/officeDocument/2006/relationships" id="270" r:id="Rf11bdae6bdff4007"/>
    <p:sldId xmlns:r="http://schemas.openxmlformats.org/officeDocument/2006/relationships" id="271" r:id="R864a631edcdd4106"/>
    <p:sldId xmlns:r="http://schemas.openxmlformats.org/officeDocument/2006/relationships" id="272" r:id="R590d27cc35284f46"/>
    <p:sldId xmlns:r="http://schemas.openxmlformats.org/officeDocument/2006/relationships" id="273" r:id="R799b62dbcc924628"/>
    <p:sldId xmlns:r="http://schemas.openxmlformats.org/officeDocument/2006/relationships" id="274" r:id="R880404c595f14176"/>
    <p:sldId xmlns:r="http://schemas.openxmlformats.org/officeDocument/2006/relationships" id="275" r:id="R5eae251698a24790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494f89de61d4edb" Type="http://schemas.openxmlformats.org/officeDocument/2006/relationships/slide" Target="slides/slide7.xml"/><Relationship Id="R1851c9ea067444c3" Type="http://schemas.openxmlformats.org/officeDocument/2006/relationships/slide" Target="slides/slide8.xml"/><Relationship Id="R19ecc7d3124c46e9" Type="http://schemas.openxmlformats.org/officeDocument/2006/relationships/presProps" Target="presProps.xml"/><Relationship Id="R21865995564447c0" Type="http://schemas.openxmlformats.org/officeDocument/2006/relationships/tableStyles" Target="tableStyles.xml"/><Relationship Id="R32787a824bdc4bcf" Type="http://schemas.openxmlformats.org/officeDocument/2006/relationships/slide" Target="slides/slide4.xml"/><Relationship Id="R35062474ec6f4018" Type="http://schemas.openxmlformats.org/officeDocument/2006/relationships/slide" Target="slides/slide1.xml"/><Relationship Id="R36afcad63a994774" Type="http://schemas.openxmlformats.org/officeDocument/2006/relationships/slide" Target="slides/slide2.xml"/><Relationship Id="R378bc56223764c51" Type="http://schemas.openxmlformats.org/officeDocument/2006/relationships/slide" Target="slides/slide10.xml"/><Relationship Id="R4229f3af77c24111" Type="http://schemas.openxmlformats.org/officeDocument/2006/relationships/slide" Target="slides/slide9.xml"/><Relationship Id="R5126d6cf16df4bc0" Type="http://schemas.openxmlformats.org/officeDocument/2006/relationships/slide" Target="slides/slide5.xml"/><Relationship Id="R590d27cc35284f46" Type="http://schemas.openxmlformats.org/officeDocument/2006/relationships/slide" Target="slides/slide17.xml"/><Relationship Id="R5963b67e608a42a0" Type="http://schemas.openxmlformats.org/officeDocument/2006/relationships/slide" Target="slides/slide13.xml"/><Relationship Id="R5eae251698a24790" Type="http://schemas.openxmlformats.org/officeDocument/2006/relationships/slide" Target="slides/slide20.xml"/><Relationship Id="R6322056725a34a93" Type="http://schemas.openxmlformats.org/officeDocument/2006/relationships/slide" Target="slides/slide6.xml"/><Relationship Id="R687cf539ca9b48a4" Type="http://schemas.openxmlformats.org/officeDocument/2006/relationships/slideMaster" Target="slideMasters/slideMaster1.xml"/><Relationship Id="R75204735549c42fc" Type="http://schemas.openxmlformats.org/officeDocument/2006/relationships/slide" Target="slides/slide11.xml"/><Relationship Id="R799b62dbcc924628" Type="http://schemas.openxmlformats.org/officeDocument/2006/relationships/slide" Target="slides/slide18.xml"/><Relationship Id="R7aa174d9a3324df4" Type="http://schemas.openxmlformats.org/officeDocument/2006/relationships/slide" Target="slides/slide14.xml"/><Relationship Id="R864a631edcdd4106" Type="http://schemas.openxmlformats.org/officeDocument/2006/relationships/slide" Target="slides/slide16.xml"/><Relationship Id="R880404c595f14176" Type="http://schemas.openxmlformats.org/officeDocument/2006/relationships/slide" Target="slides/slide19.xml"/><Relationship Id="R8f005f1b4bbe41fe" Type="http://schemas.openxmlformats.org/officeDocument/2006/relationships/slide" Target="slides/slide3.xml"/><Relationship Id="Ra05bafc44e044033" Type="http://schemas.openxmlformats.org/officeDocument/2006/relationships/slide" Target="slides/slide12.xml"/><Relationship Id="Ra27c0d1bcc254ac5" Type="http://schemas.openxmlformats.org/officeDocument/2006/relationships/viewProps" Target="viewProps.xml"/><Relationship Id="Rbc5071017f8e49fc" Type="http://schemas.openxmlformats.org/officeDocument/2006/relationships/notesMaster" Target="notesMasters/notesMaster1.xml"/><Relationship Id="Re6f5ba17f30b441e" Type="http://schemas.openxmlformats.org/officeDocument/2006/relationships/theme" Target="theme/theme1.xml"/><Relationship Id="Rf11bdae6bdff4007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cb97afebc8084bd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22147226585456a" Type="http://schemas.openxmlformats.org/officeDocument/2006/relationships/notesMaster" Target="../notesMasters/notesMaster1.xml"/><Relationship Id="Rb5fcd1df4640454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df03795d15e4821" Type="http://schemas.openxmlformats.org/officeDocument/2006/relationships/notesMaster" Target="../notesMasters/notesMaster1.xml"/><Relationship Id="Rfdd28db11bd043b6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96a9097cc7f7425b" Type="http://schemas.openxmlformats.org/officeDocument/2006/relationships/notesMaster" Target="../notesMasters/notesMaster1.xml"/><Relationship Id="Rc5dc1f0dab7c438f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b2cf1ba568a4dce" Type="http://schemas.openxmlformats.org/officeDocument/2006/relationships/slide" Target="../slides/slide4.xml"/><Relationship Id="R7aae96e75082437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beb04b64cad4f8e" Type="http://schemas.openxmlformats.org/officeDocument/2006/relationships/notesMaster" Target="../notesMasters/notesMaster1.xml"/><Relationship Id="Ree03ffbdfd6e4f0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52ab573f60c84539" Type="http://schemas.openxmlformats.org/officeDocument/2006/relationships/slide" Target="../slides/slide6.xml"/><Relationship Id="R763a7fa5c37b4bae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848af5c9165b4a7d" Type="http://schemas.openxmlformats.org/officeDocument/2006/relationships/notesMaster" Target="../notesMasters/notesMaster1.xml"/><Relationship Id="Rec598e34cdbf4a2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66ae8ef442a43c5" Type="http://schemas.openxmlformats.org/officeDocument/2006/relationships/slide" Target="../slides/slide8.xml"/><Relationship Id="R8167d341157b4968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a1eae44570ab4c79" Type="http://schemas.openxmlformats.org/officeDocument/2006/relationships/slide" Target="../slides/slide9.xml"/><Relationship Id="Rfed6e96a5e844d95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d24f26c11eb436b" Type="http://schemas.openxmlformats.org/officeDocument/2006/relationships/slide" Target="../slides/slide10.xml"/><Relationship Id="Ra1789f6b202a4948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196e1bd16484dc6" Type="http://schemas.openxmlformats.org/officeDocument/2006/relationships/slide" Target="../slides/slide11.xml"/><Relationship Id="Rd051d4a639e04a7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c3844e95483472d" Type="http://schemas.openxmlformats.org/officeDocument/2006/relationships/notesMaster" Target="../notesMasters/notesMaster1.xml"/><Relationship Id="Rf2742232fa48460c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7be6ce8e7ca4528" Type="http://schemas.openxmlformats.org/officeDocument/2006/relationships/notesMaster" Target="../notesMasters/notesMaster1.xml"/><Relationship Id="Rbf2ddee2c9a0429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07aa21a6ab054593" Type="http://schemas.openxmlformats.org/officeDocument/2006/relationships/notesMaster" Target="../notesMasters/notesMaster1.xml"/><Relationship Id="Rf99b56eac24247cd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861471fdaa6e470f" Type="http://schemas.openxmlformats.org/officeDocument/2006/relationships/notesMaster" Target="../notesMasters/notesMaster1.xml"/><Relationship Id="Read4bf16fd5447fa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b6922115878f48f1" Type="http://schemas.openxmlformats.org/officeDocument/2006/relationships/slide" Target="../slides/slide16.xml"/><Relationship Id="Rd96daa002e864ffa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63d27a81b63a4a10" Type="http://schemas.openxmlformats.org/officeDocument/2006/relationships/notesMaster" Target="../notesMasters/notesMaster1.xml"/><Relationship Id="Rfcde4ce8827245c3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1b0667a5b3f14c9d" Type="http://schemas.openxmlformats.org/officeDocument/2006/relationships/notesMaster" Target="../notesMasters/notesMaster1.xml"/><Relationship Id="R3adddb672b0e4459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3af59d87ee0d43a8" Type="http://schemas.openxmlformats.org/officeDocument/2006/relationships/slide" Target="../slides/slide19.xml"/><Relationship Id="R59d5cb815db84720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47f3e9de0f5a4787" Type="http://schemas.openxmlformats.org/officeDocument/2006/relationships/notesMaster" Target="../notesMasters/notesMaster1.xml"/><Relationship Id="Rd7059b0f15ed4546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tesis como un trabajo de medición: no es un scheduler, no es un nuevo WMS y no es un monitor general de red. La contribución es una métrica y un analizador que separan movimiento científico requerido, declarado y confirmado.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Desarrollar el contexto desde la ciencia: los workflows existen porque las aplicaciones científicas requieren pipelines de múltiples etapas. El dato no es accesorio; es el vínculo entre etapas.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lámina introduce la cadena completa. La tesis no mide un workflow abstracto en el vacío; mide una ejecución concreta con una ubicación real de tareas y un conjunto de evidencias.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problema central debe presentarse como un problema de medición y evidencia, no como un problema de que la red sea lenta. Lo que se quiere atacar es la ambigüedad entre lo científico, lo declarado y lo observado.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pregunta debe ser entendida como diagnóstica. Se condiciona al placement observado para evitar transformar la tesis en un problema de optimización de scheduling.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primero el objetivo general en una frase. Luego explicar que los objetivos específicos cubren formalización, implementación, validación y delimitación.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lámina debe defender el alcance. Es importante que la audiencia no espere un planificador ni una comparación de algoritmos de scheduling.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Estos trabajos no son rivales directos. Delimitar la brecha al conjunto revisado y a la semántica operativa exacta; no formular una afirmación universal de novedad.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solo lectura en pegasus-master, 2026-10-03: Ubuntu 26.04; 1 vCPU; 1,671,811,072 bytes RAM; VMware; Pegasus 5.1.2; HTCondor 25.12.2. El usuario confirma que el entorno previsto incluye workers. /etc/hosts mapea pegasus-worker1=192.168.79.137 y pegasus-worker2=192.168.79.139. Al momento de consulta, ambos no respondieron a ping ni a SSH/22 desde el master, y condor_status -startd no mostró anuncios/slots. La causa queda sin determinar; no inferir que las VMs no existan.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la lámina de términos congelados. Recalcar que DeclaredMovement no es ObservedMovement, y que Coverage es una precondición de validez.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tesis debe ser fuerte en esto: un resultado indeterminado no es una falla del analizador; es un resultado metodológicamente correcto cuando la evidencia no alcanza.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metodología académica comprende caracterización, formalización, operacionalización y evaluación controlada. Los gates documentan aseguramiento del proyecto. Gate I cerró en 3f44f30; I14 y Gate V aún no se ejecutan.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observado en pegasus_movement/analyzer_v1.py: loaders Pegasus y HTCondor history; parsing; normalización de identidades y ubicaciones; detección del ExecutionModelProfile y adapter condorio; reconstrucción del dataflow; RequiredMovement y manifests/DeclaredMovement; extracción de TransferEvidence; reconciliation; métricas; JSON/TSV y diagnósticos. El CLI recibe --run, --history-file y --out. No consulta el pool en vivo.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process y pipeline ya están soportados por regresión/integración; los demás patrones completan Gate V.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Secuencia por job/dirección/intento. JobTransferManifest describe el conjunto efectivo esperado; TransferEvidence proviene de atributos del HTCondor history. La reconciliación comprueba identidad del intento, worker, método, éxito y compatibilidad del manifest. Modos: EXACT_BYTES y SUCCESSFUL_MANIFEST. Niveles: FILE_LEVEL_CONFIRMED, JOB_LEVEL_RECONCILED e INSUFFICIENT. No implica packet tracing ni asignación proporcional de bytes. Coverage es por ocurrencias; con cobertura incompleta M_obs y DME quedan indeterminadas.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Notación transcrita del contrato canónico implementado. M_req suma el tamaño científico por cada ubicación requerida distinta del origen. Coverage = |C_sci|/|D_sci| es por ocurrencias y vale 1 si D_sci está vacío. M_obs solo se define con cobertura completa y suma ocurrencias confirmadas. Para DME: N/A si ambos movimientos son cero; 0 si M_req=0&lt;M_obs; M_req/M_obs si 0&lt;M_req≤M_obs. Si Coverage&lt;1, M_obs y DME son indeterminadas. Si M_obs&lt;M_req, la ejecución es inconsistente y no tiene DME válida. No se ha redefinido la métrica.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limitaciones fortalecen la presentación porque muestran que la métrica no se sobrevende.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 I cerró en 3f44f30. Matriz propuesta: 117 runs base y 12 de sensibilidad estructural, total 129 workflows nuevos. El generador histórico limita balanced-local a 3 etapas o 4 ramas; el bloque estructural usa same-w1. I14 debe usar Analyzer v1. No se ejecutaron workflows nuevos.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el mensaje central: medición, evidencia y trazabilidad.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leer toda la bibliografía; usarla para mostrar que se conoce el contexto y que la tesis ocupa un espacio concreto.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2e8b8b6d6e847a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b4838fe03ec4475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DB48E1-5397-487F-BABC-1BCFF370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721c72168ec24d05" Type="http://schemas.openxmlformats.org/officeDocument/2006/relationships/slideLayout" Target="../slideLayouts/slideLayout1.xml"/><Relationship Id="R8c60b696ee4b4396" Type="http://schemas.openxmlformats.org/officeDocument/2006/relationships/theme" Target="theme/theme2.xml"/><Relationship Id="R9940845eb62342e5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1c72168ec24d05"/>
    <p:sldLayoutId xmlns:r="http://schemas.openxmlformats.org/officeDocument/2006/relationships" id="2147483650" r:id="R9940845eb62342e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791991881b641ee" Type="http://schemas.openxmlformats.org/officeDocument/2006/relationships/slideLayout" Target="../slideLayouts/slideLayout2.xml"/><Relationship Id="R44cbbab218384d6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90e0022099a24732" Type="http://schemas.openxmlformats.org/officeDocument/2006/relationships/notesSlide" Target="../notesSlides/notesSlide2.xml"/><Relationship Id="Rb4d57d1ac289419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909328bd2cc3442f" Type="http://schemas.openxmlformats.org/officeDocument/2006/relationships/notesSlide" Target="../notesSlides/notesSlide3.xml"/><Relationship Id="Rf058631183424544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0dcf3bda7c44497c" Type="http://schemas.openxmlformats.org/officeDocument/2006/relationships/notesSlide" Target="../notesSlides/notesSlide4.xml"/><Relationship Id="Re9d6242e20d54435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82be278e67874683" Type="http://schemas.openxmlformats.org/officeDocument/2006/relationships/notesSlide" Target="../notesSlides/notesSlide5.xml"/><Relationship Id="Rfb19b246581b4d53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339dbe86d6c446e2" Type="http://schemas.openxmlformats.org/officeDocument/2006/relationships/slideLayout" Target="../slideLayouts/slideLayout2.xml"/><Relationship Id="R3ce5b9e531d24d7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a627b2ef0492478e" Type="http://schemas.openxmlformats.org/officeDocument/2006/relationships/notesSlide" Target="../notesSlides/notesSlide7.xml"/><Relationship Id="Raf8a4b5e8011490c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694c7ae4ca3f431e" Type="http://schemas.openxmlformats.org/officeDocument/2006/relationships/slideLayout" Target="../slideLayouts/slideLayout2.xml"/><Relationship Id="Rd5c85d80155748b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2db6f515a774d22" Type="http://schemas.openxmlformats.org/officeDocument/2006/relationships/notesSlide" Target="../notesSlides/notesSlide9.xml"/><Relationship Id="Ree7b2029b4194f6b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49c27ce6255840e4" Type="http://schemas.openxmlformats.org/officeDocument/2006/relationships/slideLayout" Target="../slideLayouts/slideLayout2.xml"/><Relationship Id="R5e96e36792124f5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8e5c184495df4ac1" Type="http://schemas.openxmlformats.org/officeDocument/2006/relationships/notesSlide" Target="../notesSlides/notesSlide11.xml"/><Relationship Id="Rb5f979c53764474b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cc0f992765d4401d" Type="http://schemas.openxmlformats.org/officeDocument/2006/relationships/notesSlide" Target="../notesSlides/notesSlide12.xml"/><Relationship Id="Re7f8c6d1f8354c37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50f9a78ab5e34bb7" Type="http://schemas.openxmlformats.org/officeDocument/2006/relationships/notesSlide" Target="../notesSlides/notesSlide13.xml"/><Relationship Id="R65a2f1a0defa4c6b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5037d3a6c89141e1" Type="http://schemas.openxmlformats.org/officeDocument/2006/relationships/slideLayout" Target="../slideLayouts/slideLayout2.xml"/><Relationship Id="R6337b765da9c4c2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8884d7e797ba404b" Type="http://schemas.openxmlformats.org/officeDocument/2006/relationships/notesSlide" Target="../notesSlides/notesSlide15.xml"/><Relationship Id="Raf554ec49c3c4164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009e33499f7b4de0" Type="http://schemas.openxmlformats.org/officeDocument/2006/relationships/notesSlide" Target="../notesSlides/notesSlide16.xml"/><Relationship Id="R9b6b48476b0c4bc6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a4dc940dd7634d65" Type="http://schemas.openxmlformats.org/officeDocument/2006/relationships/notesSlide" Target="../notesSlides/notesSlide17.xml"/><Relationship Id="Re99f8490199a4e93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7503f702815e4c21" Type="http://schemas.openxmlformats.org/officeDocument/2006/relationships/slideLayout" Target="../slideLayouts/slideLayout2.xml"/><Relationship Id="R8d4ab166f34047b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0bbd9052e6aa42be" Type="http://schemas.openxmlformats.org/officeDocument/2006/relationships/notesSlide" Target="../notesSlides/notesSlide19.xml"/><Relationship Id="R539fc3ad871a4fc6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83e049a25b7344bb" Type="http://schemas.openxmlformats.org/officeDocument/2006/relationships/slideLayout" Target="../slideLayouts/slideLayout2.xml"/><Relationship Id="Rb831198403394a24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41560B-2885-4236-A9F9-727E3A51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F8FAFC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B3CC33B-9C17-4024-9443-6BB98A77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102A43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E880202-01EB-4936-923B-2948F99F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0B1307E-7C6F-4A13-99C2-409C07B6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08760"/>
            <a:ext cx="68580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Data Movement Assessment</a:t>
            </a:r>
            <a:endParaRPr sz="3400"/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in Scientific Workflows</a:t>
            </a:r>
            <a:endParaRPr sz="3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0ED780A-721B-4878-A69B-C97225DC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07792"/>
            <a:ext cx="68580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34155"/>
                </a:solidFill>
              </a:rPr>
              <a:t>Diseño y validación de una métrica para evaluar movimiento de datos científico en ejecuciones Pegasus/HTCondor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D729276-75C3-46FB-BDDF-3837851E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17320"/>
            <a:ext cx="23774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160">
            <a:solidFill>
              <a:srgbClr val="BFDBF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F3EF5B1-8B6A-429C-9190-36900F89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508760"/>
            <a:ext cx="21579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Workflow científico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414B0B5-520E-4ED0-81FC-88242ED3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993392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5CD4DD9-1F2B-49DE-BC19-B85E0060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8608"/>
            <a:ext cx="23774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0160">
            <a:solidFill>
              <a:srgbClr val="99F6E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A65818-8414-490F-AC98-68C57227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670048"/>
            <a:ext cx="21579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Placement observado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0AA07EA-5BAD-44AB-BB04-4CBF0AC8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154680"/>
            <a:ext cx="0" cy="475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0B8C4FF-E6FC-48B3-9EAA-A85E4F96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0752"/>
            <a:ext cx="23774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160">
            <a:solidFill>
              <a:srgbClr val="FCD34D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F90C942-809D-4F70-AE69-DDD9E37B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822192"/>
            <a:ext cx="21579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Evidencia de ejecución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48CF823-3687-42F1-957E-918F51AB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297680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6ADBD30-41ED-4131-9A38-EA399BB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82896"/>
            <a:ext cx="23774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57E2C8F-775E-4E5D-9F30-A38F2256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4974336"/>
            <a:ext cx="21579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DME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E015DD-F9BC-48D1-8EBB-DEBEA97C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7132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Luis Sebastián Contreras Díaz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Asesores: Aurelio Antonio Vivas Meza · Harold Enrique Castro Barrera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Universidad de los Andes · Trabajo de grado · 2026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330981E-478F-42C3-9186-1DCC9103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695CA5E-E161-45A0-A758-C9251682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Portada</a:t>
            </a:r>
            <a:endParaRPr sz="7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F2EE3BA-DC8B-4C2F-867E-F864EF83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1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7963775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274B74E-97AF-4DA0-93D1-F7FDD71C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129B04-1467-4EE5-ABE0-87818263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CONTEXTO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93AAE3-3D23-4D75-A311-51A96E25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1. Por qué hablar de movimiento de datos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3E1D79F-E527-46F8-BAF6-5F277857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107899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334155"/>
                </a:solidFill>
                <a:latin typeface="Aptos"/>
                <a:ea typeface="Aptos"/>
                <a:cs typeface="Aptos"/>
              </a:rPr>
              <a:t>Los workflows científicos no solo ejecutan tareas: también materializan archivos en lugares específicos para que esas tareas puedan producir ciencia.</a:t>
            </a:r>
            <a:endParaRPr sz="14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50F7C82-BF02-4F76-B035-62A7FEE0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123444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160">
            <a:solidFill>
              <a:srgbClr val="BFDBF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9A1696B-D07D-4D13-8C6E-479FCF26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96596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Tarea A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0759A6B-41B5-47B2-BB79-1022B18A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2139696"/>
            <a:ext cx="6492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A27179E-2DBD-42BD-B923-F2F0FA73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874520"/>
            <a:ext cx="123444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160">
            <a:solidFill>
              <a:srgbClr val="BFDBF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3FB60AD-F207-43FE-97B9-CEFB85A1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196596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Tarea B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DBEA8E3-1C7C-4563-A25A-0E376151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139696"/>
            <a:ext cx="6492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CF09B14-EE10-4A09-8FBB-700E7962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74520"/>
            <a:ext cx="123444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160">
            <a:solidFill>
              <a:srgbClr val="BFDBF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0FB574-54A9-48F9-B7E7-FD225ECD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96596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Tarea C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D43E79-A16D-4DB1-8D53-2C5F7B79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139696"/>
            <a:ext cx="6492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936FEFC-D592-49F3-9DD4-1EBE75D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874520"/>
            <a:ext cx="123444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160">
            <a:solidFill>
              <a:srgbClr val="BBF7D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CE8CD8E-87DE-4B04-95BD-533A578E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96596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Resultado</a:t>
            </a:r>
            <a:endParaRPr sz="11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FF4455F-ACC6-4720-A557-07BFF8D1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834640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D4EF2F5-848F-4577-B1F0-0D298B09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593592"/>
            <a:ext cx="11887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64748B"/>
                </a:solidFill>
              </a:rPr>
              <a:t>input.dat</a:t>
            </a:r>
            <a:endParaRPr sz="83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4137BDD-3815-458F-9ABB-625E5F16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2587752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8AE89DF-E74D-423E-A2E6-97328197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834640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4006B7D-90EE-43E8-861F-24D42121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3593592"/>
            <a:ext cx="11887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64748B"/>
                </a:solidFill>
              </a:rPr>
              <a:t>stage1.dat</a:t>
            </a:r>
            <a:endParaRPr sz="83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87B62DA-E0E9-4C85-88B6-96DBEE8F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776" y="2587752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E522F9A-5049-486B-8460-4F70C241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34640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EB6BEB9-1C4F-442E-B5AC-B150BF26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3593592"/>
            <a:ext cx="11887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64748B"/>
                </a:solidFill>
              </a:rPr>
              <a:t>stage2.dat</a:t>
            </a:r>
            <a:endParaRPr sz="83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649B07F-1F0E-4CEE-B22B-B6F71F80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587752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FDE0E-2E1A-4225-BC21-B1A78E81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63A2933-F826-40AA-B8FB-E583D25A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15968"/>
            <a:ext cx="7086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En una ejecución distribuida, una dependencia lógica se convierte en una pregunta física: ¿dónde está el archivo y dónde debe estar para ser consumido?</a:t>
            </a:r>
            <a:endParaRPr sz="20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8E67CB2-F47F-4899-B89A-C5C7D1B8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926080" cy="324612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2BAF591-DDA1-41F6-AAE3-D6C30B60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185416"/>
            <a:ext cx="2596896" cy="2990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literatura de workflows científicos resalta la coordinación conjunta de tareas, datos e infraestructura distribuida. Esta tesis toma esa coordinación como punto de partida, pero se enfoca en la medición del movimiento de payload científico.</a:t>
            </a:r>
            <a:endParaRPr sz="112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2A9C4DC-370C-4942-AF34-B4E15F15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144768"/>
            <a:ext cx="10698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>
                <a:solidFill>
                  <a:srgbClr val="64748B"/>
                </a:solidFill>
              </a:rPr>
              <a:t>Base: Deelman et al. (2015) describen Pegasus como WMS para automatizar tareas y movimiento de datos en infraestructuras distribuidas.</a:t>
            </a:r>
            <a:endParaRPr sz="68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E28E27A-FB92-4D34-937D-F2403A08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9720221-E80A-416E-91A5-436DA8DB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Contexto · workflows científicos</a:t>
            </a:r>
            <a:endParaRPr sz="7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E5C5D71-0479-4A76-8A96-89ADB0AB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2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587253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8C17026-CA57-4661-A7D6-8510BE6F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18625D-ECB3-4545-9D71-1EE00D51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CONTEXTO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7CCDA0F-D662-4AF2-8B45-026F2409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2. Del workflow lógico a una ejecución observada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F0E1646-F806-4E21-96C6-33140EA8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107899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334155"/>
                </a:solidFill>
                <a:latin typeface="Aptos"/>
                <a:ea typeface="Aptos"/>
                <a:cs typeface="Aptos"/>
              </a:rPr>
              <a:t>El movimiento que realmente importa para esta tesis no depende solo del grafo: depende del placement, del modelo de ejecución y de la evidencia disponible.</a:t>
            </a:r>
            <a:endParaRPr sz="14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8DD0144-0073-4BC5-9CDB-4B5B4BB4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48840"/>
            <a:ext cx="15544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756395C-0314-4DF2-B8C4-885F399B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240280"/>
            <a:ext cx="133502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Workflow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lógico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9DE6B11-885B-43C7-9ABF-A39BAC62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56032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CB3836F-63ED-4663-83E3-11EEA2AF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2148840"/>
            <a:ext cx="15544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3798E5C-5E08-458E-888D-3DCAD0F0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240280"/>
            <a:ext cx="133502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Placement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observado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FC6813-21B8-47DD-B151-28618AC4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256032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C56F83D-A71E-4337-9935-3AF07D55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24" y="2148840"/>
            <a:ext cx="15544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188F2F-5D60-433B-A4CB-C55E4FBE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240280"/>
            <a:ext cx="133502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Execution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model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B8164E1-2C5D-4C2F-A9B1-85270B26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56032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1592EF8-9216-454D-92EC-5450F7DB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6" y="2148840"/>
            <a:ext cx="15544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16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56E6263-4962-41D2-9B70-83F89E21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240280"/>
            <a:ext cx="133502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Trace /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evidencia</a:t>
            </a:r>
            <a:endParaRPr sz="13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6E16478-091F-4E62-BBCE-5F643B3F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56032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03BBF96-0446-467C-A13D-4E43632D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2148840"/>
            <a:ext cx="15544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31E6D66-2ED4-4DFA-BA7F-9D0911E7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2240280"/>
            <a:ext cx="133502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Movimiento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científico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14775B6-7C9E-4646-8C45-80459B16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14800"/>
            <a:ext cx="502920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1DEB9EF-F5EF-476C-95AA-B0393C9A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242816"/>
            <a:ext cx="4700016" cy="11612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Workflow lógico: tareas y dependencias de archivos.</a:t>
            </a:r>
            <a:endParaRPr sz="1120"/>
          </a:p>
          <a:p xmlns:a="http://schemas.openxmlformats.org/drawingml/2006/main">
            <a:pPr marL="0" indent="0">
              <a:buNone/>
            </a:pPr>
            <a:endParaRPr sz="1120"/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Placement observado: worker donde terminó cada tarea.</a:t>
            </a:r>
            <a:endParaRPr sz="1120"/>
          </a:p>
          <a:p xmlns:a="http://schemas.openxmlformats.org/drawingml/2006/main">
            <a:pPr marL="0" indent="0">
              <a:buNone/>
            </a:pPr>
            <a:endParaRPr sz="1120"/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Execution model: cómo Pegasus/HTCondor declara transferencias.</a:t>
            </a:r>
            <a:endParaRPr sz="1120"/>
          </a:p>
          <a:p xmlns:a="http://schemas.openxmlformats.org/drawingml/2006/main">
            <a:pPr marL="0" indent="0">
              <a:buNone/>
            </a:pPr>
            <a:endParaRPr sz="1120"/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Trace: evidencia que permite confirmar o no cada movimiento.</a:t>
            </a:r>
            <a:endParaRPr sz="112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A5852F6-2C60-49E4-A4FE-F9E04C04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114800"/>
            <a:ext cx="42519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160">
            <a:solidFill>
              <a:srgbClr val="FCA5A5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40551A0-DBC8-464C-8BF2-894DD3A0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4242816"/>
            <a:ext cx="3922776" cy="11612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Consecuencia metodológica: si una capa no está bien definida, el número final puede parecer preciso pero no ser interpretable.</a:t>
            </a:r>
            <a:endParaRPr sz="11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75E2052-DC93-4952-B0DE-753D820A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9EAABCC-D883-485A-869A-23FEA01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Contexto · ejecución observada</a:t>
            </a:r>
            <a:endParaRPr sz="7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667DF39-4D24-4552-9A13-0E4DCEC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3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6196262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05CD5CA-FD45-40FA-AB50-89DCED9F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12700">
            <a:solidFill>
              <a:srgbClr val="B91C1C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D754A9-B390-4494-94F8-A0F17CB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PROBLEMA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05B08DD-668E-4FE1-8B9A-18FE4B1B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3. El problema no es “mover mucho”; es no saber qué parte era necesaria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3F15735-9645-4632-9CE4-0A5C80E3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107899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334155"/>
                </a:solidFill>
                <a:latin typeface="Aptos"/>
                <a:ea typeface="Aptos"/>
                <a:cs typeface="Aptos"/>
              </a:rPr>
              <a:t>En una corrida Pegasus/HTCondor, las estadísticas de transferencia pueden mezclar payload científico con wrappers, metadatos, logs y archivos auxiliares.</a:t>
            </a:r>
            <a:endParaRPr sz="14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3471A52-A3A8-4193-B802-DE3DB3F5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29718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160">
            <a:solidFill>
              <a:srgbClr val="BBF7D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F5F2EAA-BFFE-467D-865C-8218FC34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965960"/>
            <a:ext cx="275234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Payload científico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(input, intermedios, outputs)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5A5E69C-09C4-439A-AEF5-CDFB5D62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874520"/>
            <a:ext cx="29718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160">
            <a:solidFill>
              <a:srgbClr val="FCD34D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A363B8A-98AE-4783-933A-4CD3443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965960"/>
            <a:ext cx="275234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Sandbox HTCondor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(auxiliares + científicos)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4FB8CE7-B89A-4BBA-8A43-716BAAE1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74520"/>
            <a:ext cx="29718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160">
            <a:solidFill>
              <a:srgbClr val="FCA5A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A29B46E-F043-4292-9E21-5FBF818B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965960"/>
            <a:ext cx="275234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Tráfico o bytes brutos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(no necesariamente científicos)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F0626B-CCFB-4C30-8039-4E087FDC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31720"/>
            <a:ext cx="6126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3EDC156-0AB4-4905-A462-DD938A37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331720"/>
            <a:ext cx="621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0A6BBE3-34BA-4838-A1B0-D9A79DC0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22192"/>
            <a:ext cx="731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12700">
            <a:solidFill>
              <a:srgbClr val="B91C1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42C27BB-9AE3-439B-A768-E5F38857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58768"/>
            <a:ext cx="103784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La tesis combate una confusión central: tratar los bytes de transferencia del sistema como si fueran directamente movimiento científico confirmado.</a:t>
            </a:r>
            <a:endParaRPr sz="2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8219639-D350-47D1-964A-CF70D3DC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956048"/>
            <a:ext cx="804672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04152BC-48D1-48C1-9E9D-9015A6BD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5084064"/>
            <a:ext cx="771753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Si no se separan estas capas, no se puede distinguir exceso del execution model, movimiento inherente al placement o evidencia incompleta.</a:t>
            </a:r>
            <a:endParaRPr sz="11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1B1DE6B-777E-4038-8547-6D1C8D5A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423796C-F1CA-416F-9FFB-D2854132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Problema · ambigüedad de medición</a:t>
            </a:r>
            <a:endParaRPr sz="7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B43A9AD-BCFD-4C62-AD9B-FAF8F76F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4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1480841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B5A5D2A-D3FC-44FE-9D47-DF24A78C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12700">
            <a:solidFill>
              <a:srgbClr val="B91C1C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13BBBD-580C-4DB4-BF82-16D14EE0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PROBLEMA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DC5189D-3B44-4BA4-B72E-294B4A7C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4. Pregunta de investigación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338BA4C-3548-4FC3-B283-E61B4DDD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8AE7872-2479-4FB8-8468-7732D0F9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53896"/>
            <a:ext cx="100126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¿Cuánto del movimiento de datos científico confirmado en una ejecución era realmente necesario para ejecutar el workflow con el placement que ocurrió?</a:t>
            </a:r>
            <a:endParaRPr sz="2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C0A0443-A195-4383-B00B-29C3F88D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3240"/>
            <a:ext cx="150876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160">
            <a:solidFill>
              <a:srgbClr val="BFDBF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CB6369-BFB4-419D-930D-7945969E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154680"/>
            <a:ext cx="12893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Workflow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+ archivos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80EB46E-17B8-4CFE-BDE9-85261BEE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63240"/>
            <a:ext cx="150876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0160">
            <a:solidFill>
              <a:srgbClr val="99F6E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5553EEB-790C-4763-83AB-25AF4D50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154680"/>
            <a:ext cx="12893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Placement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observado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0AD5C82-68E4-4C04-A3C8-13B398D2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63240"/>
            <a:ext cx="150876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160">
            <a:solidFill>
              <a:srgbClr val="FCD34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21E0D64-42D2-4682-AA05-0F73427E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154680"/>
            <a:ext cx="12893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Execution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model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5B509C9-FB2F-42CA-8C38-291E96E2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63240"/>
            <a:ext cx="150876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160">
            <a:solidFill>
              <a:srgbClr val="DDD6F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89DC3F6-B817-4816-83CA-63E6D3D6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154680"/>
            <a:ext cx="12893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Evidencia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HTCondor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D88C6B9-DA99-49A0-AD92-62D7C835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063240"/>
            <a:ext cx="150876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9933AB5-9AFE-4472-AE64-0E4868CC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154680"/>
            <a:ext cx="12893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DME</a:t>
            </a:r>
            <a:endParaRPr sz="16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7084F18-8EF6-4CF6-83F5-625B643F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3410712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A4E9540-54F9-471E-8652-B5719F6C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410712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9056483-69B5-4210-9590-F24C7049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410712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6ED1A7B-5366-4C63-B46D-2D3D322B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3410712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43E4D13-86AC-4068-83AF-3BA7AD4D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3440"/>
            <a:ext cx="950976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8822705-B949-4640-9953-EFFC2FCA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4791456"/>
            <a:ext cx="9180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Esta pregunta no busca encontrar el “mejor placement”. Evalúa una ejecución que ya ocurrió y pregunta qué parte del movimiento confirmado fue necesario bajo ese placement.</a:t>
            </a:r>
            <a:endParaRPr sz="11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4ACA8EC-E6C6-4184-97F5-E1675F0E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6B8C20A-66D2-447C-8492-23F2B8E9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Problema · pregunta central</a:t>
            </a:r>
            <a:endParaRPr sz="7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6675BAC-ECAB-40E4-90C4-EBD17701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5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516135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D22CE0-BA21-47B9-99FE-B1E9948F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75B42E-4049-4B43-BA8C-5CD27A8B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OBJETIVOS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318B67-C5CA-4145-B5EE-2BCAE3E9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5. Objetivo general y objetivos específicos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6D454F-6FE7-4B50-A2E9-F458D8F3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1060704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99F6E4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CF8088E-943C-4A6C-9A85-0EAE2263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545336"/>
            <a:ext cx="1027785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Objetivo general</a:t>
            </a:r>
            <a:endParaRPr sz="1120"/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Diseñar y validar una métrica para evaluar la eficiencia del movimiento de datos científico en ejecuciones Pegasus/HTCondor, comparando el movimiento requerido por el dataflow y el placement observado con el movimiento científico confirmado por evidencia.</a:t>
            </a:r>
            <a:endParaRPr sz="112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1ABA86F-426D-4BBB-9200-D9AF7ABE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077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E48FB9B-E11D-40F5-8891-A767E22E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99232"/>
            <a:ext cx="4754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1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B106B49-B2ED-4CEA-B486-E43E9A05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862072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2A43"/>
                </a:solidFill>
              </a:rPr>
              <a:t>Formalizar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C430603-2DB2-4859-8430-D33F9C2D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320040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334155"/>
                </a:solidFill>
              </a:rPr>
              <a:t>Definir archivos científicos, ubicaciones, placement, fronteras y precondiciones de validez.</a:t>
            </a:r>
            <a:endParaRPr sz="106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3177498-5120-4BCD-9E12-8805AE86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077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03EC05-E72B-4357-9BED-7AD13704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9232"/>
            <a:ext cx="4754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2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58A6E65-CB42-4125-8606-02E9E971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2862072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2A43"/>
                </a:solidFill>
              </a:rPr>
              <a:t>Implementar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4AD6591-C43B-4768-AED1-33C50C2C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320040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334155"/>
                </a:solidFill>
              </a:rPr>
              <a:t>Construir un Analyzer v1 que reconstruya dataflow, transfers declarados y evidencia HTCondor.</a:t>
            </a:r>
            <a:endParaRPr sz="106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5BFC760-FE20-4E06-B233-72AD2E62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077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FF82DD2-A7DD-4949-AB1F-75D64D3D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99232"/>
            <a:ext cx="4754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3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228E1C8-B2B5-4787-A448-4C001B29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62072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2A43"/>
                </a:solidFill>
              </a:rPr>
              <a:t>Validar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7F8CE00-1BE0-4DD4-81A1-18A29008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20040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334155"/>
                </a:solidFill>
              </a:rPr>
              <a:t>Usar patrones controlados y corridas preservadas con oráculos reproducibles.</a:t>
            </a:r>
            <a:endParaRPr sz="106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21FD8B7-EFE4-4C55-AC74-BE50FBDB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9077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44B5E24-8B7B-4EF9-AC67-7E1E5B54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999232"/>
            <a:ext cx="4754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4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63017A-27B3-46F7-A76A-E70F8144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862072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2A43"/>
                </a:solidFill>
              </a:rPr>
              <a:t>Delimitar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E8C4621-6F98-482F-AE12-B0D88949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320040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334155"/>
                </a:solidFill>
              </a:rPr>
              <a:t>Reportar casos indeterminados, supuestos y alcance del execution model soportado.</a:t>
            </a:r>
            <a:endParaRPr sz="106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EDFEC7C-100D-4994-AC72-EBBFBF29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931C260-B7AB-4801-9AEB-D3BE41A6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Objetivos</a:t>
            </a:r>
            <a:endParaRPr sz="7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F78BB1E-27D9-4BCE-AD59-4A4FD405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6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142743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0A34A0B-9AEA-441A-A820-CFEE44C2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C5CC15-31EB-4FBC-8435-5ED2428C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ALCANCE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35CAA7-C2A4-4E60-A073-C9F36995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6. Qué sí mide y qué no pretende resolver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9BF8837-A25B-480C-9DC3-B636623D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914400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160">
            <a:solidFill>
              <a:srgbClr val="16A34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41BA74E-B936-4A18-A7B3-1E92700E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508760"/>
            <a:ext cx="6949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SÍ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E9E0624-8384-4F43-9DBD-FE440D3C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470916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buSzPct val="100000"/>
              <a:buChar char="•"/>
            </a:pPr>
            <a:r>
              <a:rPr sz="1300">
                <a:solidFill>
                  <a:srgbClr val="334155"/>
                </a:solidFill>
                <a:latin typeface="Aptos"/>
                <a:ea typeface="Aptos"/>
                <a:cs typeface="Aptos"/>
              </a:rPr>
              <a:t>Payload científico: inputs, intermedios y outputs finales.</a:t>
            </a:r>
            <a:endParaRPr sz="1300"/>
          </a:p>
          <a:p xmlns:a="http://schemas.openxmlformats.org/drawingml/2006/main">
            <a:pPr marL="203200" indent="-203200">
              <a:buSzPct val="100000"/>
              <a:buChar char="•"/>
            </a:pPr>
            <a:r>
              <a:rPr sz="1300">
                <a:solidFill>
                  <a:srgbClr val="334155"/>
                </a:solidFill>
                <a:latin typeface="Aptos"/>
                <a:ea typeface="Aptos"/>
                <a:cs typeface="Aptos"/>
              </a:rPr>
              <a:t>Una ejecución concreta, con placement observado.</a:t>
            </a:r>
            <a:endParaRPr sz="1300"/>
          </a:p>
          <a:p xmlns:a="http://schemas.openxmlformats.org/drawingml/2006/main">
            <a:pPr marL="203200" indent="-203200">
              <a:buSzPct val="100000"/>
              <a:buChar char="•"/>
            </a:pPr>
            <a:r>
              <a:rPr sz="1300">
                <a:solidFill>
                  <a:srgbClr val="334155"/>
                </a:solidFill>
                <a:latin typeface="Aptos"/>
                <a:ea typeface="Aptos"/>
                <a:cs typeface="Aptos"/>
              </a:rPr>
              <a:t>Comparación entre movimiento requerido y movimiento confirmado.</a:t>
            </a:r>
            <a:endParaRPr sz="1300"/>
          </a:p>
          <a:p xmlns:a="http://schemas.openxmlformats.org/drawingml/2006/main">
            <a:pPr marL="203200" indent="-203200">
              <a:buSzPct val="100000"/>
              <a:buChar char="•"/>
            </a:pPr>
            <a:r>
              <a:rPr sz="1300">
                <a:solidFill>
                  <a:srgbClr val="334155"/>
                </a:solidFill>
                <a:latin typeface="Aptos"/>
                <a:ea typeface="Aptos"/>
                <a:cs typeface="Aptos"/>
              </a:rPr>
              <a:t>Trazabilidad hacia Pegasus/HTCondor y decisiones fail-closed.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8CFAB9E-3082-452C-8D15-D53AC56E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914400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 w="10160">
            <a:solidFill>
              <a:srgbClr val="B91C1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D241A85-385E-4C22-9317-4DCC02A5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508760"/>
            <a:ext cx="6949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2C02FC2-3466-49E5-867C-C833B8F7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470916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buSzPct val="100000"/>
              <a:buChar char="•"/>
            </a:pPr>
            <a:r>
              <a:rPr sz="130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diseña un nuevo scheduler ni un nuevo WMS.</a:t>
            </a:r>
            <a:endParaRPr sz="1300"/>
          </a:p>
          <a:p xmlns:a="http://schemas.openxmlformats.org/drawingml/2006/main">
            <a:pPr marL="203200" indent="-203200">
              <a:buSzPct val="100000"/>
              <a:buChar char="•"/>
            </a:pPr>
            <a:r>
              <a:rPr sz="130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afirma que DME mida tiempo total, costo o throughput.</a:t>
            </a:r>
            <a:endParaRPr sz="1300"/>
          </a:p>
          <a:p xmlns:a="http://schemas.openxmlformats.org/drawingml/2006/main">
            <a:pPr marL="203200" indent="-203200">
              <a:buSzPct val="100000"/>
              <a:buChar char="•"/>
            </a:pPr>
            <a:r>
              <a:rPr sz="130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suma tráfico de red total ni bytes auxiliares como ciencia.</a:t>
            </a:r>
            <a:endParaRPr sz="1300"/>
          </a:p>
          <a:p xmlns:a="http://schemas.openxmlformats.org/drawingml/2006/main">
            <a:pPr marL="203200" indent="-203200">
              <a:buSzPct val="100000"/>
              <a:buChar char="•"/>
            </a:pPr>
            <a:r>
              <a:rPr sz="130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infiere ObservedMovement cuando la evidencia es incompleta.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A6BDEE2-8F93-4324-928D-D2F598BF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100584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C6D2816-C3DB-4C40-8529-DD34FDF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294376"/>
            <a:ext cx="972921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Esta delimitación evita que la contribución se malinterprete como optimización global. La tesis propone una herramienta de medición y diagnóstico.</a:t>
            </a:r>
            <a:endParaRPr sz="11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6E57491-3AD3-4F7B-A538-3DF20C75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6CB65EA-36A4-4EB4-B672-A5BA6590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Alcance y no objetivos</a:t>
            </a:r>
            <a:endParaRPr sz="7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EFE159D-4596-4895-8EF2-AC676B24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7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8805540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1C7CDC8-5438-4337-97BD-9DDF0525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12700">
            <a:solidFill>
              <a:srgbClr val="6D28D9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97682DD-8094-4267-9DB1-1CAE785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ESTADO DEL ARTE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D68BFD2-EE50-4844-A65E-4324D08A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7. Brecha académica: trabajos cercanos, pregunta distinta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47D4895-D41A-4CB1-9453-B7141624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72768"/>
            <a:ext cx="22402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160">
            <a:solidFill>
              <a:srgbClr val="DBEAF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7E29876-8020-4688-8BC1-06AC7FE5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664208"/>
            <a:ext cx="20208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Workflow management</a:t>
            </a:r>
            <a:endParaRPr sz="112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2BFD272-9D7F-4F5A-96EE-68CDA789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221992"/>
            <a:ext cx="2011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>
                <a:solidFill>
                  <a:srgbClr val="334155"/>
                </a:solidFill>
              </a:rPr>
              <a:t>Coordina tareas y datos</a:t>
            </a:r>
            <a:endParaRPr sz="1030"/>
          </a:p>
          <a:p xmlns:a="http://schemas.openxmlformats.org/drawingml/2006/main">
            <a:pPr marL="0" indent="0" algn="ctr">
              <a:buNone/>
            </a:pPr>
            <a:r>
              <a:rPr sz="1030">
                <a:solidFill>
                  <a:srgbClr val="334155"/>
                </a:solidFill>
              </a:rPr>
              <a:t>(Pegasus, WMS)</a:t>
            </a:r>
            <a:endParaRPr sz="10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E070FD3-3374-411F-B061-F1401E20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572768"/>
            <a:ext cx="22402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0160">
            <a:solidFill>
              <a:srgbClr val="CCFBF1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682BDF5-4FC0-4C83-B8FB-26AB0032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1664208"/>
            <a:ext cx="20208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Scheduling</a:t>
            </a:r>
            <a:endParaRPr sz="112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B11F0CB-EA35-49CA-A73C-EA2368A7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2221992"/>
            <a:ext cx="2011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>
                <a:solidFill>
                  <a:srgbClr val="334155"/>
                </a:solidFill>
              </a:rPr>
              <a:t>Reduce comunicación</a:t>
            </a:r>
            <a:endParaRPr sz="1030"/>
          </a:p>
          <a:p xmlns:a="http://schemas.openxmlformats.org/drawingml/2006/main">
            <a:pPr marL="0" indent="0" algn="ctr">
              <a:buNone/>
            </a:pPr>
            <a:r>
              <a:rPr sz="1030">
                <a:solidFill>
                  <a:srgbClr val="334155"/>
                </a:solidFill>
              </a:rPr>
              <a:t>al elegir placement</a:t>
            </a:r>
            <a:endParaRPr sz="103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E55B2A5-D3A9-4904-BE2D-0A19E5F2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72768"/>
            <a:ext cx="22402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160">
            <a:solidFill>
              <a:srgbClr val="FEF3C7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B8BFB15-7426-41BE-BD7C-61A5E3A1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664208"/>
            <a:ext cx="20208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Tracing / observabilidad</a:t>
            </a:r>
            <a:endParaRPr sz="11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C138E21-DC01-40E7-B2E3-23CF267C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221992"/>
            <a:ext cx="2011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>
                <a:solidFill>
                  <a:srgbClr val="334155"/>
                </a:solidFill>
              </a:rPr>
              <a:t>Captura eventos</a:t>
            </a:r>
            <a:endParaRPr sz="1030"/>
          </a:p>
          <a:p xmlns:a="http://schemas.openxmlformats.org/drawingml/2006/main">
            <a:pPr marL="0" indent="0" algn="ctr">
              <a:buNone/>
            </a:pPr>
            <a:r>
              <a:rPr sz="1030">
                <a:solidFill>
                  <a:srgbClr val="334155"/>
                </a:solidFill>
              </a:rPr>
              <a:t>de I/O y transferencia</a:t>
            </a:r>
            <a:endParaRPr sz="10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CA61D43-E2A8-4BD4-B679-A0A09802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572768"/>
            <a:ext cx="22402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160">
            <a:solidFill>
              <a:srgbClr val="EDE9F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028E93A-BB07-4D01-9053-ADCF8E16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1664208"/>
            <a:ext cx="20208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Métricas de workflow</a:t>
            </a:r>
            <a:endParaRPr sz="112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E962264-852D-4E67-82FA-B7609AFB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2221992"/>
            <a:ext cx="2011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>
                <a:solidFill>
                  <a:srgbClr val="334155"/>
                </a:solidFill>
              </a:rPr>
              <a:t>Evalúa rutas críticas</a:t>
            </a:r>
            <a:endParaRPr sz="1030"/>
          </a:p>
          <a:p xmlns:a="http://schemas.openxmlformats.org/drawingml/2006/main">
            <a:pPr marL="0" indent="0" algn="ctr">
              <a:buNone/>
            </a:pPr>
            <a:r>
              <a:rPr sz="1030">
                <a:solidFill>
                  <a:srgbClr val="334155"/>
                </a:solidFill>
              </a:rPr>
              <a:t>o eficiencia general</a:t>
            </a:r>
            <a:endParaRPr sz="103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6F46766-7352-4C82-A3A4-29478EC1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5760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C8E036-C0F0-4D1E-9070-781AA8A6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10128"/>
            <a:ext cx="4023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91C1C"/>
                </a:solidFill>
              </a:rPr>
              <a:t>Brecha que aborda la tesis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5BFCCBA-C99A-4133-9F0F-E644F579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60520"/>
            <a:ext cx="85953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160">
            <a:solidFill>
              <a:srgbClr val="FCA5A5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6D7F68D-2B34-4D4F-9062-A934DADF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288536"/>
            <a:ext cx="8266176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En los trabajos revisados no encontramos una definición con esta semántica: necesidad bajo el placement observado frente a movimiento científico confirmado con cobertura explícita.</a:t>
            </a:r>
            <a:endParaRPr sz="11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069448D-95A6-43E7-9F53-1C22FC80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144768"/>
            <a:ext cx="10698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>
                <a:solidFill>
                  <a:srgbClr val="64748B"/>
                </a:solidFill>
              </a:rPr>
              <a:t>Referencias: Deelman et al. (2015); Pietri &amp; Sakellariou (2018); Nguyen &amp; Karavanic (2021); DFTracer/LLNL (2024).</a:t>
            </a:r>
            <a:endParaRPr sz="68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98162A2-7508-499E-BF9D-871116FC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880463E-31A2-4B0A-9BCA-80FC38C0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Estado del arte y brecha</a:t>
            </a:r>
            <a:endParaRPr sz="7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A9ACF1E-949D-4D20-9DA1-9C64FBDB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8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6426343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12CAA81-3429-4F2E-BE12-60FC9B40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969AF3F-9DD1-4626-9DDA-ADDB1AE8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INFRAESTRUCTURA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9F921EC-BC49-4A2B-8ACB-172D4088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8. Infraestructura y modelo de ejecución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A51D918-A9A6-46E6-9A6C-DC7E52A1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107899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334155"/>
                </a:solidFill>
                <a:latin typeface="Aptos"/>
                <a:ea typeface="Aptos"/>
                <a:cs typeface="Aptos"/>
              </a:rPr>
              <a:t>El modelo condorio usa un host de envío y workers; el Analyzer consume artefactos preservados y HTCondor history.</a:t>
            </a:r>
            <a:endParaRPr sz="14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D56D0D7-6EE5-4A76-B349-0908F6C9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2C0A894-A951-4CE8-B515-06B474F8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4288"/>
            <a:ext cx="914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2A43"/>
                </a:solidFill>
              </a:rPr>
              <a:t>WMS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D9D50E3-BE4E-47EC-8DD5-CC90BD82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27248"/>
            <a:ext cx="1554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4748B"/>
                </a:solidFill>
              </a:rPr>
              <a:t>Pegasus 5.1.2</a:t>
            </a:r>
            <a:endParaRPr sz="9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913EA1D-A4CE-40ED-A7E9-5E2D74AB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51460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B42A3D-CF43-4993-A43B-53E1205E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57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D447441-0B95-4C74-889E-57F3BC8F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04288"/>
            <a:ext cx="914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2A43"/>
                </a:solidFill>
              </a:rPr>
              <a:t>Master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7D90F3-78CB-4201-93CC-5B91E283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127248"/>
            <a:ext cx="1554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4748B"/>
                </a:solidFill>
              </a:rPr>
              <a:t>Ubuntu 26.04</a:t>
            </a:r>
            <a:endParaRPr sz="9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58978FE-65CB-4BFA-83BE-9006F4EC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51460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E1CE64F-AB19-4187-AB83-DF02ED53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057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33C710-90B4-448A-AE88-8EFD4744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304288"/>
            <a:ext cx="914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2A43"/>
                </a:solidFill>
              </a:rPr>
              <a:t>Pool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27D1079-91E3-41F2-BB51-282BFFF8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27248"/>
            <a:ext cx="1554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4748B"/>
                </a:solidFill>
              </a:rPr>
              <a:t>HTCondor 25.12.2</a:t>
            </a:r>
            <a:endParaRPr sz="9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120EF5A-8BD5-4828-BC71-252F9DA1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51460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5AFBA4A-13B2-491F-9712-8BC3DD67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057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1955D45-B3FC-4D46-BD41-11461705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304288"/>
            <a:ext cx="914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2A43"/>
                </a:solidFill>
              </a:rPr>
              <a:t>Workers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9B74F1E-51F5-41BE-B5A4-A4AEAB1F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127248"/>
            <a:ext cx="1554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4748B"/>
                </a:solidFill>
              </a:rPr>
              <a:t>Sin ads/slots al capturar</a:t>
            </a:r>
            <a:endParaRPr sz="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53FF9D3-3E58-4650-9006-05F24276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6E09C03-80F6-4B2B-A4BA-D9E045CB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057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5240">
            <a:solidFill>
              <a:srgbClr val="102A43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E2BC3D3-39B6-4B51-9E08-19065213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304288"/>
            <a:ext cx="914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</a:rPr>
              <a:t>History</a:t>
            </a:r>
            <a:endParaRPr sz="16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02F83BE-D5A5-4C6F-89C2-1E139150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127248"/>
            <a:ext cx="1554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4748B"/>
                </a:solidFill>
              </a:rPr>
              <a:t>Evidencia por job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2D3960E-025B-4C86-9C3B-280260C9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34840"/>
            <a:ext cx="10058400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7F8C3AF-99BA-49BB-A878-0FA13FA6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562856"/>
            <a:ext cx="972921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Captura 03-10-2026: master Ubuntu 26.04, Pegasus 5.1.2, HTCondor 25.12.2, 1 vCPU y 1,671,811,072 B RAM. El entorno previsto incluye pegasus-worker1 (.137) y pegasus-worker2 (.139), mapeados en /etc/hosts; ambos sin respuesta a ping ni SSH/22, y sin anuncios startd/slots. Falta determinar disponibilidad y capturar sus recursos y versiones.</a:t>
            </a:r>
            <a:endParaRPr sz="112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161BB2C-B93E-4D76-908B-AC8F1EA9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9F183E1-6F9B-4E3A-85E2-6258297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Infraestructura y execution model</a:t>
            </a:r>
            <a:endParaRPr sz="7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46229AB-6D40-496A-A238-CBBF246D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9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7549049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02D99ED-F9F7-40B8-84D6-F629F98B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89215D2-FFF5-4484-80E5-5996AA92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MÉTRICA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298EB3D-732F-473B-B629-4797450B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9. Tres cantidades que no deben confundirse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8AA8ED3-8057-439D-BA94-7DAB6CDD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72768"/>
            <a:ext cx="342900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C791076-C681-4A30-A0BF-BC73D6E2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72768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7764B3C-BA7E-4BD5-B6FA-2BC1A77D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1907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563EB"/>
                </a:solidFill>
              </a:rPr>
              <a:t>RequiredMovement</a:t>
            </a:r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AAA5EF-FC2E-4ADB-9657-11533C1F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A43"/>
                </a:solidFill>
              </a:rPr>
              <a:t>M_req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FA38F5F-8678-45D1-804B-AD6E38E4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50008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mínimo científico necesario bajo el placement observado</a:t>
            </a:r>
            <a:endParaRPr sz="8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FEF7E11-7E0A-42A9-8F2F-955072B6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72768"/>
            <a:ext cx="342900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11884D9-D771-404F-992C-74615D43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72768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B9A14FA-6601-4CF4-A41A-ABE49D79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907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59E0B"/>
                </a:solidFill>
              </a:rPr>
              <a:t>DeclaredMovement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AE28393-2E69-4DB6-9A94-538E93DE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1168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A43"/>
                </a:solidFill>
              </a:rPr>
              <a:t>M_rec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37DD30E-068F-4375-A7E8-745A534D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50008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payload científico declarado en los contratos de transferencia</a:t>
            </a:r>
            <a:endParaRPr sz="8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2279576-D30A-408E-B885-216619F1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2768"/>
            <a:ext cx="342900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F561EAF-121E-4FD6-9838-B10767FC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2768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2700">
            <a:solidFill>
              <a:srgbClr val="16A34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07B6703-0C44-4A00-B3D0-99869FE0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1907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6A34A"/>
                </a:solidFill>
              </a:rPr>
              <a:t>ObservedMovement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1E8071F-12D9-4441-AA65-6C423673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01168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A43"/>
                </a:solidFill>
              </a:rPr>
              <a:t>M_obs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AAD5F11-96BB-4043-87FA-F99567A6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50008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movimientos declarados confirmados por evidencia suficiente</a:t>
            </a:r>
            <a:endParaRPr sz="8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547E4AC-4BE2-46C0-8470-6C77DCE0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01568"/>
            <a:ext cx="32004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CC6DDE2-A937-4BF5-BB14-6AB11EC9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493008"/>
            <a:ext cx="29809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Coverage = confirmados / declarados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9F9D0D3-F44A-4969-8055-410BFBD3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401568"/>
            <a:ext cx="37490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D24F98E-A256-40AF-A4CA-45768390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493008"/>
            <a:ext cx="35295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DME = RequiredMovement / ObservedMovement</a:t>
            </a:r>
            <a:endParaRPr sz="13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5807416-CF28-4A75-B793-56B58DF6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1568"/>
            <a:ext cx="24688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160">
            <a:solidFill>
              <a:srgbClr val="B91C1C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3D53E0E-F0A1-4E3D-AF61-E89673FD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493008"/>
            <a:ext cx="22494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Si Coverage &lt; 1 → DME indeterminado</a:t>
            </a:r>
            <a:endParaRPr sz="11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D40878E-89F8-4F25-B658-38151CB3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54880"/>
            <a:ext cx="100584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8C99235-7761-49AF-9CD5-A444B068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882896"/>
            <a:ext cx="972921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Interpretación: DME=1 significa que el movimiento científico confirmado no excede el mínimo requerido para ese placement. DME&lt;1 indica exceso confirmado respecto a ese lower bound; no implica por sí solo mejor o peor scheduler.</a:t>
            </a:r>
            <a:endParaRPr sz="11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E7DDAEC-706C-4DB2-B8C0-74FF5289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CE81BAD-300D-4601-AA92-7EA1D82A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Métrica · definiciones</a:t>
            </a:r>
            <a:endParaRPr sz="7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9C8AC41-BEAC-408A-B0C3-75AC6008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1733161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9815295-B2DD-40F7-8F72-31C193AC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12700">
            <a:solidFill>
              <a:srgbClr val="B91C1C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319875-7DED-4723-8BFE-BC95F23E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MÉTRICA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2D4577C-5130-40AA-9AFE-CE0827EE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10. Validez: evidencia antes que número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8708916-67DB-4AFF-ABAA-7630AA9C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72768"/>
            <a:ext cx="192024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5958488-674A-41E6-BB9C-D8D2007B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664208"/>
            <a:ext cx="1700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Mismos archivos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D871D99-FE32-4E41-92D7-4635CAC3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627632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</a:rPr>
              <a:t>RequiredMovement y ObservedMovement deben usar la misma frontera científica.</a:t>
            </a:r>
            <a:endParaRPr sz="112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3AFFBF9-386B-41CA-81D0-37257DF6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192024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216CF1D-0170-467D-AB9E-8F5A3D5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64208"/>
            <a:ext cx="1700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Mismas ubicaciones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9CAC221-C0DD-4C7A-8C3F-34C8C8A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627632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</a:rPr>
              <a:t>El origen/destino lógico y la ubicación observada deben ser comparables.</a:t>
            </a:r>
            <a:endParaRPr sz="11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1B2D443-694E-47CA-BF1E-DB0622E3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57600"/>
            <a:ext cx="192024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1585393-01FD-48F1-8EA7-00E4BBE2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49040"/>
            <a:ext cx="1700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Intento separable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E8B43AB-A738-4354-AA9E-A7015225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712464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</a:rPr>
              <a:t>Retries ambiguos no se colapsan silenciosamente.</a:t>
            </a:r>
            <a:endParaRPr sz="11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B3487F1-1B39-4DD5-A6B3-C1A51298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192024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160">
            <a:solidFill>
              <a:srgbClr val="B91C1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C06EBE5-467B-4A76-97E6-35D3632B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749040"/>
            <a:ext cx="1700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Coverage = 1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32E6B4F-DC2C-4F79-BE86-9EB84E01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712464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</a:rPr>
              <a:t>Si falta confirmación, ObservedMovement completo y DME son N/A.</a:t>
            </a:r>
            <a:endParaRPr sz="11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7CAD7EC-A803-4DD7-BEED-4A34CF36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486400"/>
            <a:ext cx="7315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12700">
            <a:solidFill>
              <a:srgbClr val="B91C1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2CF30BA-30B8-453B-8C70-FB41D42C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522976"/>
            <a:ext cx="8823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La ausencia de evidencia nunca equivale a cero bytes.</a:t>
            </a:r>
            <a:endParaRPr sz="20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5AA0DF2-DC2C-4063-9CB8-83C34846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C5D4B64-82AF-4722-BD8C-DC4E0857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Métrica · precondiciones</a:t>
            </a:r>
            <a:endParaRPr sz="7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474E5B3-9DF2-4F82-A75B-6884F0EB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0974100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FE11CB-5111-4B91-AEFA-B866EFFA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22D7E3-267D-4267-8E83-6421864F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METODOLOGÍA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14F3248-D021-4CFF-A23B-CAEB3145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11. Metodología de investigación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E646021-C8E8-402C-B604-28B24FEC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107899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334155"/>
                </a:solidFill>
                <a:latin typeface="Aptos"/>
                <a:ea typeface="Aptos"/>
                <a:cs typeface="Aptos"/>
              </a:rPr>
              <a:t>El método conecta la brecha, la formalización de la métrica, su operacionalización y una validación controlada.</a:t>
            </a:r>
            <a:endParaRPr sz="14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0C60B90-E9AE-4A25-8DB1-31AF11D3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164592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160">
            <a:solidFill>
              <a:srgbClr val="BBF7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D1626-7B1C-4DA4-AF91-A3C06336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057400"/>
            <a:ext cx="14264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Problema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859C694-3E9C-48FD-ACF2-3FC0E706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4748B"/>
                </a:solidFill>
              </a:rPr>
              <a:t>brecha y alcance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5FA6DA9-364E-4758-A3C8-7F80C780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249424"/>
            <a:ext cx="758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solid"/>
            <a:headEnd type="none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3574673-D04C-4E2E-A49D-BF7369D3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65960"/>
            <a:ext cx="164592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160">
            <a:solidFill>
              <a:srgbClr val="BBF7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3A8BF68-FB99-4D57-9FAD-36A2ACD1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2057400"/>
            <a:ext cx="14264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Formalización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31607D8-3C74-4A43-A194-85BB3E43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69748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4748B"/>
                </a:solidFill>
              </a:rPr>
              <a:t>archivos y métricas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12C06FE-A9CE-48CF-B9CF-6C6CC46F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249424"/>
            <a:ext cx="758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solid"/>
            <a:headEnd type="none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7D95489-96C4-40FF-8F40-AA99BBB0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5960"/>
            <a:ext cx="164592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160">
            <a:solidFill>
              <a:srgbClr val="BBF7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EFF540B-0F01-4C62-98F0-94D17618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057400"/>
            <a:ext cx="14264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Analyzer v1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4572B4-609F-4B8A-BB59-752EA13E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9748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4748B"/>
                </a:solidFill>
              </a:rPr>
              <a:t>operacionalización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F3E928F-AF4D-46BE-A471-5389C97E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249424"/>
            <a:ext cx="758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4748B"/>
            </a:solidFill>
            <a:prstDash val="solid"/>
            <a:headEnd type="none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70648D7-CA58-420E-BE5B-D3865BD5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5960"/>
            <a:ext cx="164592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9919868-6DBD-4433-B837-0F68D402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057400"/>
            <a:ext cx="14264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Validación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D5F0667-9C26-4AC6-9943-89866916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69748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4748B"/>
                </a:solidFill>
              </a:rPr>
              <a:t>patrones y oráculos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EBB2CB2-839F-473E-B900-4F43F805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978408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7A812B-123A-4A2D-A881-475A985B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4014216"/>
            <a:ext cx="94548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evaluación contrasta la implementación con oráculos y verifica cobertura y precondiciones bajo escenarios controlados. El placement es un factor experimental, no una comparación de schedulers.</a:t>
            </a:r>
            <a:endParaRPr sz="11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D9B3B13-6206-4779-BE38-82E9D10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138928"/>
            <a:ext cx="77724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160">
            <a:solidFill>
              <a:srgbClr val="FCD34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CB5AF33-323A-49B9-879B-7365446F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5230368"/>
            <a:ext cx="755294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Estado 03-10-2026: Gate I CLOSED; I14 y Gate V pendientes.</a:t>
            </a:r>
            <a:endParaRPr sz="12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95CB932-9EB0-481C-A828-67E56784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EE0C23B-512D-4920-B178-0C8D273B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Metodología</a:t>
            </a:r>
            <a:endParaRPr sz="7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ECA5B7B-4FD4-4632-8C62-81AC9E27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7816069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8628D6A-8B4D-4058-9C5F-ADACF2F8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D594C7-30B9-4BF3-BD9D-EE62D29E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ARQUITECTURA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69C828C-BA23-43FE-9BAA-D8B4835F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12. Arquitectura de Analyzer v1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ACD08A6-F0CE-4BD1-98B9-7EA8284D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1417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261A4D-4ACB-4599-B4C8-978B7A50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38528"/>
            <a:ext cx="119786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Fuentes</a:t>
            </a:r>
            <a:endParaRPr sz="11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DC23234-761E-4BAA-BBF2-991E1EBF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8608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64748B"/>
                </a:solidFill>
              </a:rPr>
              <a:t>workflow, .sub/.meta, DAG, history</a:t>
            </a:r>
            <a:endParaRPr sz="8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83187FD-E04D-41B7-9D94-81FA2579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112264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30BE791-1D0F-4D9F-91DC-E7644B5E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847088"/>
            <a:ext cx="1417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2C9CB0B-A78E-4311-9879-F9BC0387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38528"/>
            <a:ext cx="119786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Parsing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3A031D8-C9B9-4CC5-ABFD-903A941B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578608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64748B"/>
                </a:solidFill>
              </a:rPr>
              <a:t>valores crudos y provenance</a:t>
            </a:r>
            <a:endParaRPr sz="83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3BE13B5-88C9-4793-859F-C5593A44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2112264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7B50815-A028-4524-837C-2E557B64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1847088"/>
            <a:ext cx="1417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33C9C9C-1CE7-4680-8B72-AC6610A5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38528"/>
            <a:ext cx="119786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Identidad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B732A29-9E3F-47D2-BDEE-9B1CEF6C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2578608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64748B"/>
                </a:solidFill>
              </a:rPr>
              <a:t>jobs, tasks, files, locations</a:t>
            </a:r>
            <a:endParaRPr sz="83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A94715-78AD-458A-B245-43B25972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576" y="2112264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707FCD0-98E8-4627-BA86-AECA81DC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847088"/>
            <a:ext cx="1417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52A1EBB-3062-4203-8C29-D4406740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938528"/>
            <a:ext cx="119786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Modelo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B5A9B82-2007-4A7E-9932-16AA501E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2578608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64748B"/>
                </a:solidFill>
              </a:rPr>
              <a:t>adapter condorio + dataflow</a:t>
            </a:r>
            <a:endParaRPr sz="83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6D34FFE-1BA7-45CE-9CFD-96EA075E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2112264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0851D24-CD5D-46D6-B516-C27F5E01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847088"/>
            <a:ext cx="1417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E1D7BA5-1C24-4AB5-A14E-CA3CBED4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1938528"/>
            <a:ext cx="119786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Movimientos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60426E7-A756-4689-A611-25F77375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578608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64748B"/>
                </a:solidFill>
              </a:rPr>
              <a:t>M_req requerido; M_rec declarado</a:t>
            </a:r>
            <a:endParaRPr sz="83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35C0EB3-2B03-4AF7-BE59-C945E287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112264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9BB2E4-0FA3-4717-8EC2-B28934EE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847088"/>
            <a:ext cx="14173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0160">
            <a:solidFill>
              <a:srgbClr val="102A43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AB3F298-6547-40C0-B7E0-BD25B1A6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1938528"/>
            <a:ext cx="119786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9891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+ métricas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EE26CEE-4366-4DEC-AFB2-54ECF3C3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578608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64748B"/>
                </a:solidFill>
              </a:rPr>
              <a:t>reconciliation, Coverage, M_obs y DME</a:t>
            </a:r>
            <a:endParaRPr sz="83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A6BE654-0DC9-4266-8130-977C82CE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05072"/>
            <a:ext cx="480060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3CD6BB5-A094-4DE5-A030-0580AC02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133088"/>
            <a:ext cx="44714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Offline: la CLI recibe los artefactos del run y un archivo history explícito. No consulta el pool en vivo.</a:t>
            </a:r>
            <a:endParaRPr sz="112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EBF559B-5D1C-40B1-A715-680FD9F6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05072"/>
            <a:ext cx="480060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94EF01B-C614-4D0D-9236-9192F548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133088"/>
            <a:ext cx="44714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98689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Fail-closed: un modelo no soportado o evidencia ambigua/incompleta bloquea métricas dependientes. JSON y TSV conservan diagnósticos y procedencia.</a:t>
            </a:r>
            <a:endParaRPr sz="112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5676500-49E0-4E61-AA20-A57377FF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43B26B7-9B63-4673-99CE-920A4156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Arquitectura implementada · Analyzer v1</a:t>
            </a:r>
            <a:endParaRPr sz="7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EB71056-85DA-4F36-86F0-B4694660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0524624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48D2E1-91A9-4FDF-B261-A5520F53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12700">
            <a:solidFill>
              <a:srgbClr val="6D28D9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A74A36-A20D-4E70-85BD-9588FA05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VALIDACIÓN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37065F9-F0D2-458F-8D80-F0056133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13. Diseño de validación: patrones con oráculos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4E793BF-1CE8-415D-8DD7-6D87CB7E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107899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validación no debe depender de intuición: cada patrón debe tener un resultado esperado y una evidencia preservada.</a:t>
            </a:r>
            <a:endParaRPr sz="14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87FAD1C-5A3C-4A85-998B-623EDCCF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16916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160">
            <a:solidFill>
              <a:srgbClr val="DDD6F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C63311-8EA0-4A2A-AE50-5CEF2327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65960"/>
            <a:ext cx="14721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Process</a:t>
            </a:r>
            <a:endParaRPr sz="11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B282FC8-30FD-44F1-B0C1-C6356953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2032"/>
            <a:ext cx="1600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64748B"/>
                </a:solidFill>
              </a:rPr>
              <a:t>una tarea</a:t>
            </a:r>
            <a:endParaRPr sz="920"/>
          </a:p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64748B"/>
                </a:solidFill>
              </a:rPr>
              <a:t>input + output</a:t>
            </a:r>
            <a:endParaRPr sz="92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1358119-A193-4DF6-A592-667A1EAF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74520"/>
            <a:ext cx="16916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160">
            <a:solidFill>
              <a:srgbClr val="DDD6F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3778E59-EF2E-4866-8D66-95AB496A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1965960"/>
            <a:ext cx="14721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Pipeline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52AE2E7-3E75-4A3F-8AB9-4CC6D441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42032"/>
            <a:ext cx="1600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64748B"/>
                </a:solidFill>
              </a:rPr>
              <a:t>cadena</a:t>
            </a:r>
            <a:endParaRPr sz="920"/>
          </a:p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64748B"/>
                </a:solidFill>
              </a:rPr>
              <a:t>intermedios</a:t>
            </a:r>
            <a:endParaRPr sz="9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5BF3827-69D2-449C-B1D0-E86A5C1F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74520"/>
            <a:ext cx="16916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160">
            <a:solidFill>
              <a:srgbClr val="DDD6F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E0C1D4-42F5-4212-836C-BA4F3834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1965960"/>
            <a:ext cx="14721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Distribution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9F34E8C-BFAB-4F5A-9F5A-E52EBDBB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542032"/>
            <a:ext cx="1600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64748B"/>
                </a:solidFill>
              </a:rPr>
              <a:t>fan-out</a:t>
            </a:r>
            <a:endParaRPr sz="920"/>
          </a:p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64748B"/>
                </a:solidFill>
              </a:rPr>
              <a:t>varios consumidores</a:t>
            </a:r>
            <a:endParaRPr sz="9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8EBA23A-EBE9-4955-B510-07B85D02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874520"/>
            <a:ext cx="16916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160">
            <a:solidFill>
              <a:srgbClr val="DDD6F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EBC1A00-BDF9-45CC-BCAF-B910303E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965960"/>
            <a:ext cx="14721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Aggregation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860CB77-D221-4E00-AB89-6F09D5E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542032"/>
            <a:ext cx="1600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64748B"/>
                </a:solidFill>
              </a:rPr>
              <a:t>fan-in</a:t>
            </a:r>
            <a:endParaRPr sz="920"/>
          </a:p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64748B"/>
                </a:solidFill>
              </a:rPr>
              <a:t>varios productores</a:t>
            </a:r>
            <a:endParaRPr sz="9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F978FBD-EE59-444F-9596-A4B4C56C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874520"/>
            <a:ext cx="16916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160">
            <a:solidFill>
              <a:srgbClr val="DDD6F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89904A-ECBD-45CA-B97F-E6350AE0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1965960"/>
            <a:ext cx="14721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Redistribution</a:t>
            </a:r>
            <a:endParaRPr sz="11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0B3A86F-2995-47DB-9F0F-608CF89C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542032"/>
            <a:ext cx="1600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64748B"/>
                </a:solidFill>
              </a:rPr>
              <a:t>reacomodo</a:t>
            </a:r>
            <a:endParaRPr sz="920"/>
          </a:p>
          <a:p xmlns:a="http://schemas.openxmlformats.org/drawingml/2006/main">
            <a:pPr marL="0" indent="0" algn="ctr">
              <a:buNone/>
            </a:pPr>
            <a:r>
              <a:rPr sz="920">
                <a:solidFill>
                  <a:srgbClr val="64748B"/>
                </a:solidFill>
              </a:rPr>
              <a:t>de particiones</a:t>
            </a:r>
            <a:endParaRPr sz="92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596DD46-536C-48B8-888D-F9AA18EE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858768"/>
            <a:ext cx="804672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CA86320-83EE-4F4B-A5BB-437D09FD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3950208"/>
            <a:ext cx="782726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Placements controlados: SAME · BALANCED · CROSS</a:t>
            </a:r>
            <a:endParaRPr sz="13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FE72714-C194-47C2-826E-ADE7C014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919472"/>
            <a:ext cx="781812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5223BEA-A79C-4EF2-BD77-BA8C8BFF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5047488"/>
            <a:ext cx="748893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Los oráculos separan dos preguntas: cuánto movimiento era requerido por el dataflow y cuánto movimiento científico quedó confirmado por evidencia.</a:t>
            </a:r>
            <a:endParaRPr sz="112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7C18468-7FA2-456B-A803-CFAC8D66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58BB60C-87FB-4F69-BA0F-C2A2362F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Validación · diseño experimental</a:t>
            </a:r>
            <a:endParaRPr sz="7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E27FC07-D116-4699-B02B-FCD9F75B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18283818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E4924E6-691E-4710-9E5E-DDE77DA2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2700">
            <a:solidFill>
              <a:srgbClr val="16A3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9809D1-E96A-4811-941B-75D86C30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EVIDENCIA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5F9BD3-A049-48B4-A2B1-9CDC3D60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14. TransferEvidence y reconciliación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E7BBAFD-EAA4-4687-B648-117EDFD6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72768"/>
            <a:ext cx="338328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5BEA0AF-11C4-41F6-9825-24297D92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72768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12700">
            <a:solidFill>
              <a:srgbClr val="16A34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9F3FCF6-A57F-493C-B035-25EB5D69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1907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6A34A"/>
                </a:solidFill>
              </a:rPr>
              <a:t>JobTransferManifest</a:t>
            </a:r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0DC2810-D386-4AFC-A3D5-7B708419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0"/>
            <a:ext cx="3063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A43"/>
                </a:solidFill>
              </a:rPr>
              <a:t>Payload declarado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1E7C43C-93D5-43F1-AC3C-5DCE0E7A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50008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Archivos esperados por job y dirección</a:t>
            </a:r>
            <a:endParaRPr sz="8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7C00166-F711-427E-9E35-896F7F98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72768"/>
            <a:ext cx="338328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5F95C71-3BAB-4337-96A3-D6EB8352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72768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7873AE4-2398-422B-A90A-780B165A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71907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563EB"/>
                </a:solidFill>
              </a:rPr>
              <a:t>TransferEvidence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E9AB14A-A678-4FDA-83F9-860118A8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011680"/>
            <a:ext cx="3063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A43"/>
                </a:solidFill>
              </a:rPr>
              <a:t>HTCondor history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E28A2C4-1D97-49FA-90E3-B1A31EAB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50008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Worker, método, conteos, bytes y estado</a:t>
            </a:r>
            <a:endParaRPr sz="8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C95549B-6FFF-445C-9008-0AD92E64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572768"/>
            <a:ext cx="338328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8783526-9F9A-4622-A4CF-610E15A1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572768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12700">
            <a:solidFill>
              <a:srgbClr val="6D28D9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2B4D845-7C3B-493B-B0B4-72A705E1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71907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D28D9"/>
                </a:solidFill>
              </a:rPr>
              <a:t>MovementVerification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6732BB7-30D4-4E66-86C0-A0CB627E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011680"/>
            <a:ext cx="3063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A43"/>
                </a:solidFill>
              </a:rPr>
              <a:t>Confirmed / insufficient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AF52F02-AE48-4344-923F-2EED13A4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350008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4748B"/>
                </a:solidFill>
              </a:rPr>
              <a:t>Nivel, modo, razón y ocurrencias confirmadas</a:t>
            </a:r>
            <a:endParaRPr sz="8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6FC9E63-1916-4F66-B7BA-06C1203C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3552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A43"/>
                </a:solidFill>
              </a:rPr>
              <a:t>Niveles de evidencia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D40BC46-E216-4CE7-A159-1EC9639E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6472"/>
            <a:ext cx="1051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64748B"/>
                </a:solidFill>
              </a:rPr>
              <a:t>FILE-LEVEL</a:t>
            </a:r>
            <a:endParaRPr sz="8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323A713-76F7-42CA-AED4-6BE0742F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20955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4763">
            <a:solidFill>
              <a:srgbClr val="16A34A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439A820-F9FE-41DF-8C87-978A892A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20955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D0B3BC7-D978-4936-9CCB-EA099F6D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49040"/>
            <a:ext cx="85725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4748B"/>
                </a:solidFill>
              </a:rPr>
              <a:t>Identidad y evidencia confirman la ocurrencia</a:t>
            </a:r>
            <a:endParaRPr sz="82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5E58F1A-B296-402B-982A-543850A4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5384"/>
            <a:ext cx="1051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64748B"/>
                </a:solidFill>
              </a:rPr>
              <a:t>JOB-LEVEL</a:t>
            </a:r>
            <a:endParaRPr sz="8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31FD5C7-8D89-434C-852E-351BD862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87952"/>
            <a:ext cx="20955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4763">
            <a:solidFill>
              <a:srgbClr val="2563EB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F3FD2F6-7850-4147-BDB9-67A3131C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87952"/>
            <a:ext cx="20955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20CD56C-9BA7-4693-93DC-D7C387EF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87952"/>
            <a:ext cx="85725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4748B"/>
                </a:solidFill>
              </a:rPr>
              <a:t>Manifest completo y job exitoso reconciliado</a:t>
            </a:r>
            <a:endParaRPr sz="82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3CE8E15-271E-4E64-8CFB-E30BD614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54296"/>
            <a:ext cx="1051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64748B"/>
                </a:solidFill>
              </a:rPr>
              <a:t>INSUFFICIENT</a:t>
            </a:r>
            <a:endParaRPr sz="8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E661A012-91EF-4E2F-9724-688959FD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26864"/>
            <a:ext cx="20955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4763">
            <a:solidFill>
              <a:srgbClr val="DC2626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A472481-46AE-4D5A-9279-5CC85667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26864"/>
            <a:ext cx="20955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B3ED85E-A36B-4DAC-BCDF-DB9295AA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26864"/>
            <a:ext cx="85725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64748B"/>
                </a:solidFill>
              </a:rPr>
              <a:t>Intento ambiguo, transferencia parcial o método no admitido</a:t>
            </a:r>
            <a:endParaRPr sz="82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1B8D981-E314-4F67-A847-C2C50111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4960"/>
            <a:ext cx="99669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160">
            <a:solidFill>
              <a:srgbClr val="FCD34D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F44F8A2-149A-4BEF-A577-C696288D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467350"/>
            <a:ext cx="9637776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Coverage cuenta ocurrencias científicas, también las de 0 B. Si Coverage &lt; 1, M_obs y DME son indeterminadas. No se reparten bytes agregados proporcionalmente.</a:t>
            </a:r>
            <a:endParaRPr sz="112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F9FFAFA-8E70-4A0B-92D9-635B22DD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D822C70-56BB-490F-B589-0BF36752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Contrato de evidencia v1</a:t>
            </a:r>
            <a:endParaRPr sz="7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D59487E-AEF5-4AC9-8D05-7F4C5032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48092743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ACF0747-ECB6-4DDC-A39F-48182091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BDCA23-3878-49EC-A298-84A9EF7C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MÉTRICA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E04863-0065-4C18-B6D5-CF91B388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15. Coverage, ObservedMovement y DME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A6899F7-68C3-4E9B-9CCA-6A5C0B47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08760"/>
            <a:ext cx="2011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93CA76D-58F0-4E9B-9726-088E1C07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600200"/>
            <a:ext cx="17922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M₍req₎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CBAFD58-A807-471A-9220-BF8B3D16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554480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334155"/>
                </a:solidFill>
              </a:rPr>
              <a:t>M₍req₎ = Σ_f s(f) · |L₍req₎(f) \ {L₀(f)}|</a:t>
            </a:r>
            <a:endParaRPr sz="107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79363F3-03FF-4586-A67A-7A9AB7D3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2011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C37FCBB-2789-4748-ADC5-165FAAC2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600200"/>
            <a:ext cx="17922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Coverage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D55D1EE-0191-459A-8C44-59ABC5A2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554480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334155"/>
                </a:solidFill>
              </a:rPr>
              <a:t>|C₍sci₎| / |D₍sci₎|</a:t>
            </a:r>
            <a:endParaRPr sz="107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AE81492-A2A5-4471-B5FC-978F2068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57600"/>
            <a:ext cx="2011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F65AEE9-97E8-43BC-9836-62A5BEF2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49040"/>
            <a:ext cx="17922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M₍obs₎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C49E981-65FB-4E41-92C7-6AC0053E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703320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334155"/>
                </a:solidFill>
              </a:rPr>
              <a:t>M₍obs₎ = Σₘ∈C₍sci₎ s(file(m))</a:t>
            </a:r>
            <a:endParaRPr sz="107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C97FA46-906D-4D62-9AE5-6DC727E4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57600"/>
            <a:ext cx="2011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F766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43A7011-6447-46A8-B71A-4205F803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749040"/>
            <a:ext cx="17922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DME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2EB9769-5676-46C4-B4D9-70D66D6B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703320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70">
                <a:solidFill>
                  <a:srgbClr val="334155"/>
                </a:solidFill>
              </a:rPr>
              <a:t>M₍req₎ / M₍obs₎ si 0 &lt; M₍req₎ ≤ M₍obs₎</a:t>
            </a:r>
            <a:endParaRPr sz="107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18793D-15BE-4B90-9427-EAA70CDB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486400"/>
            <a:ext cx="8869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447AEDE-3724-4978-825A-887B26D5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5614416"/>
            <a:ext cx="85404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8464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DME se informa con Coverage = 1. Si Coverage &lt; 1, M₍obs₎ y DME son indeterminadas. Casos M₍req₎ = 0: N/A si M₍obs₎ = 0; 0 si M₍obs₎ &gt; 0. Si M₍obs₎ &lt; M₍req₎, hay inconsistencia.</a:t>
            </a:r>
            <a:endParaRPr sz="112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62FE9E1-492D-4DE4-B2CB-5EA7E578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223AEE8-7E1A-4856-B758-53A68F5A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Métrica · notación</a:t>
            </a:r>
            <a:endParaRPr sz="7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9E8E5D-7E74-495B-AE5E-4EC00051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6769499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A10433-FCEF-4EA7-84E2-8107C57A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12700">
            <a:solidFill>
              <a:srgbClr val="B91C1C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3E8A11-88C6-4A43-8916-E45F9BEE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ALCANCE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C04FEE-1F3C-4EDA-BFFD-E503AA45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16. Limitaciones y riesgos metodológicos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50DE6B1-4541-4758-9F84-6CFDC364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530352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buSzPct val="100000"/>
              <a:buChar char="•"/>
            </a:pPr>
            <a:r>
              <a:rPr sz="1300">
                <a:solidFill>
                  <a:srgbClr val="334155"/>
                </a:solidFill>
                <a:latin typeface="Aptos"/>
                <a:ea typeface="Aptos"/>
                <a:cs typeface="Aptos"/>
              </a:rPr>
              <a:t>Execution model v1 limitado a Pegasus 5.x + condorio + HTCondor vanilla con file transfer administrado por HTCondor.</a:t>
            </a:r>
            <a:endParaRPr sz="1300"/>
          </a:p>
          <a:p xmlns:a="http://schemas.openxmlformats.org/drawingml/2006/main">
            <a:pPr marL="203200" indent="-203200">
              <a:buSzPct val="100000"/>
              <a:buChar char="•"/>
            </a:pPr>
            <a:r>
              <a:rPr sz="130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métrica no estima tiempo, latencia, ancho de banda ni costo económico.</a:t>
            </a:r>
            <a:endParaRPr sz="1300"/>
          </a:p>
          <a:p xmlns:a="http://schemas.openxmlformats.org/drawingml/2006/main">
            <a:pPr marL="203200" indent="-203200">
              <a:buSzPct val="100000"/>
              <a:buChar char="•"/>
            </a:pPr>
            <a:r>
              <a:rPr sz="1300">
                <a:solidFill>
                  <a:srgbClr val="334155"/>
                </a:solidFill>
                <a:latin typeface="Aptos"/>
                <a:ea typeface="Aptos"/>
                <a:cs typeface="Aptos"/>
              </a:rPr>
              <a:t>El exceso ObservedMovement − RequiredMovement no implica bytes ahorrables sin demostrar un execution model alternativo.</a:t>
            </a:r>
            <a:endParaRPr sz="1300"/>
          </a:p>
          <a:p xmlns:a="http://schemas.openxmlformats.org/drawingml/2006/main">
            <a:pPr marL="203200" indent="-203200">
              <a:buSzPct val="100000"/>
              <a:buChar char="•"/>
            </a:pPr>
            <a:r>
              <a:rPr sz="1300">
                <a:solidFill>
                  <a:srgbClr val="334155"/>
                </a:solidFill>
                <a:latin typeface="Aptos"/>
                <a:ea typeface="Aptos"/>
                <a:cs typeface="Aptos"/>
              </a:rPr>
              <a:t>Los retries, plugins no contabilizados o trazas incompletas deben producir resultados indeterminados, no aproximaciones.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A4B18F-016A-401E-969F-AEDD4E9D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508760"/>
            <a:ext cx="192024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160">
            <a:solidFill>
              <a:srgbClr val="B91C1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30C57B6-75E7-4D16-8DF6-6BE18473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1600200"/>
            <a:ext cx="1700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Riesgo principal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02A40-EA58-4ACD-B4D9-16D0F796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8840"/>
            <a:ext cx="3657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02A43"/>
                </a:solidFill>
              </a:rPr>
              <a:t>Confundir confirmación de movimiento científico con estadísticas agregadas de sandbox o tráfico total.</a:t>
            </a:r>
            <a:endParaRPr sz="18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BBF9016-DFD6-4B7C-BABC-0A8CDEBF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794760"/>
            <a:ext cx="3703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BA41E0F-9243-4D3A-9B6F-627BAE2B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3922776"/>
            <a:ext cx="3374136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Respuesta metodológica: separación semántica, evidence levels, Coverage y reportes N/A cuando las precondiciones no se cumplen.</a:t>
            </a:r>
            <a:endParaRPr sz="11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BEE1D9-7253-4F89-8330-93856089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0D751B2-244E-431A-AE5B-01181316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Limitaciones</a:t>
            </a:r>
            <a:endParaRPr sz="7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1F02D9E-870A-4C2F-9948-1714813A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8552432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9A79028-87FD-4FAB-87C5-4B4E726D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1270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5122C7-34C6-4E86-B33A-BD876000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ROADMAP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BCB1D75-5D47-4C28-8D44-434C4373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17. Roadmap después del cierre de Gate I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5694B10-A675-4CA6-85B9-8416F4AF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F218BBA-27A1-4D58-B46E-2C253B84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47672"/>
            <a:ext cx="5303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1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818A195-1CEC-4035-A4D1-CB2F088A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93976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  <a:prstDash val="solid"/>
            <a:headEnd type="none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8C4AD5E-8D71-4707-B675-FDE32508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169164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BB7938-EBE1-4776-9B70-BCC2DF0A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34640"/>
            <a:ext cx="1472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Gate I cerrado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038655F-6AC1-41AF-B53D-2FC338F0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10128"/>
            <a:ext cx="1783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64748B"/>
                </a:solidFill>
              </a:rPr>
              <a:t>docs, CLI y suite PASS</a:t>
            </a:r>
            <a:endParaRPr sz="88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B81D2EC-2360-48E9-81E4-8E8321CF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1270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4FABB40-F331-405D-B27B-4AACCEF4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47672"/>
            <a:ext cx="5303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2</a:t>
            </a:r>
            <a:endParaRPr sz="9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9A99732-44D0-4E6B-93DD-043CFD96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093976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  <a:prstDash val="solid"/>
            <a:headEnd type="none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4924331-5B10-4280-86CD-A57B24E9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43200"/>
            <a:ext cx="169164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6AB1F23-578A-4AFF-BEC6-75164210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2834640"/>
            <a:ext cx="1472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I14 pendiente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2421365-2913-419A-AEFB-8F362BDD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310128"/>
            <a:ext cx="1783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64748B"/>
                </a:solidFill>
              </a:rPr>
              <a:t>pool y runner pendientes</a:t>
            </a:r>
            <a:endParaRPr sz="88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C88BABD-3B85-473A-BA8D-CFD6CF39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1270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79F6ADF-7BB2-42D8-80D6-06D4FEED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947672"/>
            <a:ext cx="5303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3</a:t>
            </a:r>
            <a:endParaRPr sz="9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D87282E-75C8-4A9A-A15B-B6579CA1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93976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  <a:prstDash val="solid"/>
            <a:headEnd type="none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6F64D0E-0AF1-42DF-AE75-CF2AF5F6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743200"/>
            <a:ext cx="169164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7E6A750-5A40-484C-9306-32DE316D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34640"/>
            <a:ext cx="1472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Gate V preparado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6C3FAF-7053-484E-856E-4A94CE67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0128"/>
            <a:ext cx="1783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64748B"/>
                </a:solidFill>
              </a:rPr>
              <a:t>matriz y oráculos listos</a:t>
            </a:r>
            <a:endParaRPr sz="88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0E272E7-5067-4E48-9055-C43DDEFD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1270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BAA5A0E-05B0-4A9B-9A4E-3ACD6590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947672"/>
            <a:ext cx="5303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4</a:t>
            </a:r>
            <a:endParaRPr sz="9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252B125-C99F-43F0-AACD-E1085CB0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093976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748B"/>
            </a:solidFill>
            <a:prstDash val="solid"/>
            <a:headEnd type="none"/>
            <a:tailEnd type="triangle"/>
          </a:ln>
        </p:spPr>
        <p:txBody xmlns:a="http://schemas.openxmlformats.org/drawingml/2006/main">
          <a:bodyPr/>
          <a:p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0ADD519-A9C4-4D54-B298-AD02881C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743200"/>
            <a:ext cx="169164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533CC14-4CEE-43BD-93DF-2954557D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834640"/>
            <a:ext cx="1472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Evaluación</a:t>
            </a:r>
            <a:endParaRPr sz="11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9BFFD0E-9F01-4CB8-A331-EF333B93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310128"/>
            <a:ext cx="1783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64748B"/>
                </a:solidFill>
              </a:rPr>
              <a:t>patrones, sensibilidad y límites</a:t>
            </a:r>
            <a:endParaRPr sz="88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991B1EA-2938-480F-8027-1C3D80C9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1270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7DE8E95-2198-4283-B69D-6A03CE6E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947672"/>
            <a:ext cx="5303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5</a:t>
            </a:r>
            <a:endParaRPr sz="9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9D3E577-31FE-4093-A208-32F31607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743200"/>
            <a:ext cx="169164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B999FF4-8B77-4A9E-893C-FCD334D8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2834640"/>
            <a:ext cx="14721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Tesis y defensa</a:t>
            </a:r>
            <a:endParaRPr sz="11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618EDC3-19CC-4E98-96B8-312E07AD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310128"/>
            <a:ext cx="1783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64748B"/>
                </a:solidFill>
              </a:rPr>
              <a:t>capítulos y presentación</a:t>
            </a:r>
            <a:endParaRPr sz="88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E580889-FA1B-4E30-B4E5-77903E48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800600"/>
            <a:ext cx="9601200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22F4BCB-CB97-4D27-A69E-32EFD823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928616"/>
            <a:ext cx="927201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Gate I cerró en 3f44f30. Se proponen 129 workflows: 117 base y 12 estructurales. Requieren workers activos y decisión de ejecución.</a:t>
            </a:r>
            <a:endParaRPr sz="112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5072DA7-F161-4975-8100-E8B0054D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58BE016-34E5-46C5-BE0D-7614BFAA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Roadmap</a:t>
            </a:r>
            <a:endParaRPr sz="7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DB16E03-867F-44B7-86AB-B11265EB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18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46157094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B844C2-B32B-4CEE-BF09-F9A9B147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102A43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943C09C-4061-46D6-B2B6-0F925CCE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CIERRE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6C82DA-39F8-4F21-966E-C65AF99E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18. Mensaje final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73B77F7-A07C-4D61-8EC7-C16BF299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08760"/>
            <a:ext cx="731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102A43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BD71239-8BF0-4605-A04E-C0749B11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45336"/>
            <a:ext cx="10378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La tesis no intenta mover menos datos por sí sola; intenta medir, con evidencia, cuánto del movimiento científico confirmado era necesario.</a:t>
            </a:r>
            <a:endParaRPr sz="2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D0E2AC2-4F9F-494C-9CED-742DE5F2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4680"/>
            <a:ext cx="2011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160">
            <a:solidFill>
              <a:srgbClr val="B91C1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1722C8-200B-42F2-8CCE-6C27B5D2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246120"/>
            <a:ext cx="17922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Problema central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03BAA2A-3157-49B6-9D92-8DFDED1F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18211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334155"/>
                </a:solidFill>
              </a:rPr>
              <a:t>Los bytes observados por el sistema no son automáticamente movimiento científico ni movimiento necesario.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CF39D47-D7D9-40CA-BDF7-C8B2F99B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1648"/>
            <a:ext cx="2011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160">
            <a:solidFill>
              <a:srgbClr val="16A34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9F7BAE4-976F-4A54-AFFA-6C5868A1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33088"/>
            <a:ext cx="17922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Respuesta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F117743-1BF7-49D6-95F3-4F880028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069080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334155"/>
                </a:solidFill>
              </a:rPr>
              <a:t>Una métrica y un Analyzer v1 que separan RequiredMovement, DeclaredMovement, ObservedMovement, Coverage y DME.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B82FAF2-2999-4CEF-B4B2-C1EE2B55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8616"/>
            <a:ext cx="2011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160">
            <a:solidFill>
              <a:srgbClr val="2563E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F7B17BD-06FB-495F-9DAC-2B4D00D7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20056"/>
            <a:ext cx="17922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Valor académico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7C27EE3-0682-4ED9-8EE1-5AFBA4B2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956048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334155"/>
                </a:solidFill>
              </a:rPr>
              <a:t>Convertir una fuente de ambigüedad en un objeto medible, auditable y reproducible.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9ED9CC8-AC3A-4237-9BA9-0AD41C91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C5AB786-8B4F-4996-AE07-3ECBA5A7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Cierre</a:t>
            </a:r>
            <a:endParaRPr sz="7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CBB0FEB-AEB2-445A-8925-409EA43C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19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85393634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F9C860-1701-4F14-927A-72D8A74B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102A43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3C7353-7410-49A8-9AD9-B580ADCE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REFERENCIAS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B9744E9-4C39-4D3F-9202-3E134427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621792"/>
            <a:ext cx="10881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Referencias base y fuentes del proyecto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CDC6F61-A9E8-4740-81B8-B3D02C83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10607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1. Deelman, E. et al. (2015). Pegasus, a workflow management system for science automation. Future Generation Computer Systems, 46, 17–35. DOI: 10.1016/j.future.2014.10.008.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FFBFF8-8EC8-4F77-B50A-0E4F1EB4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10607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2. Pietri, I., &amp; Sakellariou, R. (2018). Scheduling Data-Intensive Scientific Workflows with Reduced Communication.</a:t>
            </a:r>
            <a:endParaRPr sz="9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65BCDA5-C263-4DF9-B637-1656FCE9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43784"/>
            <a:ext cx="10607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3. Nguyen, D. D., &amp; Karavanic, K. L. (2021). Workflow Critical Path: a data-oriented critical path metric for Holistic HPC Workflows. DOI: 10.1016/j.tbench.2021.100001.</a:t>
            </a:r>
            <a:endParaRPr sz="9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A2E3E6D-1745-4073-B53A-F901B2D8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57016"/>
            <a:ext cx="10607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4. DFTracer / LLNL: multi-level dataflow tracing for capturing I/O calls from workflows.</a:t>
            </a:r>
            <a:endParaRPr sz="9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113C366-B763-4DD5-9558-B1351543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0248"/>
            <a:ext cx="10607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34155"/>
                </a:solidFill>
              </a:rPr>
              <a:t>5. Documentos del proyecto: Requirements Spec, Design Spec, Validation Plan, Experiment Log, Decision Log y Analyzer v1 commits I0–I13.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689F88-459F-4DC6-9EDB-5BCE0996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7840"/>
            <a:ext cx="100584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BD5E1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3123E1-2E3D-4E21-A6A8-F9CBAE54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705856"/>
            <a:ext cx="972921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presentación se apoya en literatura de workflows, scheduling, tracing y métricas, pero delimita una contribución propia: evaluación de movimiento científico confirmado contra un referente requerido condicionado al placement.</a:t>
            </a:r>
            <a:endParaRPr sz="11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CC3C94C-9B26-45D5-ABE6-5B7800B9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BD5E1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B69B7B8-280A-4510-9030-2F35F013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10528"/>
            <a:ext cx="7223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Referencias</a:t>
            </a:r>
            <a:endParaRPr sz="7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85F617-AFBF-41B1-A724-301EFBB1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9224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20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637280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2026-10-04T04:19:33.4000000Z</dcterms:created>
  <dcterms:modified xsi:type="dcterms:W3CDTF">2026-10-04T04:19:33.4000000Z</dcterms:modified>
</coreProperties>
</file>