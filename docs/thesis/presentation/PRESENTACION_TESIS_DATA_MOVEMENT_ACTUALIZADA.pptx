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97459e423d4dda" /><Relationship Type="http://schemas.openxmlformats.org/officeDocument/2006/relationships/extended-properties" Target="/docProps/app.xml" Id="R7c5d72fde1de4131" /><Relationship Type="http://schemas.openxmlformats.org/officeDocument/2006/relationships/officeDocument" Target="/ppt/presentation.xml" Id="R6d4fabead2744f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6ffa690a9f4b04"/>
  </p:sldMasterIdLst>
  <p:notesMasterIdLst>
    <p:notesMasterId xmlns:r="http://schemas.openxmlformats.org/officeDocument/2006/relationships" r:id="R0e2edbb972ac494d"/>
  </p:notesMasterIdLst>
  <p:sldIdLst>
    <p:sldId xmlns:r="http://schemas.openxmlformats.org/officeDocument/2006/relationships" id="256" r:id="R1cef9bf3b32e40b7"/>
    <p:sldId xmlns:r="http://schemas.openxmlformats.org/officeDocument/2006/relationships" id="257" r:id="R487e7a0df9764015"/>
    <p:sldId xmlns:r="http://schemas.openxmlformats.org/officeDocument/2006/relationships" id="258" r:id="Rb1d122d0f5844947"/>
    <p:sldId xmlns:r="http://schemas.openxmlformats.org/officeDocument/2006/relationships" id="259" r:id="R94ccbf56918042d6"/>
    <p:sldId xmlns:r="http://schemas.openxmlformats.org/officeDocument/2006/relationships" id="260" r:id="R87688300cff044d4"/>
    <p:sldId xmlns:r="http://schemas.openxmlformats.org/officeDocument/2006/relationships" id="261" r:id="R8da1ae81caf646f5"/>
    <p:sldId xmlns:r="http://schemas.openxmlformats.org/officeDocument/2006/relationships" id="262" r:id="Rab12aeff418b46f3"/>
    <p:sldId xmlns:r="http://schemas.openxmlformats.org/officeDocument/2006/relationships" id="263" r:id="Rb7b02a25ec334be5"/>
    <p:sldId xmlns:r="http://schemas.openxmlformats.org/officeDocument/2006/relationships" id="264" r:id="R8a0bc7d7d66b4eb8"/>
    <p:sldId xmlns:r="http://schemas.openxmlformats.org/officeDocument/2006/relationships" id="265" r:id="Rfde06fc3e0c146a7"/>
    <p:sldId xmlns:r="http://schemas.openxmlformats.org/officeDocument/2006/relationships" id="266" r:id="R6f24ebd6141f4d19"/>
    <p:sldId xmlns:r="http://schemas.openxmlformats.org/officeDocument/2006/relationships" id="267" r:id="R78af687340514760"/>
    <p:sldId xmlns:r="http://schemas.openxmlformats.org/officeDocument/2006/relationships" id="268" r:id="R1dbbbc4bc16d4378"/>
    <p:sldId xmlns:r="http://schemas.openxmlformats.org/officeDocument/2006/relationships" id="269" r:id="R21b1b26ed315477a"/>
    <p:sldId xmlns:r="http://schemas.openxmlformats.org/officeDocument/2006/relationships" id="270" r:id="Re265ee52d5314bb5"/>
    <p:sldId xmlns:r="http://schemas.openxmlformats.org/officeDocument/2006/relationships" id="271" r:id="R3ac94ab50f9444ea"/>
    <p:sldId xmlns:r="http://schemas.openxmlformats.org/officeDocument/2006/relationships" id="272" r:id="Ra7462bcbbf84443d"/>
    <p:sldId xmlns:r="http://schemas.openxmlformats.org/officeDocument/2006/relationships" id="273" r:id="R6f6895f8c50344b9"/>
    <p:sldId xmlns:r="http://schemas.openxmlformats.org/officeDocument/2006/relationships" id="274" r:id="Re40370b03f044fb6"/>
    <p:sldId xmlns:r="http://schemas.openxmlformats.org/officeDocument/2006/relationships" id="275" r:id="Rb572ac2e18c34348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6b4aab92094646" /><Relationship Type="http://schemas.openxmlformats.org/officeDocument/2006/relationships/slideMaster" Target="/ppt/slideMasters/slideMaster1.xml" Id="R0f6ffa690a9f4b04" /><Relationship Type="http://schemas.openxmlformats.org/officeDocument/2006/relationships/notesMaster" Target="/ppt/notesMasters/notesMaster1.xml" Id="R0e2edbb972ac494d" /><Relationship Type="http://schemas.openxmlformats.org/officeDocument/2006/relationships/presProps" Target="/ppt/presProps.xml" Id="Rc30745af3d9f422e" /><Relationship Type="http://schemas.openxmlformats.org/officeDocument/2006/relationships/viewProps" Target="/ppt/viewProps.xml" Id="R6a2da6ad86cb4fe8" /><Relationship Type="http://schemas.openxmlformats.org/officeDocument/2006/relationships/tableStyles" Target="/ppt/tableStyles.xml" Id="R2418deb8414a41b2" /><Relationship Type="http://schemas.openxmlformats.org/officeDocument/2006/relationships/slide" Target="/ppt/slides/slide1.xml" Id="R1cef9bf3b32e40b7" /><Relationship Type="http://schemas.openxmlformats.org/officeDocument/2006/relationships/slide" Target="/ppt/slides/slide2.xml" Id="R487e7a0df9764015" /><Relationship Type="http://schemas.openxmlformats.org/officeDocument/2006/relationships/slide" Target="/ppt/slides/slide3.xml" Id="Rb1d122d0f5844947" /><Relationship Type="http://schemas.openxmlformats.org/officeDocument/2006/relationships/slide" Target="/ppt/slides/slide4.xml" Id="R94ccbf56918042d6" /><Relationship Type="http://schemas.openxmlformats.org/officeDocument/2006/relationships/slide" Target="/ppt/slides/slide5.xml" Id="R87688300cff044d4" /><Relationship Type="http://schemas.openxmlformats.org/officeDocument/2006/relationships/slide" Target="/ppt/slides/slide6.xml" Id="R8da1ae81caf646f5" /><Relationship Type="http://schemas.openxmlformats.org/officeDocument/2006/relationships/slide" Target="/ppt/slides/slide7.xml" Id="Rab12aeff418b46f3" /><Relationship Type="http://schemas.openxmlformats.org/officeDocument/2006/relationships/slide" Target="/ppt/slides/slide8.xml" Id="Rb7b02a25ec334be5" /><Relationship Type="http://schemas.openxmlformats.org/officeDocument/2006/relationships/slide" Target="/ppt/slides/slide9.xml" Id="R8a0bc7d7d66b4eb8" /><Relationship Type="http://schemas.openxmlformats.org/officeDocument/2006/relationships/slide" Target="/ppt/slides/slide10.xml" Id="Rfde06fc3e0c146a7" /><Relationship Type="http://schemas.openxmlformats.org/officeDocument/2006/relationships/slide" Target="/ppt/slides/slide11.xml" Id="R6f24ebd6141f4d19" /><Relationship Type="http://schemas.openxmlformats.org/officeDocument/2006/relationships/slide" Target="/ppt/slides/slide12.xml" Id="R78af687340514760" /><Relationship Type="http://schemas.openxmlformats.org/officeDocument/2006/relationships/slide" Target="/ppt/slides/slide13.xml" Id="R1dbbbc4bc16d4378" /><Relationship Type="http://schemas.openxmlformats.org/officeDocument/2006/relationships/slide" Target="/ppt/slides/slide14.xml" Id="R21b1b26ed315477a" /><Relationship Type="http://schemas.openxmlformats.org/officeDocument/2006/relationships/slide" Target="/ppt/slides/slide15.xml" Id="Re265ee52d5314bb5" /><Relationship Type="http://schemas.openxmlformats.org/officeDocument/2006/relationships/slide" Target="/ppt/slides/slide16.xml" Id="R3ac94ab50f9444ea" /><Relationship Type="http://schemas.openxmlformats.org/officeDocument/2006/relationships/slide" Target="/ppt/slides/slide17.xml" Id="Ra7462bcbbf84443d" /><Relationship Type="http://schemas.openxmlformats.org/officeDocument/2006/relationships/slide" Target="/ppt/slides/slide18.xml" Id="R6f6895f8c50344b9" /><Relationship Type="http://schemas.openxmlformats.org/officeDocument/2006/relationships/slide" Target="/ppt/slides/slide19.xml" Id="Re40370b03f044fb6" /><Relationship Type="http://schemas.openxmlformats.org/officeDocument/2006/relationships/slide" Target="/ppt/slides/slide20.xml" Id="Rb572ac2e18c343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87b3b3a8354d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d351478b4448a0" /><Relationship Type="http://schemas.openxmlformats.org/officeDocument/2006/relationships/notesMaster" Target="/ppt/notesMasters/notesMaster1.xml" Id="Re3aed9c8414d4c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e88ce16ea74808" /><Relationship Type="http://schemas.openxmlformats.org/officeDocument/2006/relationships/notesMaster" Target="/ppt/notesMasters/notesMaster1.xml" Id="Rd1a22c3534d34e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5278e9a6c04efa" /><Relationship Type="http://schemas.openxmlformats.org/officeDocument/2006/relationships/notesMaster" Target="/ppt/notesMasters/notesMaster1.xml" Id="R7311d813796543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c7edc74871404c" /><Relationship Type="http://schemas.openxmlformats.org/officeDocument/2006/relationships/notesMaster" Target="/ppt/notesMasters/notesMaster1.xml" Id="R0036b9ed1334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78e9584b9544ee" /><Relationship Type="http://schemas.openxmlformats.org/officeDocument/2006/relationships/notesMaster" Target="/ppt/notesMasters/notesMaster1.xml" Id="R8d151406b43e4a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9d1fcee1ca4315" /><Relationship Type="http://schemas.openxmlformats.org/officeDocument/2006/relationships/notesMaster" Target="/ppt/notesMasters/notesMaster1.xml" Id="Re08fd71d60264a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76b13dce66472d" /><Relationship Type="http://schemas.openxmlformats.org/officeDocument/2006/relationships/notesMaster" Target="/ppt/notesMasters/notesMaster1.xml" Id="Re85bd28a43ce4e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73ac49876247c3" /><Relationship Type="http://schemas.openxmlformats.org/officeDocument/2006/relationships/notesMaster" Target="/ppt/notesMasters/notesMaster1.xml" Id="Re7fd11830fb04e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f8325541ad4c4a" /><Relationship Type="http://schemas.openxmlformats.org/officeDocument/2006/relationships/notesMaster" Target="/ppt/notesMasters/notesMaster1.xml" Id="R44dad13104b24d3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72a7b95eac4536" /><Relationship Type="http://schemas.openxmlformats.org/officeDocument/2006/relationships/notesMaster" Target="/ppt/notesMasters/notesMaster1.xml" Id="Ra4f77a925c0f45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6fd3d43424e4147" /><Relationship Type="http://schemas.openxmlformats.org/officeDocument/2006/relationships/notesMaster" Target="/ppt/notesMasters/notesMaster1.xml" Id="R02678944c7274f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e6554f4a7a4804" /><Relationship Type="http://schemas.openxmlformats.org/officeDocument/2006/relationships/notesMaster" Target="/ppt/notesMasters/notesMaster1.xml" Id="R045c9706171b44d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e8581f5b30417e" /><Relationship Type="http://schemas.openxmlformats.org/officeDocument/2006/relationships/notesMaster" Target="/ppt/notesMasters/notesMaster1.xml" Id="R83f8010533814a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2daad4476848d0" /><Relationship Type="http://schemas.openxmlformats.org/officeDocument/2006/relationships/notesMaster" Target="/ppt/notesMasters/notesMaster1.xml" Id="R31e54446097145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ece2d89150466a" /><Relationship Type="http://schemas.openxmlformats.org/officeDocument/2006/relationships/notesMaster" Target="/ppt/notesMasters/notesMaster1.xml" Id="Rb71dac6054854e2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b8707975da9413b" /><Relationship Type="http://schemas.openxmlformats.org/officeDocument/2006/relationships/notesMaster" Target="/ppt/notesMasters/notesMaster1.xml" Id="R5cf331573de24e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17476699e946c3" /><Relationship Type="http://schemas.openxmlformats.org/officeDocument/2006/relationships/notesMaster" Target="/ppt/notesMasters/notesMaster1.xml" Id="R3209918ea9a64b6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920988428024347" /><Relationship Type="http://schemas.openxmlformats.org/officeDocument/2006/relationships/notesMaster" Target="/ppt/notesMasters/notesMaster1.xml" Id="R952d5c13877843e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34c6da524584f2f" /><Relationship Type="http://schemas.openxmlformats.org/officeDocument/2006/relationships/notesMaster" Target="/ppt/notesMasters/notesMaster1.xml" Id="R0acfa187fa8147d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55f9fde24f46f0" /><Relationship Type="http://schemas.openxmlformats.org/officeDocument/2006/relationships/notesMaster" Target="/ppt/notesMasters/notesMaster1.xml" Id="Rf1e066ff0bf048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la tesis como un trabajo de medición: no es un scheduler, no es un nuevo WMS y no es un monitor general de red. La contribución es una métrica y un analizador que separan movimiento científico requerido, declarado y confirmado.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Desarrollar el contexto desde la ciencia: los workflows existen porque las aplicaciones científicas requieren pipelines de múltiples etapas. El dato no es accesorio; es el vínculo entre etapas.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lámina introduce la cadena completa. La tesis no mide un workflow abstracto en el vacío; mide una ejecución concreta con una ubicación real de tareas y un conjunto de evidencias.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problema central debe presentarse como un problema de medición y evidencia, no como un problema de que la red sea lenta. Lo que se quiere atacar es la ambigüedad entre lo científico, lo declarado y lo observado.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pregunta debe ser entendida como diagnóstica. Se condiciona al placement observado para evitar transformar la tesis en un problema de optimización de scheduling.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primero el objetivo general en una frase. Luego explicar que los objetivos específicos cubren formalización, implementación, validación y delimitación.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lámina debe defender el alcance. Es importante que la audiencia no espere un planificador ni una comparación de algoritmos de scheduling.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Estos trabajos no son rivales directos. Delimitar la brecha al conjunto revisado y a la semántica operativa exacta; no formular una afirmación universal de novedad.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de solo lectura en pegasus-master, 2026-10-03: Ubuntu 26.04; 1 vCPU; 1,671,811,072 bytes RAM; VMware; Pegasus 5.1.2; HTCondor 25.12.2. El usuario confirma que el entorno previsto incluye workers. /etc/hosts mapea pegasus-worker1=192.168.79.137 y pegasus-worker2=192.168.79.139. Al momento de consulta, ambos no respondieron a ping ni a SSH/22 desde el master, y condor_status -startd no mostró anuncios/slots. La causa queda sin determinar; no inferir que las VMs no existan.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es la lámina de términos congelados. Recalcar que DeclaredMovement no es ObservedMovement, y que Coverage es una precondición de validez.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tesis debe ser fuerte en esto: un resultado indeterminado no es una falla del analizador; es un resultado metodológicamente correcto cuando la evidencia no alcanza.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metodología conecta la brecha, formalización, operacionalización del Analyzer y evaluación controlada con oráculos. Coverage y las precondiciones de evidencia determinan si M_obs y DME aplican. Los estados de Gate I, I14 y Gate V quedan como información de respaldo del proyecto, fuera del cuerpo principal.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Diagrama editable del flujo conceptual de Analyzer v1. El workflow y el placement observado alimentan RequiredMovement, el límite lógico. El perfil Pegasus/HTCondor condorio determina DeclaredMovement. HTCondor history aporta atributos de ejecución que se reconcilian con evidencia por job; Coverage se calcula sobre ocurrencias científicas esperadas. ObservedMovement y DME se informan únicamente con Coverage=1 y sus demás precondiciones. El manifest es declaración, no observación; el CLI opera sobre artefactos preservados y no consulta el pool en vivo.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process y pipeline ya están soportados por regresión/integración; los demás patrones completan Gate V.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Secuencia por job/dirección/intento. JobTransferManifest describe el conjunto efectivo esperado; TransferEvidence proviene de atributos del HTCondor history. La reconciliación comprueba identidad del intento, worker, método, éxito y compatibilidad del manifest. Modos: EXACT_BYTES y SUCCESSFUL_MANIFEST. Niveles: FILE_LEVEL_CONFIRMED, JOB_LEVEL_RECONCILED e INSUFFICIENT. No implica packet tracing ni asignación proporcional de bytes. Coverage es por ocurrencias; con cobertura incompleta M_obs y DME quedan indeterminadas.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Notación transcrita del contrato canónico implementado. M_req suma el tamaño científico por cada ubicación requerida distinta del origen. Coverage = |C_sci|/|D_sci| es por ocurrencias y vale 1 si D_sci está vacío. M_obs solo se define con cobertura completa y suma ocurrencias confirmadas. Para DME: N/A si ambos movimientos son cero; 0 si M_req=0&lt;M_obs; M_req/M_obs si 0&lt;M_req≤M_obs. Si Coverage&lt;1, M_obs y DME son indeterminadas. Si M_obs&lt;M_req, la ejecución es inconsistente y no tiene DME válida. No se ha redefinido la métrica.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Los dos esquemas comparan el límite lógico file-centric bajo el placement observado con una ruta conceptual de staging condorio que puede pasar por el master. El salto intermedio explica por qué el movimiento confirmado puede superar M_req en ciertos casos; no se afirma que todos los jobs sigan idéntica ruta ni se infiere ahorro alcanzable. Worker-to-worker sirve como referencia conceptual: si Coverage=1 y M_obs=M_req&gt;0, DME=1. La métrica conserva su definición. El Analyzer reconcilia evidencia por job, no realiza packet tracing y no evalúa optimalidad del scheduler.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Uso: detectar movimiento científico adicional respecto al mínimo lógico, diagnosticar staging por job, comparar patrones y placements, apoyar decisiones arquitectónicas y evitar confundir DME con rendimiento. Límites: la métrica no mide FLOPs, uso de CPU/GPU, runtime, bandwidth ni costo; tampoco determina si el scheduler es óptimo ni optimiza placement.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Respaldo de estado del proyecto: Gate R/D e I0–I13 cerrados; Gate I cerró en 3f44f30. I14 y Gate V siguen sin iniciar. La matriz propone 129 workflows y todos están NOT_RUN. Los workers no anunciaban startd en la última captura.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el mensaje central: medición, evidencia y trazabilidad.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leer toda la bibliografía; usarla para mostrar que se conoce el contexto y que la tesis ocupa un espacio concreto.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4cd2be1ae942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45a9621274b7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B48E1-5397-487F-BABC-1BCFF370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F8FAFC"/>
            </a:solidFill>
            <a:prstDash val="solid"/>
          </a:ln>
        </p:spPr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82a30a99254b51" /><Relationship Type="http://schemas.openxmlformats.org/officeDocument/2006/relationships/slideLayout" Target="/ppt/slideLayouts/slideLayout1.xml" Id="R29f98064a7c34eeb" /><Relationship Type="http://schemas.openxmlformats.org/officeDocument/2006/relationships/slideLayout" Target="/ppt/slideLayouts/slideLayout2.xml" Id="Rfb59c49a163b4c4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f98064a7c34eeb"/>
    <p:sldLayoutId xmlns:r="http://schemas.openxmlformats.org/officeDocument/2006/relationships" id="2147483650" r:id="Rfb59c49a163b4c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db1586d77d4398" /><Relationship Type="http://schemas.openxmlformats.org/officeDocument/2006/relationships/notesSlide" Target="/ppt/notesSlides/notesSlide1.xml" Id="Ra23b2ddc275848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f131b84e94467a" /><Relationship Type="http://schemas.openxmlformats.org/officeDocument/2006/relationships/notesSlide" Target="/ppt/notesSlides/notesSlide2.xml" Id="R215d6c2befe54a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aa6be5077e4be5" /><Relationship Type="http://schemas.openxmlformats.org/officeDocument/2006/relationships/notesSlide" Target="/ppt/notesSlides/notesSlide3.xml" Id="R0f53b3ce0a9f47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cb613201654a5c" /><Relationship Type="http://schemas.openxmlformats.org/officeDocument/2006/relationships/notesSlide" Target="/ppt/notesSlides/notesSlide4.xml" Id="R05b201ea3af849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dd3d167a814297" /><Relationship Type="http://schemas.openxmlformats.org/officeDocument/2006/relationships/notesSlide" Target="/ppt/notesSlides/notesSlide5.xml" Id="R03ee2a6f0f8543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bd529f60f14d36" /><Relationship Type="http://schemas.openxmlformats.org/officeDocument/2006/relationships/notesSlide" Target="/ppt/notesSlides/notesSlide6.xml" Id="R0dbfeac44fd54f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faaa4e6a9d46a6" /><Relationship Type="http://schemas.openxmlformats.org/officeDocument/2006/relationships/notesSlide" Target="/ppt/notesSlides/notesSlide7.xml" Id="R1acf313885eb4b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a5e54116c42b9" /><Relationship Type="http://schemas.openxmlformats.org/officeDocument/2006/relationships/notesSlide" Target="/ppt/notesSlides/notesSlide8.xml" Id="R13d807f7beb045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d787be57284b5e" /><Relationship Type="http://schemas.openxmlformats.org/officeDocument/2006/relationships/notesSlide" Target="/ppt/notesSlides/notesSlide9.xml" Id="R0b06bbe1c4c24b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5cb64022e8466b" /><Relationship Type="http://schemas.openxmlformats.org/officeDocument/2006/relationships/notesSlide" Target="/ppt/notesSlides/notesSlide10.xml" Id="R65b2d732759d40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044f52c29d44c2" /><Relationship Type="http://schemas.openxmlformats.org/officeDocument/2006/relationships/notesSlide" Target="/ppt/notesSlides/notesSlide11.xml" Id="Ra0ad6d5ac42843d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3f828cd0f243f5" /><Relationship Type="http://schemas.openxmlformats.org/officeDocument/2006/relationships/notesSlide" Target="/ppt/notesSlides/notesSlide12.xml" Id="R6e84350af5c74f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5ee7c80af044bc" /><Relationship Type="http://schemas.openxmlformats.org/officeDocument/2006/relationships/notesSlide" Target="/ppt/notesSlides/notesSlide13.xml" Id="R200e98201b9d475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1ebebdfd3d437a" /><Relationship Type="http://schemas.openxmlformats.org/officeDocument/2006/relationships/notesSlide" Target="/ppt/notesSlides/notesSlide14.xml" Id="Rcc4fed4786f646a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787ba66c0d40d3" /><Relationship Type="http://schemas.openxmlformats.org/officeDocument/2006/relationships/notesSlide" Target="/ppt/notesSlides/notesSlide15.xml" Id="Rb8ec27768ac642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e426fe040b4a49" /><Relationship Type="http://schemas.openxmlformats.org/officeDocument/2006/relationships/notesSlide" Target="/ppt/notesSlides/notesSlide16.xml" Id="R206d94ba62f04b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aa483ef58f4f47" /><Relationship Type="http://schemas.openxmlformats.org/officeDocument/2006/relationships/notesSlide" Target="/ppt/notesSlides/notesSlide17.xml" Id="R3cc2990d7a364a3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6d34299aff47eb" /><Relationship Type="http://schemas.openxmlformats.org/officeDocument/2006/relationships/notesSlide" Target="/ppt/notesSlides/notesSlide18.xml" Id="R8ae00ac03b874db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98eb2754434a8a" /><Relationship Type="http://schemas.openxmlformats.org/officeDocument/2006/relationships/notesSlide" Target="/ppt/notesSlides/notesSlide19.xml" Id="Rcbe8cd7fba29443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5b8ff15e7b4b93" /><Relationship Type="http://schemas.openxmlformats.org/officeDocument/2006/relationships/notesSlide" Target="/ppt/notesSlides/notesSlide20.xml" Id="R62d447bb084147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41560B-2885-4236-A9F9-727E3A51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F8FAFC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B3CC33B-9C17-4024-9443-6BB98A77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E880202-01EB-4936-923B-2948F99F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B1307E-7C6F-4A13-99C2-409C07B6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08760"/>
            <a:ext cx="685800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Data Movement Assessment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in Scientific Workflows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0ED780A-721B-4878-A69B-C97225D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907792"/>
            <a:ext cx="6858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334155"/>
                </a:solidFill>
              </a:rPr>
              <a:t>Diseño y validación de una métrica para evaluar movimiento de datos científico en ejecuciones Pegasus/HTCondor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D729276-75C3-46FB-BDDF-3837851E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17320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F3EF5B1-8B6A-429C-9190-36900F8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1508760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 científico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414B0B5-520E-4ED0-81FC-88242ED3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1993392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5CD4DD9-1F2B-49DE-BC19-B85E0060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78608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A65818-8414-490F-AC98-68C57227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670048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 observado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AA07EA-5BAD-44AB-BB04-4CBF0AC8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154680"/>
            <a:ext cx="0" cy="475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0B8C4FF-E6FC-48B3-9EAA-A85E4F96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F90C942-809D-4F70-AE69-DDD9E37B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3822192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Evidencia de ejecución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48CF823-3687-42F1-957E-918F51AB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297680"/>
            <a:ext cx="0" cy="4937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F59E0B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6ADBD30-41ED-4131-9A38-EA399BB0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82896"/>
            <a:ext cx="237744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57E2C8F-775E-4E5D-9F30-A38F2256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974336"/>
            <a:ext cx="21579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9E015DD-F9BC-48D1-8EBB-DEBEA97C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71323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Luis Sebastián Contreras Díaz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Asesores: Aurelio Antonio Vivas Meza · Harold Enrique Castro Barrera</a:t>
            </a:r>
            <a:endParaRPr sz="1050"/>
          </a:p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4748B"/>
                </a:solidFill>
              </a:rPr>
              <a:t>Universidad de los Andes · Trabajo de grado · 2026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330981E-478F-42C3-9186-1DCC9103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695CA5E-E161-45A0-A758-C9251682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Portada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F2EE3BA-DC8B-4C2F-867E-F864EF83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63775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274B74E-97AF-4DA0-93D1-F7FDD71C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129B04-1467-4EE5-ABE0-87818263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CONTEXTO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793AAE3-3D23-4D75-A311-51A96E25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1. Por qué hablar de movimiento de datos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3E1D79F-E527-46F8-BAF6-5F277857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Los workflows científicos no solo ejecutan tareas: también materializan archivos en lugares específicos para que esas tareas puedan producir ciencia.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50F7C82-BF02-4F76-B035-62A7FEE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9A1696B-D07D-4D13-8C6E-479FCF26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A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0759A6B-41B5-47B2-BB79-1022B18A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A27179E-2DBD-42BD-B923-F2F0FA73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3FB60AD-F207-43FE-97B9-CEFB85A1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B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DBEA8E3-1C7C-4563-A25A-0E376151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CF09B14-EE10-4A09-8FBB-700E79624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70FB574-54A9-48F9-B7E7-FD225ECD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Tarea C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7D43E79-A16D-4DB1-8D53-2C5F7B79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139696"/>
            <a:ext cx="6492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936FEFC-D592-49F3-9DD4-1EBE75D9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74520"/>
            <a:ext cx="123444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CE8CD8E-87DE-4B04-95BD-533A578E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1965960"/>
            <a:ext cx="10149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Resultado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FF4455F-ACC6-4720-A557-07BFF8D1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D4EF2F5-848F-4577-B1F0-0D298B09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input.dat</a:t>
            </a:r>
            <a:endParaRPr sz="83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4137BDD-3815-458F-9ABB-625E5F16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65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8AE89DF-E74D-423E-A2E6-97328197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4006B7D-90EE-43E8-861F-24D42121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41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stage1.dat</a:t>
            </a:r>
            <a:endParaRPr sz="83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87B62DA-E0E9-4C85-88B6-96DBEE8F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77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E522F9A-5049-486B-8460-4F70C241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34640"/>
            <a:ext cx="713232" cy="7132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EB6BEB9-1C4F-442E-B5AC-B150BF26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1536" y="3593592"/>
            <a:ext cx="11887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>
                <a:solidFill>
                  <a:srgbClr val="64748B"/>
                </a:solidFill>
              </a:rPr>
              <a:t>stage2.dat</a:t>
            </a:r>
            <a:endParaRPr sz="83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649B07F-1F0E-4CEE-B22B-B6F71F80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587752"/>
            <a:ext cx="0" cy="2194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FDE0E-2E1A-4225-BC21-B1A78E81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731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3A2933-F826-40AA-B8FB-E583D25A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315968"/>
            <a:ext cx="70866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En una ejecución distribuida, una dependencia lógica se convierte en una pregunta física: ¿dónde está el archivo y dónde debe estar para ser consumido?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8E67CB2-F47F-4899-B89A-C5C7D1B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2926080" cy="324612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2BAF591-DDA1-41F6-AAE3-D6C30B60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2185416"/>
            <a:ext cx="2596896" cy="2990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literatura de workflows científicos resalta la coordinación conjunta de tareas, datos e infraestructura distribuida. Esta tesis toma esa coordinación como punto de partida, pero se enfoca en la medición del movimiento de payload científico.</a:t>
            </a:r>
            <a:endParaRPr sz="112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2A9C4DC-370C-4942-AF34-B4E15F15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698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>
                <a:solidFill>
                  <a:srgbClr val="64748B"/>
                </a:solidFill>
              </a:rPr>
              <a:t>Base: Deelman et al. (2015) describen Pegasus como WMS para automatizar tareas y movimiento de datos en infraestructuras distribuidas.</a:t>
            </a:r>
            <a:endParaRPr sz="68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E28E27A-FB92-4D34-937D-F2403A08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9720221-E80A-416E-91A5-436DA8DB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Contexto · workflows científicos</a:t>
            </a:r>
            <a:endParaRPr sz="75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E5C5D71-0479-4A76-8A96-89ADB0AB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2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587253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8C17026-CA57-4661-A7D6-8510BE6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918625D-ECB3-4545-9D71-1EE00D51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CONTEXTO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DA0F-D662-4AF2-8B45-026F2409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2. Del workflow lógico a una ejecución observada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F0E1646-F806-4E21-96C6-33140EA8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movimiento que realmente importa para esta tesis no depende solo del grafo: depende del placement, del modelo de ejecución y de la evidencia disponible.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DD0144-0073-4BC5-9CDB-4B5B4BB4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56395C-0314-4DF2-B8C4-885F399B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lógico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DE6B11-885B-43C7-9ABF-A39BAC62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CB3836F-63ED-4663-83E3-11EEA2AF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2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3798E5C-5E08-458E-888D-3DCAD0F0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observado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FC6813-21B8-47DD-B151-28618AC4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C56F83D-A71E-4337-9935-3AF07D55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2188F2F-5D60-433B-A4CB-C55E4FBE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952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Execution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model</a:t>
            </a:r>
            <a:endParaRPr sz="13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B8164E1-2C5D-4C2F-A9B1-85270B26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856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592EF8-9216-454D-92EC-5450F7DB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FFFFFF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56E6263-4962-41D2-9B70-83F89E21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Trace /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evidencia</a:t>
            </a:r>
            <a:endParaRPr sz="13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6E16478-091F-4E62-BBCE-5F643B3F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2560320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03BBF96-0446-467C-A13D-4E43632D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208" y="2148840"/>
            <a:ext cx="1554480" cy="82296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31E6D66-2ED4-4DFA-BA7F-9D0911E7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6" y="2240280"/>
            <a:ext cx="1335024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Movimiento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científico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14775B6-7C9E-4646-8C45-80459B16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502920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1DEB9EF-F5EF-476C-95AA-B0393C9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4242816"/>
            <a:ext cx="4700016" cy="1161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Workflow lógico: tareas y dependencias de archivos.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Placement observado: worker donde terminó cada tarea.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Execution model: cómo Pegasus/HTCondor declara transferencias.</a:t>
            </a:r>
            <a:endParaRPr sz="1120"/>
          </a:p>
          <a:p xmlns:a="http://schemas.openxmlformats.org/drawingml/2006/main">
            <a:pPr marL="0" indent="0">
              <a:buNone/>
            </a:pP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Trace: evidencia que permite confirmar o no cada movimiento.</a:t>
            </a:r>
            <a:endParaRPr sz="112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A5852F6-2C60-49E4-A4FE-F9E04C04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114800"/>
            <a:ext cx="4251960" cy="141732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40551A0-DBC8-464C-8BF2-894DD3A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242816"/>
            <a:ext cx="3922776" cy="1161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Consecuencia metodológica: si una capa no está bien definida, el número final puede parecer preciso pero no ser interpretable.</a:t>
            </a:r>
            <a:endParaRPr sz="112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75E2052-DC93-4952-B0DE-753D820A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9EAABCC-D883-485A-869A-23FEA01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Contexto · ejecución observada</a:t>
            </a:r>
            <a:endParaRPr sz="7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667DF39-4D24-4552-9A13-0E4DCEC8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3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6196262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5CD5CA-FD45-40FA-AB50-89DCED9F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D754A9-B390-4494-94F8-A0F17CB7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PROBLEMA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5B08DD-668E-4FE1-8B9A-18FE4B1B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3. El problema no es “mover mucho”; es no saber qué parte era necesaria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3F15735-9645-4632-9CE4-0A5C80E3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En una corrida Pegasus/HTCondor, las estadísticas de transferencia pueden mezclar payload científico con wrappers, metadatos, logs y archivos auxiliares.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3471A52-A3A8-4193-B802-DE3DB3F5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5F2EAA-BFFE-467D-865C-8218FC34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Payload científico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(input, intermedios, outputs)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5A5E69C-09C4-439A-AEF5-CDFB5D62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A363B8A-98AE-4783-933A-4CD3443D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Sandbox HTCondor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(auxiliares + científicos)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4FB8CE7-B89A-4BBA-8A43-716BAAE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74520"/>
            <a:ext cx="297180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29B46E-F043-4292-9E21-5FBF818B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65960"/>
            <a:ext cx="27523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Tráfico o bytes brutos</a:t>
            </a:r>
            <a:endParaRPr sz="1300"/>
          </a:p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(no necesariamente científicos)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F0626B-CCFB-4C30-8039-4E087FDC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2331720"/>
            <a:ext cx="6126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3EDC156-0AB4-4905-A462-DD938A37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331720"/>
            <a:ext cx="621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0A6BBE3-34BA-4838-A1B0-D9A79DC0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22192"/>
            <a:ext cx="73152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42C27BB-9AE3-439B-A768-E5F38857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58768"/>
            <a:ext cx="103784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tesis combate una confusión central: tratar los bytes de transferencia del sistema como si fueran directamente movimiento científico confirmado.</a:t>
            </a:r>
            <a:endParaRPr sz="2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8219639-D350-47D1-964A-CF70D3DC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956048"/>
            <a:ext cx="8046720" cy="621792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04152BC-48D1-48C1-9E9D-9015A6BD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272" y="5084064"/>
            <a:ext cx="771753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Si no se separan estas capas, no se puede distinguir exceso del execution model, movimiento inherente al placement o evidencia incompleta.</a:t>
            </a:r>
            <a:endParaRPr sz="112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1B1DE6B-777E-4038-8547-6D1C8D5A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423796C-F1CA-416F-9FFB-D2854132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Problema · ambigüedad de medición</a:t>
            </a:r>
            <a:endParaRPr sz="7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B43A9AD-BCFD-4C62-AD9B-FAF8F76F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4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480841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B5A5D2A-D3FC-44FE-9D47-DF24A78C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13BBBD-580C-4DB4-BF82-16D14EE0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PROBLEMA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DC5189D-3B44-4BA4-B72E-294B4A7C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4. Pregunta de investigación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38BA4C-3548-4FC3-B283-E61B4DDD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73152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8AE7872-2479-4FB8-8468-7732D0F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453896"/>
            <a:ext cx="1001268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¿Cuánto del movimiento de datos científico confirmado en una ejecución era realmente necesario para ejecutar el workflow con el placement que ocurrió?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C0A0443-A195-4383-B00B-29C3F88D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BFDBF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2CB6369-BFB4-419D-930D-7945969E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+ archivos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80EB46E-17B8-4CFE-BDE9-85261BEE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5553EEB-790C-4763-83AB-25AF4D50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80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Placement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observado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0AD5C82-68E4-4C04-A3C8-13B398D2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21E0D64-42D2-4682-AA05-0F73427E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Execution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model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5B509C9-FB2F-42CA-8C38-291E96E2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89DC3F6-B817-4816-83CA-63E6D3D6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Evidencia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HTCondor</a:t>
            </a:r>
            <a:endParaRPr sz="12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D88C6B9-DA99-49A0-AD92-62D7C835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063240"/>
            <a:ext cx="1508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9933AB5-9AFE-4472-AE64-0E4868CC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154680"/>
            <a:ext cx="1289304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</a:t>
            </a:r>
            <a:endParaRPr sz="16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7084F18-8EF6-4CF6-83F5-625B643F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A4E9540-54F9-471E-8652-B5719F6C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9056483-69B5-4210-9590-F24C7049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6ED1A7B-5366-4C63-B46D-2D3D322B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3410712"/>
            <a:ext cx="32918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97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43E4D13-86AC-4068-83AF-3BA7AD4D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3440"/>
            <a:ext cx="9509760" cy="68580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822705-B949-4640-9953-EFFC2FCA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4791456"/>
            <a:ext cx="9180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Esta pregunta no busca encontrar el “mejor placement”. Evalúa una ejecución que ya ocurrió y pregunta qué parte del movimiento confirmado fue necesario bajo ese placement.</a:t>
            </a:r>
            <a:endParaRPr sz="11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ACA8EC-E6C6-4184-97F5-E1675F0E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6B8C20A-66D2-447C-8492-23F2B8E9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Problema · pregunta central</a:t>
            </a:r>
            <a:endParaRPr sz="7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6675BAC-ECAB-40E4-90C4-EBD17701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5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516135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D22CE0-BA21-47B9-99FE-B1E9948F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75B42E-4049-4B43-BA8C-5CD27A8B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OBJETIVOS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B318B67-C5CA-4145-B5EE-2BCAE3E9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5. Objetivo general y objetivos específicos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A6D454F-6FE7-4B50-A2E9-F458D8F3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10607040" cy="987552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99F6E4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CF8088E-943C-4A6C-9A85-0EAE2263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1545336"/>
            <a:ext cx="10277856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Objetivo general</a:t>
            </a:r>
            <a:endParaRPr sz="1120"/>
          </a:p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Diseñar y validar una métrica para evaluar la eficiencia del movimiento de datos científico en ejecuciones Pegasus/HTCondor, comparando el movimiento requerido por el dataflow y el placement observado con el movimiento científico confirmado por evidencia.</a:t>
            </a:r>
            <a:endParaRPr sz="112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1ABA86F-426D-4BBB-9200-D9AF7ABE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E48FB9B-E11D-40F5-8891-A767E22E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1</a:t>
            </a:r>
            <a:endParaRPr sz="1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106B49-B2ED-4CEA-B486-E43E9A0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Formalizar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C430603-2DB2-4859-8430-D33F9C2D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Definir archivos científicos, ubicaciones, placement, fronteras y precondiciones de validez.</a:t>
            </a:r>
            <a:endParaRPr sz="106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3177498-5120-4BCD-9E12-8805AE86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03EC05-E72B-4357-9BED-7AD13704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2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58A6E65-CB42-4125-8606-02E9E97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Implementar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4AD6591-C43B-4768-AED1-33C50C2C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Construir un Analyzer v1 que reconstruya dataflow, transfers declarados y evidencia HTCondor.</a:t>
            </a:r>
            <a:endParaRPr sz="106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5BFC760-FE20-4E06-B233-72AD2E62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FF82DD2-A7DD-4949-AB1F-75D64D3D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3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28E1C8-B2B5-4787-A448-4C001B29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Validar</a:t>
            </a:r>
            <a:endParaRPr sz="1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7F8CE00-1BE0-4DD4-81A1-18A29008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Usar patrones controlados y corridas preservadas con oráculos reproducibles.</a:t>
            </a:r>
            <a:endParaRPr sz="106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21FD8B7-EFE4-4C55-AC74-BE50FBDB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907792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4B5E24-8B7B-4EF9-AC67-7E1E5B54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999232"/>
            <a:ext cx="4754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4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263017A-27B3-46F7-A76A-E70F8144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2862072"/>
            <a:ext cx="1965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102A43"/>
                </a:solidFill>
              </a:rPr>
              <a:t>Delimitar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E8C4621-6F98-482F-AE12-B0D88949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3200400"/>
            <a:ext cx="2057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60">
                <a:solidFill>
                  <a:srgbClr val="334155"/>
                </a:solidFill>
              </a:rPr>
              <a:t>Reportar casos indeterminados, supuestos y alcance del execution model soportado.</a:t>
            </a:r>
            <a:endParaRPr sz="106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EDFEC7C-100D-4994-AC72-EBBFBF29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931C260-B7AB-4801-9AEB-D3BE41A6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Objetivos</a:t>
            </a:r>
            <a:endParaRPr sz="7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F78BB1E-27D9-4BCE-AD59-4A4FD405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6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2142743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0A34A0B-9AEA-441A-A820-CFEE44C2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5CC15-31EB-4FBC-8435-5ED2428C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ALCANCE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235CAA7-C2A4-4E60-A073-C9F36995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6. Qué sí mide y qué no pretende resolver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9BF8837-A25B-480C-9DC3-B636623D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914400" cy="41148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160">
            <a:solidFill>
              <a:srgbClr val="16A34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41BA74E-B936-4A18-A7B3-1E92700E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508760"/>
            <a:ext cx="694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SÍ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E9E0624-8384-4F43-9DBD-FE440D3C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47091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Payload científico: inputs, intermedios y outputs finales.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Una ejecución concreta, con placement observado.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Comparación entre movimiento requerido y movimiento confirmado.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Trazabilidad hacia Pegasus/HTCondor y decisiones fail-closed.</a:t>
            </a:r>
            <a:endParaRPr sz="13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8CFAB9E-3082-452C-8D15-D53AC56E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17320"/>
            <a:ext cx="914400" cy="41148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B91C1C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241A85-385E-4C22-9317-4DCC02A5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508760"/>
            <a:ext cx="694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2C02FC2-3466-49E5-867C-C833B8F7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47091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diseña un nuevo scheduler ni un nuevo WMS.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afirma que DME mida tiempo total, costo o throughput.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suma tráfico de red total ni bytes auxiliares como ciencia.</a:t>
            </a:r>
            <a:endParaRPr sz="1300"/>
          </a:p>
          <a:p xmlns:a="http://schemas.openxmlformats.org/drawingml/2006/main">
            <a:pPr marL="203200" indent="-203200">
              <a:buSzPct val="100000"/>
              <a:buChar char="•"/>
            </a:pPr>
            <a:r>
              <a:rPr sz="1300">
                <a:solidFill>
                  <a:srgbClr val="334155"/>
                </a:solidFill>
                <a:latin typeface="Aptos"/>
                <a:ea typeface="Aptos"/>
                <a:cs typeface="Aptos"/>
              </a:rPr>
              <a:t>No infiere ObservedMovement cuando la evidencia es incompleta.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A6BDEE2-8F93-4324-928D-D2F598BF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10058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C6D2816-C3DB-4C40-8529-DD34FDF4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5294376"/>
            <a:ext cx="972921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Esta delimitación evita que la contribución se malinterprete como optimización global. La tesis propone una herramienta de medición y diagnóstico.</a:t>
            </a:r>
            <a:endParaRPr sz="112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6E57491-3AD3-4F7B-A538-3DF20C75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CB65EA-36A4-4EB4-B672-A5BA6590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Alcance y no objetivos</a:t>
            </a:r>
            <a:endParaRPr sz="7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EFE159D-4596-4895-8EF2-AC676B24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7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805540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1C7CDC8-5438-4337-97BD-9DDF0525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97682DD-8094-4267-9DB1-1CAE7852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ESTADO DEL ARTE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D68BFD2-EE50-4844-A65E-4324D08A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7. Brecha académica: trabajos cercanos, pregunta distinta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7D4895-D41A-4CB1-9453-B7141624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DBEAF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7E29876-8020-4688-8BC1-06AC7FE5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Workflow management</a:t>
            </a:r>
            <a:endParaRPr sz="112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2BFD272-9D7F-4F5A-96EE-68CDA78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Coordina tareas y datos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(Pegasus, WMS)</a:t>
            </a:r>
            <a:endParaRPr sz="103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E070FD3-3374-411F-B061-F1401E20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CCFBF1"/>
          </a:solidFill>
          <a:ln xmlns:a="http://schemas.openxmlformats.org/drawingml/2006/main" w="10160">
            <a:solidFill>
              <a:srgbClr val="CCFBF1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82BDF5-4FC0-4C83-B8FB-26AB0032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Scheduling</a:t>
            </a:r>
            <a:endParaRPr sz="112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B11F0CB-EA35-49CA-A73C-EA2368A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Reduce comunicación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al elegir placement</a:t>
            </a:r>
            <a:endParaRPr sz="103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E55B2A5-D3A9-4904-BE2D-0A19E5F2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EF3C7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B8BFB15-7426-41BE-BD7C-61A5E3A1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92400E"/>
                </a:solidFill>
                <a:latin typeface="Aptos"/>
                <a:ea typeface="Aptos"/>
                <a:cs typeface="Aptos"/>
              </a:rPr>
              <a:t>Tracing / observabilidad</a:t>
            </a:r>
            <a:endParaRPr sz="112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C138E21-DC01-40E7-B2E3-23CF267C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Captura eventos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de I/O y transferencia</a:t>
            </a:r>
            <a:endParaRPr sz="103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CA61D43-E2A8-4BD4-B679-A0A09802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1572768"/>
            <a:ext cx="22402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EDE9F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028E93A-BB07-4D01-9053-ADCF8E16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1664208"/>
            <a:ext cx="20208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Métricas de workflow</a:t>
            </a:r>
            <a:endParaRPr sz="112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E962264-852D-4E67-82FA-B7609AFB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0888" y="2221992"/>
            <a:ext cx="2011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Evalúa rutas críticas</a:t>
            </a:r>
            <a:endParaRPr sz="1030"/>
          </a:p>
          <a:p xmlns:a="http://schemas.openxmlformats.org/drawingml/2006/main">
            <a:pPr marL="0" indent="0" algn="ctr">
              <a:buNone/>
            </a:pPr>
            <a:r>
              <a:rPr sz="1030">
                <a:solidFill>
                  <a:srgbClr val="334155"/>
                </a:solidFill>
              </a:rPr>
              <a:t>o eficiencia general</a:t>
            </a:r>
            <a:endParaRPr sz="103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6F46766-7352-4C82-A3A4-29478EC1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57600"/>
            <a:ext cx="84124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CC8E036-C0F0-4D1E-9070-781AA8A6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31012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91C1C"/>
                </a:solidFill>
              </a:rPr>
              <a:t>Brecha que aborda la tesis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5BFCCBA-C99A-4133-9F0F-E644F57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60520"/>
            <a:ext cx="859536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FCA5A5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6D7F68D-2B34-4D4F-9062-A934DADF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288536"/>
            <a:ext cx="826617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En los trabajos revisados no encontramos una definición con esta semántica: necesidad bajo el placement observado frente a movimiento científico confirmado con cobertura explícita.</a:t>
            </a:r>
            <a:endParaRPr sz="112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069448D-95A6-43E7-9F53-1C22FC80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44768"/>
            <a:ext cx="10698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80">
                <a:solidFill>
                  <a:srgbClr val="64748B"/>
                </a:solidFill>
              </a:rPr>
              <a:t>Referencias: Deelman et al. (2015); Pietri &amp; Sakellariou (2018); Nguyen &amp; Karavanic (2021); DFTracer/LLNL (2024).</a:t>
            </a:r>
            <a:endParaRPr sz="68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98162A2-7508-499E-BF9D-871116FC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880463E-31A2-4B0A-9BCA-80FC38C0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Estado del arte y brecha</a:t>
            </a:r>
            <a:endParaRPr sz="7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A9ACF1E-949D-4D20-9DA1-9C64FBDB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8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6426343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12CAA81-3429-4F2E-BE12-60FC9B40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969AF3F-9DD1-4626-9DDA-ADDB1AE8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INFRAESTRUCTURA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9F921EC-BC49-4A2B-8ACB-172D4088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8. Infraestructura y modelo de ejecución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A51D918-A9A6-46E6-9A6C-DC7E52A1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modelo condorio usa un host de envío y workers; el Analyzer consume artefactos preservados y HTCondor history.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56D0D7-6EE5-4A76-B349-0908F6C9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2C0A894-A951-4CE8-B515-06B474F8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WMS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D9D50E3-BE4E-47EC-8DD5-CC90BD82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Pegasus 5.1.2</a:t>
            </a:r>
            <a:endParaRPr sz="9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913EA1D-A4CE-40ED-A7E9-5E2D74A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B42A3D-CF43-4993-A43B-53E1205E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D447441-0B95-4C74-889E-57F3BC8F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Master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67D90F3-78CB-4201-93CC-5B91E283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Ubuntu 26.04</a:t>
            </a:r>
            <a:endParaRPr sz="9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58978FE-65CB-4BFA-83BE-9006F4EC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E1CE64F-AB19-4187-AB83-DF02ED53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33C710-90B4-448A-AE88-8EFD4744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Pool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27D1079-91E3-41F2-BB51-282BFFF8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HTCondor 25.12.2</a:t>
            </a:r>
            <a:endParaRPr sz="9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120EF5A-8BD5-4828-BC71-252F9DA1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5AFBA4A-13B2-491F-9712-8BC3DD67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955D45-B3FC-4D46-BD41-11461705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2A43"/>
                </a:solidFill>
              </a:rPr>
              <a:t>Workers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9B74F1E-51F5-41BE-B5A4-A4AEAB1F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Sin ads/slots al capturar</a:t>
            </a:r>
            <a:endParaRPr sz="9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53FF9D3-3E58-4650-9006-05F24276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1460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6E09C03-80F6-4B2B-A4BA-D9E045CB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0574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5240">
            <a:solidFill>
              <a:srgbClr val="102A43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E2BC3D3-39B6-4B51-9E08-19065213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304288"/>
            <a:ext cx="9144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</a:rPr>
              <a:t>History</a:t>
            </a:r>
            <a:endParaRPr sz="16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02F83BE-D5A5-4C6F-89C2-1E13915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3127248"/>
            <a:ext cx="1554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4748B"/>
                </a:solidFill>
              </a:rPr>
              <a:t>Evidencia por job</a:t>
            </a:r>
            <a:endParaRPr sz="9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2D3960E-025B-4C86-9C3B-280260C9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34840"/>
            <a:ext cx="1005840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7F8C3AF-99BA-49BB-A878-0FA13FA6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562856"/>
            <a:ext cx="972921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Captura 03-10-2026: master Ubuntu 26.04, Pegasus 5.1.2, HTCondor 25.12.2, 1 vCPU y 1,671,811,072 B RAM. El entorno previsto incluye pegasus-worker1 (.137) y pegasus-worker2 (.139), mapeados en /etc/hosts; ambos sin respuesta a ping ni SSH/22, y sin anuncios startd/slots. Falta determinar disponibilidad y capturar sus recursos y versiones.</a:t>
            </a:r>
            <a:endParaRPr sz="112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161BB2C-B93E-4D76-908B-AC8F1EA9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9F183E1-6F9B-4E3A-85E2-6258297B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Infraestructura y execution model</a:t>
            </a:r>
            <a:endParaRPr sz="75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46229AB-6D40-496A-A238-CBBF246D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9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5490495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02D99ED-F9F7-40B8-84D6-F629F98B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9215D2-FFF5-4484-80E5-5996AA92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98EB3D-732F-473B-B629-4797450B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9. Tres cantidades que no deben confundirse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8AA8ED3-8057-439D-BA94-7DAB6CD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C791076-C681-4A30-A0BF-BC73D6E2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764B3C-BA7E-4BD5-B6FA-2BC1A7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2563EB"/>
                </a:solidFill>
              </a:rPr>
              <a:t>RequiredMovement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AAA5EF-FC2E-4ADB-9657-11533C1F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M_req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FA38F5F-8678-45D1-804B-AD6E38E4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mínimo científico necesario bajo el placement observado</a:t>
            </a:r>
            <a:endParaRPr sz="8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FEF7E11-7E0A-42A9-8F2F-955072B6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11884D9-D771-404F-992C-74615D43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B9A14FA-6601-4CF4-A41A-ABE49D79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59E0B"/>
                </a:solidFill>
              </a:rPr>
              <a:t>DeclaredMovement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AE28393-2E69-4DB6-9A94-538E93DE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M_rec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37DD30E-068F-4375-A7E8-745A534D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payload científico declarado en los contratos de transferencia</a:t>
            </a:r>
            <a:endParaRPr sz="8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2279576-D30A-408E-B885-216619F1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72768"/>
            <a:ext cx="342900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F561EAF-121E-4FD6-9838-B10767FC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07B6703-0C44-4A00-B3D0-99869FE0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19072"/>
            <a:ext cx="3108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6A34A"/>
                </a:solidFill>
              </a:rPr>
              <a:t>ObservedMovement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1E8071F-12D9-4441-AA65-6C42367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01168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M_obs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AAD5F11-96BB-4043-87FA-F99567A6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350008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movimientos declarados confirmados por evidencia suficiente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547E4AC-4BE2-46C0-8470-6C77DCE0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01568"/>
            <a:ext cx="3200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CC6DDE2-A937-4BF5-BB14-6AB11EC9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493008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Coverage = confirmados / declarados</a:t>
            </a:r>
            <a:endParaRPr sz="13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F9D0D3-F44A-4969-8055-410BFBD3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401568"/>
            <a:ext cx="37490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D24F98E-A256-40AF-A4CA-45768390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3493008"/>
            <a:ext cx="3529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DME = RequiredMovement / ObservedMovement</a:t>
            </a:r>
            <a:endParaRPr sz="13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5807416-CF28-4A75-B793-56B58DF6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1568"/>
            <a:ext cx="246888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3D53E0E-F0A1-4E3D-AF61-E89673FD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493008"/>
            <a:ext cx="224942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Si Coverage &lt; 1 → DME indeterminado</a:t>
            </a:r>
            <a:endParaRPr sz="11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D40878E-89F8-4F25-B658-38151CB3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54880"/>
            <a:ext cx="1005840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8C99235-7761-49AF-9CD5-A444B068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882896"/>
            <a:ext cx="9729216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Interpretación: DME=1 significa que el movimiento científico confirmado no excede el mínimo requerido para ese placement. DME&lt;1 indica exceso confirmado respecto a ese lower bound; no implica por sí solo mejor o peor scheduler.</a:t>
            </a:r>
            <a:endParaRPr sz="112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E7DDAEC-706C-4DB2-B8C0-74FF5289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CE81BAD-300D-4601-AA92-7EA1D82A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definiciones</a:t>
            </a:r>
            <a:endParaRPr sz="7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9C8AC41-BEAC-408A-B0C3-75AC6008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733161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9815295-B2DD-40F7-8F72-31C193AC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319875-7DED-4723-8BFE-BC95F23E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2D4577C-5130-40AA-9AFE-CE0827EE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10. Validez: evidencia antes que número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8708916-67DB-4AFF-ABAA-7630AA9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72768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5958488-674A-41E6-BB9C-D8D2007B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664208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Mismos archivos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D871D99-FE32-4E41-92D7-4635CAC3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627632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RequiredMovement y ObservedMovement deben usar la misma frontera científica.</a:t>
            </a:r>
            <a:endParaRPr sz="112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AFFBF9-386B-41CA-81D0-37257DF6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72768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216CF1D-0170-467D-AB9E-8F5A3D5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64208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Mismas ubicaciones</a:t>
            </a:r>
            <a:endParaRPr sz="12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9CAC221-C0DD-4C7A-8C3F-34C8C8AF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627632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El origen/destino lógico y la ubicación observada deben ser comparables.</a:t>
            </a:r>
            <a:endParaRPr sz="112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1B2D443-694E-47CA-BF1E-DB0622E3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57600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1585393-01FD-48F1-8EA7-00E4BBE2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49040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Intento separable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8B43AB-A738-4354-AA9E-A7015225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712464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Retries ambiguos no se colapsan silenciosamente.</a:t>
            </a:r>
            <a:endParaRPr sz="11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B3487F1-1B39-4DD5-A6B3-C1A51298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57600"/>
            <a:ext cx="192024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C06EBE5-467B-4A76-97E6-35D3632B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3749040"/>
            <a:ext cx="170078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Coverage = 1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32E6B4F-DC2C-4F79-BE86-9EB84E01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712464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</a:rPr>
              <a:t>Si falta confirmación, ObservedMovement completo y DME son N/A.</a:t>
            </a:r>
            <a:endParaRPr sz="112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7CAD7EC-A803-4DD7-BEED-4A34CF36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486400"/>
            <a:ext cx="7315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2CF30BA-30B8-453B-8C70-FB41D42C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5522976"/>
            <a:ext cx="88239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ausencia de evidencia nunca equivale a cero bytes.</a:t>
            </a:r>
            <a:endParaRPr sz="20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5AA0DF2-DC2C-4063-9CB8-83C34846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C5D4B64-82AF-4722-BD8C-DC4E0857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precondiciones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474E5B3-9DF2-4F82-A75B-6884F0E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9741000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FE11CB-5111-4B91-AEFA-B866EFFA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22D7E3-267D-4267-8E83-6421864F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METODOLOGÍA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14F3248-D021-4CFF-A23B-CAEB3145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11. Metodología de investigación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E646021-C8E8-402C-B604-28B24FEC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El método conecta la brecha, la formalización de la métrica, su operacionalización y una validación controlada.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0C60B90-E9AE-4A25-8DB1-31AF11D3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D1626-7B1C-4DA4-AF91-A3C06336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Problema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859C694-3E9C-48FD-ACF2-3FC0E706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brecha y alcance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5FA6DA9-364E-4758-A3C8-7F80C780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3574673-D04C-4E2E-A49D-BF7369D3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3A8BF68-FB99-4D57-9FAD-36A2ACD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Formalización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31607D8-3C74-4A43-A194-85BB3E43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archivos y métricas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712C06FE-A9CE-48CF-B9CF-6C6CC46F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7D95489-96C4-40FF-8F40-AA99BBB0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BBF7D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EFF540B-0F01-4C62-98F0-94D17618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Analyzer v1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4572B4-609F-4B8A-BB59-752EA13E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operacionalización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F3E928F-AF4D-46BE-A471-5389C97E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249424"/>
            <a:ext cx="758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70648D7-CA58-420E-BE5B-D3865BD5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65960"/>
            <a:ext cx="164592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9919868-6DBD-4433-B837-0F68D402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2057400"/>
            <a:ext cx="142646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Validación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D5F0667-9C26-4AC6-9943-89866916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697480"/>
            <a:ext cx="1828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64748B"/>
                </a:solidFill>
              </a:rPr>
              <a:t>patrones y oráculos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EBB2CB2-839F-473E-B900-4F43F805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86200"/>
            <a:ext cx="9784080" cy="77724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87A812B-123A-4A2D-A881-475A985B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4014216"/>
            <a:ext cx="9454896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evaluación contrasta la implementación con oráculos y verifica cobertura y precondiciones bajo escenarios controlados. El placement es un factor experimental, no una comparación de schedulers.</a:t>
            </a:r>
            <a:endParaRPr sz="112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D9B3B13-6206-4779-BE38-82E9D102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138928"/>
            <a:ext cx="7772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CB5AF33-323A-49B9-879B-7365446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88" y="5230368"/>
            <a:ext cx="7552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La validación usa oráculos controlados; Coverage y evidencia determinan si DME puede informarse.</a:t>
            </a:r>
            <a:endParaRPr sz="12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95CB932-9EB0-481C-A828-67E56784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E0C23B-512D-4920-B178-0C8D273B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Metodología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ECA5B7B-4FD4-4632-8C62-81AC9E27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78160699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8628D6A-8B4D-4058-9C5F-ADACF2F8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D594C7-30B9-4BF3-BD9D-EE62D29E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ARQUITECTURA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9C828C-BA23-43FE-9BAA-D8B4835F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12. Arquitectura Analyzer v1: flujo de la métrica</a:t>
            </a:r>
            <a:endParaRPr sz="25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5676500-49E0-4E61-AA20-A57377F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43B26B7-9B63-4673-99CE-920A4156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Arquitectura y flujo de medición · Analyzer v1</a:t>
            </a:r>
            <a:endParaRPr sz="7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EB71056-85DA-4F36-86F0-B4694660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  <a:endParaRPr sz="800"/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B17A4F-1C6C-4C4F-AC8A-3A2B3951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266825"/>
            <a:ext cx="1081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Cada fuente responde una pregunta distinta; ObservedMovement y DME dependen de cobertura completa.</a:t>
            </a:r>
          </a:p>
        </p:txBody>
      </p:sp>
      <p:sp>
        <p:nvSpPr>
          <p:cNvPr id="36" name="workflow-placement-observado">
            <a:extLst xmlns:a="http://schemas.openxmlformats.org/drawingml/2006/main">
              <a:ext uri="{FF2B5EF4-FFF2-40B4-BE49-F238E27FC236}">
                <a16:creationId xmlns:a16="http://schemas.microsoft.com/office/drawing/2014/main" id="{257F95DB-EEC1-489F-918B-8F594A68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752600"/>
            <a:ext cx="3238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87583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Workflow + placement</a:t>
            </a:r>
          </a:p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observado</a:t>
            </a:r>
          </a:p>
        </p:txBody>
      </p:sp>
      <p:sp>
        <p:nvSpPr>
          <p:cNvPr id="37" name="required-movement">
            <a:extLst xmlns:a="http://schemas.openxmlformats.org/drawingml/2006/main">
              <a:ext uri="{FF2B5EF4-FFF2-40B4-BE49-F238E27FC236}">
                <a16:creationId xmlns:a16="http://schemas.microsoft.com/office/drawing/2014/main" id="{54F7AE1A-779D-41E8-B467-7CA7365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381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RequiredMovement</a:t>
            </a:r>
          </a:p>
        </p:txBody>
      </p:sp>
      <p:sp>
        <p:nvSpPr>
          <p:cNvPr id="38" name="execution-model-condorio">
            <a:extLst xmlns:a="http://schemas.openxmlformats.org/drawingml/2006/main">
              <a:ext uri="{FF2B5EF4-FFF2-40B4-BE49-F238E27FC236}">
                <a16:creationId xmlns:a16="http://schemas.microsoft.com/office/drawing/2014/main" id="{1B9EEC8A-0236-4A19-A6C4-9C7E387F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828925"/>
            <a:ext cx="3238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4288">
            <a:solidFill>
              <a:srgbClr val="B45309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87583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Pegasus / HTCondor</a:t>
            </a:r>
          </a:p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condorio</a:t>
            </a:r>
          </a:p>
        </p:txBody>
      </p:sp>
      <p:sp>
        <p:nvSpPr>
          <p:cNvPr id="39" name="declared-movement">
            <a:extLst xmlns:a="http://schemas.openxmlformats.org/drawingml/2006/main">
              <a:ext uri="{FF2B5EF4-FFF2-40B4-BE49-F238E27FC236}">
                <a16:creationId xmlns:a16="http://schemas.microsoft.com/office/drawing/2014/main" id="{1D9F44E6-D50B-4C3C-8B5F-3B5308BA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4381500" cy="571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45309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DeclaredMovement</a:t>
            </a:r>
          </a:p>
        </p:txBody>
      </p:sp>
      <p:sp>
        <p:nvSpPr>
          <p:cNvPr id="40" name="history-evidence">
            <a:extLst xmlns:a="http://schemas.openxmlformats.org/drawingml/2006/main">
              <a:ext uri="{FF2B5EF4-FFF2-40B4-BE49-F238E27FC236}">
                <a16:creationId xmlns:a16="http://schemas.microsoft.com/office/drawing/2014/main" id="{32A56FC4-88E0-45C4-9B96-AAD36EF0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223837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F1ECFF"/>
          </a:solidFill>
          <a:ln xmlns:a="http://schemas.openxmlformats.org/drawingml/2006/main" w="14288">
            <a:solidFill>
              <a:srgbClr val="6D28D9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HTCondor history</a:t>
            </a:r>
          </a:p>
          <a:p xmlns:a="http://schemas.openxmlformats.org/drawingml/2006/main">
            <a:pPr algn="ctr">
              <a:defRPr sz="142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+ evidencia</a:t>
            </a:r>
          </a:p>
        </p:txBody>
      </p:sp>
      <p:sp>
        <p:nvSpPr>
          <p:cNvPr id="41" name="coverage">
            <a:extLst xmlns:a="http://schemas.openxmlformats.org/drawingml/2006/main">
              <a:ext uri="{FF2B5EF4-FFF2-40B4-BE49-F238E27FC236}">
                <a16:creationId xmlns:a16="http://schemas.microsoft.com/office/drawing/2014/main" id="{4EE98A56-5B87-466E-95DF-D5A7A54B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81450"/>
            <a:ext cx="1476375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F6F3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Coverage</a:t>
            </a:r>
          </a:p>
        </p:txBody>
      </p:sp>
      <p:sp>
        <p:nvSpPr>
          <p:cNvPr id="42" name="observed-movement">
            <a:extLst xmlns:a="http://schemas.openxmlformats.org/drawingml/2006/main">
              <a:ext uri="{FF2B5EF4-FFF2-40B4-BE49-F238E27FC236}">
                <a16:creationId xmlns:a16="http://schemas.microsoft.com/office/drawing/2014/main" id="{AF74E373-DB18-4D3A-BBA0-9C6DD83E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81450"/>
            <a:ext cx="20955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AF7EE"/>
          </a:solidFill>
          <a:ln xmlns:a="http://schemas.openxmlformats.org/drawingml/2006/main" w="14288">
            <a:solidFill>
              <a:srgbClr val="15803D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ObservedMovement</a:t>
            </a:r>
          </a:p>
        </p:txBody>
      </p:sp>
      <p:sp>
        <p:nvSpPr>
          <p:cNvPr id="43" name="dme">
            <a:extLst xmlns:a="http://schemas.openxmlformats.org/drawingml/2006/main">
              <a:ext uri="{FF2B5EF4-FFF2-40B4-BE49-F238E27FC236}">
                <a16:creationId xmlns:a16="http://schemas.microsoft.com/office/drawing/2014/main" id="{3BF8451F-C0D7-4DB1-B424-FAE51DB7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81450"/>
            <a:ext cx="190500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42D45"/>
          </a:solidFill>
          <a:ln xmlns:a="http://schemas.openxmlformats.org/drawingml/2006/main" w="14288">
            <a:solidFill>
              <a:srgbClr val="142D45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DME</a:t>
            </a:r>
          </a:p>
        </p:txBody>
      </p:sp>
      <p:cxnSp>
        <p:nvCxnSpPr>
          <p:cNvPr id="73" name="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5000625" y="2038350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38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5000625" y="31146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45309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381375" y="42862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D28D9"/>
            </a:solidFill>
            <a:prstDash val="solid"/>
            <a:tailEnd type="triangle" w="sm" len="sm"/>
          </a:ln>
        </p:spPr>
      </p:cxnSp>
      <p:cxnSp>
        <p:nvCxnSpPr>
          <p:cNvPr id="76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5429250" y="42862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  <a:tailEnd type="triangle" w="sm" len="sm"/>
          </a:ln>
        </p:spPr>
      </p:cxnSp>
      <p:cxnSp>
        <p:nvCxnSpPr>
          <p:cNvPr id="77" name=""/>
          <p:cNvCxnSpPr>
            <a:stCxn xmlns:a="http://schemas.openxmlformats.org/drawingml/2006/main" id="42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8191500" y="42862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803D"/>
            </a:solidFill>
            <a:prstDash val="solid"/>
            <a:tailEnd type="triangle" w="sm" len="sm"/>
          </a:ln>
        </p:spPr>
      </p:cxn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AB72AB-047E-4854-9E77-49D088F9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381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Dataflow científico</a:t>
            </a:r>
          </a:p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y ubicación observada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73B24B-4E50-40A6-8C02-36CC9E69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8125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Mínimo lógico necesario</a:t>
            </a:r>
          </a:p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para ese placement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CC1A1A-65F5-447A-9A36-B40813FF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3457575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Perfil del modelo</a:t>
            </a:r>
          </a:p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de ejecución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594FFB-E19D-4E3E-803C-47913AC1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457575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Transferencia declarada</a:t>
            </a:r>
          </a:p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por el execution model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4B2D24-C3AF-4547-A675-A2396768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Ocurrencias científicas</a:t>
            </a:r>
          </a:p>
          <a:p xmlns:a="http://schemas.openxmlformats.org/drawingml/2006/main">
            <a:pPr algn="ctr">
              <a:defRPr sz="1125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confirmadas / esperadas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760FD1-9FBE-4808-B799-15D7F8FC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1010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Coverage = 1</a:t>
            </a:r>
          </a:p>
          <a:p xmlns:a="http://schemas.openxmlformats.org/drawingml/2006/main">
            <a:pPr algn="ctr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requerido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0F1E7A6-8C1C-4D4D-9DE6-82AE19DB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101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Bytes científicos</a:t>
            </a:r>
          </a:p>
          <a:p xmlns:a="http://schemas.openxmlformats.org/drawingml/2006/main">
            <a:pPr algn="ctr">
              <a:defRPr sz="1125" b="0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803D"/>
                </a:solidFill>
                <a:latin typeface="Aptos"/>
                <a:ea typeface="Aptos"/>
                <a:cs typeface="Aptos"/>
              </a:rPr>
              <a:t>confirmados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50D37E4-F071-4E0E-B1A6-E27FB967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101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M₍req₎ / M₍obs₎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8BBC840-EF4F-4C8B-ABAD-CE6B1927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91150"/>
            <a:ext cx="1026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28575" rIns="7620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Si Coverage &lt; 1, M₍obs₎ y DME quedan indeterminadas. El manifest expresa el contrato de transferencia; no sustituye evidencia de ejecución.</a:t>
            </a:r>
          </a:p>
        </p:txBody>
      </p:sp>
    </p:spTree>
    <p:extLst>
      <p:ext uri="{BB962C8B-B14F-4D97-AF65-F5344CB8AC3E}">
        <p14:creationId xmlns:p14="http://schemas.microsoft.com/office/powerpoint/2010/main" val="10524624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48D2E1-91A9-4FDF-B261-A5520F53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A74A36-A20D-4E70-85BD-9588FA05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VALIDACIÓN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37065F9-F0D2-458F-8D80-F0056133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13. Diseño de validación: patrones con oráculos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4E793BF-1CE8-415D-8DD7-6D87CB7E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98448"/>
            <a:ext cx="107899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validación no debe depender de intuición: cada patrón debe tener un resultado esperado y una evidencia preservada.</a:t>
            </a:r>
            <a:endParaRPr sz="14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87FAD1C-5A3C-4A85-998B-623EDCCF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C63311-8EA0-4A2A-AE50-5CEF2327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Process</a:t>
            </a:r>
            <a:endParaRPr sz="11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B282FC8-30FD-44F1-B0C1-C6356953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una tarea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input + output</a:t>
            </a:r>
            <a:endParaRPr sz="92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1358119-A193-4DF6-A592-667A1EAF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3778E59-EF2E-4866-8D66-95AB496A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52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Pipeline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52AE2E7-3E75-4A3F-8AB9-4CC6D441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cadena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intermedios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5BF3827-69D2-449C-B1D0-E86A5C1F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2E0C1D4-42F5-4212-836C-BA4F3834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Distribution</a:t>
            </a:r>
            <a:endParaRPr sz="11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9F34E8C-BFAB-4F5A-9F5A-E52EBDBB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fan-out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varios consumidores</a:t>
            </a:r>
            <a:endParaRPr sz="92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8EBA23A-EBE9-4955-B510-07B85D02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BC1A00-BDF9-45CC-BCAF-B910303E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Aggregation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860CB77-D221-4E00-AB89-6F09D5E5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fan-in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varios productores</a:t>
            </a:r>
            <a:endParaRPr sz="92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F978FBD-EE59-444F-9596-A4B4C56C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1874520"/>
            <a:ext cx="169164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160">
            <a:solidFill>
              <a:srgbClr val="DDD6FE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E89904A-ECBD-45CA-B97F-E6350AE0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1965960"/>
            <a:ext cx="1472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Redistribution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0B3A86F-2995-47DB-9F0F-608CF89C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2542032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reacomodo</a:t>
            </a:r>
            <a:endParaRPr sz="920"/>
          </a:p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64748B"/>
                </a:solidFill>
              </a:rPr>
              <a:t>de particiones</a:t>
            </a:r>
            <a:endParaRPr sz="92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596DD46-536C-48B8-888D-F9AA18EE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858768"/>
            <a:ext cx="804672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CA86320-83EE-4F4B-A5BB-437D09FD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408" y="3950208"/>
            <a:ext cx="782726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Placements controlados: SAME · BALANCED · CROSS</a:t>
            </a:r>
            <a:endParaRPr sz="13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FE72714-C194-47C2-826E-ADE7C014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919472"/>
            <a:ext cx="7818120" cy="621792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5223BEA-A79C-4EF2-BD77-BA8C8BFF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5047488"/>
            <a:ext cx="748893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Los oráculos separan dos preguntas: cuánto movimiento era requerido por el dataflow y cuánto movimiento científico quedó confirmado por evidencia.</a:t>
            </a:r>
            <a:endParaRPr sz="112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7C18468-7FA2-456B-A803-CFAC8D66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58BB60C-87FB-4F69-BA0F-C2A2362F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Validación · diseño experimental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27FC07-D116-4699-B02B-FCD9F75B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18283818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4924E6-691E-4710-9E5E-DDE77DA2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9809D1-E96A-4811-941B-75D86C30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EVIDENCIA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A5F9BD3-A049-48B4-A2B1-9CDC3D60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14. TransferEvidence y reconciliación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E7BBAFD-EAA4-4687-B648-117EDFD6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5BEA0AF-11C4-41F6-9825-24297D92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12700">
            <a:solidFill>
              <a:srgbClr val="16A34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9F3FCF6-A57F-493C-B035-25EB5D69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6A34A"/>
                </a:solidFill>
              </a:rPr>
              <a:t>JobTransferManifest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0DC2810-D386-4AFC-A3D5-7B708419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Payload declarado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1E7C43C-93D5-43F1-AC3C-5DCE0E7A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Archivos esperados por job y dirección</a:t>
            </a:r>
            <a:endParaRPr sz="8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7C00166-F711-427E-9E35-896F7F98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5F95C71-3BAB-4337-96A3-D6EB8352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7873AE4-2398-422B-A90A-780B165A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2563EB"/>
                </a:solidFill>
              </a:rPr>
              <a:t>TransferEvidence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E9AB14A-A678-4FDA-83F9-860118A8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HTCondor history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E28A2C4-1D97-49FA-90E3-B1A31EAB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Worker, método, conteos, bytes y estado</a:t>
            </a:r>
            <a:endParaRPr sz="8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BC95549B-6FFF-445C-9008-0AD92E64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572768"/>
            <a:ext cx="3383280" cy="109728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8783526-9F9A-4622-A4CF-610E15A1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572768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B4D845-7C3B-493B-B0B4-72A705E1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719072"/>
            <a:ext cx="3063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D28D9"/>
                </a:solidFill>
              </a:rPr>
              <a:t>MovementVerification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6732BB7-30D4-4E66-86C0-A0CB627E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011680"/>
            <a:ext cx="30632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02A43"/>
                </a:solidFill>
              </a:rPr>
              <a:t>Confirmed / insufficient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AF52F02-AE48-4344-923F-2EED13A4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350008"/>
            <a:ext cx="30632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64748B"/>
                </a:solidFill>
              </a:rPr>
              <a:t>Nivel, modo, razón y ocurrencias confirmadas</a:t>
            </a:r>
            <a:endParaRPr sz="8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6FC9E63-1916-4F66-B7BA-06C1203C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3552"/>
            <a:ext cx="31089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02A43"/>
                </a:solidFill>
              </a:rPr>
              <a:t>Niveles de evidencia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D40BC46-E216-4CE7-A159-1EC9639E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6472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FILE-LEVEL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323A713-76F7-42CA-AED4-6BE0742F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40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4763">
            <a:solidFill>
              <a:srgbClr val="16A34A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439A820-F9FE-41DF-8C87-978A892A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49040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D0B3BC7-D978-4936-9CCB-EA099F6D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749040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Identidad y evidencia confirman la ocurrencia</a:t>
            </a:r>
            <a:endParaRPr sz="82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E58F1A-B296-402B-982A-543850A4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5384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JOB-LEVEL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31FD5C7-8D89-434C-852E-351BD862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187952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4763">
            <a:solidFill>
              <a:srgbClr val="2563EB"/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EF3FD2F6-7850-4147-BDB9-67A3131C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187952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20CD56C-9BA7-4693-93DC-D7C387EF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87952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Manifest completo y job exitoso reconciliado</a:t>
            </a:r>
            <a:endParaRPr sz="82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3CE8E15-271E-4E64-8CFB-E30BD614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051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64748B"/>
                </a:solidFill>
              </a:rPr>
              <a:t>INSUFFICIENT</a:t>
            </a:r>
            <a:endParaRPr sz="8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661A012-91EF-4E2F-9724-688959FD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626864"/>
            <a:ext cx="209550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4763">
            <a:solidFill>
              <a:srgbClr val="DC2626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9A472481-46AE-4D5A-9279-5CC85667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626864"/>
            <a:ext cx="209550" cy="201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B3ED85E-A36B-4DAC-BCDF-DB9295AA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626864"/>
            <a:ext cx="85725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48B"/>
                </a:solidFill>
              </a:rPr>
              <a:t>Intento ambiguo, transferencia parcial o método no admitido</a:t>
            </a:r>
            <a:endParaRPr sz="82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1B8D981-E314-4F67-A847-C2C50111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4960"/>
            <a:ext cx="99669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160">
            <a:solidFill>
              <a:srgbClr val="FCD34D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F44F8A2-149A-4BEF-A577-C696288D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467350"/>
            <a:ext cx="9637776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Coverage cuenta ocurrencias científicas, también las de 0 B. Si Coverage &lt; 1, M_obs y DME son indeterminadas. No se reparten bytes agregados proporcionalmente.</a:t>
            </a:r>
            <a:endParaRPr sz="112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FF9FFAFA-8E70-4A0B-92D9-635B22DD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D822C70-56BB-490F-B589-0BF36752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Contrato de evidencia v1</a:t>
            </a:r>
            <a:endParaRPr sz="75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D59487E-AEF5-4AC9-8D05-7F4C5032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48092743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ACF0747-ECB6-4DDC-A39F-48182091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12700">
            <a:solidFill>
              <a:srgbClr val="0F766E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BDCA23-3878-49EC-A298-84A9EF7C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MÉTRICA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9E04863-0065-4C18-B6D5-CF91B388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15. Coverage, ObservedMovement y DME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A6899F7-68C3-4E9B-9CCA-6A5C0B47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876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93CA76D-58F0-4E9B-9726-088E1C07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60020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M₍req₎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BAFD58-A807-471A-9220-BF8B3D16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55448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M₍req₎ = Σ_f s(f) · |L₍req₎(f) \ {L₀(f)}|</a:t>
            </a:r>
            <a:endParaRPr sz="107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79363F3-03FF-4586-A67A-7A9AB7D3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0876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C37FCBB-2789-4748-ADC5-165FAAC2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0020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Coverage</a:t>
            </a:r>
            <a:endParaRPr sz="12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D55D1EE-0191-459A-8C44-59ABC5A2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55448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|C₍sci₎| / |D₍sci₎|</a:t>
            </a:r>
            <a:endParaRPr sz="107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AE81492-A2A5-4471-B5FC-978F2068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5760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F65AEE9-97E8-43BC-9836-62A5BEF2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4904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M₍obs₎</a:t>
            </a:r>
            <a:endParaRPr sz="12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C49E981-65FB-4E41-92C7-6AC0053E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70332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M₍obs₎ = Σₘ∈C₍sci₎ s(file(m))</a:t>
            </a:r>
            <a:endParaRPr sz="107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C97FA46-906D-4D62-9AE5-6DC727E4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5760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0F766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43A7011-6447-46A8-B71A-4205F803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74904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DME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2EB9769-5676-46C4-B4D9-70D66D6B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70332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70">
                <a:solidFill>
                  <a:srgbClr val="334155"/>
                </a:solidFill>
              </a:rPr>
              <a:t>M₍req₎ / M₍obs₎ si 0 &lt; M₍req₎ ≤ M₍obs₎</a:t>
            </a:r>
            <a:endParaRPr sz="107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18793D-15BE-4B90-9427-EAA70CDB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486400"/>
            <a:ext cx="8869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447AEDE-3724-4978-825A-887B26D5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5614416"/>
            <a:ext cx="85404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84646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DME se informa con Coverage = 1. Si Coverage &lt; 1, M₍obs₎ y DME son indeterminadas. Casos M₍req₎ = 0: N/A si M₍obs₎ = 0; 0 si M₍obs₎ &gt; 0. Si M₍obs₎ &lt; M₍req₎, hay inconsistencia.</a:t>
            </a:r>
            <a:endParaRPr sz="112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62FE9E1-492D-4DE4-B2CB-5EA7E578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23AEE8-7E1A-4856-B758-53A68F5A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Métrica · notación</a:t>
            </a:r>
            <a:endParaRPr sz="7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19E8E5D-7E74-495B-AE5E-4EC00051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67694998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A10433-FCEF-4EA7-84E2-8107C57A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12700">
            <a:solidFill>
              <a:srgbClr val="B91C1C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E8A11-88C6-4A43-8916-E45F9BEE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REFERENCIA CONCEPTUAL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C04FEE-1F3C-4EDA-BFFD-E503AA45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16. Lower bound lógico y ruta condorio</a:t>
            </a:r>
            <a:endParaRPr sz="25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BEE1D9-7253-4F89-8330-93856089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0D751B2-244E-431A-AE5B-01181316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Lower bound y condorio</a:t>
            </a:r>
            <a:endParaRPr sz="7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1F02D9E-870A-4C2F-9948-1714813A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  <a:endParaRPr sz="800"/>
          </a:p>
        </p:txBody>
      </p:sp>
      <p:sp>
        <p:nvSpPr>
          <p:cNvPr id="14" name="lower-bound-heading">
            <a:extLst xmlns:a="http://schemas.openxmlformats.org/drawingml/2006/main">
              <a:ext uri="{FF2B5EF4-FFF2-40B4-BE49-F238E27FC236}">
                <a16:creationId xmlns:a16="http://schemas.microsoft.com/office/drawing/2014/main" id="{453C6ABF-7993-4382-919F-C6772938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LOWER BOUND LÓGICO · REFERENCIA</a:t>
            </a:r>
          </a:p>
        </p:txBody>
      </p:sp>
      <p:sp>
        <p:nvSpPr>
          <p:cNvPr id="15" name="lower-bound-worker1">
            <a:extLst xmlns:a="http://schemas.openxmlformats.org/drawingml/2006/main">
              <a:ext uri="{FF2B5EF4-FFF2-40B4-BE49-F238E27FC236}">
                <a16:creationId xmlns:a16="http://schemas.microsoft.com/office/drawing/2014/main" id="{99912206-6A9E-4255-BE8B-B4A8088B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09750"/>
            <a:ext cx="1952625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worker1</a:t>
            </a:r>
          </a:p>
        </p:txBody>
      </p:sp>
      <p:sp>
        <p:nvSpPr>
          <p:cNvPr id="16" name="lower-bound-file">
            <a:extLst xmlns:a="http://schemas.openxmlformats.org/drawingml/2006/main">
              <a:ext uri="{FF2B5EF4-FFF2-40B4-BE49-F238E27FC236}">
                <a16:creationId xmlns:a16="http://schemas.microsoft.com/office/drawing/2014/main" id="{AA918C7C-F78C-4ADD-A3ED-56F5F803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975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archivo científico</a:t>
            </a:r>
          </a:p>
        </p:txBody>
      </p:sp>
      <p:sp>
        <p:nvSpPr>
          <p:cNvPr id="17" name="lower-bound-worker2">
            <a:extLst xmlns:a="http://schemas.openxmlformats.org/drawingml/2006/main">
              <a:ext uri="{FF2B5EF4-FFF2-40B4-BE49-F238E27FC236}">
                <a16:creationId xmlns:a16="http://schemas.microsoft.com/office/drawing/2014/main" id="{78054010-252A-475D-A979-82EAEE10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1952625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worker2</a:t>
            </a:r>
          </a:p>
        </p:txBody>
      </p:sp>
      <p:cxnSp>
        <p:nvCxnSpPr>
          <p:cNvPr id="39" name=""/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381375" y="2105025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prstDash val="solid"/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200900" y="2105025"/>
            <a:ext cx="1657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prstDash val="solid"/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EE64D0-1F84-46EB-B075-22EDFC41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38400"/>
            <a:ext cx="9382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Movimiento file-centric requerido por el placement observado</a:t>
            </a:r>
          </a:p>
        </p:txBody>
      </p:sp>
      <p:sp>
        <p:nvSpPr>
          <p:cNvPr id="21" name="condorio-route-heading">
            <a:extLst xmlns:a="http://schemas.openxmlformats.org/drawingml/2006/main">
              <a:ext uri="{FF2B5EF4-FFF2-40B4-BE49-F238E27FC236}">
                <a16:creationId xmlns:a16="http://schemas.microsoft.com/office/drawing/2014/main" id="{2F1003E6-1F19-49AA-AE75-362BF302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38475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CONDORIO OBSERVADO · RUTA DE STAGING</a:t>
            </a:r>
          </a:p>
        </p:txBody>
      </p:sp>
      <p:sp>
        <p:nvSpPr>
          <p:cNvPr id="22" name="condorio-worker1">
            <a:extLst xmlns:a="http://schemas.openxmlformats.org/drawingml/2006/main">
              <a:ext uri="{FF2B5EF4-FFF2-40B4-BE49-F238E27FC236}">
                <a16:creationId xmlns:a16="http://schemas.microsoft.com/office/drawing/2014/main" id="{E9D8EB27-47BC-4086-88AB-1F9E95DE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1952625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worker1</a:t>
            </a:r>
          </a:p>
        </p:txBody>
      </p:sp>
      <p:sp>
        <p:nvSpPr>
          <p:cNvPr id="23" name="condorio-master">
            <a:extLst xmlns:a="http://schemas.openxmlformats.org/drawingml/2006/main">
              <a:ext uri="{FF2B5EF4-FFF2-40B4-BE49-F238E27FC236}">
                <a16:creationId xmlns:a16="http://schemas.microsoft.com/office/drawing/2014/main" id="{82B7AE11-30FF-40AE-85F5-673A807B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09950"/>
            <a:ext cx="2095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4288">
            <a:solidFill>
              <a:srgbClr val="B45309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master</a:t>
            </a:r>
          </a:p>
        </p:txBody>
      </p:sp>
      <p:sp>
        <p:nvSpPr>
          <p:cNvPr id="24" name="condorio-worker2">
            <a:extLst xmlns:a="http://schemas.openxmlformats.org/drawingml/2006/main">
              <a:ext uri="{FF2B5EF4-FFF2-40B4-BE49-F238E27FC236}">
                <a16:creationId xmlns:a16="http://schemas.microsoft.com/office/drawing/2014/main" id="{C0FBF9CB-00CE-40B1-87E7-EBC55E75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09950"/>
            <a:ext cx="1952625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  <p:txBody>
          <a:bodyPr xmlns:a="http://schemas.openxmlformats.org/drawingml/2006/main" wrap="square" lIns="85725" tIns="47625" rIns="85725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worker2</a:t>
            </a:r>
          </a:p>
        </p:txBody>
      </p:sp>
      <p:cxnSp>
        <p:nvCxnSpPr>
          <p:cNvPr id="46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81375" y="3705225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45309"/>
            </a:solidFill>
            <a:prstDash val="solid"/>
            <a:tailEnd type="triangle" w="sm" len="sm"/>
          </a:ln>
        </p:spPr>
      </p:cxnSp>
      <p:cxnSp>
        <p:nvCxnSpPr>
          <p:cNvPr id="47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200900" y="3705225"/>
            <a:ext cx="1657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45309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5AEE3B-18B5-4C75-831B-BF04315C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38600"/>
            <a:ext cx="9382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575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58B"/>
                </a:solidFill>
                <a:latin typeface="Aptos"/>
                <a:ea typeface="Aptos"/>
                <a:cs typeface="Aptos"/>
              </a:rPr>
              <a:t>El staging por el master puede añadir un salto frente al lower bound.</a:t>
            </a:r>
          </a:p>
        </p:txBody>
      </p:sp>
      <p:sp>
        <p:nvSpPr>
          <p:cNvPr id="28" name="interpretation-note">
            <a:extLst xmlns:a="http://schemas.openxmlformats.org/drawingml/2006/main">
              <a:ext uri="{FF2B5EF4-FFF2-40B4-BE49-F238E27FC236}">
                <a16:creationId xmlns:a16="http://schemas.microsoft.com/office/drawing/2014/main" id="{F306F6EB-AD7A-4C3B-A62B-E4AA6F1F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95825"/>
            <a:ext cx="10287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CAD5E1"/>
            </a:solidFill>
            <a:prstDash val="solid"/>
          </a:ln>
        </p:spPr>
        <p:txBody>
          <a:bodyPr xmlns:a="http://schemas.openxmlformats.org/drawingml/2006/main" wrap="square" lIns="209550" tIns="114300" rIns="209550" bIns="1143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42D45"/>
                </a:solidFill>
                <a:latin typeface="Aptos"/>
                <a:ea typeface="Aptos"/>
                <a:cs typeface="Aptos"/>
              </a:rPr>
              <a:t>Worker-to-worker es referencia conceptual, no el objetivo principal. Si Coverage = 1 y M₍obs₎ = M₍req₎ &gt; 0, entonces DME = 1.</a:t>
            </a:r>
          </a:p>
          <a:p xmlns:a="http://schemas.openxmlformats.org/drawingml/2006/main">
            <a:pPr algn="l">
              <a:defRPr sz="1425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42D45"/>
                </a:solidFill>
                <a:latin typeface="Aptos"/>
                <a:ea typeface="Aptos"/>
                <a:cs typeface="Aptos"/>
              </a:rPr>
              <a:t>El movimiento adicional frente al lower bound no demuestra bytes ahorrables ni optimalidad; Analyzer reconcilia evidencia por job, no captura paquetes.</a:t>
            </a:r>
          </a:p>
        </p:txBody>
      </p:sp>
    </p:spTree>
    <p:extLst>
      <p:ext uri="{BB962C8B-B14F-4D97-AF65-F5344CB8AC3E}">
        <p14:creationId xmlns:p14="http://schemas.microsoft.com/office/powerpoint/2010/main" val="18552432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9A79028-87FD-4FAB-87C5-4B4E726D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12700">
            <a:solidFill>
              <a:srgbClr val="6D2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5122C7-34C6-4E86-B33A-BD876000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UTILIDAD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BCB1D75-5D47-4C28-8D44-434C4373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17. Utilidad práctica y límites de DME</a:t>
            </a:r>
            <a:endParaRPr sz="25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5072DA7-F161-4975-8100-E8B0054D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8BE016-34E5-46C5-BE0D-7614BFAA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Utilidad y alcance</a:t>
            </a:r>
            <a:endParaRPr sz="7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DB16E03-867F-44B7-86AB-B11265EB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  <a:endParaRPr sz="800"/>
          </a:p>
        </p:txBody>
      </p:sp>
      <p:sp>
        <p:nvSpPr>
          <p:cNvPr id="39" name="practical-uses-heading">
            <a:extLst xmlns:a="http://schemas.openxmlformats.org/drawingml/2006/main">
              <a:ext uri="{FF2B5EF4-FFF2-40B4-BE49-F238E27FC236}">
                <a16:creationId xmlns:a16="http://schemas.microsoft.com/office/drawing/2014/main" id="{F8DF18DA-F973-4BDE-B185-CAE81BFA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PARA QUÉ SIRVE</a:t>
            </a:r>
          </a:p>
        </p:txBody>
      </p:sp>
      <p:sp>
        <p:nvSpPr>
          <p:cNvPr id="40" name="measurement-limits-heading">
            <a:extLst xmlns:a="http://schemas.openxmlformats.org/drawingml/2006/main">
              <a:ext uri="{FF2B5EF4-FFF2-40B4-BE49-F238E27FC236}">
                <a16:creationId xmlns:a16="http://schemas.microsoft.com/office/drawing/2014/main" id="{ECDD0248-D402-4A02-8F80-B30FE920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44780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QUÉ NO MIDE</a:t>
            </a:r>
          </a:p>
        </p:txBody>
      </p:sp>
      <p:sp>
        <p:nvSpPr>
          <p:cNvPr id="41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F1D3D826-CD8F-4030-8675-1604FAFB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495425"/>
            <a:ext cx="0" cy="3543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5E1"/>
            </a:solidFill>
            <a:prstDash val="solid"/>
          </a:ln>
        </p:spPr>
      </p:sp>
      <p:sp>
        <p:nvSpPr>
          <p:cNvPr id="42" name="use-1">
            <a:extLst xmlns:a="http://schemas.openxmlformats.org/drawingml/2006/main">
              <a:ext uri="{FF2B5EF4-FFF2-40B4-BE49-F238E27FC236}">
                <a16:creationId xmlns:a16="http://schemas.microsoft.com/office/drawing/2014/main" id="{0CDEB657-A64E-4266-B95E-688ED505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Detectar movimiento científico adicional frente al mínimo lógico.</a:t>
            </a:r>
          </a:p>
        </p:txBody>
      </p:sp>
      <p:sp>
        <p:nvSpPr>
          <p:cNvPr id="43" name="use-2">
            <a:extLst xmlns:a="http://schemas.openxmlformats.org/drawingml/2006/main">
              <a:ext uri="{FF2B5EF4-FFF2-40B4-BE49-F238E27FC236}">
                <a16:creationId xmlns:a16="http://schemas.microsoft.com/office/drawing/2014/main" id="{C5EDCA86-6F5A-453B-AEE9-A3FADC1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6222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Diagnosticar staging y transferencias por job.</a:t>
            </a:r>
          </a:p>
        </p:txBody>
      </p:sp>
      <p:sp>
        <p:nvSpPr>
          <p:cNvPr id="44" name="use-3">
            <a:extLst xmlns:a="http://schemas.openxmlformats.org/drawingml/2006/main">
              <a:ext uri="{FF2B5EF4-FFF2-40B4-BE49-F238E27FC236}">
                <a16:creationId xmlns:a16="http://schemas.microsoft.com/office/drawing/2014/main" id="{6F039CB7-5989-47E7-9298-61C0349C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Comparar patrones de workflow y de placement.</a:t>
            </a:r>
          </a:p>
        </p:txBody>
      </p:sp>
      <p:sp>
        <p:nvSpPr>
          <p:cNvPr id="45" name="use-4">
            <a:extLst xmlns:a="http://schemas.openxmlformats.org/drawingml/2006/main">
              <a:ext uri="{FF2B5EF4-FFF2-40B4-BE49-F238E27FC236}">
                <a16:creationId xmlns:a16="http://schemas.microsoft.com/office/drawing/2014/main" id="{152F0369-F960-4B2A-8569-A6AB205A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004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Informar decisiones de arquitectura con evidencia trazable.</a:t>
            </a:r>
          </a:p>
        </p:txBody>
      </p:sp>
      <p:sp>
        <p:nvSpPr>
          <p:cNvPr id="46" name="use-5">
            <a:extLst xmlns:a="http://schemas.openxmlformats.org/drawingml/2006/main">
              <a:ext uri="{FF2B5EF4-FFF2-40B4-BE49-F238E27FC236}">
                <a16:creationId xmlns:a16="http://schemas.microsoft.com/office/drawing/2014/main" id="{5F9F2064-1EC4-43C7-94E2-01D287D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Evitar conclusiones de rendimiento que los datos no respaldan.</a:t>
            </a:r>
          </a:p>
        </p:txBody>
      </p:sp>
      <p:sp>
        <p:nvSpPr>
          <p:cNvPr id="47" name="limit-1">
            <a:extLst xmlns:a="http://schemas.openxmlformats.org/drawingml/2006/main">
              <a:ext uri="{FF2B5EF4-FFF2-40B4-BE49-F238E27FC236}">
                <a16:creationId xmlns:a16="http://schemas.microsoft.com/office/drawing/2014/main" id="{AFF9347B-7C63-425E-8640-DC5E1343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FLOPs.</a:t>
            </a:r>
          </a:p>
        </p:txBody>
      </p:sp>
      <p:sp>
        <p:nvSpPr>
          <p:cNvPr id="48" name="limit-2">
            <a:extLst xmlns:a="http://schemas.openxmlformats.org/drawingml/2006/main">
              <a:ext uri="{FF2B5EF4-FFF2-40B4-BE49-F238E27FC236}">
                <a16:creationId xmlns:a16="http://schemas.microsoft.com/office/drawing/2014/main" id="{A58C1A40-F07A-4A01-81D8-1363F139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5267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la utilización de CPU/GPU.</a:t>
            </a:r>
          </a:p>
        </p:txBody>
      </p:sp>
      <p:sp>
        <p:nvSpPr>
          <p:cNvPr id="49" name="limit-3">
            <a:extLst xmlns:a="http://schemas.openxmlformats.org/drawingml/2006/main">
              <a:ext uri="{FF2B5EF4-FFF2-40B4-BE49-F238E27FC236}">
                <a16:creationId xmlns:a16="http://schemas.microsoft.com/office/drawing/2014/main" id="{DCF02707-40D1-4FED-8166-E8BA5232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1940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el runtime directamente.</a:t>
            </a:r>
          </a:p>
        </p:txBody>
      </p:sp>
      <p:sp>
        <p:nvSpPr>
          <p:cNvPr id="50" name="limit-4">
            <a:extLst xmlns:a="http://schemas.openxmlformats.org/drawingml/2006/main">
              <a:ext uri="{FF2B5EF4-FFF2-40B4-BE49-F238E27FC236}">
                <a16:creationId xmlns:a16="http://schemas.microsoft.com/office/drawing/2014/main" id="{0D5E5418-5B69-4722-B14C-F5C97922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8612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el ancho de banda.</a:t>
            </a:r>
          </a:p>
        </p:txBody>
      </p:sp>
      <p:sp>
        <p:nvSpPr>
          <p:cNvPr id="51" name="limit-5">
            <a:extLst xmlns:a="http://schemas.openxmlformats.org/drawingml/2006/main">
              <a:ext uri="{FF2B5EF4-FFF2-40B4-BE49-F238E27FC236}">
                <a16:creationId xmlns:a16="http://schemas.microsoft.com/office/drawing/2014/main" id="{40A1AB62-669B-4F13-A03E-AC2E5048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el costo económico.</a:t>
            </a:r>
          </a:p>
        </p:txBody>
      </p:sp>
      <p:sp>
        <p:nvSpPr>
          <p:cNvPr id="52" name="limit-6">
            <a:extLst xmlns:a="http://schemas.openxmlformats.org/drawingml/2006/main">
              <a:ext uri="{FF2B5EF4-FFF2-40B4-BE49-F238E27FC236}">
                <a16:creationId xmlns:a16="http://schemas.microsoft.com/office/drawing/2014/main" id="{D2B59896-8ED1-4BA4-BA26-E9E1C8DA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1957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mide la optimalidad del scheduler.</a:t>
            </a:r>
          </a:p>
        </p:txBody>
      </p:sp>
      <p:sp>
        <p:nvSpPr>
          <p:cNvPr id="53" name="limit-7">
            <a:extLst xmlns:a="http://schemas.openxmlformats.org/drawingml/2006/main">
              <a:ext uri="{FF2B5EF4-FFF2-40B4-BE49-F238E27FC236}">
                <a16:creationId xmlns:a16="http://schemas.microsoft.com/office/drawing/2014/main" id="{0B426135-EE4F-492E-BFE8-C79777A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8630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19050" rIns="762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4485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34485D"/>
                </a:solidFill>
                <a:latin typeface="Aptos"/>
                <a:ea typeface="Aptos"/>
                <a:cs typeface="Aptos"/>
              </a:rPr>
              <a:t>•  No optimiza el placement.</a:t>
            </a:r>
          </a:p>
        </p:txBody>
      </p:sp>
      <p:sp>
        <p:nvSpPr>
          <p:cNvPr id="54" name="measurement-scope-summary">
            <a:extLst xmlns:a="http://schemas.openxmlformats.org/drawingml/2006/main">
              <a:ext uri="{FF2B5EF4-FFF2-40B4-BE49-F238E27FC236}">
                <a16:creationId xmlns:a16="http://schemas.microsoft.com/office/drawing/2014/main" id="{762FF22E-F0E8-4703-86D1-7D222AB8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24475"/>
            <a:ext cx="10210800" cy="533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4EA"/>
            </a:solidFill>
            <a:prstDash val="solid"/>
          </a:ln>
        </p:spPr>
        <p:txBody>
          <a:bodyPr xmlns:a="http://schemas.openxmlformats.org/drawingml/2006/main" lIns="114300" tIns="57150" rIns="1143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D45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D45"/>
                </a:solidFill>
                <a:latin typeface="Aptos"/>
                <a:ea typeface="Aptos"/>
                <a:cs typeface="Aptos"/>
              </a:rPr>
              <a:t>DME compara movimiento científico confirmado con el mínimo lógico para el placement que ocurrió.</a:t>
            </a:r>
          </a:p>
        </p:txBody>
      </p:sp>
    </p:spTree>
    <p:extLst>
      <p:ext uri="{BB962C8B-B14F-4D97-AF65-F5344CB8AC3E}">
        <p14:creationId xmlns:p14="http://schemas.microsoft.com/office/powerpoint/2010/main" val="146157094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6B844C2-B32B-4CEE-BF09-F9A9B147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43C09C-4061-46D6-B2B6-0F925CCE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CIERRE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E6C82DA-39F8-4F21-966E-C65AF99E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18. Mensaje final</a:t>
            </a:r>
            <a:endParaRPr sz="2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73B77F7-A07C-4D61-8EC7-C16BF299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8760"/>
            <a:ext cx="73152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BD71239-8BF0-4605-A04E-C0749B11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45336"/>
            <a:ext cx="10378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La tesis no intenta mover menos datos por sí sola; intenta medir, con evidencia, cuánto del movimiento científico confirmado era necesario.</a:t>
            </a:r>
            <a:endParaRPr sz="20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D0E2AC2-4F9F-494C-9CED-742DE5F2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4680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160">
            <a:solidFill>
              <a:srgbClr val="B91C1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31722C8-200B-42F2-8CCE-6C27B5D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246120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Problema central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03BAA2A-3157-49B6-9D92-8DFDED1F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82112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Los bytes observados por el sistema no son automáticamente movimiento científico ni movimiento necesario.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CF39D47-D7D9-40CA-BDF7-C8B2F99B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41648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160">
            <a:solidFill>
              <a:srgbClr val="16A34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9F7BAE4-976F-4A54-AFFA-6C5868A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133088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Respuesta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F117743-1BF7-49D6-95F3-4F880028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69080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Una métrica y un Analyzer v1 que separan RequiredMovement, DeclaredMovement, ObservedMovement, Coverage y DME.</a:t>
            </a:r>
            <a:endParaRPr sz="13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B82FAF2-2999-4CEF-B4B2-C1EE2B55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28616"/>
            <a:ext cx="2011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160">
            <a:solidFill>
              <a:srgbClr val="2563EB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F7B17BD-06FB-495F-9DAC-2B4D00D7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020056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Valor académico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7C27EE3-0682-4ED9-8EE1-5AFBA4B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56048"/>
            <a:ext cx="7132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34155"/>
                </a:solidFill>
              </a:rPr>
              <a:t>Convertir una fuente de ambigüedad en un objeto medible, auditable y reproducible.</a:t>
            </a:r>
            <a:endParaRPr sz="13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9ED9CC8-AC3A-4237-9BA9-0AD41C91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C5AB786-8B4F-4996-AE07-3ECBA5A7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Cierre</a:t>
            </a:r>
            <a:endParaRPr sz="7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BB0FEB-AEB2-445A-8925-409EA43C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5393634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F9C860-1701-4F14-927A-72D8A74B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3C7353-7410-49A8-9AD9-B580ADCE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4048"/>
            <a:ext cx="2926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REFERENCIAS</a:t>
            </a:r>
            <a:endParaRPr sz="85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B9744E9-4C39-4D3F-9202-3E134427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621792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02A43"/>
                </a:solidFill>
                <a:latin typeface="Aptos Display"/>
                <a:ea typeface="Aptos Display"/>
                <a:cs typeface="Aptos Display"/>
              </a:rPr>
              <a:t>Referencias base y fuentes del proyecto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CDC6F61-A9E8-4740-81B8-B3D02C83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1. Deelman, E. et al. (2015). Pegasus, a workflow management system for science automation. Future Generation Computer Systems, 46, 17–35. DOI: 10.1016/j.future.2014.10.008.</a:t>
            </a:r>
            <a:endParaRPr sz="9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FFBFF8-8EC8-4F77-B50A-0E4F1EB4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0552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2. Pietri, I., &amp; Sakellariou, R. (2018). Scheduling Data-Intensive Scientific Workflows with Reduced Communication.</a:t>
            </a:r>
            <a:endParaRPr sz="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65BCDA5-C263-4DF9-B637-1656FCE9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43784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3. Nguyen, D. D., &amp; Karavanic, K. L. (2021). Workflow Critical Path: a data-oriented critical path metric for Holistic HPC Workflows. DOI: 10.1016/j.tbench.2021.100001.</a:t>
            </a:r>
            <a:endParaRPr sz="9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A2E3E6D-1745-4073-B53A-F901B2D8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57016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4. DFTracer / LLNL: multi-level dataflow tracing for capturing I/O calls from workflows.</a:t>
            </a:r>
            <a:endParaRPr sz="9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113C366-B763-4DD5-9558-B135154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0248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</a:rPr>
              <a:t>5. Documentos del proyecto: Requirements Spec, Design Spec, Validation Plan, Experiment Log, Decision Log y Analyzer v1 commits I0–I13.</a:t>
            </a:r>
            <a:endParaRPr sz="9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689F88-459F-4DC6-9EDB-5BCE0996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7840"/>
            <a:ext cx="10058400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3123E1-2E3D-4E21-A6A8-F9CBAE54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705856"/>
            <a:ext cx="9729216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334155"/>
                </a:solidFill>
                <a:latin typeface="Aptos"/>
                <a:ea typeface="Aptos"/>
                <a:cs typeface="Aptos"/>
              </a:rPr>
              <a:t>La presentación se apoya en literatura de workflows, scheduling, tracing y métricas, pero delimita una contribución propia: evaluación de movimiento científico confirmado contra un referente requerido condicionado al placement.</a:t>
            </a:r>
            <a:endParaRPr sz="11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CC3C94C-9B26-45D5-ABE6-5B7800B9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4652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">
            <a:solidFill>
              <a:srgbClr val="CBD5E1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B69B7B8-280A-4510-9030-2F35F013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7223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4748B"/>
                </a:solidFill>
                <a:latin typeface="Aptos"/>
                <a:ea typeface="Aptos"/>
                <a:cs typeface="Aptos"/>
              </a:rPr>
              <a:t>Referencias</a:t>
            </a:r>
            <a:endParaRPr sz="7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485F617-AFBF-41B1-A724-301EFBB1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492240"/>
            <a:ext cx="4114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6372807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2026-10-04T15:09:56.5360000Z</dcterms:created>
  <dcterms:modified xsi:type="dcterms:W3CDTF">2026-10-04T15:09:56.5360000Z</dcterms:modified>
</coreProperties>
</file>